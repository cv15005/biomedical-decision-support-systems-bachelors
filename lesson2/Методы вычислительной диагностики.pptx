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sldIdLst>
    <p:sldId id="256" r:id="rId2"/>
    <p:sldId id="456" r:id="rId3"/>
    <p:sldId id="433" r:id="rId4"/>
    <p:sldId id="457" r:id="rId5"/>
    <p:sldId id="434" r:id="rId6"/>
    <p:sldId id="435" r:id="rId7"/>
    <p:sldId id="466" r:id="rId8"/>
    <p:sldId id="459" r:id="rId9"/>
    <p:sldId id="460" r:id="rId10"/>
    <p:sldId id="467" r:id="rId11"/>
    <p:sldId id="461" r:id="rId12"/>
    <p:sldId id="462" r:id="rId13"/>
    <p:sldId id="463" r:id="rId14"/>
    <p:sldId id="470" r:id="rId15"/>
    <p:sldId id="464" r:id="rId16"/>
    <p:sldId id="468" r:id="rId17"/>
    <p:sldId id="471" r:id="rId18"/>
    <p:sldId id="472" r:id="rId19"/>
    <p:sldId id="473" r:id="rId20"/>
    <p:sldId id="474" r:id="rId21"/>
    <p:sldId id="469" r:id="rId22"/>
    <p:sldId id="465" r:id="rId23"/>
    <p:sldId id="458" r:id="rId24"/>
    <p:sldId id="475" r:id="rId25"/>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39" autoAdjust="0"/>
    <p:restoredTop sz="94660"/>
  </p:normalViewPr>
  <p:slideViewPr>
    <p:cSldViewPr snapToGrid="0">
      <p:cViewPr>
        <p:scale>
          <a:sx n="100" d="100"/>
          <a:sy n="100" d="100"/>
        </p:scale>
        <p:origin x="1507"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DCA2-25A3-4BBB-85F2-B020AF830912}" type="datetimeFigureOut">
              <a:rPr lang="ru-RU" smtClean="0"/>
              <a:t>27.02.2026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CF49C-3C76-4248-B9A5-9A29CA2BA2D7}" type="slidenum">
              <a:rPr lang="ru-RU" smtClean="0"/>
              <a:t>‹#›</a:t>
            </a:fld>
            <a:endParaRPr lang="ru-RU"/>
          </a:p>
        </p:txBody>
      </p:sp>
    </p:spTree>
    <p:extLst>
      <p:ext uri="{BB962C8B-B14F-4D97-AF65-F5344CB8AC3E}">
        <p14:creationId xmlns:p14="http://schemas.microsoft.com/office/powerpoint/2010/main" val="95741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143CF49C-3C76-4248-B9A5-9A29CA2BA2D7}" type="slidenum">
              <a:rPr lang="ru-RU" smtClean="0"/>
              <a:t>24</a:t>
            </a:fld>
            <a:endParaRPr lang="ru-RU"/>
          </a:p>
        </p:txBody>
      </p:sp>
    </p:spTree>
    <p:extLst>
      <p:ext uri="{BB962C8B-B14F-4D97-AF65-F5344CB8AC3E}">
        <p14:creationId xmlns:p14="http://schemas.microsoft.com/office/powerpoint/2010/main" val="675597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DBD17F-B6F7-D2D0-3630-012BD3FEFA43}"/>
              </a:ext>
            </a:extLst>
          </p:cNvPr>
          <p:cNvSpPr>
            <a:spLocks noGrp="1"/>
          </p:cNvSpPr>
          <p:nvPr>
            <p:ph type="ctrTitle"/>
          </p:nvPr>
        </p:nvSpPr>
        <p:spPr>
          <a:xfrm>
            <a:off x="1524000" y="1122363"/>
            <a:ext cx="9144000" cy="2387600"/>
          </a:xfrm>
        </p:spPr>
        <p:txBody>
          <a:bodyPr anchor="b"/>
          <a:lstStyle>
            <a:lvl1pPr algn="ctr">
              <a:defRPr sz="6000"/>
            </a:lvl1pPr>
          </a:lstStyle>
          <a:p>
            <a:r>
              <a:rPr lang="ru-RU" dirty="0"/>
              <a:t>Образец заголовка</a:t>
            </a:r>
          </a:p>
        </p:txBody>
      </p:sp>
      <p:sp>
        <p:nvSpPr>
          <p:cNvPr id="3" name="Подзаголовок 2">
            <a:extLst>
              <a:ext uri="{FF2B5EF4-FFF2-40B4-BE49-F238E27FC236}">
                <a16:creationId xmlns:a16="http://schemas.microsoft.com/office/drawing/2014/main" id="{6D8DA831-5D8D-D37F-C5AD-F9F1A98ED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4" name="Дата 3">
            <a:extLst>
              <a:ext uri="{FF2B5EF4-FFF2-40B4-BE49-F238E27FC236}">
                <a16:creationId xmlns:a16="http://schemas.microsoft.com/office/drawing/2014/main" id="{72320724-1352-C3A9-F2AA-0F161DCCBB99}"/>
              </a:ext>
            </a:extLst>
          </p:cNvPr>
          <p:cNvSpPr>
            <a:spLocks noGrp="1"/>
          </p:cNvSpPr>
          <p:nvPr>
            <p:ph type="dt" sz="half" idx="10"/>
          </p:nvPr>
        </p:nvSpPr>
        <p:spPr/>
        <p:txBody>
          <a:bodyPr/>
          <a:lstStyle/>
          <a:p>
            <a:fld id="{42EBA0A1-B326-4860-83E0-6E244AFCF3D2}" type="datetime1">
              <a:rPr lang="ru-RU" smtClean="0"/>
              <a:t>27.02.2026</a:t>
            </a:fld>
            <a:endParaRPr lang="ru-RU"/>
          </a:p>
        </p:txBody>
      </p:sp>
      <p:sp>
        <p:nvSpPr>
          <p:cNvPr id="5" name="Нижний колонтитул 4">
            <a:extLst>
              <a:ext uri="{FF2B5EF4-FFF2-40B4-BE49-F238E27FC236}">
                <a16:creationId xmlns:a16="http://schemas.microsoft.com/office/drawing/2014/main" id="{7C937268-0EAB-1169-A8B2-06180A88E5A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5BB2750-F058-A380-3743-696059B96C1E}"/>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1775518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3CEE73-FF5F-D062-8CC5-8CDD5A4FF1C2}"/>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E7592C3B-FF04-3CDD-F8D3-D96870E61AEB}"/>
              </a:ext>
            </a:extLst>
          </p:cNvPr>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AF3D8B3E-0C15-3BBB-10E9-73474C9B5DE2}"/>
              </a:ext>
            </a:extLst>
          </p:cNvPr>
          <p:cNvSpPr>
            <a:spLocks noGrp="1"/>
          </p:cNvSpPr>
          <p:nvPr>
            <p:ph type="dt" sz="half" idx="10"/>
          </p:nvPr>
        </p:nvSpPr>
        <p:spPr/>
        <p:txBody>
          <a:bodyPr/>
          <a:lstStyle/>
          <a:p>
            <a:fld id="{9A26607E-D3BA-408D-A363-63D2006109D7}" type="datetime1">
              <a:rPr lang="ru-RU" smtClean="0"/>
              <a:t>27.02.2026</a:t>
            </a:fld>
            <a:endParaRPr lang="ru-RU"/>
          </a:p>
        </p:txBody>
      </p:sp>
      <p:sp>
        <p:nvSpPr>
          <p:cNvPr id="5" name="Нижний колонтитул 4">
            <a:extLst>
              <a:ext uri="{FF2B5EF4-FFF2-40B4-BE49-F238E27FC236}">
                <a16:creationId xmlns:a16="http://schemas.microsoft.com/office/drawing/2014/main" id="{BA90C292-299E-289C-C4C5-DF4A73B1EB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0CA3FBA-4315-3B13-6AD9-EF20822B8A26}"/>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74087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8B0F8-9531-246A-350F-18F57DB9E962}"/>
              </a:ext>
            </a:extLst>
          </p:cNvPr>
          <p:cNvSpPr>
            <a:spLocks noGrp="1"/>
          </p:cNvSpPr>
          <p:nvPr>
            <p:ph type="title"/>
          </p:nvPr>
        </p:nvSpPr>
        <p:spPr>
          <a:xfrm>
            <a:off x="831850" y="1709738"/>
            <a:ext cx="10515600" cy="2852737"/>
          </a:xfrm>
        </p:spPr>
        <p:txBody>
          <a:bodyPr anchor="b"/>
          <a:lstStyle>
            <a:lvl1pPr>
              <a:defRPr sz="6000"/>
            </a:lvl1pPr>
          </a:lstStyle>
          <a:p>
            <a:r>
              <a:rPr lang="ru-RU" dirty="0"/>
              <a:t>Образец заголовка</a:t>
            </a:r>
          </a:p>
        </p:txBody>
      </p:sp>
      <p:sp>
        <p:nvSpPr>
          <p:cNvPr id="3" name="Текст 2">
            <a:extLst>
              <a:ext uri="{FF2B5EF4-FFF2-40B4-BE49-F238E27FC236}">
                <a16:creationId xmlns:a16="http://schemas.microsoft.com/office/drawing/2014/main" id="{2D4ED5CA-A6A8-F8A8-EAF2-C5D7EDAE22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0A1835A-4701-4541-B51C-AB65AF88F787}"/>
              </a:ext>
            </a:extLst>
          </p:cNvPr>
          <p:cNvSpPr>
            <a:spLocks noGrp="1"/>
          </p:cNvSpPr>
          <p:nvPr>
            <p:ph type="dt" sz="half" idx="10"/>
          </p:nvPr>
        </p:nvSpPr>
        <p:spPr/>
        <p:txBody>
          <a:bodyPr/>
          <a:lstStyle/>
          <a:p>
            <a:fld id="{E7763B39-6243-4058-9473-2682C660205A}" type="datetime1">
              <a:rPr lang="ru-RU" smtClean="0"/>
              <a:t>27.02.2026</a:t>
            </a:fld>
            <a:endParaRPr lang="ru-RU"/>
          </a:p>
        </p:txBody>
      </p:sp>
      <p:sp>
        <p:nvSpPr>
          <p:cNvPr id="5" name="Нижний колонтитул 4">
            <a:extLst>
              <a:ext uri="{FF2B5EF4-FFF2-40B4-BE49-F238E27FC236}">
                <a16:creationId xmlns:a16="http://schemas.microsoft.com/office/drawing/2014/main" id="{E28A0C0A-E49C-3701-3F1D-A16AE4FEFC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0CF2EFE-1316-9937-893C-AEF3ACE91029}"/>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41194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B3FD90-3A06-6EDD-09AA-67A7D6A5620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963343F-1856-3FC0-2FE5-224687A8A520}"/>
              </a:ext>
            </a:extLst>
          </p:cNvPr>
          <p:cNvSpPr>
            <a:spLocks noGrp="1"/>
          </p:cNvSpPr>
          <p:nvPr>
            <p:ph sz="half" idx="1"/>
          </p:nvPr>
        </p:nvSpPr>
        <p:spPr>
          <a:xfrm>
            <a:off x="838200" y="1825625"/>
            <a:ext cx="5181600" cy="435133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6D2304A2-A8AB-49EA-813E-B899E3E3886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058E7F94-673A-5908-F2A7-B5A0A4C0AC7D}"/>
              </a:ext>
            </a:extLst>
          </p:cNvPr>
          <p:cNvSpPr>
            <a:spLocks noGrp="1"/>
          </p:cNvSpPr>
          <p:nvPr>
            <p:ph type="dt" sz="half" idx="10"/>
          </p:nvPr>
        </p:nvSpPr>
        <p:spPr/>
        <p:txBody>
          <a:bodyPr/>
          <a:lstStyle/>
          <a:p>
            <a:fld id="{F5FFDC28-7AF4-42B7-B36A-E3245B53B015}" type="datetime1">
              <a:rPr lang="ru-RU" smtClean="0"/>
              <a:t>27.02.2026</a:t>
            </a:fld>
            <a:endParaRPr lang="ru-RU"/>
          </a:p>
        </p:txBody>
      </p:sp>
      <p:sp>
        <p:nvSpPr>
          <p:cNvPr id="6" name="Нижний колонтитул 5">
            <a:extLst>
              <a:ext uri="{FF2B5EF4-FFF2-40B4-BE49-F238E27FC236}">
                <a16:creationId xmlns:a16="http://schemas.microsoft.com/office/drawing/2014/main" id="{F59D10C7-CCB7-074E-BBF1-62FDCE5847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4DC28F4-3DD1-0930-418F-9261A9172FC8}"/>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55366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E7DCA2-93E3-4A8F-E375-B263513008F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250B223-5A46-1B7F-2518-B1695E29B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E6FDC1E-0D03-43F8-3BE8-791DAEFCE61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B752D2D-049E-6875-C4A0-78DF105A0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FAF88B04-52FC-A4C7-222E-5E445B22FD1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61B40C4A-AD29-81C2-4B4C-A34A3EEA8771}"/>
              </a:ext>
            </a:extLst>
          </p:cNvPr>
          <p:cNvSpPr>
            <a:spLocks noGrp="1"/>
          </p:cNvSpPr>
          <p:nvPr>
            <p:ph type="dt" sz="half" idx="10"/>
          </p:nvPr>
        </p:nvSpPr>
        <p:spPr/>
        <p:txBody>
          <a:bodyPr/>
          <a:lstStyle/>
          <a:p>
            <a:fld id="{4E257DC2-5BDC-4324-AA93-1088A9C7BE09}" type="datetime1">
              <a:rPr lang="ru-RU" smtClean="0"/>
              <a:t>27.02.2026</a:t>
            </a:fld>
            <a:endParaRPr lang="ru-RU"/>
          </a:p>
        </p:txBody>
      </p:sp>
      <p:sp>
        <p:nvSpPr>
          <p:cNvPr id="8" name="Нижний колонтитул 7">
            <a:extLst>
              <a:ext uri="{FF2B5EF4-FFF2-40B4-BE49-F238E27FC236}">
                <a16:creationId xmlns:a16="http://schemas.microsoft.com/office/drawing/2014/main" id="{9C8F5526-7555-0A36-D599-DB2C93979F0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6DECF9A-0E2A-8864-A192-91025021B9B0}"/>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609636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25DB98-A5B5-3438-3616-DF66F3DAC33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170717A-616B-3B17-373F-3F866473E676}"/>
              </a:ext>
            </a:extLst>
          </p:cNvPr>
          <p:cNvSpPr>
            <a:spLocks noGrp="1"/>
          </p:cNvSpPr>
          <p:nvPr>
            <p:ph type="dt" sz="half" idx="10"/>
          </p:nvPr>
        </p:nvSpPr>
        <p:spPr/>
        <p:txBody>
          <a:bodyPr/>
          <a:lstStyle/>
          <a:p>
            <a:fld id="{4000ACAE-6741-4A51-914D-5A71E1F0BD68}" type="datetime1">
              <a:rPr lang="ru-RU" smtClean="0"/>
              <a:t>27.02.2026</a:t>
            </a:fld>
            <a:endParaRPr lang="ru-RU"/>
          </a:p>
        </p:txBody>
      </p:sp>
      <p:sp>
        <p:nvSpPr>
          <p:cNvPr id="4" name="Нижний колонтитул 3">
            <a:extLst>
              <a:ext uri="{FF2B5EF4-FFF2-40B4-BE49-F238E27FC236}">
                <a16:creationId xmlns:a16="http://schemas.microsoft.com/office/drawing/2014/main" id="{EF9C2CB1-2633-0F01-61F4-D821EB2EB4C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B34473C-F1C2-7452-CA68-4B736EC2687A}"/>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96137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1B7CACC-DF26-B62A-AD80-9CF8CDD9C1E1}"/>
              </a:ext>
            </a:extLst>
          </p:cNvPr>
          <p:cNvSpPr>
            <a:spLocks noGrp="1"/>
          </p:cNvSpPr>
          <p:nvPr>
            <p:ph type="dt" sz="half" idx="10"/>
          </p:nvPr>
        </p:nvSpPr>
        <p:spPr/>
        <p:txBody>
          <a:bodyPr/>
          <a:lstStyle/>
          <a:p>
            <a:fld id="{47220D48-7342-4077-A13D-9386383C728B}" type="datetime1">
              <a:rPr lang="ru-RU" smtClean="0"/>
              <a:t>27.02.2026</a:t>
            </a:fld>
            <a:endParaRPr lang="ru-RU"/>
          </a:p>
        </p:txBody>
      </p:sp>
      <p:sp>
        <p:nvSpPr>
          <p:cNvPr id="3" name="Нижний колонтитул 2">
            <a:extLst>
              <a:ext uri="{FF2B5EF4-FFF2-40B4-BE49-F238E27FC236}">
                <a16:creationId xmlns:a16="http://schemas.microsoft.com/office/drawing/2014/main" id="{0B6EC42A-449A-823F-419D-3907F1F07CD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91BA030-F1E0-FE9F-D717-74821A5432D4}"/>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20996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4A86C9-5C65-B65D-425F-DE3113E116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E5084B0-1F47-AAE3-0198-4E63A45CC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8160BF8-1A7A-B36F-50A5-3998B09E9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dirty="0"/>
              <a:t>Образец текста</a:t>
            </a:r>
          </a:p>
        </p:txBody>
      </p:sp>
      <p:sp>
        <p:nvSpPr>
          <p:cNvPr id="5" name="Дата 4">
            <a:extLst>
              <a:ext uri="{FF2B5EF4-FFF2-40B4-BE49-F238E27FC236}">
                <a16:creationId xmlns:a16="http://schemas.microsoft.com/office/drawing/2014/main" id="{648F8D2F-7724-1061-E98D-9E231407B1E6}"/>
              </a:ext>
            </a:extLst>
          </p:cNvPr>
          <p:cNvSpPr>
            <a:spLocks noGrp="1"/>
          </p:cNvSpPr>
          <p:nvPr>
            <p:ph type="dt" sz="half" idx="10"/>
          </p:nvPr>
        </p:nvSpPr>
        <p:spPr/>
        <p:txBody>
          <a:bodyPr/>
          <a:lstStyle/>
          <a:p>
            <a:fld id="{180E2733-AE3E-42EF-86D9-BE9D4F27462D}" type="datetime1">
              <a:rPr lang="ru-RU" smtClean="0"/>
              <a:t>27.02.2026</a:t>
            </a:fld>
            <a:endParaRPr lang="ru-RU"/>
          </a:p>
        </p:txBody>
      </p:sp>
      <p:sp>
        <p:nvSpPr>
          <p:cNvPr id="6" name="Нижний колонтитул 5">
            <a:extLst>
              <a:ext uri="{FF2B5EF4-FFF2-40B4-BE49-F238E27FC236}">
                <a16:creationId xmlns:a16="http://schemas.microsoft.com/office/drawing/2014/main" id="{962CD5AB-4E05-098A-0C4E-32CF1BDDF4F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0355C40-5D02-2C51-A75F-95A7840994B9}"/>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51119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956929-FD75-C0AE-7C5C-C6456727FA0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35B8921-5168-4761-240F-1F2D4296DD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89AE9BF-D85D-484B-3084-2BB43B9DF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DC30992-2BD0-C25C-D77B-DDDD95DF24C5}"/>
              </a:ext>
            </a:extLst>
          </p:cNvPr>
          <p:cNvSpPr>
            <a:spLocks noGrp="1"/>
          </p:cNvSpPr>
          <p:nvPr>
            <p:ph type="dt" sz="half" idx="10"/>
          </p:nvPr>
        </p:nvSpPr>
        <p:spPr/>
        <p:txBody>
          <a:bodyPr/>
          <a:lstStyle/>
          <a:p>
            <a:fld id="{C9715276-9BB3-4ACE-9F64-F4E954D67518}" type="datetime1">
              <a:rPr lang="ru-RU" smtClean="0"/>
              <a:t>27.02.2026</a:t>
            </a:fld>
            <a:endParaRPr lang="ru-RU"/>
          </a:p>
        </p:txBody>
      </p:sp>
      <p:sp>
        <p:nvSpPr>
          <p:cNvPr id="6" name="Нижний колонтитул 5">
            <a:extLst>
              <a:ext uri="{FF2B5EF4-FFF2-40B4-BE49-F238E27FC236}">
                <a16:creationId xmlns:a16="http://schemas.microsoft.com/office/drawing/2014/main" id="{3C71DED5-75B2-472E-7970-EEBC35C47DC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ACE7235-A1FA-507C-BDA3-FF60840C1AC8}"/>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9023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522671-5997-B3F0-1CF5-FE693B6F6FB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0C58ABE-0AA1-5035-CC95-C31EA7DECF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36E4E59-08D4-3F97-A481-26A03B87E8FA}"/>
              </a:ext>
            </a:extLst>
          </p:cNvPr>
          <p:cNvSpPr>
            <a:spLocks noGrp="1"/>
          </p:cNvSpPr>
          <p:nvPr>
            <p:ph type="dt" sz="half" idx="10"/>
          </p:nvPr>
        </p:nvSpPr>
        <p:spPr/>
        <p:txBody>
          <a:bodyPr/>
          <a:lstStyle/>
          <a:p>
            <a:fld id="{6A899C77-79D7-4EF0-9B35-EE074040BB10}" type="datetime1">
              <a:rPr lang="ru-RU" smtClean="0"/>
              <a:t>27.02.2026</a:t>
            </a:fld>
            <a:endParaRPr lang="ru-RU"/>
          </a:p>
        </p:txBody>
      </p:sp>
      <p:sp>
        <p:nvSpPr>
          <p:cNvPr id="5" name="Нижний колонтитул 4">
            <a:extLst>
              <a:ext uri="{FF2B5EF4-FFF2-40B4-BE49-F238E27FC236}">
                <a16:creationId xmlns:a16="http://schemas.microsoft.com/office/drawing/2014/main" id="{43612C97-AD20-9B74-1D9E-20E6D0AF0A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3DBA50A-CF5D-F52F-ADFD-E27A8EC011E7}"/>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01772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728371-BBF1-C052-5C83-60B90C18984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F90CBDC-54AC-0F04-BFCF-D191D5AE2DF0}"/>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78DCFD-149E-564A-688C-62291B7370B9}"/>
              </a:ext>
            </a:extLst>
          </p:cNvPr>
          <p:cNvSpPr>
            <a:spLocks noGrp="1"/>
          </p:cNvSpPr>
          <p:nvPr>
            <p:ph type="dt" sz="half" idx="10"/>
          </p:nvPr>
        </p:nvSpPr>
        <p:spPr/>
        <p:txBody>
          <a:bodyPr/>
          <a:lstStyle/>
          <a:p>
            <a:fld id="{51F14674-2FDA-4F3A-A3A1-E4F080484048}" type="datetime1">
              <a:rPr lang="ru-RU" smtClean="0"/>
              <a:t>27.02.2026</a:t>
            </a:fld>
            <a:endParaRPr lang="ru-RU"/>
          </a:p>
        </p:txBody>
      </p:sp>
      <p:sp>
        <p:nvSpPr>
          <p:cNvPr id="5" name="Нижний колонтитул 4">
            <a:extLst>
              <a:ext uri="{FF2B5EF4-FFF2-40B4-BE49-F238E27FC236}">
                <a16:creationId xmlns:a16="http://schemas.microsoft.com/office/drawing/2014/main" id="{375F0560-6883-F96E-16B1-C6C143DD62D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E259203-947D-2A0B-2F17-691028A54C8E}"/>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7825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73F10A-1CBC-F46A-8ACA-52DEEE23C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D2AAE10-3298-EBED-1AAB-4FC5956784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4F2D3DF7-F658-A4E6-AC36-CFE6343722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15E8D009-A248-483D-975C-5A28A056285B}" type="datetime1">
              <a:rPr lang="ru-RU" smtClean="0"/>
              <a:t>27.02.2026</a:t>
            </a:fld>
            <a:endParaRPr lang="ru-RU" dirty="0"/>
          </a:p>
        </p:txBody>
      </p:sp>
      <p:sp>
        <p:nvSpPr>
          <p:cNvPr id="5" name="Нижний колонтитул 4">
            <a:extLst>
              <a:ext uri="{FF2B5EF4-FFF2-40B4-BE49-F238E27FC236}">
                <a16:creationId xmlns:a16="http://schemas.microsoft.com/office/drawing/2014/main" id="{6ED00B84-0413-2BF8-AAE6-2D3092BE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EAD3A335-BD73-C78E-0328-9E641CD68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p>
        </p:txBody>
      </p:sp>
    </p:spTree>
    <p:extLst>
      <p:ext uri="{BB962C8B-B14F-4D97-AF65-F5344CB8AC3E}">
        <p14:creationId xmlns:p14="http://schemas.microsoft.com/office/powerpoint/2010/main" val="2175367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hyperlink" Target="https://press.bmstu.ru/catalog/item/2627/reade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press.bmstu.ru/catalog/item/2627/"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AE178-3CA4-4E38-452D-6CA5374C3301}"/>
              </a:ext>
            </a:extLst>
          </p:cNvPr>
          <p:cNvSpPr>
            <a:spLocks noGrp="1"/>
          </p:cNvSpPr>
          <p:nvPr>
            <p:ph type="ctrTitle"/>
          </p:nvPr>
        </p:nvSpPr>
        <p:spPr/>
        <p:txBody>
          <a:bodyPr>
            <a:normAutofit/>
          </a:bodyPr>
          <a:lstStyle/>
          <a:p>
            <a:r>
              <a:rPr lang="ru-RU" sz="4400" dirty="0">
                <a:latin typeface="Arial" panose="020B0604020202020204" pitchFamily="34" charset="0"/>
                <a:cs typeface="Arial" panose="020B0604020202020204" pitchFamily="34" charset="0"/>
              </a:rPr>
              <a:t>Методы вычислительной диагностики</a:t>
            </a:r>
          </a:p>
        </p:txBody>
      </p:sp>
    </p:spTree>
    <p:extLst>
      <p:ext uri="{BB962C8B-B14F-4D97-AF65-F5344CB8AC3E}">
        <p14:creationId xmlns:p14="http://schemas.microsoft.com/office/powerpoint/2010/main" val="5810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D09B-CD18-06E7-744D-ABE09FE7706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FC3E0278-4D12-7E36-8DAB-D05743156D8C}"/>
              </a:ext>
            </a:extLst>
          </p:cNvPr>
          <p:cNvSpPr>
            <a:spLocks noGrp="1"/>
          </p:cNvSpPr>
          <p:nvPr>
            <p:ph type="title"/>
          </p:nvPr>
        </p:nvSpPr>
        <p:spPr>
          <a:xfrm>
            <a:off x="838200" y="365125"/>
            <a:ext cx="10515600" cy="1325563"/>
          </a:xfrm>
        </p:spPr>
        <p:txBody>
          <a:bodyPr>
            <a:normAutofit/>
          </a:bodyPr>
          <a:lstStyle/>
          <a:p>
            <a:r>
              <a:rPr lang="ru-RU" sz="4000" dirty="0"/>
              <a:t>Задачи вычислительной диагностики</a:t>
            </a:r>
            <a:endParaRPr lang="ru-RU" sz="4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FAA7CED-0C58-A3D6-EBAE-7D510A7E4408}"/>
              </a:ext>
            </a:extLst>
          </p:cNvPr>
          <p:cNvSpPr txBox="1"/>
          <p:nvPr/>
        </p:nvSpPr>
        <p:spPr>
          <a:xfrm>
            <a:off x="838199" y="1690688"/>
            <a:ext cx="10298374" cy="1200329"/>
          </a:xfrm>
          <a:prstGeom prst="rect">
            <a:avLst/>
          </a:prstGeom>
          <a:noFill/>
        </p:spPr>
        <p:txBody>
          <a:bodyPr wrap="square">
            <a:spAutoFit/>
          </a:bodyPr>
          <a:lstStyle/>
          <a:p>
            <a:pPr marL="342900" indent="-342900">
              <a:buFont typeface="+mj-lt"/>
              <a:buAutoNum type="arabicPeriod"/>
            </a:pPr>
            <a:r>
              <a:rPr lang="ru-RU" dirty="0">
                <a:latin typeface="Arial" panose="020B0604020202020204" pitchFamily="34" charset="0"/>
                <a:cs typeface="Arial" panose="020B0604020202020204" pitchFamily="34" charset="0"/>
              </a:rPr>
              <a:t>Постановка объективного диагноза на базе обобщения накопленного медицинского опыта</a:t>
            </a:r>
          </a:p>
          <a:p>
            <a:pPr marL="342900" indent="-342900">
              <a:buFont typeface="+mj-lt"/>
              <a:buAutoNum type="arabicPeriod"/>
            </a:pPr>
            <a:r>
              <a:rPr lang="ru-RU" dirty="0">
                <a:latin typeface="Arial" panose="020B0604020202020204" pitchFamily="34" charset="0"/>
                <a:cs typeface="Arial" panose="020B0604020202020204" pitchFamily="34" charset="0"/>
              </a:rPr>
              <a:t>Выяснение достаточности медицинской информации для постановки диагноза</a:t>
            </a:r>
          </a:p>
          <a:p>
            <a:pPr marL="342900" indent="-342900">
              <a:buFont typeface="+mj-lt"/>
              <a:buAutoNum type="arabicPeriod"/>
            </a:pPr>
            <a:r>
              <a:rPr lang="ru-RU" dirty="0">
                <a:latin typeface="Arial" panose="020B0604020202020204" pitchFamily="34" charset="0"/>
                <a:cs typeface="Arial" panose="020B0604020202020204" pitchFamily="34" charset="0"/>
              </a:rPr>
              <a:t>Выработка рекомендаций по наиболее целесообразному маршруту обследования</a:t>
            </a:r>
          </a:p>
          <a:p>
            <a:pPr marL="342900" indent="-342900">
              <a:buFont typeface="+mj-lt"/>
              <a:buAutoNum type="arabicPeriod"/>
            </a:pPr>
            <a:r>
              <a:rPr lang="ru-RU" dirty="0">
                <a:latin typeface="Arial" panose="020B0604020202020204" pitchFamily="34" charset="0"/>
                <a:cs typeface="Arial" panose="020B0604020202020204" pitchFamily="34" charset="0"/>
              </a:rPr>
              <a:t>Оценка эффективности лечения и прогнозирования результатов</a:t>
            </a:r>
          </a:p>
        </p:txBody>
      </p:sp>
      <p:sp>
        <p:nvSpPr>
          <p:cNvPr id="2" name="Номер слайда 1">
            <a:extLst>
              <a:ext uri="{FF2B5EF4-FFF2-40B4-BE49-F238E27FC236}">
                <a16:creationId xmlns:a16="http://schemas.microsoft.com/office/drawing/2014/main" id="{63F3BB53-BB52-7CA4-7DEE-B1957E3D7E3A}"/>
              </a:ext>
            </a:extLst>
          </p:cNvPr>
          <p:cNvSpPr>
            <a:spLocks noGrp="1"/>
          </p:cNvSpPr>
          <p:nvPr>
            <p:ph type="sldNum" sz="quarter" idx="12"/>
          </p:nvPr>
        </p:nvSpPr>
        <p:spPr/>
        <p:txBody>
          <a:bodyPr/>
          <a:lstStyle/>
          <a:p>
            <a:fld id="{818D4B0C-12DF-447C-B791-E379AA958CE7}" type="slidenum">
              <a:rPr lang="ru-RU" smtClean="0"/>
              <a:t>2</a:t>
            </a:fld>
            <a:endParaRPr lang="ru-RU"/>
          </a:p>
        </p:txBody>
      </p:sp>
    </p:spTree>
    <p:extLst>
      <p:ext uri="{BB962C8B-B14F-4D97-AF65-F5344CB8AC3E}">
        <p14:creationId xmlns:p14="http://schemas.microsoft.com/office/powerpoint/2010/main" val="671536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18AF3-615E-B7DF-7C9B-83CF96D8334D}"/>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5185CC0E-BBE9-FEF5-53DA-7BEF6FB78907}"/>
              </a:ext>
            </a:extLst>
          </p:cNvPr>
          <p:cNvSpPr>
            <a:spLocks noGrp="1"/>
          </p:cNvSpPr>
          <p:nvPr>
            <p:ph type="title"/>
          </p:nvPr>
        </p:nvSpPr>
        <p:spPr>
          <a:xfrm>
            <a:off x="838200" y="365125"/>
            <a:ext cx="10515600" cy="1325563"/>
          </a:xfrm>
        </p:spPr>
        <p:txBody>
          <a:bodyPr>
            <a:normAutofit/>
          </a:bodyPr>
          <a:lstStyle/>
          <a:p>
            <a:r>
              <a:rPr lang="ru-RU" sz="4000" dirty="0"/>
              <a:t>Методы вычислительной диагностики</a:t>
            </a:r>
            <a:endParaRPr lang="ru-RU" sz="4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37BA9B84-53D3-E9D3-0DD2-88B4E9D76181}"/>
              </a:ext>
            </a:extLst>
          </p:cNvPr>
          <p:cNvSpPr txBox="1"/>
          <p:nvPr/>
        </p:nvSpPr>
        <p:spPr>
          <a:xfrm>
            <a:off x="838200" y="2018348"/>
            <a:ext cx="10195560" cy="2031325"/>
          </a:xfrm>
          <a:prstGeom prst="rect">
            <a:avLst/>
          </a:prstGeom>
          <a:noFill/>
        </p:spPr>
        <p:txBody>
          <a:bodyPr wrap="square">
            <a:spAutoFit/>
          </a:bodyPr>
          <a:lstStyle/>
          <a:p>
            <a:r>
              <a:rPr lang="ru-RU" b="1" dirty="0">
                <a:latin typeface="Arial" panose="020B0604020202020204" pitchFamily="34" charset="0"/>
                <a:cs typeface="Arial" panose="020B0604020202020204" pitchFamily="34" charset="0"/>
              </a:rPr>
              <a:t>Признак</a:t>
            </a:r>
            <a:r>
              <a:rPr lang="ru-RU" dirty="0">
                <a:latin typeface="Arial" panose="020B0604020202020204" pitchFamily="34" charset="0"/>
                <a:cs typeface="Arial" panose="020B0604020202020204" pitchFamily="34" charset="0"/>
              </a:rPr>
              <a:t> – любой заранее сформулированный вопрос, касающийся:</a:t>
            </a:r>
          </a:p>
          <a:p>
            <a:pPr marL="342900" indent="-342900">
              <a:buFont typeface="+mj-lt"/>
              <a:buAutoNum type="arabicParenR"/>
            </a:pPr>
            <a:r>
              <a:rPr lang="ru-RU" dirty="0">
                <a:latin typeface="Arial" panose="020B0604020202020204" pitchFamily="34" charset="0"/>
                <a:cs typeface="Arial" panose="020B0604020202020204" pitchFamily="34" charset="0"/>
              </a:rPr>
              <a:t>определенных характеристик, полученных клиническими, лабораторными и инструментальными методами исследования, применяемыми при конкретной болезни;</a:t>
            </a:r>
          </a:p>
          <a:p>
            <a:pPr marL="342900" indent="-342900">
              <a:buFont typeface="+mj-lt"/>
              <a:buAutoNum type="arabicParenR"/>
            </a:pPr>
            <a:r>
              <a:rPr lang="ru-RU" dirty="0">
                <a:latin typeface="Arial" panose="020B0604020202020204" pitchFamily="34" charset="0"/>
                <a:cs typeface="Arial" panose="020B0604020202020204" pitchFamily="34" charset="0"/>
              </a:rPr>
              <a:t>типологических, психоэмоциональных и конституциональных особенностей обследованного больного;</a:t>
            </a:r>
          </a:p>
          <a:p>
            <a:pPr marL="342900" indent="-342900">
              <a:buFont typeface="+mj-lt"/>
              <a:buAutoNum type="arabicParenR"/>
            </a:pPr>
            <a:r>
              <a:rPr lang="ru-RU" dirty="0">
                <a:latin typeface="Arial" panose="020B0604020202020204" pitchFamily="34" charset="0"/>
                <a:cs typeface="Arial" panose="020B0604020202020204" pitchFamily="34" charset="0"/>
              </a:rPr>
              <a:t>воздействия факторов внешней среды, которые могут быть значимыми при рассматриваемой болезни.</a:t>
            </a:r>
          </a:p>
        </p:txBody>
      </p:sp>
      <p:sp>
        <p:nvSpPr>
          <p:cNvPr id="9" name="TextBox 8">
            <a:extLst>
              <a:ext uri="{FF2B5EF4-FFF2-40B4-BE49-F238E27FC236}">
                <a16:creationId xmlns:a16="http://schemas.microsoft.com/office/drawing/2014/main" id="{262B5031-1077-0739-30D6-C7F633790C28}"/>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Терминология</a:t>
            </a:r>
          </a:p>
        </p:txBody>
      </p:sp>
      <p:sp>
        <p:nvSpPr>
          <p:cNvPr id="10" name="Номер слайда 9">
            <a:extLst>
              <a:ext uri="{FF2B5EF4-FFF2-40B4-BE49-F238E27FC236}">
                <a16:creationId xmlns:a16="http://schemas.microsoft.com/office/drawing/2014/main" id="{300313C3-5A49-96A4-93E2-0F4A60A2DD98}"/>
              </a:ext>
            </a:extLst>
          </p:cNvPr>
          <p:cNvSpPr>
            <a:spLocks noGrp="1"/>
          </p:cNvSpPr>
          <p:nvPr>
            <p:ph type="sldNum" sz="quarter" idx="12"/>
          </p:nvPr>
        </p:nvSpPr>
        <p:spPr/>
        <p:txBody>
          <a:bodyPr/>
          <a:lstStyle/>
          <a:p>
            <a:fld id="{818D4B0C-12DF-447C-B791-E379AA958CE7}" type="slidenum">
              <a:rPr lang="ru-RU" smtClean="0"/>
              <a:t>3</a:t>
            </a:fld>
            <a:endParaRPr lang="ru-RU"/>
          </a:p>
        </p:txBody>
      </p:sp>
      <p:sp>
        <p:nvSpPr>
          <p:cNvPr id="4" name="TextBox 3">
            <a:extLst>
              <a:ext uri="{FF2B5EF4-FFF2-40B4-BE49-F238E27FC236}">
                <a16:creationId xmlns:a16="http://schemas.microsoft.com/office/drawing/2014/main" id="{8624474D-13F4-FAEE-7EF3-95A9D498FC2C}"/>
              </a:ext>
            </a:extLst>
          </p:cNvPr>
          <p:cNvSpPr txBox="1"/>
          <p:nvPr/>
        </p:nvSpPr>
        <p:spPr>
          <a:xfrm>
            <a:off x="840476" y="4187349"/>
            <a:ext cx="10193284" cy="923330"/>
          </a:xfrm>
          <a:prstGeom prst="rect">
            <a:avLst/>
          </a:prstGeom>
          <a:noFill/>
        </p:spPr>
        <p:txBody>
          <a:bodyPr wrap="square">
            <a:spAutoFit/>
          </a:bodyPr>
          <a:lstStyle/>
          <a:p>
            <a:pPr algn="l">
              <a:buNone/>
            </a:pPr>
            <a:r>
              <a:rPr lang="ru-RU" b="1" i="0" dirty="0">
                <a:solidFill>
                  <a:srgbClr val="000000"/>
                </a:solidFill>
                <a:effectLst/>
                <a:latin typeface="Arial" panose="020B0604020202020204" pitchFamily="34" charset="0"/>
                <a:cs typeface="Arial" panose="020B0604020202020204" pitchFamily="34" charset="0"/>
              </a:rPr>
              <a:t>Симптом</a:t>
            </a:r>
            <a:r>
              <a:rPr lang="ru-RU" b="0" i="0" dirty="0">
                <a:solidFill>
                  <a:srgbClr val="000000"/>
                </a:solidFill>
                <a:effectLst/>
                <a:latin typeface="Arial" panose="020B0604020202020204" pitchFamily="34" charset="0"/>
                <a:cs typeface="Arial" panose="020B0604020202020204" pitchFamily="34" charset="0"/>
              </a:rPr>
              <a:t> – заранее сформулированный ответ на любой из вопросов (признаков).</a:t>
            </a:r>
            <a:endParaRPr lang="en-US" b="0" i="0" dirty="0">
              <a:solidFill>
                <a:srgbClr val="000000"/>
              </a:solidFill>
              <a:effectLst/>
              <a:latin typeface="Arial" panose="020B0604020202020204" pitchFamily="34" charset="0"/>
              <a:cs typeface="Arial" panose="020B0604020202020204" pitchFamily="34" charset="0"/>
            </a:endParaRPr>
          </a:p>
          <a:p>
            <a:pPr algn="l">
              <a:buNone/>
            </a:pPr>
            <a:r>
              <a:rPr lang="ru-RU" b="0" i="0" dirty="0">
                <a:solidFill>
                  <a:srgbClr val="000000"/>
                </a:solidFill>
                <a:effectLst/>
                <a:latin typeface="Arial" panose="020B0604020202020204" pitchFamily="34" charset="0"/>
                <a:cs typeface="Arial" panose="020B0604020202020204" pitchFamily="34" charset="0"/>
              </a:rPr>
              <a:t>Например, признаком является состояние тяжести больного. К нему относятся симптомы: легкое состояние, состояние средней тяжести, тяжелое состояние и т. п.</a:t>
            </a:r>
          </a:p>
        </p:txBody>
      </p:sp>
      <p:sp>
        <p:nvSpPr>
          <p:cNvPr id="13" name="TextBox 12">
            <a:extLst>
              <a:ext uri="{FF2B5EF4-FFF2-40B4-BE49-F238E27FC236}">
                <a16:creationId xmlns:a16="http://schemas.microsoft.com/office/drawing/2014/main" id="{1134AD4E-C4CD-C09E-22EF-10F0BC162731}"/>
              </a:ext>
            </a:extLst>
          </p:cNvPr>
          <p:cNvSpPr txBox="1"/>
          <p:nvPr/>
        </p:nvSpPr>
        <p:spPr>
          <a:xfrm>
            <a:off x="838200" y="5248355"/>
            <a:ext cx="9904862" cy="646331"/>
          </a:xfrm>
          <a:prstGeom prst="rect">
            <a:avLst/>
          </a:prstGeom>
          <a:noFill/>
        </p:spPr>
        <p:txBody>
          <a:bodyPr wrap="square">
            <a:spAutoFit/>
          </a:bodyPr>
          <a:lstStyle/>
          <a:p>
            <a:r>
              <a:rPr lang="ru-RU" b="1" dirty="0" err="1">
                <a:latin typeface="Arial" panose="020B0604020202020204" pitchFamily="34" charset="0"/>
                <a:cs typeface="Arial" panose="020B0604020202020204" pitchFamily="34" charset="0"/>
              </a:rPr>
              <a:t>Симптокомплекс</a:t>
            </a:r>
            <a:r>
              <a:rPr lang="ru-RU" dirty="0">
                <a:latin typeface="Arial" panose="020B0604020202020204" pitchFamily="34" charset="0"/>
                <a:cs typeface="Arial" panose="020B0604020202020204" pitchFamily="34" charset="0"/>
              </a:rPr>
              <a:t> – любое сочетание симптомов, относящихся к разным </a:t>
            </a:r>
            <a:r>
              <a:rPr lang="ru-RU">
                <a:latin typeface="Arial" panose="020B0604020202020204" pitchFamily="34" charset="0"/>
                <a:cs typeface="Arial" panose="020B0604020202020204" pitchFamily="34" charset="0"/>
              </a:rPr>
              <a:t>признакам.  Устойчиво </a:t>
            </a:r>
            <a:r>
              <a:rPr lang="ru-RU" dirty="0">
                <a:latin typeface="Arial" panose="020B0604020202020204" pitchFamily="34" charset="0"/>
                <a:cs typeface="Arial" panose="020B0604020202020204" pitchFamily="34" charset="0"/>
              </a:rPr>
              <a:t>наблюдаемая совокупность симптомов называется синдромом. </a:t>
            </a:r>
          </a:p>
        </p:txBody>
      </p:sp>
    </p:spTree>
    <p:extLst>
      <p:ext uri="{BB962C8B-B14F-4D97-AF65-F5344CB8AC3E}">
        <p14:creationId xmlns:p14="http://schemas.microsoft.com/office/powerpoint/2010/main" val="3411058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D9192-B1A2-96A3-159A-B785572E669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520078B7-8D6A-BE9E-8745-2179B0D06798}"/>
              </a:ext>
            </a:extLst>
          </p:cNvPr>
          <p:cNvSpPr>
            <a:spLocks noGrp="1"/>
          </p:cNvSpPr>
          <p:nvPr>
            <p:ph type="title"/>
          </p:nvPr>
        </p:nvSpPr>
        <p:spPr>
          <a:xfrm>
            <a:off x="838200" y="365125"/>
            <a:ext cx="10515600" cy="1325563"/>
          </a:xfrm>
        </p:spPr>
        <p:txBody>
          <a:bodyPr>
            <a:normAutofit/>
          </a:bodyPr>
          <a:lstStyle/>
          <a:p>
            <a:r>
              <a:rPr lang="ru-RU" sz="4000" dirty="0"/>
              <a:t>Методы вычислительной диагностики</a:t>
            </a:r>
            <a:endParaRPr lang="ru-RU" sz="40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0202177-A07C-56DA-2FF8-8BDC3F44E12F}"/>
              </a:ext>
            </a:extLst>
          </p:cNvPr>
          <p:cNvSpPr txBox="1"/>
          <p:nvPr/>
        </p:nvSpPr>
        <p:spPr>
          <a:xfrm>
            <a:off x="838200" y="2018348"/>
            <a:ext cx="10195560" cy="646331"/>
          </a:xfrm>
          <a:prstGeom prst="rect">
            <a:avLst/>
          </a:prstGeom>
          <a:noFill/>
        </p:spPr>
        <p:txBody>
          <a:bodyPr wrap="square">
            <a:spAutoFit/>
          </a:bodyPr>
          <a:lstStyle/>
          <a:p>
            <a:r>
              <a:rPr lang="ru-RU" b="1" dirty="0">
                <a:latin typeface="Arial" panose="020B0604020202020204" pitchFamily="34" charset="0"/>
                <a:cs typeface="Arial" panose="020B0604020202020204" pitchFamily="34" charset="0"/>
              </a:rPr>
              <a:t>Частота симптома </a:t>
            </a:r>
            <a:r>
              <a:rPr lang="ru-RU" dirty="0">
                <a:latin typeface="Arial" panose="020B0604020202020204" pitchFamily="34" charset="0"/>
                <a:cs typeface="Arial" panose="020B0604020202020204" pitchFamily="34" charset="0"/>
              </a:rPr>
              <a:t>– количество случаев (наблюдений), в которых встречается</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рассматриваемый симптом при данной болезни в данной группе наблюдения.</a:t>
            </a:r>
          </a:p>
        </p:txBody>
      </p:sp>
      <p:sp>
        <p:nvSpPr>
          <p:cNvPr id="9" name="TextBox 8">
            <a:extLst>
              <a:ext uri="{FF2B5EF4-FFF2-40B4-BE49-F238E27FC236}">
                <a16:creationId xmlns:a16="http://schemas.microsoft.com/office/drawing/2014/main" id="{774CD0A4-6E40-AF68-7B91-5FAC1186438F}"/>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Терминология</a:t>
            </a:r>
          </a:p>
        </p:txBody>
      </p:sp>
      <p:sp>
        <p:nvSpPr>
          <p:cNvPr id="10" name="Номер слайда 9">
            <a:extLst>
              <a:ext uri="{FF2B5EF4-FFF2-40B4-BE49-F238E27FC236}">
                <a16:creationId xmlns:a16="http://schemas.microsoft.com/office/drawing/2014/main" id="{2E98E22D-4D68-348D-7CB5-481F4C00BB8B}"/>
              </a:ext>
            </a:extLst>
          </p:cNvPr>
          <p:cNvSpPr>
            <a:spLocks noGrp="1"/>
          </p:cNvSpPr>
          <p:nvPr>
            <p:ph type="sldNum" sz="quarter" idx="12"/>
          </p:nvPr>
        </p:nvSpPr>
        <p:spPr/>
        <p:txBody>
          <a:bodyPr/>
          <a:lstStyle/>
          <a:p>
            <a:fld id="{818D4B0C-12DF-447C-B791-E379AA958CE7}" type="slidenum">
              <a:rPr lang="ru-RU" smtClean="0"/>
              <a:t>4</a:t>
            </a:fld>
            <a:endParaRPr lang="ru-RU"/>
          </a:p>
        </p:txBody>
      </p:sp>
      <p:sp>
        <p:nvSpPr>
          <p:cNvPr id="3" name="TextBox 2">
            <a:extLst>
              <a:ext uri="{FF2B5EF4-FFF2-40B4-BE49-F238E27FC236}">
                <a16:creationId xmlns:a16="http://schemas.microsoft.com/office/drawing/2014/main" id="{7965FB3D-592F-4A19-B388-D2FA53D8E9C4}"/>
              </a:ext>
            </a:extLst>
          </p:cNvPr>
          <p:cNvSpPr txBox="1"/>
          <p:nvPr/>
        </p:nvSpPr>
        <p:spPr>
          <a:xfrm>
            <a:off x="838200" y="2911939"/>
            <a:ext cx="9913960" cy="646331"/>
          </a:xfrm>
          <a:prstGeom prst="rect">
            <a:avLst/>
          </a:prstGeom>
          <a:noFill/>
        </p:spPr>
        <p:txBody>
          <a:bodyPr wrap="square">
            <a:spAutoFit/>
          </a:bodyPr>
          <a:lstStyle/>
          <a:p>
            <a:pPr algn="l">
              <a:buNone/>
            </a:pPr>
            <a:r>
              <a:rPr lang="ru-RU" b="1" i="0" dirty="0">
                <a:solidFill>
                  <a:srgbClr val="000000"/>
                </a:solidFill>
                <a:effectLst/>
                <a:latin typeface="Arial" panose="020B0604020202020204" pitchFamily="34" charset="0"/>
                <a:cs typeface="Arial" panose="020B0604020202020204" pitchFamily="34" charset="0"/>
              </a:rPr>
              <a:t>Вероятность симптома </a:t>
            </a:r>
            <a:r>
              <a:rPr lang="ru-RU" b="0" i="0" dirty="0">
                <a:solidFill>
                  <a:srgbClr val="000000"/>
                </a:solidFill>
                <a:effectLst/>
                <a:latin typeface="Arial" panose="020B0604020202020204" pitchFamily="34" charset="0"/>
                <a:cs typeface="Arial" panose="020B0604020202020204" pitchFamily="34" charset="0"/>
              </a:rPr>
              <a:t>– отношение частоты симптома при данной болезни в данной группе наблюдений к объему этой группы.</a:t>
            </a:r>
          </a:p>
        </p:txBody>
      </p:sp>
      <p:sp>
        <p:nvSpPr>
          <p:cNvPr id="6" name="TextBox 5">
            <a:extLst>
              <a:ext uri="{FF2B5EF4-FFF2-40B4-BE49-F238E27FC236}">
                <a16:creationId xmlns:a16="http://schemas.microsoft.com/office/drawing/2014/main" id="{AC931DEF-BD0F-3BDB-71A6-33B515DE02BF}"/>
              </a:ext>
            </a:extLst>
          </p:cNvPr>
          <p:cNvSpPr txBox="1"/>
          <p:nvPr/>
        </p:nvSpPr>
        <p:spPr>
          <a:xfrm>
            <a:off x="840476" y="3805530"/>
            <a:ext cx="10193284" cy="646331"/>
          </a:xfrm>
          <a:prstGeom prst="rect">
            <a:avLst/>
          </a:prstGeom>
          <a:noFill/>
        </p:spPr>
        <p:txBody>
          <a:bodyPr wrap="square">
            <a:spAutoFit/>
          </a:bodyPr>
          <a:lstStyle/>
          <a:p>
            <a:pPr algn="l">
              <a:buNone/>
            </a:pPr>
            <a:r>
              <a:rPr lang="ru-RU" b="1" i="0" dirty="0">
                <a:solidFill>
                  <a:srgbClr val="000000"/>
                </a:solidFill>
                <a:effectLst/>
                <a:latin typeface="Arial" panose="020B0604020202020204" pitchFamily="34" charset="0"/>
                <a:cs typeface="Arial" panose="020B0604020202020204" pitchFamily="34" charset="0"/>
              </a:rPr>
              <a:t>Алгоритм</a:t>
            </a:r>
            <a:r>
              <a:rPr lang="ru-RU" b="0" i="0" dirty="0">
                <a:solidFill>
                  <a:srgbClr val="000000"/>
                </a:solidFill>
                <a:effectLst/>
                <a:latin typeface="Arial" panose="020B0604020202020204" pitchFamily="34" charset="0"/>
                <a:cs typeface="Arial" panose="020B0604020202020204" pitchFamily="34" charset="0"/>
              </a:rPr>
              <a:t> – определенная последовательность элементарных</a:t>
            </a:r>
            <a:r>
              <a:rPr lang="en-US" b="0" i="0" dirty="0">
                <a:solidFill>
                  <a:srgbClr val="000000"/>
                </a:solidFill>
                <a:effectLst/>
                <a:latin typeface="Arial" panose="020B0604020202020204" pitchFamily="34" charset="0"/>
                <a:cs typeface="Arial" panose="020B0604020202020204" pitchFamily="34" charset="0"/>
              </a:rPr>
              <a:t> </a:t>
            </a:r>
            <a:r>
              <a:rPr lang="ru-RU" b="0" i="0" dirty="0">
                <a:solidFill>
                  <a:srgbClr val="000000"/>
                </a:solidFill>
                <a:effectLst/>
                <a:latin typeface="Arial" panose="020B0604020202020204" pitchFamily="34" charset="0"/>
                <a:cs typeface="Arial" panose="020B0604020202020204" pitchFamily="34" charset="0"/>
              </a:rPr>
              <a:t>предписаний или правил, выполнение которых приводит к решению поставленной задачи.</a:t>
            </a:r>
          </a:p>
        </p:txBody>
      </p:sp>
    </p:spTree>
    <p:extLst>
      <p:ext uri="{BB962C8B-B14F-4D97-AF65-F5344CB8AC3E}">
        <p14:creationId xmlns:p14="http://schemas.microsoft.com/office/powerpoint/2010/main" val="1128909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0634A-6366-E7B3-D3DD-03E5728C43C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B67E953-0ADC-CB30-91B4-FA3568E0FCD0}"/>
              </a:ext>
            </a:extLst>
          </p:cNvPr>
          <p:cNvSpPr txBox="1"/>
          <p:nvPr/>
        </p:nvSpPr>
        <p:spPr>
          <a:xfrm>
            <a:off x="838199" y="2019600"/>
            <a:ext cx="10189191" cy="2862322"/>
          </a:xfrm>
          <a:prstGeom prst="rect">
            <a:avLst/>
          </a:prstGeom>
          <a:noFill/>
        </p:spPr>
        <p:txBody>
          <a:bodyPr wrap="square">
            <a:spAutoFit/>
          </a:bodyPr>
          <a:lstStyle/>
          <a:p>
            <a:pPr marL="342900" indent="-342900">
              <a:buAutoNum type="arabicParenR"/>
            </a:pPr>
            <a:r>
              <a:rPr lang="ru-RU" dirty="0">
                <a:latin typeface="Arial" panose="020B0604020202020204" pitchFamily="34" charset="0"/>
                <a:cs typeface="Arial" panose="020B0604020202020204" pitchFamily="34" charset="0"/>
              </a:rPr>
              <a:t>Логические методы</a:t>
            </a:r>
          </a:p>
          <a:p>
            <a:pPr marL="342900" indent="-342900">
              <a:buAutoNum type="arabicParenR"/>
            </a:pPr>
            <a:r>
              <a:rPr lang="ru-RU" dirty="0">
                <a:latin typeface="Arial" panose="020B0604020202020204" pitchFamily="34" charset="0"/>
                <a:cs typeface="Arial" panose="020B0604020202020204" pitchFamily="34" charset="0"/>
              </a:rPr>
              <a:t>Вероятностные методы</a:t>
            </a:r>
          </a:p>
          <a:p>
            <a:pPr lvl="1"/>
            <a:r>
              <a:rPr lang="ru-RU" dirty="0">
                <a:latin typeface="Arial" panose="020B0604020202020204" pitchFamily="34" charset="0"/>
                <a:cs typeface="Arial" panose="020B0604020202020204" pitchFamily="34" charset="0"/>
              </a:rPr>
              <a:t>а) Балльные – диагноз ставится на основе сложения баллов. Балл (вес) симптома для соответствующего диагноза определяется заранее и, как правило, является мнением врача о важности того или иного симптома для данного диагноза.</a:t>
            </a:r>
          </a:p>
          <a:p>
            <a:pPr lvl="1"/>
            <a:r>
              <a:rPr lang="ru-RU" dirty="0">
                <a:latin typeface="Arial" panose="020B0604020202020204" pitchFamily="34" charset="0"/>
                <a:cs typeface="Arial" panose="020B0604020202020204" pitchFamily="34" charset="0"/>
              </a:rPr>
              <a:t>б) Явные – диагностика проводится на базе вычислений апостериорных вероятностей болезней из группы рассматриваемых. В основе явных вероятностных методов лежит использование формулы Байеса.</a:t>
            </a:r>
          </a:p>
          <a:p>
            <a:pPr lvl="1"/>
            <a:r>
              <a:rPr lang="ru-RU" dirty="0">
                <a:latin typeface="Arial" panose="020B0604020202020204" pitchFamily="34" charset="0"/>
                <a:cs typeface="Arial" panose="020B0604020202020204" pitchFamily="34" charset="0"/>
              </a:rPr>
              <a:t>в) Неявные – наиболее вероятный диагноз определяется без вычисления апостериорных вероятностей в явном виде</a:t>
            </a:r>
          </a:p>
        </p:txBody>
      </p:sp>
      <p:sp>
        <p:nvSpPr>
          <p:cNvPr id="5" name="Заголовок 1">
            <a:extLst>
              <a:ext uri="{FF2B5EF4-FFF2-40B4-BE49-F238E27FC236}">
                <a16:creationId xmlns:a16="http://schemas.microsoft.com/office/drawing/2014/main" id="{2D21188E-1A7C-86A7-3609-1D155FB9AE8B}"/>
              </a:ext>
            </a:extLst>
          </p:cNvPr>
          <p:cNvSpPr>
            <a:spLocks noGrp="1"/>
          </p:cNvSpPr>
          <p:nvPr>
            <p:ph type="title"/>
          </p:nvPr>
        </p:nvSpPr>
        <p:spPr>
          <a:xfrm>
            <a:off x="838200" y="365125"/>
            <a:ext cx="10515600" cy="1325563"/>
          </a:xfrm>
        </p:spPr>
        <p:txBody>
          <a:bodyPr>
            <a:normAutofit/>
          </a:bodyPr>
          <a:lstStyle/>
          <a:p>
            <a:r>
              <a:rPr lang="ru-RU" sz="4000" dirty="0"/>
              <a:t>Методы вычислительной диагностики</a:t>
            </a:r>
            <a:endParaRPr lang="ru-RU" sz="4000" dirty="0">
              <a:latin typeface="Arial" panose="020B0604020202020204" pitchFamily="34" charset="0"/>
              <a:cs typeface="Arial" panose="020B0604020202020204" pitchFamily="34" charset="0"/>
            </a:endParaRPr>
          </a:p>
        </p:txBody>
      </p:sp>
      <p:sp>
        <p:nvSpPr>
          <p:cNvPr id="6" name="Номер слайда 5">
            <a:extLst>
              <a:ext uri="{FF2B5EF4-FFF2-40B4-BE49-F238E27FC236}">
                <a16:creationId xmlns:a16="http://schemas.microsoft.com/office/drawing/2014/main" id="{D1EFAB94-E34E-5C58-5905-95DCF15BE76C}"/>
              </a:ext>
            </a:extLst>
          </p:cNvPr>
          <p:cNvSpPr>
            <a:spLocks noGrp="1"/>
          </p:cNvSpPr>
          <p:nvPr>
            <p:ph type="sldNum" sz="quarter" idx="12"/>
          </p:nvPr>
        </p:nvSpPr>
        <p:spPr/>
        <p:txBody>
          <a:bodyPr/>
          <a:lstStyle/>
          <a:p>
            <a:fld id="{818D4B0C-12DF-447C-B791-E379AA958CE7}" type="slidenum">
              <a:rPr lang="ru-RU" smtClean="0"/>
              <a:t>5</a:t>
            </a:fld>
            <a:endParaRPr lang="ru-RU"/>
          </a:p>
        </p:txBody>
      </p:sp>
    </p:spTree>
    <p:extLst>
      <p:ext uri="{BB962C8B-B14F-4D97-AF65-F5344CB8AC3E}">
        <p14:creationId xmlns:p14="http://schemas.microsoft.com/office/powerpoint/2010/main" val="3206016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B3B1-4D0C-9C43-5F06-508814E3072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387E8B07-21D6-05FA-B470-CADF939EA129}"/>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6" name="TextBox 5">
            <a:extLst>
              <a:ext uri="{FF2B5EF4-FFF2-40B4-BE49-F238E27FC236}">
                <a16:creationId xmlns:a16="http://schemas.microsoft.com/office/drawing/2014/main" id="{AB1BE96E-8085-2371-735F-72A47C933CCC}"/>
              </a:ext>
            </a:extLst>
          </p:cNvPr>
          <p:cNvSpPr txBox="1"/>
          <p:nvPr/>
        </p:nvSpPr>
        <p:spPr>
          <a:xfrm>
            <a:off x="838200" y="2019600"/>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Условной вероятностью некоторого события относительно другого события называют отношение вероятности их совместного появления к вероятности второго события. Таким образом, условная вероятность появления симптома S при данном заболевании D равна:</a:t>
            </a:r>
          </a:p>
        </p:txBody>
      </p:sp>
      <p:sp>
        <p:nvSpPr>
          <p:cNvPr id="2" name="TextBox 1">
            <a:extLst>
              <a:ext uri="{FF2B5EF4-FFF2-40B4-BE49-F238E27FC236}">
                <a16:creationId xmlns:a16="http://schemas.microsoft.com/office/drawing/2014/main" id="{3ED81FF9-9C0D-D1E5-D58B-E5F2B28DA1AC}"/>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Условные вероятности. Формула Байеса</a:t>
            </a:r>
          </a:p>
        </p:txBody>
      </p:sp>
      <p:sp>
        <p:nvSpPr>
          <p:cNvPr id="3" name="Номер слайда 2">
            <a:extLst>
              <a:ext uri="{FF2B5EF4-FFF2-40B4-BE49-F238E27FC236}">
                <a16:creationId xmlns:a16="http://schemas.microsoft.com/office/drawing/2014/main" id="{E1A490E6-6ADA-E5B4-2070-BB5C636AD5C0}"/>
              </a:ext>
            </a:extLst>
          </p:cNvPr>
          <p:cNvSpPr>
            <a:spLocks noGrp="1"/>
          </p:cNvSpPr>
          <p:nvPr>
            <p:ph type="sldNum" sz="quarter" idx="12"/>
          </p:nvPr>
        </p:nvSpPr>
        <p:spPr/>
        <p:txBody>
          <a:bodyPr/>
          <a:lstStyle/>
          <a:p>
            <a:fld id="{818D4B0C-12DF-447C-B791-E379AA958CE7}" type="slidenum">
              <a:rPr lang="ru-RU" smtClean="0"/>
              <a:t>6</a:t>
            </a:fld>
            <a:endParaRPr lang="ru-RU"/>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370EDA-DAED-EFB7-07A1-DD3F6FC29C93}"/>
                  </a:ext>
                </a:extLst>
              </p:cNvPr>
              <p:cNvSpPr txBox="1"/>
              <p:nvPr/>
            </p:nvSpPr>
            <p:spPr>
              <a:xfrm>
                <a:off x="4834149" y="2983461"/>
                <a:ext cx="2877070"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rPr>
                                <m:t>𝐷</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den>
                      </m:f>
                      <m:r>
                        <a:rPr lang="en-US" b="0" i="1" smtClean="0">
                          <a:latin typeface="Cambria Math" panose="02040503050406030204" pitchFamily="18" charset="0"/>
                        </a:rPr>
                        <m:t>,</m:t>
                      </m:r>
                      <m:r>
                        <a:rPr lang="ru-RU" b="0" i="1" smtClean="0">
                          <a:latin typeface="Cambria Math" panose="02040503050406030204" pitchFamily="18" charset="0"/>
                        </a:rPr>
                        <m:t>  (1)</m:t>
                      </m:r>
                    </m:oMath>
                  </m:oMathPara>
                </a14:m>
                <a:endParaRPr lang="ru-RU" dirty="0"/>
              </a:p>
            </p:txBody>
          </p:sp>
        </mc:Choice>
        <mc:Fallback xmlns="">
          <p:sp>
            <p:nvSpPr>
              <p:cNvPr id="8" name="TextBox 7">
                <a:extLst>
                  <a:ext uri="{FF2B5EF4-FFF2-40B4-BE49-F238E27FC236}">
                    <a16:creationId xmlns:a16="http://schemas.microsoft.com/office/drawing/2014/main" id="{74370EDA-DAED-EFB7-07A1-DD3F6FC29C93}"/>
                  </a:ext>
                </a:extLst>
              </p:cNvPr>
              <p:cNvSpPr txBox="1">
                <a:spLocks noRot="1" noChangeAspect="1" noMove="1" noResize="1" noEditPoints="1" noAdjustHandles="1" noChangeArrowheads="1" noChangeShapeType="1" noTextEdit="1"/>
              </p:cNvSpPr>
              <p:nvPr/>
            </p:nvSpPr>
            <p:spPr>
              <a:xfrm>
                <a:off x="4834149" y="2983461"/>
                <a:ext cx="2877070" cy="576761"/>
              </a:xfrm>
              <a:prstGeom prst="rect">
                <a:avLst/>
              </a:prstGeom>
              <a:blipFill>
                <a:blip r:embed="rId2"/>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F928A6-A992-16CE-1F6D-93879C91D7FC}"/>
                  </a:ext>
                </a:extLst>
              </p:cNvPr>
              <p:cNvSpPr txBox="1"/>
              <p:nvPr/>
            </p:nvSpPr>
            <p:spPr>
              <a:xfrm>
                <a:off x="5133474" y="3733238"/>
                <a:ext cx="1375761" cy="276999"/>
              </a:xfrm>
              <a:prstGeom prst="rect">
                <a:avLst/>
              </a:prstGeom>
              <a:noFill/>
            </p:spPr>
            <p:txBody>
              <a:bodyPr wrap="none" lIns="0" tIns="0" rIns="0" bIns="0" rtlCol="0">
                <a:spAutoFit/>
              </a:bodyPr>
              <a:lstStyle/>
              <a:p>
                <a:r>
                  <a:rPr lang="ru-RU" dirty="0">
                    <a:latin typeface="Arial" panose="020B0604020202020204" pitchFamily="34" charset="0"/>
                    <a:cs typeface="Arial" panose="020B0604020202020204" pitchFamily="34" charset="0"/>
                  </a:rPr>
                  <a:t>где</a:t>
                </a:r>
                <a:r>
                  <a:rPr lang="ru-RU" dirty="0"/>
                  <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𝐷</m:t>
                    </m:r>
                    <m:r>
                      <a:rPr lang="en-US" b="0" i="1" smtClean="0">
                        <a:latin typeface="Cambria Math" panose="02040503050406030204" pitchFamily="18" charset="0"/>
                      </a:rPr>
                      <m:t>)≠0.</m:t>
                    </m:r>
                  </m:oMath>
                </a14:m>
                <a:endParaRPr lang="ru-RU" dirty="0"/>
              </a:p>
            </p:txBody>
          </p:sp>
        </mc:Choice>
        <mc:Fallback xmlns="">
          <p:sp>
            <p:nvSpPr>
              <p:cNvPr id="9" name="TextBox 8">
                <a:extLst>
                  <a:ext uri="{FF2B5EF4-FFF2-40B4-BE49-F238E27FC236}">
                    <a16:creationId xmlns:a16="http://schemas.microsoft.com/office/drawing/2014/main" id="{ACF928A6-A992-16CE-1F6D-93879C91D7FC}"/>
                  </a:ext>
                </a:extLst>
              </p:cNvPr>
              <p:cNvSpPr txBox="1">
                <a:spLocks noRot="1" noChangeAspect="1" noMove="1" noResize="1" noEditPoints="1" noAdjustHandles="1" noChangeArrowheads="1" noChangeShapeType="1" noTextEdit="1"/>
              </p:cNvSpPr>
              <p:nvPr/>
            </p:nvSpPr>
            <p:spPr>
              <a:xfrm>
                <a:off x="5133474" y="3733238"/>
                <a:ext cx="1375761" cy="276999"/>
              </a:xfrm>
              <a:prstGeom prst="rect">
                <a:avLst/>
              </a:prstGeom>
              <a:blipFill>
                <a:blip r:embed="rId3"/>
                <a:stretch>
                  <a:fillRect l="-10177" t="-30435" r="-1770" b="-47826"/>
                </a:stretch>
              </a:blipFill>
            </p:spPr>
            <p:txBody>
              <a:bodyPr/>
              <a:lstStyle/>
              <a:p>
                <a:r>
                  <a:rPr lang="ru-RU">
                    <a:noFill/>
                  </a:rPr>
                  <a:t> </a:t>
                </a:r>
              </a:p>
            </p:txBody>
          </p:sp>
        </mc:Fallback>
      </mc:AlternateContent>
      <p:sp>
        <p:nvSpPr>
          <p:cNvPr id="11" name="TextBox 10">
            <a:extLst>
              <a:ext uri="{FF2B5EF4-FFF2-40B4-BE49-F238E27FC236}">
                <a16:creationId xmlns:a16="http://schemas.microsoft.com/office/drawing/2014/main" id="{D6678E79-B032-7C79-12BF-2F134ACE6308}"/>
              </a:ext>
            </a:extLst>
          </p:cNvPr>
          <p:cNvSpPr txBox="1"/>
          <p:nvPr/>
        </p:nvSpPr>
        <p:spPr>
          <a:xfrm>
            <a:off x="838200" y="4183253"/>
            <a:ext cx="9888416" cy="1477328"/>
          </a:xfrm>
          <a:prstGeom prst="rect">
            <a:avLst/>
          </a:prstGeom>
          <a:noFill/>
        </p:spPr>
        <p:txBody>
          <a:bodyPr wrap="square">
            <a:spAutoFit/>
          </a:bodyPr>
          <a:lstStyle/>
          <a:p>
            <a:pPr algn="l">
              <a:buNone/>
            </a:pPr>
            <a:r>
              <a:rPr lang="ru-RU" b="0" i="0" dirty="0">
                <a:solidFill>
                  <a:srgbClr val="000000"/>
                </a:solidFill>
                <a:effectLst/>
                <a:latin typeface="Arial" panose="020B0604020202020204" pitchFamily="34" charset="0"/>
                <a:cs typeface="Arial" panose="020B0604020202020204" pitchFamily="34" charset="0"/>
              </a:rPr>
              <a:t>Символ S обозначает любые сведения о пациенте в терминах признаков, симптомов,</a:t>
            </a:r>
            <a:r>
              <a:rPr lang="en-US" b="0" i="0" dirty="0">
                <a:solidFill>
                  <a:srgbClr val="000000"/>
                </a:solidFill>
                <a:effectLst/>
                <a:latin typeface="Arial" panose="020B0604020202020204" pitchFamily="34" charset="0"/>
                <a:cs typeface="Arial" panose="020B0604020202020204" pitchFamily="34" charset="0"/>
              </a:rPr>
              <a:t> </a:t>
            </a:r>
            <a:r>
              <a:rPr lang="ru-RU" b="0" i="0" dirty="0" err="1">
                <a:solidFill>
                  <a:srgbClr val="000000"/>
                </a:solidFill>
                <a:effectLst/>
                <a:latin typeface="Arial" panose="020B0604020202020204" pitchFamily="34" charset="0"/>
                <a:cs typeface="Arial" panose="020B0604020202020204" pitchFamily="34" charset="0"/>
              </a:rPr>
              <a:t>симптокомплексов</a:t>
            </a:r>
            <a:r>
              <a:rPr lang="ru-RU" b="0" i="0" dirty="0">
                <a:solidFill>
                  <a:srgbClr val="000000"/>
                </a:solidFill>
                <a:effectLst/>
                <a:latin typeface="Arial" panose="020B0604020202020204" pitchFamily="34" charset="0"/>
                <a:cs typeface="Arial" panose="020B0604020202020204" pitchFamily="34" charset="0"/>
              </a:rPr>
              <a:t>, диагностических тестов, оценок параметров физиологических сигналов и т.</a:t>
            </a:r>
            <a:r>
              <a:rPr lang="en-US" b="0" i="0" dirty="0">
                <a:solidFill>
                  <a:srgbClr val="000000"/>
                </a:solidFill>
                <a:effectLst/>
                <a:latin typeface="Arial" panose="020B0604020202020204" pitchFamily="34" charset="0"/>
                <a:cs typeface="Arial" panose="020B0604020202020204" pitchFamily="34" charset="0"/>
              </a:rPr>
              <a:t> </a:t>
            </a:r>
            <a:r>
              <a:rPr lang="ru-RU" b="0" i="0" dirty="0">
                <a:solidFill>
                  <a:srgbClr val="000000"/>
                </a:solidFill>
                <a:effectLst/>
                <a:latin typeface="Arial" panose="020B0604020202020204" pitchFamily="34" charset="0"/>
                <a:cs typeface="Arial" panose="020B0604020202020204" pitchFamily="34" charset="0"/>
              </a:rPr>
              <a:t>п. </a:t>
            </a:r>
          </a:p>
          <a:p>
            <a:pPr algn="l">
              <a:buNone/>
            </a:pPr>
            <a:r>
              <a:rPr lang="ru-RU" b="0" i="0" dirty="0">
                <a:solidFill>
                  <a:srgbClr val="000000"/>
                </a:solidFill>
                <a:effectLst/>
                <a:latin typeface="Arial" panose="020B0604020202020204" pitchFamily="34" charset="0"/>
                <a:cs typeface="Arial" panose="020B0604020202020204" pitchFamily="34" charset="0"/>
              </a:rPr>
              <a:t>Символ D обозначает заболевание, комплекс из нескольких заболеваний или отсутствие проявления заболеваний. </a:t>
            </a:r>
          </a:p>
        </p:txBody>
      </p:sp>
    </p:spTree>
    <p:extLst>
      <p:ext uri="{BB962C8B-B14F-4D97-AF65-F5344CB8AC3E}">
        <p14:creationId xmlns:p14="http://schemas.microsoft.com/office/powerpoint/2010/main" val="181932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4EEB0-A1FC-F4F3-FD1A-E077D996366B}"/>
            </a:ext>
          </a:extLst>
        </p:cNvPr>
        <p:cNvGrpSpPr/>
        <p:nvPr/>
      </p:nvGrpSpPr>
      <p:grpSpPr>
        <a:xfrm>
          <a:off x="0" y="0"/>
          <a:ext cx="0" cy="0"/>
          <a:chOff x="0" y="0"/>
          <a:chExt cx="0" cy="0"/>
        </a:xfrm>
      </p:grpSpPr>
      <p:sp>
        <p:nvSpPr>
          <p:cNvPr id="16" name="Прямоугольник 15">
            <a:extLst>
              <a:ext uri="{FF2B5EF4-FFF2-40B4-BE49-F238E27FC236}">
                <a16:creationId xmlns:a16="http://schemas.microsoft.com/office/drawing/2014/main" id="{EE2FD23C-3AB1-4E68-028A-71B54BCBDE65}"/>
              </a:ext>
            </a:extLst>
          </p:cNvPr>
          <p:cNvSpPr/>
          <p:nvPr/>
        </p:nvSpPr>
        <p:spPr>
          <a:xfrm>
            <a:off x="4513384" y="4372708"/>
            <a:ext cx="3065939" cy="84406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dirty="0"/>
          </a:p>
        </p:txBody>
      </p:sp>
      <p:sp>
        <p:nvSpPr>
          <p:cNvPr id="7" name="Заголовок 1">
            <a:extLst>
              <a:ext uri="{FF2B5EF4-FFF2-40B4-BE49-F238E27FC236}">
                <a16:creationId xmlns:a16="http://schemas.microsoft.com/office/drawing/2014/main" id="{8A2E72DD-AE49-346A-28AC-58F18920AAF4}"/>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2" name="TextBox 1">
            <a:extLst>
              <a:ext uri="{FF2B5EF4-FFF2-40B4-BE49-F238E27FC236}">
                <a16:creationId xmlns:a16="http://schemas.microsoft.com/office/drawing/2014/main" id="{223085D1-FAD2-E720-F536-CA36E672220B}"/>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Условные вероятности. Формула Байеса</a:t>
            </a:r>
          </a:p>
        </p:txBody>
      </p:sp>
      <p:sp>
        <p:nvSpPr>
          <p:cNvPr id="3" name="Номер слайда 2">
            <a:extLst>
              <a:ext uri="{FF2B5EF4-FFF2-40B4-BE49-F238E27FC236}">
                <a16:creationId xmlns:a16="http://schemas.microsoft.com/office/drawing/2014/main" id="{2F91262F-FF3E-C596-3107-9D04EF4A9247}"/>
              </a:ext>
            </a:extLst>
          </p:cNvPr>
          <p:cNvSpPr>
            <a:spLocks noGrp="1"/>
          </p:cNvSpPr>
          <p:nvPr>
            <p:ph type="sldNum" sz="quarter" idx="12"/>
          </p:nvPr>
        </p:nvSpPr>
        <p:spPr/>
        <p:txBody>
          <a:bodyPr/>
          <a:lstStyle/>
          <a:p>
            <a:fld id="{818D4B0C-12DF-447C-B791-E379AA958CE7}" type="slidenum">
              <a:rPr lang="ru-RU" smtClean="0"/>
              <a:t>7</a:t>
            </a:fld>
            <a:endParaRPr lang="ru-RU"/>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50A7408-E28C-A111-BDCB-19B087D9D712}"/>
                  </a:ext>
                </a:extLst>
              </p:cNvPr>
              <p:cNvSpPr txBox="1"/>
              <p:nvPr/>
            </p:nvSpPr>
            <p:spPr>
              <a:xfrm>
                <a:off x="4834149" y="2107845"/>
                <a:ext cx="2094804"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rPr>
                                <m:t>𝐷</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𝐷</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den>
                      </m:f>
                      <m:r>
                        <a:rPr lang="en-US" b="0" i="1" smtClean="0">
                          <a:latin typeface="Cambria Math" panose="02040503050406030204" pitchFamily="18" charset="0"/>
                        </a:rPr>
                        <m:t>,</m:t>
                      </m:r>
                    </m:oMath>
                  </m:oMathPara>
                </a14:m>
                <a:endParaRPr lang="ru-RU" dirty="0"/>
              </a:p>
            </p:txBody>
          </p:sp>
        </mc:Choice>
        <mc:Fallback xmlns="">
          <p:sp>
            <p:nvSpPr>
              <p:cNvPr id="8" name="TextBox 7">
                <a:extLst>
                  <a:ext uri="{FF2B5EF4-FFF2-40B4-BE49-F238E27FC236}">
                    <a16:creationId xmlns:a16="http://schemas.microsoft.com/office/drawing/2014/main" id="{850A7408-E28C-A111-BDCB-19B087D9D712}"/>
                  </a:ext>
                </a:extLst>
              </p:cNvPr>
              <p:cNvSpPr txBox="1">
                <a:spLocks noRot="1" noChangeAspect="1" noMove="1" noResize="1" noEditPoints="1" noAdjustHandles="1" noChangeArrowheads="1" noChangeShapeType="1" noTextEdit="1"/>
              </p:cNvSpPr>
              <p:nvPr/>
            </p:nvSpPr>
            <p:spPr>
              <a:xfrm>
                <a:off x="4834149" y="2107845"/>
                <a:ext cx="2094804" cy="576761"/>
              </a:xfrm>
              <a:prstGeom prst="rect">
                <a:avLst/>
              </a:prstGeom>
              <a:blipFill>
                <a:blip r:embed="rId2"/>
                <a:stretch>
                  <a:fillRect b="-106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DB130E8-BF59-0EBB-CC2C-8569C3F51249}"/>
                  </a:ext>
                </a:extLst>
              </p:cNvPr>
              <p:cNvSpPr txBox="1"/>
              <p:nvPr/>
            </p:nvSpPr>
            <p:spPr>
              <a:xfrm>
                <a:off x="4834149" y="3305633"/>
                <a:ext cx="2094804"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𝐷</m:t>
                              </m:r>
                            </m:num>
                            <m:den>
                              <m:r>
                                <a:rPr lang="en-US" b="0" i="1" smtClean="0">
                                  <a:latin typeface="Cambria Math" panose="02040503050406030204" pitchFamily="18" charset="0"/>
                                </a:rPr>
                                <m:t>𝑆</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𝑆</m:t>
                              </m:r>
                            </m:e>
                          </m:d>
                        </m:den>
                      </m:f>
                      <m:r>
                        <a:rPr lang="en-US" b="0" i="1" smtClean="0">
                          <a:latin typeface="Cambria Math" panose="02040503050406030204" pitchFamily="18" charset="0"/>
                        </a:rPr>
                        <m:t>,</m:t>
                      </m:r>
                    </m:oMath>
                  </m:oMathPara>
                </a14:m>
                <a:endParaRPr lang="ru-RU" dirty="0"/>
              </a:p>
            </p:txBody>
          </p:sp>
        </mc:Choice>
        <mc:Fallback xmlns="">
          <p:sp>
            <p:nvSpPr>
              <p:cNvPr id="4" name="TextBox 3">
                <a:extLst>
                  <a:ext uri="{FF2B5EF4-FFF2-40B4-BE49-F238E27FC236}">
                    <a16:creationId xmlns:a16="http://schemas.microsoft.com/office/drawing/2014/main" id="{ADB130E8-BF59-0EBB-CC2C-8569C3F51249}"/>
                  </a:ext>
                </a:extLst>
              </p:cNvPr>
              <p:cNvSpPr txBox="1">
                <a:spLocks noRot="1" noChangeAspect="1" noMove="1" noResize="1" noEditPoints="1" noAdjustHandles="1" noChangeArrowheads="1" noChangeShapeType="1" noTextEdit="1"/>
              </p:cNvSpPr>
              <p:nvPr/>
            </p:nvSpPr>
            <p:spPr>
              <a:xfrm>
                <a:off x="4834149" y="3305633"/>
                <a:ext cx="2094804" cy="576761"/>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6952520-6895-8543-D002-E8F02B1F0927}"/>
                  </a:ext>
                </a:extLst>
              </p:cNvPr>
              <p:cNvSpPr txBox="1"/>
              <p:nvPr/>
            </p:nvSpPr>
            <p:spPr>
              <a:xfrm>
                <a:off x="4624348" y="4503421"/>
                <a:ext cx="2828916"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𝐷</m:t>
                              </m:r>
                            </m:num>
                            <m:den>
                              <m:r>
                                <a:rPr lang="en-US" b="0" i="1" smtClean="0">
                                  <a:latin typeface="Cambria Math" panose="02040503050406030204" pitchFamily="18" charset="0"/>
                                </a:rPr>
                                <m:t>𝑆</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rPr>
                                    <m:t>𝐷</m:t>
                                  </m:r>
                                </m:den>
                              </m:f>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den>
                      </m:f>
                      <m:r>
                        <a:rPr lang="en-US" b="0" i="1" smtClean="0">
                          <a:latin typeface="Cambria Math" panose="02040503050406030204" pitchFamily="18" charset="0"/>
                        </a:rPr>
                        <m:t>,</m:t>
                      </m:r>
                      <m:r>
                        <a:rPr lang="ru-RU" b="0" i="1" smtClean="0">
                          <a:latin typeface="Cambria Math" panose="02040503050406030204" pitchFamily="18" charset="0"/>
                        </a:rPr>
                        <m:t>(2)</m:t>
                      </m:r>
                    </m:oMath>
                  </m:oMathPara>
                </a14:m>
                <a:endParaRPr lang="ru-RU" dirty="0"/>
              </a:p>
            </p:txBody>
          </p:sp>
        </mc:Choice>
        <mc:Fallback>
          <p:sp>
            <p:nvSpPr>
              <p:cNvPr id="5" name="TextBox 4">
                <a:extLst>
                  <a:ext uri="{FF2B5EF4-FFF2-40B4-BE49-F238E27FC236}">
                    <a16:creationId xmlns:a16="http://schemas.microsoft.com/office/drawing/2014/main" id="{26952520-6895-8543-D002-E8F02B1F0927}"/>
                  </a:ext>
                </a:extLst>
              </p:cNvPr>
              <p:cNvSpPr txBox="1">
                <a:spLocks noRot="1" noChangeAspect="1" noMove="1" noResize="1" noEditPoints="1" noAdjustHandles="1" noChangeArrowheads="1" noChangeShapeType="1" noTextEdit="1"/>
              </p:cNvSpPr>
              <p:nvPr/>
            </p:nvSpPr>
            <p:spPr>
              <a:xfrm>
                <a:off x="4624348" y="4503421"/>
                <a:ext cx="2828916" cy="576761"/>
              </a:xfrm>
              <a:prstGeom prst="rect">
                <a:avLst/>
              </a:prstGeom>
              <a:blipFill>
                <a:blip r:embed="rId4"/>
                <a:stretch>
                  <a:fillRect b="-106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BA8C25A-CE80-56BE-17A7-1282A1D2BD1A}"/>
                  </a:ext>
                </a:extLst>
              </p:cNvPr>
              <p:cNvSpPr txBox="1"/>
              <p:nvPr/>
            </p:nvSpPr>
            <p:spPr>
              <a:xfrm>
                <a:off x="7328967" y="2257725"/>
                <a:ext cx="256326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rPr>
                                <m:t>𝐷</m:t>
                              </m:r>
                            </m:den>
                          </m:f>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d>
                      <m:r>
                        <a:rPr lang="en-US" b="0" i="1" smtClean="0">
                          <a:latin typeface="Cambria Math" panose="02040503050406030204" pitchFamily="18" charset="0"/>
                        </a:rPr>
                        <m:t>,</m:t>
                      </m:r>
                    </m:oMath>
                  </m:oMathPara>
                </a14:m>
                <a:endParaRPr lang="ru-RU" dirty="0"/>
              </a:p>
            </p:txBody>
          </p:sp>
        </mc:Choice>
        <mc:Fallback xmlns="">
          <p:sp>
            <p:nvSpPr>
              <p:cNvPr id="10" name="TextBox 9">
                <a:extLst>
                  <a:ext uri="{FF2B5EF4-FFF2-40B4-BE49-F238E27FC236}">
                    <a16:creationId xmlns:a16="http://schemas.microsoft.com/office/drawing/2014/main" id="{BBA8C25A-CE80-56BE-17A7-1282A1D2BD1A}"/>
                  </a:ext>
                </a:extLst>
              </p:cNvPr>
              <p:cNvSpPr txBox="1">
                <a:spLocks noRot="1" noChangeAspect="1" noMove="1" noResize="1" noEditPoints="1" noAdjustHandles="1" noChangeArrowheads="1" noChangeShapeType="1" noTextEdit="1"/>
              </p:cNvSpPr>
              <p:nvPr/>
            </p:nvSpPr>
            <p:spPr>
              <a:xfrm>
                <a:off x="7328967" y="2257725"/>
                <a:ext cx="2563266" cy="276999"/>
              </a:xfrm>
              <a:prstGeom prst="rect">
                <a:avLst/>
              </a:prstGeom>
              <a:blipFill>
                <a:blip r:embed="rId5"/>
                <a:stretch>
                  <a:fillRect l="-1663" t="-169565" b="-250000"/>
                </a:stretch>
              </a:blipFill>
            </p:spPr>
            <p:txBody>
              <a:bodyPr/>
              <a:lstStyle/>
              <a:p>
                <a:r>
                  <a:rPr lang="ru-RU">
                    <a:noFill/>
                  </a:rPr>
                  <a:t> </a:t>
                </a:r>
              </a:p>
            </p:txBody>
          </p:sp>
        </mc:Fallback>
      </mc:AlternateContent>
      <p:cxnSp>
        <p:nvCxnSpPr>
          <p:cNvPr id="13" name="Прямая со стрелкой 12">
            <a:extLst>
              <a:ext uri="{FF2B5EF4-FFF2-40B4-BE49-F238E27FC236}">
                <a16:creationId xmlns:a16="http://schemas.microsoft.com/office/drawing/2014/main" id="{9D60823B-84A9-2770-F46F-DA68D4A99E66}"/>
              </a:ext>
            </a:extLst>
          </p:cNvPr>
          <p:cNvCxnSpPr>
            <a:cxnSpLocks/>
          </p:cNvCxnSpPr>
          <p:nvPr/>
        </p:nvCxnSpPr>
        <p:spPr>
          <a:xfrm flipH="1">
            <a:off x="6482862" y="2534724"/>
            <a:ext cx="1277815" cy="761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DF455EAA-85AF-32A6-B7C7-5729301E7748}"/>
                  </a:ext>
                </a:extLst>
              </p:cNvPr>
              <p:cNvSpPr txBox="1"/>
              <p:nvPr/>
            </p:nvSpPr>
            <p:spPr>
              <a:xfrm>
                <a:off x="4696989" y="5609685"/>
                <a:ext cx="2745175" cy="576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i="1">
                              <a:latin typeface="Cambria Math" panose="02040503050406030204" pitchFamily="18" charset="0"/>
                            </a:rPr>
                            <m:t>𝑃</m:t>
                          </m:r>
                          <m:d>
                            <m:dPr>
                              <m:ctrlPr>
                                <a:rPr lang="en-US" i="1">
                                  <a:latin typeface="Cambria Math" panose="02040503050406030204" pitchFamily="18" charset="0"/>
                                </a:rPr>
                              </m:ctrlPr>
                            </m:dPr>
                            <m:e>
                              <m:f>
                                <m:fPr>
                                  <m:type m:val="lin"/>
                                  <m:ctrlPr>
                                    <a:rPr lang="en-US" i="1">
                                      <a:latin typeface="Cambria Math" panose="02040503050406030204" pitchFamily="18" charset="0"/>
                                    </a:rPr>
                                  </m:ctrlPr>
                                </m:fPr>
                                <m:num>
                                  <m:r>
                                    <a:rPr lang="en-US" i="1">
                                      <a:latin typeface="Cambria Math" panose="02040503050406030204" pitchFamily="18" charset="0"/>
                                    </a:rPr>
                                    <m:t>𝐷</m:t>
                                  </m:r>
                                </m:num>
                                <m:den>
                                  <m:r>
                                    <a:rPr lang="en-US" i="1">
                                      <a:latin typeface="Cambria Math" panose="02040503050406030204" pitchFamily="18" charset="0"/>
                                    </a:rPr>
                                    <m:t>𝑆</m:t>
                                  </m:r>
                                </m:den>
                              </m:f>
                            </m:e>
                          </m:d>
                        </m:num>
                        <m:den>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𝑆</m:t>
                                  </m:r>
                                </m:num>
                                <m:den>
                                  <m:r>
                                    <a:rPr lang="en-US" b="0" i="1" smtClean="0">
                                      <a:latin typeface="Cambria Math" panose="02040503050406030204" pitchFamily="18" charset="0"/>
                                    </a:rPr>
                                    <m:t>𝐷</m:t>
                                  </m:r>
                                </m:den>
                              </m:f>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den>
                      </m:f>
                      <m:r>
                        <a:rPr lang="en-US" b="0" i="1" smtClean="0">
                          <a:latin typeface="Cambria Math" panose="02040503050406030204" pitchFamily="18" charset="0"/>
                        </a:rPr>
                        <m:t>,</m:t>
                      </m:r>
                      <m:r>
                        <a:rPr lang="ru-RU" b="0" i="1" smtClean="0">
                          <a:latin typeface="Cambria Math" panose="02040503050406030204" pitchFamily="18" charset="0"/>
                        </a:rPr>
                        <m:t>  (3)</m:t>
                      </m:r>
                    </m:oMath>
                  </m:oMathPara>
                </a14:m>
                <a:endParaRPr lang="ru-RU" dirty="0"/>
              </a:p>
            </p:txBody>
          </p:sp>
        </mc:Choice>
        <mc:Fallback>
          <p:sp>
            <p:nvSpPr>
              <p:cNvPr id="19" name="TextBox 18">
                <a:extLst>
                  <a:ext uri="{FF2B5EF4-FFF2-40B4-BE49-F238E27FC236}">
                    <a16:creationId xmlns:a16="http://schemas.microsoft.com/office/drawing/2014/main" id="{DF455EAA-85AF-32A6-B7C7-5729301E7748}"/>
                  </a:ext>
                </a:extLst>
              </p:cNvPr>
              <p:cNvSpPr txBox="1">
                <a:spLocks noRot="1" noChangeAspect="1" noMove="1" noResize="1" noEditPoints="1" noAdjustHandles="1" noChangeArrowheads="1" noChangeShapeType="1" noTextEdit="1"/>
              </p:cNvSpPr>
              <p:nvPr/>
            </p:nvSpPr>
            <p:spPr>
              <a:xfrm>
                <a:off x="4696989" y="5609685"/>
                <a:ext cx="2745175" cy="576761"/>
              </a:xfrm>
              <a:prstGeom prst="rect">
                <a:avLst/>
              </a:prstGeom>
              <a:blipFill>
                <a:blip r:embed="rId6"/>
                <a:stretch>
                  <a:fillRect/>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1BF680B6-DD13-49F9-6EC4-DFAF5358A95D}"/>
              </a:ext>
            </a:extLst>
          </p:cNvPr>
          <p:cNvSpPr txBox="1"/>
          <p:nvPr/>
        </p:nvSpPr>
        <p:spPr>
          <a:xfrm>
            <a:off x="7690287" y="4629995"/>
            <a:ext cx="2151417"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Формула Байеса </a:t>
            </a:r>
            <a:endParaRPr lang="ru-RU" dirty="0"/>
          </a:p>
        </p:txBody>
      </p:sp>
    </p:spTree>
    <p:extLst>
      <p:ext uri="{BB962C8B-B14F-4D97-AF65-F5344CB8AC3E}">
        <p14:creationId xmlns:p14="http://schemas.microsoft.com/office/powerpoint/2010/main" val="342352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858E9-EF57-87FE-6C32-CE45CB70A928}"/>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59CC7DFC-1629-8FB4-1F5B-8FB33DAAD1F8}"/>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6" name="TextBox 5">
            <a:extLst>
              <a:ext uri="{FF2B5EF4-FFF2-40B4-BE49-F238E27FC236}">
                <a16:creationId xmlns:a16="http://schemas.microsoft.com/office/drawing/2014/main" id="{6A627B6D-1420-D9B6-7F1E-EEEC6AFF66BE}"/>
              </a:ext>
            </a:extLst>
          </p:cNvPr>
          <p:cNvSpPr txBox="1"/>
          <p:nvPr/>
        </p:nvSpPr>
        <p:spPr>
          <a:xfrm>
            <a:off x="838200" y="2019600"/>
            <a:ext cx="1051560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hlinkClick r:id="rId2"/>
              </a:rPr>
              <a:t>Ссылка на методическое пособие по вычислительной диагностике</a:t>
            </a:r>
            <a:endParaRPr lang="ru-RU" dirty="0">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082FCE83-1E18-A5E1-89F9-8E82BD8E0529}"/>
              </a:ext>
            </a:extLst>
          </p:cNvPr>
          <p:cNvSpPr>
            <a:spLocks noGrp="1"/>
          </p:cNvSpPr>
          <p:nvPr>
            <p:ph type="sldNum" sz="quarter" idx="12"/>
          </p:nvPr>
        </p:nvSpPr>
        <p:spPr/>
        <p:txBody>
          <a:bodyPr/>
          <a:lstStyle/>
          <a:p>
            <a:fld id="{818D4B0C-12DF-447C-B791-E379AA958CE7}" type="slidenum">
              <a:rPr lang="ru-RU" smtClean="0"/>
              <a:t>8</a:t>
            </a:fld>
            <a:endParaRPr lang="ru-RU"/>
          </a:p>
        </p:txBody>
      </p:sp>
      <p:sp>
        <p:nvSpPr>
          <p:cNvPr id="4" name="TextBox 3">
            <a:extLst>
              <a:ext uri="{FF2B5EF4-FFF2-40B4-BE49-F238E27FC236}">
                <a16:creationId xmlns:a16="http://schemas.microsoft.com/office/drawing/2014/main" id="{86DB8EF2-E89D-203D-0065-9000A1B745DC}"/>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Условные вероятности. Формула Байеса</a:t>
            </a:r>
          </a:p>
        </p:txBody>
      </p:sp>
    </p:spTree>
    <p:extLst>
      <p:ext uri="{BB962C8B-B14F-4D97-AF65-F5344CB8AC3E}">
        <p14:creationId xmlns:p14="http://schemas.microsoft.com/office/powerpoint/2010/main" val="4085592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D6BAF-2B7B-EF61-675D-C731A9423B85}"/>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A37F26F8-1E8F-DA1F-402C-7C40D94264B1}"/>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6" name="TextBox 5">
            <a:extLst>
              <a:ext uri="{FF2B5EF4-FFF2-40B4-BE49-F238E27FC236}">
                <a16:creationId xmlns:a16="http://schemas.microsoft.com/office/drawing/2014/main" id="{C732538E-3215-D92C-9F51-2DA13AC0B383}"/>
              </a:ext>
            </a:extLst>
          </p:cNvPr>
          <p:cNvSpPr txBox="1"/>
          <p:nvPr/>
        </p:nvSpPr>
        <p:spPr>
          <a:xfrm>
            <a:off x="838200" y="2019600"/>
            <a:ext cx="10515600" cy="923330"/>
          </a:xfrm>
          <a:prstGeom prst="rect">
            <a:avLst/>
          </a:prstGeom>
          <a:noFill/>
        </p:spPr>
        <p:txBody>
          <a:bodyPr wrap="square">
            <a:spAutoFit/>
          </a:bodyPr>
          <a:lstStyle/>
          <a:p>
            <a:r>
              <a:rPr lang="ru-RU" b="1" dirty="0">
                <a:latin typeface="Arial" panose="020B0604020202020204" pitchFamily="34" charset="0"/>
                <a:cs typeface="Arial" panose="020B0604020202020204" pitchFamily="34" charset="0"/>
              </a:rPr>
              <a:t>Правдоподобие некоторой гипотезы (диагноза) </a:t>
            </a:r>
            <a:r>
              <a:rPr lang="ru-RU" dirty="0">
                <a:latin typeface="Arial" panose="020B0604020202020204" pitchFamily="34" charset="0"/>
                <a:cs typeface="Arial" panose="020B0604020202020204" pitchFamily="34" charset="0"/>
              </a:rPr>
              <a:t>представляет собой вероятность действительного наблюдения результатов эксперимента (симптомов) при данной гипотезе (данном диагнозе).</a:t>
            </a:r>
          </a:p>
        </p:txBody>
      </p:sp>
      <p:sp>
        <p:nvSpPr>
          <p:cNvPr id="2" name="TextBox 1">
            <a:extLst>
              <a:ext uri="{FF2B5EF4-FFF2-40B4-BE49-F238E27FC236}">
                <a16:creationId xmlns:a16="http://schemas.microsoft.com/office/drawing/2014/main" id="{1E5919AB-EB80-AFDA-2218-1698967D6EF6}"/>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Правдоподобие. Отношение правдоподобия</a:t>
            </a:r>
          </a:p>
        </p:txBody>
      </p:sp>
      <p:sp>
        <p:nvSpPr>
          <p:cNvPr id="3" name="Номер слайда 2">
            <a:extLst>
              <a:ext uri="{FF2B5EF4-FFF2-40B4-BE49-F238E27FC236}">
                <a16:creationId xmlns:a16="http://schemas.microsoft.com/office/drawing/2014/main" id="{5D1154F2-C4A2-0AB3-7E55-4843D55B87EA}"/>
              </a:ext>
            </a:extLst>
          </p:cNvPr>
          <p:cNvSpPr>
            <a:spLocks noGrp="1"/>
          </p:cNvSpPr>
          <p:nvPr>
            <p:ph type="sldNum" sz="quarter" idx="12"/>
          </p:nvPr>
        </p:nvSpPr>
        <p:spPr/>
        <p:txBody>
          <a:bodyPr/>
          <a:lstStyle/>
          <a:p>
            <a:fld id="{818D4B0C-12DF-447C-B791-E379AA958CE7}" type="slidenum">
              <a:rPr lang="ru-RU" smtClean="0"/>
              <a:t>9</a:t>
            </a:fld>
            <a:endParaRPr lang="ru-RU"/>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CD618F-81FA-FA5F-98D6-1A93B367A271}"/>
                  </a:ext>
                </a:extLst>
              </p:cNvPr>
              <p:cNvSpPr txBox="1"/>
              <p:nvPr/>
            </p:nvSpPr>
            <p:spPr>
              <a:xfrm>
                <a:off x="838198" y="4101347"/>
                <a:ext cx="10442332" cy="96539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В зависимости от того, что является переменной в вероятностной функции</a:t>
                </a:r>
                <a:r>
                  <a:rPr lang="ru-RU">
                    <a:latin typeface="Arial" panose="020B0604020202020204" pitchFamily="34" charset="0"/>
                    <a:cs typeface="Arial" panose="020B0604020202020204" pitchFamily="34" charset="0"/>
                  </a:rPr>
                  <a:t>, используется  термин </a:t>
                </a:r>
                <a:r>
                  <a:rPr lang="ru-RU" dirty="0">
                    <a:latin typeface="Arial" panose="020B0604020202020204" pitchFamily="34" charset="0"/>
                    <a:cs typeface="Arial" panose="020B0604020202020204" pitchFamily="34" charset="0"/>
                  </a:rPr>
                  <a:t>«условная вероятность симптома </a:t>
                </a:r>
                <a14:m>
                  <m:oMath xmlns:m="http://schemas.openxmlformats.org/officeDocument/2006/math">
                    <m:sSub>
                      <m:sSubPr>
                        <m:ctrlPr>
                          <a:rPr lang="ru-RU"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𝑖</m:t>
                        </m:r>
                      </m:sub>
                    </m:sSub>
                  </m:oMath>
                </a14:m>
                <a:r>
                  <a:rPr lang="ru-RU" dirty="0">
                    <a:latin typeface="Arial" panose="020B0604020202020204" pitchFamily="34" charset="0"/>
                    <a:cs typeface="Arial" panose="020B0604020202020204" pitchFamily="34" charset="0"/>
                  </a:rPr>
                  <a:t> при диагнозе </a:t>
                </a:r>
                <a14:m>
                  <m:oMath xmlns:m="http://schemas.openxmlformats.org/officeDocument/2006/math">
                    <m:sSub>
                      <m:sSubPr>
                        <m:ctrlPr>
                          <a:rPr lang="ru-RU"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den>
                        </m:f>
                      </m:e>
                    </m:d>
                  </m:oMath>
                </a14:m>
                <a:r>
                  <a:rPr lang="ru-RU" dirty="0">
                    <a:latin typeface="Arial" panose="020B0604020202020204" pitchFamily="34" charset="0"/>
                    <a:cs typeface="Arial" panose="020B0604020202020204" pitchFamily="34" charset="0"/>
                  </a:rPr>
                  <a:t>» или «правдоподобие диагноза </a:t>
                </a:r>
                <a14:m>
                  <m:oMath xmlns:m="http://schemas.openxmlformats.org/officeDocument/2006/math">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𝑗</m:t>
                        </m:r>
                      </m:sub>
                    </m:sSub>
                  </m:oMath>
                </a14:m>
                <a:r>
                  <a:rPr lang="ru-RU" dirty="0">
                    <a:latin typeface="Arial" panose="020B0604020202020204" pitchFamily="34" charset="0"/>
                    <a:cs typeface="Arial" panose="020B0604020202020204" pitchFamily="34" charset="0"/>
                  </a:rPr>
                  <a:t> при наличии симптома </a:t>
                </a:r>
                <a14:m>
                  <m:oMath xmlns:m="http://schemas.openxmlformats.org/officeDocument/2006/math">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1</m:t>
                        </m:r>
                      </m:sub>
                    </m:sSub>
                    <m:r>
                      <a:rPr lang="en-US" b="0" i="0" smtClean="0">
                        <a:latin typeface="Cambria Math" panose="02040503050406030204" pitchFamily="18" charset="0"/>
                        <a:cs typeface="Arial" panose="020B0604020202020204" pitchFamily="34" charset="0"/>
                      </a:rPr>
                      <m:t> </m:t>
                    </m:r>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𝑗</m:t>
                                </m:r>
                              </m:sub>
                            </m:sSub>
                          </m:den>
                        </m:f>
                      </m:e>
                    </m:d>
                  </m:oMath>
                </a14:m>
                <a:r>
                  <a:rPr lang="ru-RU"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endParaRPr lang="ru-RU"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2FCD618F-81FA-FA5F-98D6-1A93B367A271}"/>
                  </a:ext>
                </a:extLst>
              </p:cNvPr>
              <p:cNvSpPr txBox="1">
                <a:spLocks noRot="1" noChangeAspect="1" noMove="1" noResize="1" noEditPoints="1" noAdjustHandles="1" noChangeArrowheads="1" noChangeShapeType="1" noTextEdit="1"/>
              </p:cNvSpPr>
              <p:nvPr/>
            </p:nvSpPr>
            <p:spPr>
              <a:xfrm>
                <a:off x="838198" y="4101347"/>
                <a:ext cx="10442332" cy="965392"/>
              </a:xfrm>
              <a:prstGeom prst="rect">
                <a:avLst/>
              </a:prstGeom>
              <a:blipFill>
                <a:blip r:embed="rId2"/>
                <a:stretch>
                  <a:fillRect l="-467" t="-15823" b="-65823"/>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E5BD789-88BB-3F32-C430-1FA927FA6487}"/>
                  </a:ext>
                </a:extLst>
              </p:cNvPr>
              <p:cNvSpPr txBox="1"/>
              <p:nvPr/>
            </p:nvSpPr>
            <p:spPr>
              <a:xfrm>
                <a:off x="838198" y="3027807"/>
                <a:ext cx="10816989"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Величина </a:t>
                </a:r>
                <a14:m>
                  <m:oMath xmlns:m="http://schemas.openxmlformats.org/officeDocument/2006/math">
                    <m:r>
                      <a:rPr lang="en-US" b="0" i="1" smtClean="0">
                        <a:latin typeface="Cambria Math" panose="02040503050406030204" pitchFamily="18" charset="0"/>
                        <a:cs typeface="Arial" panose="020B0604020202020204" pitchFamily="34" charset="0"/>
                      </a:rPr>
                      <m:t>𝑃</m:t>
                    </m:r>
                    <m:d>
                      <m:dPr>
                        <m:ctrlPr>
                          <a:rPr lang="en-US" b="0" i="1" smtClean="0">
                            <a:latin typeface="Cambria Math" panose="02040503050406030204" pitchFamily="18" charset="0"/>
                            <a:cs typeface="Arial" panose="020B0604020202020204" pitchFamily="34" charset="0"/>
                          </a:rPr>
                        </m:ctrlPr>
                      </m:dPr>
                      <m:e>
                        <m:f>
                          <m:fPr>
                            <m:type m:val="lin"/>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𝑆</m:t>
                            </m:r>
                          </m:num>
                          <m:den>
                            <m:r>
                              <a:rPr lang="en-US" b="0" i="1" smtClean="0">
                                <a:latin typeface="Cambria Math" panose="02040503050406030204" pitchFamily="18" charset="0"/>
                                <a:cs typeface="Arial" panose="020B0604020202020204" pitchFamily="34" charset="0"/>
                              </a:rPr>
                              <m:t>𝐷</m:t>
                            </m:r>
                          </m:den>
                        </m:f>
                      </m:e>
                    </m:d>
                    <m:r>
                      <a:rPr lang="en-US" b="0" i="0" smtClean="0">
                        <a:latin typeface="Cambria Math" panose="02040503050406030204" pitchFamily="18" charset="0"/>
                        <a:cs typeface="Arial" panose="020B0604020202020204" pitchFamily="34" charset="0"/>
                      </a:rPr>
                      <m:t> </m:t>
                    </m:r>
                  </m:oMath>
                </a14:m>
                <a:r>
                  <a:rPr lang="ru-RU" dirty="0">
                    <a:latin typeface="Arial" panose="020B0604020202020204" pitchFamily="34" charset="0"/>
                    <a:cs typeface="Arial" panose="020B0604020202020204" pitchFamily="34" charset="0"/>
                  </a:rPr>
                  <a:t>и есть правдоподобие.</a:t>
                </a:r>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Таким образом, теорема Байеса говорит, что конечная вероятность гипотезы </a:t>
                </a:r>
                <a14:m>
                  <m:oMath xmlns:m="http://schemas.openxmlformats.org/officeDocument/2006/math">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cs typeface="Arial" panose="020B0604020202020204" pitchFamily="34" charset="0"/>
                              </a:rPr>
                              <m:t>𝑆</m:t>
                            </m:r>
                          </m:den>
                        </m:f>
                      </m:e>
                    </m:d>
                  </m:oMath>
                </a14:m>
                <a:r>
                  <a:rPr lang="ru-RU" dirty="0">
                    <a:latin typeface="Arial" panose="020B0604020202020204" pitchFamily="34" charset="0"/>
                    <a:cs typeface="Arial" panose="020B0604020202020204" pitchFamily="34" charset="0"/>
                  </a:rPr>
                  <a:t> пропорциональна ее начальной вероятности </a:t>
                </a:r>
                <a14:m>
                  <m:oMath xmlns:m="http://schemas.openxmlformats.org/officeDocument/2006/math">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𝐷</m:t>
                        </m:r>
                      </m:e>
                    </m:d>
                  </m:oMath>
                </a14:m>
                <a:r>
                  <a:rPr lang="ru-RU" dirty="0">
                    <a:latin typeface="Arial" panose="020B0604020202020204" pitchFamily="34" charset="0"/>
                    <a:cs typeface="Arial" panose="020B0604020202020204" pitchFamily="34" charset="0"/>
                  </a:rPr>
                  <a:t>, умноженной на ее правдоподобие</a:t>
                </a:r>
                <a:r>
                  <a:rPr lang="en-US" dirty="0">
                    <a:cs typeface="Arial" panose="020B0604020202020204" pitchFamily="34" charset="0"/>
                  </a:rPr>
                  <a:t> </a:t>
                </a:r>
                <a14:m>
                  <m:oMath xmlns:m="http://schemas.openxmlformats.org/officeDocument/2006/math">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𝑆</m:t>
                            </m:r>
                          </m:num>
                          <m:den>
                            <m:r>
                              <a:rPr lang="en-US" i="1">
                                <a:latin typeface="Cambria Math" panose="02040503050406030204" pitchFamily="18" charset="0"/>
                                <a:cs typeface="Arial" panose="020B0604020202020204" pitchFamily="34" charset="0"/>
                              </a:rPr>
                              <m:t>𝐷</m:t>
                            </m:r>
                          </m:den>
                        </m:f>
                      </m:e>
                    </m:d>
                  </m:oMath>
                </a14:m>
                <a:r>
                  <a:rPr lang="ru-RU" dirty="0">
                    <a:latin typeface="Arial" panose="020B0604020202020204" pitchFamily="34" charset="0"/>
                    <a:cs typeface="Arial" panose="020B0604020202020204" pitchFamily="34" charset="0"/>
                  </a:rPr>
                  <a:t>. </a:t>
                </a:r>
              </a:p>
            </p:txBody>
          </p:sp>
        </mc:Choice>
        <mc:Fallback xmlns="">
          <p:sp>
            <p:nvSpPr>
              <p:cNvPr id="11" name="TextBox 10">
                <a:extLst>
                  <a:ext uri="{FF2B5EF4-FFF2-40B4-BE49-F238E27FC236}">
                    <a16:creationId xmlns:a16="http://schemas.microsoft.com/office/drawing/2014/main" id="{2E5BD789-88BB-3F32-C430-1FA927FA6487}"/>
                  </a:ext>
                </a:extLst>
              </p:cNvPr>
              <p:cNvSpPr txBox="1">
                <a:spLocks noRot="1" noChangeAspect="1" noMove="1" noResize="1" noEditPoints="1" noAdjustHandles="1" noChangeArrowheads="1" noChangeShapeType="1" noTextEdit="1"/>
              </p:cNvSpPr>
              <p:nvPr/>
            </p:nvSpPr>
            <p:spPr>
              <a:xfrm>
                <a:off x="838198" y="3027807"/>
                <a:ext cx="10816989" cy="923330"/>
              </a:xfrm>
              <a:prstGeom prst="rect">
                <a:avLst/>
              </a:prstGeom>
              <a:blipFill>
                <a:blip r:embed="rId3"/>
                <a:stretch>
                  <a:fillRect l="-451" t="-46358" b="-70861"/>
                </a:stretch>
              </a:blipFill>
            </p:spPr>
            <p:txBody>
              <a:bodyPr/>
              <a:lstStyle/>
              <a:p>
                <a:r>
                  <a:rPr lang="ru-RU">
                    <a:noFill/>
                  </a:rPr>
                  <a:t> </a:t>
                </a:r>
              </a:p>
            </p:txBody>
          </p:sp>
        </mc:Fallback>
      </mc:AlternateContent>
    </p:spTree>
    <p:extLst>
      <p:ext uri="{BB962C8B-B14F-4D97-AF65-F5344CB8AC3E}">
        <p14:creationId xmlns:p14="http://schemas.microsoft.com/office/powerpoint/2010/main" val="112093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ABCD-EA6E-1D80-C924-372D0DC91B80}"/>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2865AD04-5129-617B-99AE-26162EEFA240}"/>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6" name="TextBox 5">
            <a:extLst>
              <a:ext uri="{FF2B5EF4-FFF2-40B4-BE49-F238E27FC236}">
                <a16:creationId xmlns:a16="http://schemas.microsoft.com/office/drawing/2014/main" id="{980D661C-E10E-AE20-652B-AF081F1DEC3B}"/>
              </a:ext>
            </a:extLst>
          </p:cNvPr>
          <p:cNvSpPr txBox="1"/>
          <p:nvPr/>
        </p:nvSpPr>
        <p:spPr>
          <a:xfrm>
            <a:off x="838200" y="2019600"/>
            <a:ext cx="10515600"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диагностики двух заболеваний наиболее удобно использовать понятие </a:t>
            </a:r>
            <a:r>
              <a:rPr lang="ru-RU" b="1" dirty="0">
                <a:latin typeface="Arial" panose="020B0604020202020204" pitchFamily="34" charset="0"/>
                <a:cs typeface="Arial" panose="020B0604020202020204" pitchFamily="34" charset="0"/>
              </a:rPr>
              <a:t>отношения правдоподобия</a:t>
            </a:r>
            <a:r>
              <a:rPr lang="ru-RU" dirty="0">
                <a:latin typeface="Arial" panose="020B0604020202020204" pitchFamily="34" charset="0"/>
                <a:cs typeface="Arial" panose="020B0604020202020204" pitchFamily="34" charset="0"/>
              </a:rPr>
              <a:t>:</a:t>
            </a:r>
          </a:p>
        </p:txBody>
      </p:sp>
      <p:sp>
        <p:nvSpPr>
          <p:cNvPr id="2" name="TextBox 1">
            <a:extLst>
              <a:ext uri="{FF2B5EF4-FFF2-40B4-BE49-F238E27FC236}">
                <a16:creationId xmlns:a16="http://schemas.microsoft.com/office/drawing/2014/main" id="{B15A377C-D1AA-8527-323D-ECC0EDDE524A}"/>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Правдоподобие. Отношение правдоподобия</a:t>
            </a:r>
          </a:p>
        </p:txBody>
      </p:sp>
      <p:sp>
        <p:nvSpPr>
          <p:cNvPr id="3" name="Номер слайда 2">
            <a:extLst>
              <a:ext uri="{FF2B5EF4-FFF2-40B4-BE49-F238E27FC236}">
                <a16:creationId xmlns:a16="http://schemas.microsoft.com/office/drawing/2014/main" id="{9A5FCDA0-EC5B-9935-9A47-B1DDBF81AEA6}"/>
              </a:ext>
            </a:extLst>
          </p:cNvPr>
          <p:cNvSpPr>
            <a:spLocks noGrp="1"/>
          </p:cNvSpPr>
          <p:nvPr>
            <p:ph type="sldNum" sz="quarter" idx="12"/>
          </p:nvPr>
        </p:nvSpPr>
        <p:spPr/>
        <p:txBody>
          <a:bodyPr/>
          <a:lstStyle/>
          <a:p>
            <a:fld id="{818D4B0C-12DF-447C-B791-E379AA958CE7}" type="slidenum">
              <a:rPr lang="ru-RU" smtClean="0"/>
              <a:t>10</a:t>
            </a:fld>
            <a:endParaRPr lang="ru-RU"/>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0BFB36F-FB6C-36D4-261F-9890204BE122}"/>
                  </a:ext>
                </a:extLst>
              </p:cNvPr>
              <p:cNvSpPr txBox="1"/>
              <p:nvPr/>
            </p:nvSpPr>
            <p:spPr>
              <a:xfrm>
                <a:off x="2736376" y="2684606"/>
                <a:ext cx="60937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Arial" panose="020B0604020202020204" pitchFamily="34" charset="0"/>
                        </a:rPr>
                        <m:t>𝐿</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ru-RU"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𝑆</m:t>
                          </m:r>
                        </m:e>
                      </m:d>
                      <m:r>
                        <a:rPr lang="ru-RU" b="0" i="1" smtClean="0">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𝑆</m:t>
                              </m:r>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1</m:t>
                                  </m:r>
                                </m:sub>
                              </m:sSub>
                            </m:den>
                          </m:f>
                        </m:e>
                      </m:d>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𝑆</m:t>
                              </m:r>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den>
                          </m:f>
                        </m:e>
                      </m:d>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(8)</m:t>
                      </m:r>
                    </m:oMath>
                  </m:oMathPara>
                </a14:m>
                <a:endParaRPr lang="ru-RU" dirty="0"/>
              </a:p>
            </p:txBody>
          </p:sp>
        </mc:Choice>
        <mc:Fallback xmlns="">
          <p:sp>
            <p:nvSpPr>
              <p:cNvPr id="5" name="TextBox 4">
                <a:extLst>
                  <a:ext uri="{FF2B5EF4-FFF2-40B4-BE49-F238E27FC236}">
                    <a16:creationId xmlns:a16="http://schemas.microsoft.com/office/drawing/2014/main" id="{B0BFB36F-FB6C-36D4-261F-9890204BE122}"/>
                  </a:ext>
                </a:extLst>
              </p:cNvPr>
              <p:cNvSpPr txBox="1">
                <a:spLocks noRot="1" noChangeAspect="1" noMove="1" noResize="1" noEditPoints="1" noAdjustHandles="1" noChangeArrowheads="1" noChangeShapeType="1" noTextEdit="1"/>
              </p:cNvSpPr>
              <p:nvPr/>
            </p:nvSpPr>
            <p:spPr>
              <a:xfrm>
                <a:off x="2736376" y="2684606"/>
                <a:ext cx="6093724" cy="369332"/>
              </a:xfrm>
              <a:prstGeom prst="rect">
                <a:avLst/>
              </a:prstGeom>
              <a:blipFill>
                <a:blip r:embed="rId2"/>
                <a:stretch>
                  <a:fillRect t="-116393" b="-17541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D911F08-4B6B-E581-DA19-A3A7E15DB630}"/>
                  </a:ext>
                </a:extLst>
              </p:cNvPr>
              <p:cNvSpPr txBox="1"/>
              <p:nvPr/>
            </p:nvSpPr>
            <p:spPr>
              <a:xfrm>
                <a:off x="838198" y="3161835"/>
                <a:ext cx="10694159"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двух диагнозов </a:t>
                </a:r>
                <a14:m>
                  <m:oMath xmlns:m="http://schemas.openxmlformats.org/officeDocument/2006/math">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и </a:t>
                </a:r>
                <a14:m>
                  <m:oMath xmlns:m="http://schemas.openxmlformats.org/officeDocument/2006/math">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oMath>
                </a14:m>
                <a:r>
                  <a:rPr lang="ru-RU" dirty="0">
                    <a:latin typeface="Arial" panose="020B0604020202020204" pitchFamily="34" charset="0"/>
                    <a:cs typeface="Arial" panose="020B0604020202020204" pitchFamily="34" charset="0"/>
                  </a:rPr>
                  <a:t> и одного и того же симптома (комплекса симптомов) </a:t>
                </a:r>
                <a14:m>
                  <m:oMath xmlns:m="http://schemas.openxmlformats.org/officeDocument/2006/math">
                    <m:r>
                      <a:rPr lang="en-US" i="1">
                        <a:latin typeface="Cambria Math" panose="02040503050406030204" pitchFamily="18" charset="0"/>
                        <a:cs typeface="Arial" panose="020B0604020202020204" pitchFamily="34" charset="0"/>
                      </a:rPr>
                      <m:t>𝑆</m:t>
                    </m:r>
                  </m:oMath>
                </a14:m>
                <a:r>
                  <a:rPr lang="ru-RU" dirty="0">
                    <a:latin typeface="Arial" panose="020B0604020202020204" pitchFamily="34" charset="0"/>
                    <a:cs typeface="Arial" panose="020B0604020202020204" pitchFamily="34" charset="0"/>
                  </a:rPr>
                  <a:t> из формулы Байеса (2) следует, что отношение апостериорных вероятностей диагнозов равно</a:t>
                </a:r>
              </a:p>
            </p:txBody>
          </p:sp>
        </mc:Choice>
        <mc:Fallback xmlns="">
          <p:sp>
            <p:nvSpPr>
              <p:cNvPr id="13" name="TextBox 12">
                <a:extLst>
                  <a:ext uri="{FF2B5EF4-FFF2-40B4-BE49-F238E27FC236}">
                    <a16:creationId xmlns:a16="http://schemas.microsoft.com/office/drawing/2014/main" id="{5D911F08-4B6B-E581-DA19-A3A7E15DB630}"/>
                  </a:ext>
                </a:extLst>
              </p:cNvPr>
              <p:cNvSpPr txBox="1">
                <a:spLocks noRot="1" noChangeAspect="1" noMove="1" noResize="1" noEditPoints="1" noAdjustHandles="1" noChangeArrowheads="1" noChangeShapeType="1" noTextEdit="1"/>
              </p:cNvSpPr>
              <p:nvPr/>
            </p:nvSpPr>
            <p:spPr>
              <a:xfrm>
                <a:off x="838198" y="3161835"/>
                <a:ext cx="10694159" cy="646331"/>
              </a:xfrm>
              <a:prstGeom prst="rect">
                <a:avLst/>
              </a:prstGeom>
              <a:blipFill>
                <a:blip r:embed="rId3"/>
                <a:stretch>
                  <a:fillRect l="-456" t="-5660" b="-141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BF632F4-FBFD-1202-487C-C81400D02FC0}"/>
                  </a:ext>
                </a:extLst>
              </p:cNvPr>
              <p:cNvSpPr txBox="1"/>
              <p:nvPr/>
            </p:nvSpPr>
            <p:spPr>
              <a:xfrm>
                <a:off x="3548492" y="3903897"/>
                <a:ext cx="4962512" cy="5828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ru-RU"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num>
                                <m:den>
                                  <m:r>
                                    <a:rPr lang="en-US" i="1">
                                      <a:latin typeface="Cambria Math" panose="02040503050406030204" pitchFamily="18" charset="0"/>
                                      <a:cs typeface="Arial" panose="020B0604020202020204" pitchFamily="34" charset="0"/>
                                    </a:rPr>
                                    <m:t>𝑆</m:t>
                                  </m:r>
                                </m:den>
                              </m:f>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num>
                                <m:den>
                                  <m:r>
                                    <a:rPr lang="en-US" i="1">
                                      <a:latin typeface="Cambria Math" panose="02040503050406030204" pitchFamily="18" charset="0"/>
                                      <a:cs typeface="Arial" panose="020B0604020202020204" pitchFamily="34" charset="0"/>
                                    </a:rPr>
                                    <m:t>𝑆</m:t>
                                  </m:r>
                                </m:den>
                              </m:f>
                            </m:e>
                          </m:d>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𝑆</m:t>
                                  </m:r>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den>
                              </m:f>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𝑆</m:t>
                                  </m:r>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den>
                              </m:f>
                            </m:e>
                          </m:d>
                        </m:den>
                      </m:f>
                      <m:f>
                        <m:fPr>
                          <m:ctrlPr>
                            <a:rPr lang="en-US" b="0"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e>
                          </m:d>
                        </m:den>
                      </m:f>
                      <m:r>
                        <a:rPr lang="en-US" b="0" i="1" smtClean="0">
                          <a:latin typeface="Cambria Math" panose="02040503050406030204" pitchFamily="18" charset="0"/>
                        </a:rPr>
                        <m:t>=</m:t>
                      </m:r>
                      <m:r>
                        <a:rPr lang="en-US" i="1">
                          <a:latin typeface="Cambria Math" panose="02040503050406030204" pitchFamily="18" charset="0"/>
                          <a:cs typeface="Arial" panose="020B0604020202020204" pitchFamily="34" charset="0"/>
                        </a:rPr>
                        <m:t>𝐿</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𝑆</m:t>
                          </m:r>
                        </m:e>
                      </m:d>
                      <m:f>
                        <m:fPr>
                          <m:ctrlPr>
                            <a:rPr lang="en-US" b="0"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e>
                          </m:d>
                        </m:den>
                      </m:f>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(9)</m:t>
                      </m:r>
                    </m:oMath>
                  </m:oMathPara>
                </a14:m>
                <a:endParaRPr lang="ru-RU" dirty="0"/>
              </a:p>
            </p:txBody>
          </p:sp>
        </mc:Choice>
        <mc:Fallback xmlns="">
          <p:sp>
            <p:nvSpPr>
              <p:cNvPr id="14" name="TextBox 13">
                <a:extLst>
                  <a:ext uri="{FF2B5EF4-FFF2-40B4-BE49-F238E27FC236}">
                    <a16:creationId xmlns:a16="http://schemas.microsoft.com/office/drawing/2014/main" id="{BBF632F4-FBFD-1202-487C-C81400D02FC0}"/>
                  </a:ext>
                </a:extLst>
              </p:cNvPr>
              <p:cNvSpPr txBox="1">
                <a:spLocks noRot="1" noChangeAspect="1" noMove="1" noResize="1" noEditPoints="1" noAdjustHandles="1" noChangeArrowheads="1" noChangeShapeType="1" noTextEdit="1"/>
              </p:cNvSpPr>
              <p:nvPr/>
            </p:nvSpPr>
            <p:spPr>
              <a:xfrm>
                <a:off x="3548492" y="3903897"/>
                <a:ext cx="4962512" cy="582852"/>
              </a:xfrm>
              <a:prstGeom prst="rect">
                <a:avLst/>
              </a:prstGeom>
              <a:blipFill>
                <a:blip r:embed="rId4"/>
                <a:stretch>
                  <a:fillRect/>
                </a:stretch>
              </a:blipFill>
            </p:spPr>
            <p:txBody>
              <a:bodyPr/>
              <a:lstStyle/>
              <a:p>
                <a:r>
                  <a:rPr lang="ru-RU">
                    <a:noFill/>
                  </a:rPr>
                  <a:t> </a:t>
                </a:r>
              </a:p>
            </p:txBody>
          </p:sp>
        </mc:Fallback>
      </mc:AlternateContent>
      <p:sp>
        <p:nvSpPr>
          <p:cNvPr id="16" name="TextBox 15">
            <a:extLst>
              <a:ext uri="{FF2B5EF4-FFF2-40B4-BE49-F238E27FC236}">
                <a16:creationId xmlns:a16="http://schemas.microsoft.com/office/drawing/2014/main" id="{6958ED40-6E51-7DD3-16EC-FD8BD6BD3E7D}"/>
              </a:ext>
            </a:extLst>
          </p:cNvPr>
          <p:cNvSpPr txBox="1"/>
          <p:nvPr/>
        </p:nvSpPr>
        <p:spPr>
          <a:xfrm>
            <a:off x="928868" y="4657907"/>
            <a:ext cx="609407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условно независимых симптомов</a:t>
            </a:r>
            <a:endParaRPr lang="ru-RU"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7507BCA-5BB9-10F8-5C32-5BFBEA90304F}"/>
                  </a:ext>
                </a:extLst>
              </p:cNvPr>
              <p:cNvSpPr txBox="1"/>
              <p:nvPr/>
            </p:nvSpPr>
            <p:spPr>
              <a:xfrm>
                <a:off x="3108654" y="5027239"/>
                <a:ext cx="6962547"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ru-RU"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num>
                                <m:den>
                                  <m:sSub>
                                    <m:sSubPr>
                                      <m:ctrlPr>
                                        <a:rPr lang="ru-RU"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2</m:t>
                                      </m:r>
                                    </m:sub>
                                  </m:sSub>
                                  <m:r>
                                    <a:rPr lang="en-US" b="0" i="1" smtClean="0">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𝑁</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𝑁</m:t>
                                  </m:r>
                                </m:sub>
                              </m:sSub>
                            </m:e>
                          </m:d>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f>
                            <m:fPr>
                              <m:ctrlPr>
                                <a:rPr lang="en-US"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den>
                                  </m:f>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den>
                                  </m:f>
                                </m:e>
                              </m:d>
                            </m:den>
                          </m:f>
                          <m:f>
                            <m:fPr>
                              <m:ctrlPr>
                                <a:rPr lang="en-US"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e>
                              </m:d>
                            </m:den>
                          </m:f>
                        </m:e>
                      </m:nary>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a:rPr lang="en-US" i="1">
                              <a:latin typeface="Cambria Math" panose="02040503050406030204" pitchFamily="18" charset="0"/>
                              <a:cs typeface="Arial" panose="020B0604020202020204" pitchFamily="34" charset="0"/>
                            </a:rPr>
                            <m:t>𝐿</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e>
                          </m:d>
                          <m:f>
                            <m:fPr>
                              <m:ctrlPr>
                                <a:rPr lang="en-US"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e>
                              </m:d>
                            </m:den>
                          </m:f>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(10)</m:t>
                          </m:r>
                        </m:e>
                      </m:nary>
                    </m:oMath>
                  </m:oMathPara>
                </a14:m>
                <a:endParaRPr lang="ru-RU" dirty="0"/>
              </a:p>
            </p:txBody>
          </p:sp>
        </mc:Choice>
        <mc:Fallback xmlns="">
          <p:sp>
            <p:nvSpPr>
              <p:cNvPr id="17" name="TextBox 16">
                <a:extLst>
                  <a:ext uri="{FF2B5EF4-FFF2-40B4-BE49-F238E27FC236}">
                    <a16:creationId xmlns:a16="http://schemas.microsoft.com/office/drawing/2014/main" id="{F7507BCA-5BB9-10F8-5C32-5BFBEA90304F}"/>
                  </a:ext>
                </a:extLst>
              </p:cNvPr>
              <p:cNvSpPr txBox="1">
                <a:spLocks noRot="1" noChangeAspect="1" noMove="1" noResize="1" noEditPoints="1" noAdjustHandles="1" noChangeArrowheads="1" noChangeShapeType="1" noTextEdit="1"/>
              </p:cNvSpPr>
              <p:nvPr/>
            </p:nvSpPr>
            <p:spPr>
              <a:xfrm>
                <a:off x="3108654" y="5027239"/>
                <a:ext cx="6962547" cy="778931"/>
              </a:xfrm>
              <a:prstGeom prst="rect">
                <a:avLst/>
              </a:prstGeom>
              <a:blipFill>
                <a:blip r:embed="rId5"/>
                <a:stretch>
                  <a:fillRect/>
                </a:stretch>
              </a:blipFill>
            </p:spPr>
            <p:txBody>
              <a:bodyPr/>
              <a:lstStyle/>
              <a:p>
                <a:r>
                  <a:rPr lang="ru-RU">
                    <a:noFill/>
                  </a:rPr>
                  <a:t> </a:t>
                </a:r>
              </a:p>
            </p:txBody>
          </p:sp>
        </mc:Fallback>
      </mc:AlternateContent>
      <p:sp>
        <p:nvSpPr>
          <p:cNvPr id="23" name="TextBox 22">
            <a:extLst>
              <a:ext uri="{FF2B5EF4-FFF2-40B4-BE49-F238E27FC236}">
                <a16:creationId xmlns:a16="http://schemas.microsoft.com/office/drawing/2014/main" id="{CB2AC75D-C194-E63C-8432-0B62811984DB}"/>
              </a:ext>
            </a:extLst>
          </p:cNvPr>
          <p:cNvSpPr txBox="1"/>
          <p:nvPr/>
        </p:nvSpPr>
        <p:spPr>
          <a:xfrm>
            <a:off x="838198" y="5836810"/>
            <a:ext cx="9370673"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Соотношение позволяет по отношениям правдоподобия диагнозов для разных симптомов и по априорным вероятностям заболеваний определить во сколько раз</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одно из них вероятнее другого.</a:t>
            </a:r>
          </a:p>
        </p:txBody>
      </p:sp>
    </p:spTree>
    <p:extLst>
      <p:ext uri="{BB962C8B-B14F-4D97-AF65-F5344CB8AC3E}">
        <p14:creationId xmlns:p14="http://schemas.microsoft.com/office/powerpoint/2010/main" val="888664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51C5E-D3DD-F62E-4322-324509D8B854}"/>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B7C26E3D-8FF7-F79E-9372-87C3C155DA7D}"/>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p:sp>
        <p:nvSpPr>
          <p:cNvPr id="6" name="TextBox 5">
            <a:extLst>
              <a:ext uri="{FF2B5EF4-FFF2-40B4-BE49-F238E27FC236}">
                <a16:creationId xmlns:a16="http://schemas.microsoft.com/office/drawing/2014/main" id="{DEFEBBA4-87E2-79C3-65A4-525FE0DE13FD}"/>
              </a:ext>
            </a:extLst>
          </p:cNvPr>
          <p:cNvSpPr txBox="1"/>
          <p:nvPr/>
        </p:nvSpPr>
        <p:spPr>
          <a:xfrm>
            <a:off x="838200" y="2019600"/>
            <a:ext cx="10515600"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упрощения расчетов умножение вероятностей симптомов и заболеваний заменяют сложением их логарифмов.</a:t>
            </a:r>
          </a:p>
        </p:txBody>
      </p:sp>
      <p:sp>
        <p:nvSpPr>
          <p:cNvPr id="2" name="TextBox 1">
            <a:extLst>
              <a:ext uri="{FF2B5EF4-FFF2-40B4-BE49-F238E27FC236}">
                <a16:creationId xmlns:a16="http://schemas.microsoft.com/office/drawing/2014/main" id="{0739F91A-C349-3C4B-C05C-AE2DEA8565DC}"/>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Диагностические коэффициенты</a:t>
            </a:r>
          </a:p>
        </p:txBody>
      </p:sp>
      <p:sp>
        <p:nvSpPr>
          <p:cNvPr id="3" name="Номер слайда 2">
            <a:extLst>
              <a:ext uri="{FF2B5EF4-FFF2-40B4-BE49-F238E27FC236}">
                <a16:creationId xmlns:a16="http://schemas.microsoft.com/office/drawing/2014/main" id="{C141D8DC-F457-D7E7-42DD-DC9343060CC3}"/>
              </a:ext>
            </a:extLst>
          </p:cNvPr>
          <p:cNvSpPr>
            <a:spLocks noGrp="1"/>
          </p:cNvSpPr>
          <p:nvPr>
            <p:ph type="sldNum" sz="quarter" idx="12"/>
          </p:nvPr>
        </p:nvSpPr>
        <p:spPr/>
        <p:txBody>
          <a:bodyPr/>
          <a:lstStyle/>
          <a:p>
            <a:fld id="{818D4B0C-12DF-447C-B791-E379AA958CE7}" type="slidenum">
              <a:rPr lang="ru-RU" smtClean="0"/>
              <a:t>11</a:t>
            </a:fld>
            <a:endParaRPr lang="ru-RU"/>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362806F-2EDC-4609-B096-97FC0F0486A1}"/>
                  </a:ext>
                </a:extLst>
              </p:cNvPr>
              <p:cNvSpPr txBox="1"/>
              <p:nvPr/>
            </p:nvSpPr>
            <p:spPr>
              <a:xfrm>
                <a:off x="3561076" y="3299460"/>
                <a:ext cx="5639814"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rPr>
                        <m:t>l</m:t>
                      </m:r>
                      <m:r>
                        <m:rPr>
                          <m:sty m:val="p"/>
                        </m:rPr>
                        <a:rPr lang="en-US" b="0" i="0" smtClean="0">
                          <a:latin typeface="Cambria Math" panose="02040503050406030204" pitchFamily="18" charset="0"/>
                        </a:rPr>
                        <m:t>g</m:t>
                      </m:r>
                      <m:f>
                        <m:fPr>
                          <m:ctrlPr>
                            <a:rPr lang="ru-RU"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𝑁</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𝑁</m:t>
                                  </m:r>
                                </m:sub>
                              </m:sSub>
                            </m:e>
                          </m:d>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r>
                            <m:rPr>
                              <m:sty m:val="p"/>
                            </m:rPr>
                            <a:rPr lang="en-US" i="1">
                              <a:latin typeface="Cambria Math" panose="02040503050406030204" pitchFamily="18" charset="0"/>
                            </a:rPr>
                            <m:t>l</m:t>
                          </m:r>
                          <m:r>
                            <m:rPr>
                              <m:sty m:val="p"/>
                            </m:rPr>
                            <a:rPr lang="en-US">
                              <a:latin typeface="Cambria Math" panose="02040503050406030204" pitchFamily="18" charset="0"/>
                            </a:rPr>
                            <m:t>g</m:t>
                          </m:r>
                          <m:f>
                            <m:fPr>
                              <m:ctrlPr>
                                <a:rPr lang="ru-RU"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𝑆</m:t>
                                          </m:r>
                                        </m:e>
                                        <m:sub>
                                          <m:r>
                                            <a:rPr lang="en-US" b="0" i="1" smtClean="0">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den>
                                  </m:f>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den>
                                  </m:f>
                                </m:e>
                              </m:d>
                            </m:den>
                          </m:f>
                        </m:e>
                      </m:nary>
                      <m:r>
                        <a:rPr lang="en-US" b="0" i="1" smtClean="0">
                          <a:latin typeface="Cambria Math" panose="02040503050406030204" pitchFamily="18" charset="0"/>
                        </a:rPr>
                        <m:t>+</m:t>
                      </m:r>
                      <m:r>
                        <m:rPr>
                          <m:sty m:val="p"/>
                        </m:rPr>
                        <a:rPr lang="en-US" b="0" i="0" smtClean="0">
                          <a:latin typeface="Cambria Math" panose="02040503050406030204" pitchFamily="18" charset="0"/>
                        </a:rPr>
                        <m:t>lg</m:t>
                      </m:r>
                      <m:f>
                        <m:fPr>
                          <m:ctrlPr>
                            <a:rPr lang="en-US" b="0"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e>
                          </m:d>
                        </m:den>
                      </m:f>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(11)</m:t>
                      </m:r>
                    </m:oMath>
                  </m:oMathPara>
                </a14:m>
                <a:endParaRPr lang="ru-RU" dirty="0"/>
              </a:p>
            </p:txBody>
          </p:sp>
        </mc:Choice>
        <mc:Fallback>
          <p:sp>
            <p:nvSpPr>
              <p:cNvPr id="4" name="TextBox 3">
                <a:extLst>
                  <a:ext uri="{FF2B5EF4-FFF2-40B4-BE49-F238E27FC236}">
                    <a16:creationId xmlns:a16="http://schemas.microsoft.com/office/drawing/2014/main" id="{D362806F-2EDC-4609-B096-97FC0F0486A1}"/>
                  </a:ext>
                </a:extLst>
              </p:cNvPr>
              <p:cNvSpPr txBox="1">
                <a:spLocks noRot="1" noChangeAspect="1" noMove="1" noResize="1" noEditPoints="1" noAdjustHandles="1" noChangeArrowheads="1" noChangeShapeType="1" noTextEdit="1"/>
              </p:cNvSpPr>
              <p:nvPr/>
            </p:nvSpPr>
            <p:spPr>
              <a:xfrm>
                <a:off x="3561076" y="3299460"/>
                <a:ext cx="5639814" cy="778931"/>
              </a:xfrm>
              <a:prstGeom prst="rect">
                <a:avLst/>
              </a:prstGeom>
              <a:blipFill>
                <a:blip r:embed="rId2"/>
                <a:stretch>
                  <a:fillRect/>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4E5760C-4E26-529D-1623-BFA3D5845B6A}"/>
                  </a:ext>
                </a:extLst>
              </p:cNvPr>
              <p:cNvSpPr txBox="1"/>
              <p:nvPr/>
            </p:nvSpPr>
            <p:spPr>
              <a:xfrm>
                <a:off x="4232734" y="4865425"/>
                <a:ext cx="4380558" cy="5843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cs typeface="Arial" panose="020B0604020202020204" pitchFamily="34" charset="0"/>
                            </a:rPr>
                          </m:ctrlPr>
                        </m:sSubPr>
                        <m:e>
                          <m:r>
                            <a:rPr lang="ru-RU" b="0" i="1" smtClean="0">
                              <a:latin typeface="Cambria Math" panose="02040503050406030204" pitchFamily="18" charset="0"/>
                              <a:cs typeface="Arial" panose="020B0604020202020204" pitchFamily="34" charset="0"/>
                            </a:rPr>
                            <m:t>ДК</m:t>
                          </m:r>
                        </m:e>
                        <m:sub>
                          <m:r>
                            <a:rPr lang="en-US" i="1">
                              <a:latin typeface="Cambria Math" panose="02040503050406030204" pitchFamily="18" charset="0"/>
                              <a:cs typeface="Arial" panose="020B0604020202020204" pitchFamily="34" charset="0"/>
                            </a:rPr>
                            <m:t>𝑖</m:t>
                          </m:r>
                        </m:sub>
                      </m:sSub>
                      <m:r>
                        <a:rPr lang="ru-RU" b="0" i="1" smtClean="0">
                          <a:latin typeface="Cambria Math" panose="02040503050406030204" pitchFamily="18" charset="0"/>
                        </a:rPr>
                        <m:t>=10</m:t>
                      </m:r>
                      <m:r>
                        <m:rPr>
                          <m:sty m:val="p"/>
                        </m:rPr>
                        <a:rPr lang="en-US" i="1" smtClean="0">
                          <a:latin typeface="Cambria Math" panose="02040503050406030204" pitchFamily="18" charset="0"/>
                        </a:rPr>
                        <m:t>l</m:t>
                      </m:r>
                      <m:r>
                        <m:rPr>
                          <m:sty m:val="p"/>
                        </m:rPr>
                        <a:rPr lang="en-US">
                          <a:latin typeface="Cambria Math" panose="02040503050406030204" pitchFamily="18" charset="0"/>
                        </a:rPr>
                        <m:t>g</m:t>
                      </m:r>
                      <m:f>
                        <m:fPr>
                          <m:ctrlPr>
                            <a:rPr lang="ru-RU"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den>
                              </m:f>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den>
                              </m:f>
                            </m:e>
                          </m:d>
                        </m:den>
                      </m:f>
                      <m:r>
                        <a:rPr lang="en-US" b="0" i="1" smtClean="0">
                          <a:latin typeface="Cambria Math" panose="02040503050406030204" pitchFamily="18" charset="0"/>
                          <a:cs typeface="Arial" panose="020B0604020202020204" pitchFamily="34" charset="0"/>
                        </a:rPr>
                        <m:t>=</m:t>
                      </m:r>
                      <m:r>
                        <a:rPr lang="ru-RU" b="0" i="1" smtClean="0">
                          <a:latin typeface="Cambria Math" panose="02040503050406030204" pitchFamily="18" charset="0"/>
                          <a:cs typeface="Arial" panose="020B0604020202020204" pitchFamily="34" charset="0"/>
                        </a:rPr>
                        <m:t>10</m:t>
                      </m:r>
                      <m:r>
                        <m:rPr>
                          <m:sty m:val="p"/>
                        </m:rPr>
                        <a:rPr lang="en-US" i="1" smtClean="0">
                          <a:latin typeface="Cambria Math" panose="02040503050406030204" pitchFamily="18" charset="0"/>
                        </a:rPr>
                        <m:t>l</m:t>
                      </m:r>
                      <m:r>
                        <m:rPr>
                          <m:sty m:val="p"/>
                        </m:rPr>
                        <a:rPr lang="en-US" b="0" i="0" smtClean="0">
                          <a:latin typeface="Cambria Math" panose="02040503050406030204" pitchFamily="18" charset="0"/>
                        </a:rPr>
                        <m:t>g</m:t>
                      </m:r>
                      <m:r>
                        <a:rPr lang="en-US" i="1">
                          <a:latin typeface="Cambria Math" panose="02040503050406030204" pitchFamily="18" charset="0"/>
                        </a:rPr>
                        <m:t>𝐿</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𝑖</m:t>
                                  </m:r>
                                </m:sub>
                              </m:sSub>
                            </m:den>
                          </m:f>
                        </m:e>
                      </m:d>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(12)</m:t>
                      </m:r>
                    </m:oMath>
                  </m:oMathPara>
                </a14:m>
                <a:endParaRPr lang="ru-RU" dirty="0"/>
              </a:p>
            </p:txBody>
          </p:sp>
        </mc:Choice>
        <mc:Fallback>
          <p:sp>
            <p:nvSpPr>
              <p:cNvPr id="5" name="TextBox 4">
                <a:extLst>
                  <a:ext uri="{FF2B5EF4-FFF2-40B4-BE49-F238E27FC236}">
                    <a16:creationId xmlns:a16="http://schemas.microsoft.com/office/drawing/2014/main" id="{84E5760C-4E26-529D-1623-BFA3D5845B6A}"/>
                  </a:ext>
                </a:extLst>
              </p:cNvPr>
              <p:cNvSpPr txBox="1">
                <a:spLocks noRot="1" noChangeAspect="1" noMove="1" noResize="1" noEditPoints="1" noAdjustHandles="1" noChangeArrowheads="1" noChangeShapeType="1" noTextEdit="1"/>
              </p:cNvSpPr>
              <p:nvPr/>
            </p:nvSpPr>
            <p:spPr>
              <a:xfrm>
                <a:off x="4232734" y="4865425"/>
                <a:ext cx="4380558" cy="584391"/>
              </a:xfrm>
              <a:prstGeom prst="rect">
                <a:avLst/>
              </a:prstGeom>
              <a:blipFill>
                <a:blip r:embed="rId3"/>
                <a:stretch>
                  <a:fillRect/>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339B54B3-025C-A9FE-712D-CCCAF7F92A7E}"/>
              </a:ext>
            </a:extLst>
          </p:cNvPr>
          <p:cNvSpPr txBox="1"/>
          <p:nvPr/>
        </p:nvSpPr>
        <p:spPr>
          <a:xfrm>
            <a:off x="849620" y="2784904"/>
            <a:ext cx="6094070" cy="369332"/>
          </a:xfrm>
          <a:prstGeom prst="rect">
            <a:avLst/>
          </a:prstGeom>
          <a:noFill/>
        </p:spPr>
        <p:txBody>
          <a:bodyPr wrap="square">
            <a:spAutoFit/>
          </a:bodyPr>
          <a:lstStyle/>
          <a:p>
            <a:r>
              <a:rPr lang="ru-RU" b="0" i="0" dirty="0">
                <a:solidFill>
                  <a:srgbClr val="000000"/>
                </a:solidFill>
                <a:effectLst/>
                <a:latin typeface="Arial" panose="020B0604020202020204" pitchFamily="34" charset="0"/>
                <a:cs typeface="Arial" panose="020B0604020202020204" pitchFamily="34" charset="0"/>
              </a:rPr>
              <a:t>При этом формула принимает вид</a:t>
            </a:r>
            <a:endParaRPr lang="ru-RU"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4C863002-7622-D92A-128D-D72D212C8E04}"/>
              </a:ext>
            </a:extLst>
          </p:cNvPr>
          <p:cNvSpPr txBox="1"/>
          <p:nvPr/>
        </p:nvSpPr>
        <p:spPr>
          <a:xfrm>
            <a:off x="849620" y="4116350"/>
            <a:ext cx="9556021"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удобства при диагностике складывают не просто логарифмы, а диагностические коэффициенты (ДК), определяемые как</a:t>
            </a:r>
          </a:p>
        </p:txBody>
      </p:sp>
      <p:sp>
        <p:nvSpPr>
          <p:cNvPr id="15" name="TextBox 14">
            <a:extLst>
              <a:ext uri="{FF2B5EF4-FFF2-40B4-BE49-F238E27FC236}">
                <a16:creationId xmlns:a16="http://schemas.microsoft.com/office/drawing/2014/main" id="{5EE6D9D8-2139-D2F1-2911-991D2A68B041}"/>
              </a:ext>
            </a:extLst>
          </p:cNvPr>
          <p:cNvSpPr txBox="1"/>
          <p:nvPr/>
        </p:nvSpPr>
        <p:spPr>
          <a:xfrm>
            <a:off x="849620" y="5481106"/>
            <a:ext cx="6094070" cy="369332"/>
          </a:xfrm>
          <a:prstGeom prst="rect">
            <a:avLst/>
          </a:prstGeom>
          <a:noFill/>
        </p:spPr>
        <p:txBody>
          <a:bodyPr wrap="square">
            <a:spAutoFit/>
          </a:bodyPr>
          <a:lstStyle/>
          <a:p>
            <a:r>
              <a:rPr lang="ru-RU" b="0" i="0" dirty="0">
                <a:solidFill>
                  <a:srgbClr val="000000"/>
                </a:solidFill>
                <a:effectLst/>
                <a:latin typeface="Arial" panose="020B0604020202020204" pitchFamily="34" charset="0"/>
                <a:cs typeface="Arial" panose="020B0604020202020204" pitchFamily="34" charset="0"/>
              </a:rPr>
              <a:t>В этом случае для ВД пользуются формулой</a:t>
            </a:r>
            <a:endParaRPr lang="ru-RU"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A62876D7-B42B-2B1E-2517-AD0217E2C537}"/>
                  </a:ext>
                </a:extLst>
              </p:cNvPr>
              <p:cNvSpPr txBox="1"/>
              <p:nvPr/>
            </p:nvSpPr>
            <p:spPr>
              <a:xfrm>
                <a:off x="3713681" y="5850438"/>
                <a:ext cx="5405839" cy="778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b="0" i="1" smtClean="0">
                          <a:latin typeface="Cambria Math" panose="02040503050406030204" pitchFamily="18" charset="0"/>
                        </a:rPr>
                        <m:t>10</m:t>
                      </m:r>
                      <m:r>
                        <m:rPr>
                          <m:sty m:val="p"/>
                        </m:rPr>
                        <a:rPr lang="en-US" i="1" smtClean="0">
                          <a:latin typeface="Cambria Math" panose="02040503050406030204" pitchFamily="18" charset="0"/>
                        </a:rPr>
                        <m:t>l</m:t>
                      </m:r>
                      <m:r>
                        <m:rPr>
                          <m:sty m:val="p"/>
                        </m:rPr>
                        <a:rPr lang="en-US" b="0" i="0" smtClean="0">
                          <a:latin typeface="Cambria Math" panose="02040503050406030204" pitchFamily="18" charset="0"/>
                        </a:rPr>
                        <m:t>g</m:t>
                      </m:r>
                      <m:f>
                        <m:fPr>
                          <m:ctrlPr>
                            <a:rPr lang="ru-RU" i="1">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𝑁</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f>
                                <m:fPr>
                                  <m:type m:val="lin"/>
                                  <m:ctrlPr>
                                    <a:rPr lang="en-US" i="1">
                                      <a:latin typeface="Cambria Math" panose="02040503050406030204" pitchFamily="18" charset="0"/>
                                      <a:cs typeface="Arial" panose="020B0604020202020204" pitchFamily="34" charset="0"/>
                                    </a:rPr>
                                  </m:ctrlPr>
                                </m:fPr>
                                <m:num>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2</m:t>
                                      </m:r>
                                    </m:sub>
                                  </m:sSub>
                                </m:num>
                                <m:den>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en>
                              </m:f>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𝑆</m:t>
                                  </m:r>
                                </m:e>
                                <m:sub>
                                  <m:r>
                                    <a:rPr lang="en-US" i="1">
                                      <a:latin typeface="Cambria Math" panose="02040503050406030204" pitchFamily="18" charset="0"/>
                                      <a:cs typeface="Arial" panose="020B0604020202020204" pitchFamily="34" charset="0"/>
                                    </a:rPr>
                                    <m:t>𝑁</m:t>
                                  </m:r>
                                </m:sub>
                              </m:sSub>
                            </m:e>
                          </m:d>
                        </m:den>
                      </m:f>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b>
                            <m:sSubPr>
                              <m:ctrlPr>
                                <a:rPr lang="ru-RU" i="1">
                                  <a:latin typeface="Cambria Math" panose="02040503050406030204" pitchFamily="18" charset="0"/>
                                  <a:cs typeface="Arial" panose="020B0604020202020204" pitchFamily="34" charset="0"/>
                                </a:rPr>
                              </m:ctrlPr>
                            </m:sSubPr>
                            <m:e>
                              <m:r>
                                <a:rPr lang="ru-RU" i="1">
                                  <a:latin typeface="Cambria Math" panose="02040503050406030204" pitchFamily="18" charset="0"/>
                                  <a:cs typeface="Arial" panose="020B0604020202020204" pitchFamily="34" charset="0"/>
                                </a:rPr>
                                <m:t>ДК</m:t>
                              </m:r>
                            </m:e>
                            <m:sub>
                              <m:r>
                                <a:rPr lang="en-US" i="1">
                                  <a:latin typeface="Cambria Math" panose="02040503050406030204" pitchFamily="18" charset="0"/>
                                  <a:cs typeface="Arial" panose="020B0604020202020204" pitchFamily="34" charset="0"/>
                                </a:rPr>
                                <m:t>𝑖</m:t>
                              </m:r>
                            </m:sub>
                          </m:sSub>
                        </m:e>
                      </m:nary>
                      <m:r>
                        <a:rPr lang="en-US" b="0" i="1" smtClean="0">
                          <a:latin typeface="Cambria Math" panose="02040503050406030204" pitchFamily="18" charset="0"/>
                        </a:rPr>
                        <m:t>+</m:t>
                      </m:r>
                      <m:r>
                        <a:rPr lang="ru-RU" b="0" i="0" smtClean="0">
                          <a:latin typeface="Cambria Math" panose="02040503050406030204" pitchFamily="18" charset="0"/>
                        </a:rPr>
                        <m:t>10</m:t>
                      </m:r>
                      <m:r>
                        <m:rPr>
                          <m:sty m:val="p"/>
                        </m:rPr>
                        <a:rPr lang="en-US" b="0" i="0" smtClean="0">
                          <a:latin typeface="Cambria Math" panose="02040503050406030204" pitchFamily="18" charset="0"/>
                        </a:rPr>
                        <m:t>lg</m:t>
                      </m:r>
                      <m:f>
                        <m:fPr>
                          <m:ctrlPr>
                            <a:rPr lang="en-US" b="0" i="1" smtClean="0">
                              <a:latin typeface="Cambria Math" panose="02040503050406030204" pitchFamily="18" charset="0"/>
                            </a:rPr>
                          </m:ctrlPr>
                        </m:fPr>
                        <m:num>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1</m:t>
                                  </m:r>
                                </m:sub>
                              </m:sSub>
                            </m:e>
                          </m:d>
                        </m:num>
                        <m:den>
                          <m:r>
                            <a:rPr lang="en-US" i="1">
                              <a:latin typeface="Cambria Math" panose="02040503050406030204" pitchFamily="18" charset="0"/>
                              <a:cs typeface="Arial" panose="020B0604020202020204" pitchFamily="34" charset="0"/>
                            </a:rPr>
                            <m:t>𝑃</m:t>
                          </m:r>
                          <m:d>
                            <m:dPr>
                              <m:ctrlPr>
                                <a:rPr lang="en-US" i="1">
                                  <a:latin typeface="Cambria Math" panose="02040503050406030204" pitchFamily="18" charset="0"/>
                                  <a:cs typeface="Arial" panose="020B0604020202020204" pitchFamily="34" charset="0"/>
                                </a:rPr>
                              </m:ctrlPr>
                            </m:dPr>
                            <m:e>
                              <m:sSub>
                                <m:sSubPr>
                                  <m:ctrlPr>
                                    <a:rPr lang="ru-RU"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2</m:t>
                                  </m:r>
                                </m:sub>
                              </m:sSub>
                            </m:e>
                          </m:d>
                        </m:den>
                      </m:f>
                      <m:r>
                        <a:rPr lang="ru-RU"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cs typeface="Arial" panose="020B0604020202020204" pitchFamily="34" charset="0"/>
                        </a:rPr>
                        <m:t>   </m:t>
                      </m:r>
                      <m:r>
                        <a:rPr lang="ru-RU" b="0" i="1" smtClean="0">
                          <a:latin typeface="Cambria Math" panose="02040503050406030204" pitchFamily="18" charset="0"/>
                          <a:cs typeface="Arial" panose="020B0604020202020204" pitchFamily="34" charset="0"/>
                        </a:rPr>
                        <m:t>(13)</m:t>
                      </m:r>
                    </m:oMath>
                  </m:oMathPara>
                </a14:m>
                <a:endParaRPr lang="ru-RU" dirty="0"/>
              </a:p>
            </p:txBody>
          </p:sp>
        </mc:Choice>
        <mc:Fallback>
          <p:sp>
            <p:nvSpPr>
              <p:cNvPr id="16" name="TextBox 15">
                <a:extLst>
                  <a:ext uri="{FF2B5EF4-FFF2-40B4-BE49-F238E27FC236}">
                    <a16:creationId xmlns:a16="http://schemas.microsoft.com/office/drawing/2014/main" id="{A62876D7-B42B-2B1E-2517-AD0217E2C537}"/>
                  </a:ext>
                </a:extLst>
              </p:cNvPr>
              <p:cNvSpPr txBox="1">
                <a:spLocks noRot="1" noChangeAspect="1" noMove="1" noResize="1" noEditPoints="1" noAdjustHandles="1" noChangeArrowheads="1" noChangeShapeType="1" noTextEdit="1"/>
              </p:cNvSpPr>
              <p:nvPr/>
            </p:nvSpPr>
            <p:spPr>
              <a:xfrm>
                <a:off x="3713681" y="5850438"/>
                <a:ext cx="5405839" cy="778931"/>
              </a:xfrm>
              <a:prstGeom prst="rect">
                <a:avLst/>
              </a:prstGeom>
              <a:blipFill>
                <a:blip r:embed="rId4"/>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2929644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4E3B1-CEDF-4DDA-51FD-7D26CE57BE2A}"/>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AE708BC6-930F-E316-EC43-DCFB7725C2D3}"/>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87C75E6-A009-95BF-C384-9352001DCE28}"/>
                  </a:ext>
                </a:extLst>
              </p:cNvPr>
              <p:cNvSpPr txBox="1"/>
              <p:nvPr/>
            </p:nvSpPr>
            <p:spPr>
              <a:xfrm>
                <a:off x="834303" y="1731452"/>
                <a:ext cx="10515600" cy="1200329"/>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Пусть проводится ВД двух заболеваний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b="0" i="1" smtClean="0">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по формулам (10) и (13). Введем величины: </a:t>
                </a:r>
                <a14:m>
                  <m:oMath xmlns:m="http://schemas.openxmlformats.org/officeDocument/2006/math">
                    <m:r>
                      <a:rPr lang="ru-RU" sz="1200" i="1" smtClean="0">
                        <a:latin typeface="Cambria Math" panose="02040503050406030204" pitchFamily="18" charset="0"/>
                        <a:ea typeface="Cambria Math" panose="02040503050406030204" pitchFamily="18" charset="0"/>
                        <a:cs typeface="Arial" panose="020B0604020202020204" pitchFamily="34" charset="0"/>
                      </a:rPr>
                      <m:t>𝛼</m:t>
                    </m:r>
                  </m:oMath>
                </a14:m>
                <a:r>
                  <a:rPr lang="ru-RU" sz="1200" dirty="0">
                    <a:latin typeface="Arial" panose="020B0604020202020204" pitchFamily="34" charset="0"/>
                    <a:cs typeface="Arial" panose="020B0604020202020204" pitchFamily="34" charset="0"/>
                  </a:rPr>
                  <a:t> –  вероятность ошибки первого рода (вероятность ошибочного предположения у больного заболевания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в то время как у него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b="0" i="1" smtClean="0">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a:t>
                </a:r>
                <a14:m>
                  <m:oMath xmlns:m="http://schemas.openxmlformats.org/officeDocument/2006/math">
                    <m:r>
                      <a:rPr lang="ru-RU" sz="1200" i="1" smtClean="0">
                        <a:latin typeface="Cambria Math" panose="02040503050406030204" pitchFamily="18" charset="0"/>
                        <a:ea typeface="Cambria Math" panose="02040503050406030204" pitchFamily="18" charset="0"/>
                        <a:cs typeface="Arial" panose="020B0604020202020204" pitchFamily="34" charset="0"/>
                      </a:rPr>
                      <m:t>𝛽</m:t>
                    </m:r>
                  </m:oMath>
                </a14:m>
                <a:r>
                  <a:rPr lang="ru-RU" sz="1200" dirty="0">
                    <a:latin typeface="Arial" panose="020B0604020202020204" pitchFamily="34" charset="0"/>
                    <a:cs typeface="Arial" panose="020B0604020202020204" pitchFamily="34" charset="0"/>
                  </a:rPr>
                  <a:t> – вероятность ошибки второго рода (вероятность ошибочного предположения у больного заболевания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в то время как у него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b="0" i="1" smtClean="0">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Величины </a:t>
                </a:r>
                <a14:m>
                  <m:oMath xmlns:m="http://schemas.openxmlformats.org/officeDocument/2006/math">
                    <m:r>
                      <a:rPr lang="ru-RU" sz="1200" i="1">
                        <a:latin typeface="Cambria Math" panose="02040503050406030204" pitchFamily="18" charset="0"/>
                        <a:ea typeface="Cambria Math" panose="02040503050406030204" pitchFamily="18" charset="0"/>
                        <a:cs typeface="Arial" panose="020B0604020202020204" pitchFamily="34" charset="0"/>
                      </a:rPr>
                      <m:t>𝛼</m:t>
                    </m:r>
                  </m:oMath>
                </a14:m>
                <a:r>
                  <a:rPr lang="ru-RU" sz="1200" dirty="0">
                    <a:latin typeface="Arial" panose="020B0604020202020204" pitchFamily="34" charset="0"/>
                    <a:cs typeface="Arial" panose="020B0604020202020204" pitchFamily="34" charset="0"/>
                  </a:rPr>
                  <a:t> и </a:t>
                </a:r>
                <a14:m>
                  <m:oMath xmlns:m="http://schemas.openxmlformats.org/officeDocument/2006/math">
                    <m:r>
                      <a:rPr lang="ru-RU" sz="1200" i="1">
                        <a:latin typeface="Cambria Math" panose="02040503050406030204" pitchFamily="18" charset="0"/>
                        <a:ea typeface="Cambria Math" panose="02040503050406030204" pitchFamily="18" charset="0"/>
                        <a:cs typeface="Arial" panose="020B0604020202020204" pitchFamily="34" charset="0"/>
                      </a:rPr>
                      <m:t>𝛽</m:t>
                    </m:r>
                  </m:oMath>
                </a14:m>
                <a:r>
                  <a:rPr lang="ru-RU" sz="1200" dirty="0">
                    <a:latin typeface="Arial" panose="020B0604020202020204" pitchFamily="34" charset="0"/>
                    <a:cs typeface="Arial" panose="020B0604020202020204" pitchFamily="34" charset="0"/>
                  </a:rPr>
                  <a:t> выбираются на основании клинического опыта и здравого смысла. Ошибка первого рода считается более серьезной, чем ошибка второго рода, так как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 всегда более серьезное заболевание. Задавшись значениями </a:t>
                </a:r>
                <a14:m>
                  <m:oMath xmlns:m="http://schemas.openxmlformats.org/officeDocument/2006/math">
                    <m:r>
                      <a:rPr lang="ru-RU" sz="1200" i="1">
                        <a:latin typeface="Cambria Math" panose="02040503050406030204" pitchFamily="18" charset="0"/>
                        <a:ea typeface="Cambria Math" panose="02040503050406030204" pitchFamily="18" charset="0"/>
                        <a:cs typeface="Arial" panose="020B0604020202020204" pitchFamily="34" charset="0"/>
                      </a:rPr>
                      <m:t>𝛼</m:t>
                    </m:r>
                  </m:oMath>
                </a14:m>
                <a:r>
                  <a:rPr lang="ru-RU" sz="1200" dirty="0">
                    <a:latin typeface="Arial" panose="020B0604020202020204" pitchFamily="34" charset="0"/>
                    <a:cs typeface="Arial" panose="020B0604020202020204" pitchFamily="34" charset="0"/>
                  </a:rPr>
                  <a:t> и </a:t>
                </a:r>
                <a14:m>
                  <m:oMath xmlns:m="http://schemas.openxmlformats.org/officeDocument/2006/math">
                    <m:r>
                      <a:rPr lang="ru-RU" sz="1200" i="1">
                        <a:latin typeface="Cambria Math" panose="02040503050406030204" pitchFamily="18" charset="0"/>
                        <a:ea typeface="Cambria Math" panose="02040503050406030204" pitchFamily="18" charset="0"/>
                        <a:cs typeface="Arial" panose="020B0604020202020204" pitchFamily="34" charset="0"/>
                      </a:rPr>
                      <m:t>𝛽</m:t>
                    </m:r>
                  </m:oMath>
                </a14:m>
                <a:r>
                  <a:rPr lang="ru-RU" sz="1200" dirty="0">
                    <a:latin typeface="Arial" panose="020B0604020202020204" pitchFamily="34" charset="0"/>
                    <a:cs typeface="Arial" panose="020B0604020202020204" pitchFamily="34" charset="0"/>
                  </a:rPr>
                  <a:t>, находят пороги диагностики заболеваний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b="0" i="1" smtClean="0">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a:t>
                </a:r>
              </a:p>
              <a:p>
                <a:r>
                  <a:rPr lang="ru-RU" sz="1200" dirty="0">
                    <a:latin typeface="Arial" panose="020B0604020202020204" pitchFamily="34" charset="0"/>
                    <a:cs typeface="Arial" panose="020B0604020202020204" pitchFamily="34" charset="0"/>
                  </a:rPr>
                  <a:t>При использовании формулы (10) порог диагностики (ПД) заболевания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равен </a:t>
                </a:r>
              </a:p>
            </p:txBody>
          </p:sp>
        </mc:Choice>
        <mc:Fallback>
          <p:sp>
            <p:nvSpPr>
              <p:cNvPr id="6" name="TextBox 5">
                <a:extLst>
                  <a:ext uri="{FF2B5EF4-FFF2-40B4-BE49-F238E27FC236}">
                    <a16:creationId xmlns:a16="http://schemas.microsoft.com/office/drawing/2014/main" id="{B87C75E6-A009-95BF-C384-9352001DCE28}"/>
                  </a:ext>
                </a:extLst>
              </p:cNvPr>
              <p:cNvSpPr txBox="1">
                <a:spLocks noRot="1" noChangeAspect="1" noMove="1" noResize="1" noEditPoints="1" noAdjustHandles="1" noChangeArrowheads="1" noChangeShapeType="1" noTextEdit="1"/>
              </p:cNvSpPr>
              <p:nvPr/>
            </p:nvSpPr>
            <p:spPr>
              <a:xfrm>
                <a:off x="834303" y="1731452"/>
                <a:ext cx="10515600" cy="1200329"/>
              </a:xfrm>
              <a:prstGeom prst="rect">
                <a:avLst/>
              </a:prstGeom>
              <a:blipFill>
                <a:blip r:embed="rId2"/>
                <a:stretch>
                  <a:fillRect l="-58" t="-508" b="-2538"/>
                </a:stretch>
              </a:blipFill>
            </p:spPr>
            <p:txBody>
              <a:bodyPr/>
              <a:lstStyle/>
              <a:p>
                <a:r>
                  <a:rPr lang="ru-RU">
                    <a:noFill/>
                  </a:rPr>
                  <a:t> </a:t>
                </a:r>
              </a:p>
            </p:txBody>
          </p:sp>
        </mc:Fallback>
      </mc:AlternateContent>
      <p:sp>
        <p:nvSpPr>
          <p:cNvPr id="2" name="TextBox 1">
            <a:extLst>
              <a:ext uri="{FF2B5EF4-FFF2-40B4-BE49-F238E27FC236}">
                <a16:creationId xmlns:a16="http://schemas.microsoft.com/office/drawing/2014/main" id="{6EC2B8DA-18A7-6304-FD98-1D5FDCF0EFFB}"/>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Последовательная статистическая процедура</a:t>
            </a:r>
          </a:p>
        </p:txBody>
      </p:sp>
      <p:sp>
        <p:nvSpPr>
          <p:cNvPr id="3" name="Номер слайда 2">
            <a:extLst>
              <a:ext uri="{FF2B5EF4-FFF2-40B4-BE49-F238E27FC236}">
                <a16:creationId xmlns:a16="http://schemas.microsoft.com/office/drawing/2014/main" id="{5B36985B-841E-151C-0866-974233EAE2D1}"/>
              </a:ext>
            </a:extLst>
          </p:cNvPr>
          <p:cNvSpPr>
            <a:spLocks noGrp="1"/>
          </p:cNvSpPr>
          <p:nvPr>
            <p:ph type="sldNum" sz="quarter" idx="12"/>
          </p:nvPr>
        </p:nvSpPr>
        <p:spPr/>
        <p:txBody>
          <a:bodyPr/>
          <a:lstStyle/>
          <a:p>
            <a:fld id="{818D4B0C-12DF-447C-B791-E379AA958CE7}" type="slidenum">
              <a:rPr lang="ru-RU" smtClean="0"/>
              <a:t>12</a:t>
            </a:fld>
            <a:endParaRPr lang="ru-RU"/>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757ED54-9631-C966-905D-28235645944E}"/>
                  </a:ext>
                </a:extLst>
              </p:cNvPr>
              <p:cNvSpPr txBox="1"/>
              <p:nvPr/>
            </p:nvSpPr>
            <p:spPr>
              <a:xfrm>
                <a:off x="834303" y="3102330"/>
                <a:ext cx="6093724" cy="276999"/>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порог диагностики для заболевания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ru-RU"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равен</a:t>
                </a:r>
              </a:p>
            </p:txBody>
          </p:sp>
        </mc:Choice>
        <mc:Fallback>
          <p:sp>
            <p:nvSpPr>
              <p:cNvPr id="9" name="TextBox 8">
                <a:extLst>
                  <a:ext uri="{FF2B5EF4-FFF2-40B4-BE49-F238E27FC236}">
                    <a16:creationId xmlns:a16="http://schemas.microsoft.com/office/drawing/2014/main" id="{8757ED54-9631-C966-905D-28235645944E}"/>
                  </a:ext>
                </a:extLst>
              </p:cNvPr>
              <p:cNvSpPr txBox="1">
                <a:spLocks noRot="1" noChangeAspect="1" noMove="1" noResize="1" noEditPoints="1" noAdjustHandles="1" noChangeArrowheads="1" noChangeShapeType="1" noTextEdit="1"/>
              </p:cNvSpPr>
              <p:nvPr/>
            </p:nvSpPr>
            <p:spPr>
              <a:xfrm>
                <a:off x="834303" y="3102330"/>
                <a:ext cx="6093724" cy="276999"/>
              </a:xfrm>
              <a:prstGeom prst="rect">
                <a:avLst/>
              </a:prstGeom>
              <a:blipFill>
                <a:blip r:embed="rId3"/>
                <a:stretch>
                  <a:fillRect l="-100" t="-4444" b="-15556"/>
                </a:stretch>
              </a:blipFill>
            </p:spPr>
            <p:txBody>
              <a:bodyPr/>
              <a:lstStyle/>
              <a:p>
                <a:r>
                  <a:rPr lang="ru-RU">
                    <a:noFill/>
                  </a:rPr>
                  <a:t> </a:t>
                </a:r>
              </a:p>
            </p:txBody>
          </p:sp>
        </mc:Fallback>
      </mc:AlternateContent>
      <p:sp>
        <p:nvSpPr>
          <p:cNvPr id="15" name="TextBox 14">
            <a:extLst>
              <a:ext uri="{FF2B5EF4-FFF2-40B4-BE49-F238E27FC236}">
                <a16:creationId xmlns:a16="http://schemas.microsoft.com/office/drawing/2014/main" id="{0BCC268A-8DF6-1E54-1837-C0CA0F613ACB}"/>
              </a:ext>
            </a:extLst>
          </p:cNvPr>
          <p:cNvSpPr txBox="1"/>
          <p:nvPr/>
        </p:nvSpPr>
        <p:spPr>
          <a:xfrm>
            <a:off x="834303" y="3610661"/>
            <a:ext cx="8649270" cy="276999"/>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При применении формулы (13) эти пороги равны соответственно: </a:t>
            </a: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E25F84E2-FCE8-6F0C-C201-B1E3E2EA74CA}"/>
                  </a:ext>
                </a:extLst>
              </p:cNvPr>
              <p:cNvSpPr txBox="1"/>
              <p:nvPr/>
            </p:nvSpPr>
            <p:spPr>
              <a:xfrm>
                <a:off x="834303" y="4159583"/>
                <a:ext cx="10748097" cy="646331"/>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Диагностический алгоритм с использованием последовательной статистической процедуры (ПСП) Вальда заключается в следующем. У пациента рассматривается произвольный симптом. Для него вычисляется отношение правдоподобия или ДК. Если это отношение больше, чем </a:t>
                </a:r>
                <a14:m>
                  <m:oMath xmlns:m="http://schemas.openxmlformats.org/officeDocument/2006/math">
                    <m:sSub>
                      <m:sSubPr>
                        <m:ctrlPr>
                          <a:rPr lang="ru-RU" sz="1200" i="1">
                            <a:latin typeface="Cambria Math" panose="02040503050406030204" pitchFamily="18" charset="0"/>
                          </a:rPr>
                        </m:ctrlPr>
                      </m:sSubPr>
                      <m:e>
                        <m:r>
                          <a:rPr lang="ru-RU" sz="1200" i="1">
                            <a:latin typeface="Cambria Math" panose="02040503050406030204" pitchFamily="18" charset="0"/>
                          </a:rPr>
                          <m:t>ПД</m:t>
                        </m:r>
                      </m:e>
                      <m:sub>
                        <m:r>
                          <a:rPr lang="ru-RU" sz="1200" i="1">
                            <a:latin typeface="Cambria Math" panose="02040503050406030204" pitchFamily="18" charset="0"/>
                          </a:rPr>
                          <m:t>1</m:t>
                        </m:r>
                      </m:sub>
                    </m:sSub>
                  </m:oMath>
                </a14:m>
                <a:r>
                  <a:rPr lang="ru-RU" sz="1200" dirty="0">
                    <a:latin typeface="Arial" panose="020B0604020202020204" pitchFamily="34" charset="0"/>
                    <a:cs typeface="Arial" panose="020B0604020202020204" pitchFamily="34" charset="0"/>
                  </a:rPr>
                  <a:t>, ставится диагноз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 меньше, чем </a:t>
                </a:r>
                <a14:m>
                  <m:oMath xmlns:m="http://schemas.openxmlformats.org/officeDocument/2006/math">
                    <m:sSub>
                      <m:sSubPr>
                        <m:ctrlPr>
                          <a:rPr lang="ru-RU" sz="1200" i="1">
                            <a:latin typeface="Cambria Math" panose="02040503050406030204" pitchFamily="18" charset="0"/>
                          </a:rPr>
                        </m:ctrlPr>
                      </m:sSubPr>
                      <m:e>
                        <m:r>
                          <a:rPr lang="ru-RU" sz="1200" i="1">
                            <a:latin typeface="Cambria Math" panose="02040503050406030204" pitchFamily="18" charset="0"/>
                          </a:rPr>
                          <m:t>ПД</m:t>
                        </m:r>
                      </m:e>
                      <m:sub>
                        <m:r>
                          <a:rPr lang="en-US" sz="1200" b="0" i="1" smtClean="0">
                            <a:latin typeface="Cambria Math" panose="02040503050406030204" pitchFamily="18" charset="0"/>
                          </a:rPr>
                          <m:t>2</m:t>
                        </m:r>
                      </m:sub>
                    </m:sSub>
                  </m:oMath>
                </a14:m>
                <a:r>
                  <a:rPr lang="ru-RU" sz="1200" dirty="0">
                    <a:latin typeface="Arial" panose="020B0604020202020204" pitchFamily="34" charset="0"/>
                    <a:cs typeface="Arial" panose="020B0604020202020204" pitchFamily="34" charset="0"/>
                  </a:rPr>
                  <a:t> – ставится диагноз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b="0" i="1" smtClean="0">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В том же случае, когда </a:t>
                </a:r>
              </a:p>
            </p:txBody>
          </p:sp>
        </mc:Choice>
        <mc:Fallback>
          <p:sp>
            <p:nvSpPr>
              <p:cNvPr id="19" name="TextBox 18">
                <a:extLst>
                  <a:ext uri="{FF2B5EF4-FFF2-40B4-BE49-F238E27FC236}">
                    <a16:creationId xmlns:a16="http://schemas.microsoft.com/office/drawing/2014/main" id="{E25F84E2-FCE8-6F0C-C201-B1E3E2EA74CA}"/>
                  </a:ext>
                </a:extLst>
              </p:cNvPr>
              <p:cNvSpPr txBox="1">
                <a:spLocks noRot="1" noChangeAspect="1" noMove="1" noResize="1" noEditPoints="1" noAdjustHandles="1" noChangeArrowheads="1" noChangeShapeType="1" noTextEdit="1"/>
              </p:cNvSpPr>
              <p:nvPr/>
            </p:nvSpPr>
            <p:spPr>
              <a:xfrm>
                <a:off x="834303" y="4159583"/>
                <a:ext cx="10748097" cy="646331"/>
              </a:xfrm>
              <a:prstGeom prst="rect">
                <a:avLst/>
              </a:prstGeom>
              <a:blipFill>
                <a:blip r:embed="rId4"/>
                <a:stretch>
                  <a:fillRect l="-57" t="-943" b="-5660"/>
                </a:stretch>
              </a:blipFill>
            </p:spPr>
            <p:txBody>
              <a:bodyPr/>
              <a:lstStyle/>
              <a:p>
                <a:r>
                  <a:rPr lang="ru-RU">
                    <a:noFill/>
                  </a:rPr>
                  <a:t> </a:t>
                </a:r>
              </a:p>
            </p:txBody>
          </p:sp>
        </mc:Fallback>
      </mc:AlternateContent>
      <p:sp>
        <p:nvSpPr>
          <p:cNvPr id="23" name="TextBox 22">
            <a:extLst>
              <a:ext uri="{FF2B5EF4-FFF2-40B4-BE49-F238E27FC236}">
                <a16:creationId xmlns:a16="http://schemas.microsoft.com/office/drawing/2014/main" id="{53E7DFDC-0212-E3EB-3DAB-E7A21C884D47}"/>
              </a:ext>
            </a:extLst>
          </p:cNvPr>
          <p:cNvSpPr txBox="1"/>
          <p:nvPr/>
        </p:nvSpPr>
        <p:spPr>
          <a:xfrm>
            <a:off x="834303" y="5077011"/>
            <a:ext cx="10515599" cy="1569660"/>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учитывается следующий симптом, имеющийся у больного. Вычисляется отношение правдоподобия уже по обоим этим симптомам (складываются ДК обоих этих симптомов) и опять сравниваются с</a:t>
            </a:r>
            <a:r>
              <a:rPr lang="en-US" sz="1200" dirty="0">
                <a:latin typeface="Arial" panose="020B0604020202020204" pitchFamily="34" charset="0"/>
                <a:cs typeface="Arial" panose="020B0604020202020204" pitchFamily="34" charset="0"/>
              </a:rPr>
              <a:t> </a:t>
            </a:r>
            <a:r>
              <a:rPr lang="ru-RU" sz="1200" dirty="0">
                <a:latin typeface="Arial" panose="020B0604020202020204" pitchFamily="34" charset="0"/>
                <a:cs typeface="Arial" panose="020B0604020202020204" pitchFamily="34" charset="0"/>
              </a:rPr>
              <a:t>диагностическими порогами. Операция повторяется до тех пор, пока значение произведения отношений правдоподобия (суммы ДК) не выйдет за один из порогов. Если все симптомы у больного исчерпаны, а значение ни одного из порогов не достигнуто, то диагноз считается неопределенным. Преимуществом рассмотренного алгоритма является возможность постановки диагноза по небольшому числу симптомов. При этом симптомы учитываются последовательно по степени их важности (информативности). Если диагноз поставлен, нет необходимости учитывать менее важные симптомы. Применение ПСП создает предпосылки к использованию более трудоемких или более дорогостоящих диагностических методик на более поздних этапах диагностического процесса и даже позволяет в целом ряде случаев обходиться без них.</a:t>
            </a:r>
          </a:p>
        </p:txBody>
      </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FEF9EB91-2469-CDDF-A85C-0729C078D645}"/>
                  </a:ext>
                </a:extLst>
              </p:cNvPr>
              <p:cNvSpPr txBox="1"/>
              <p:nvPr/>
            </p:nvSpPr>
            <p:spPr>
              <a:xfrm>
                <a:off x="4248332" y="2861603"/>
                <a:ext cx="876330" cy="3779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200" i="1" smtClean="0">
                              <a:latin typeface="Cambria Math" panose="02040503050406030204" pitchFamily="18" charset="0"/>
                            </a:rPr>
                          </m:ctrlPr>
                        </m:sSubPr>
                        <m:e>
                          <m:r>
                            <a:rPr lang="ru-RU" sz="1200" b="0" i="1" smtClean="0">
                              <a:latin typeface="Cambria Math" panose="02040503050406030204" pitchFamily="18" charset="0"/>
                            </a:rPr>
                            <m:t>ПД</m:t>
                          </m:r>
                        </m:e>
                        <m:sub>
                          <m:r>
                            <a:rPr lang="ru-RU" sz="1200" b="0" i="1" smtClean="0">
                              <a:latin typeface="Cambria Math" panose="02040503050406030204" pitchFamily="18" charset="0"/>
                            </a:rPr>
                            <m:t>1</m:t>
                          </m:r>
                        </m:sub>
                      </m:sSub>
                      <m:r>
                        <a:rPr lang="ru-RU" sz="1200" b="0" i="1" smtClean="0">
                          <a:latin typeface="Cambria Math" panose="02040503050406030204" pitchFamily="18" charset="0"/>
                        </a:rPr>
                        <m:t>=</m:t>
                      </m:r>
                      <m:f>
                        <m:fPr>
                          <m:ctrlPr>
                            <a:rPr lang="ru-RU" sz="1200" b="0" i="1" smtClean="0">
                              <a:latin typeface="Cambria Math" panose="02040503050406030204" pitchFamily="18" charset="0"/>
                            </a:rPr>
                          </m:ctrlPr>
                        </m:fPr>
                        <m:num>
                          <m:r>
                            <a:rPr lang="ru-RU" sz="1200" b="0" i="1" smtClean="0">
                              <a:latin typeface="Cambria Math" panose="02040503050406030204" pitchFamily="18" charset="0"/>
                            </a:rPr>
                            <m:t>1−</m:t>
                          </m:r>
                          <m:r>
                            <a:rPr lang="ru-RU" sz="1200" b="0" i="1" smtClean="0">
                              <a:latin typeface="Cambria Math" panose="02040503050406030204" pitchFamily="18" charset="0"/>
                              <a:ea typeface="Cambria Math" panose="02040503050406030204" pitchFamily="18" charset="0"/>
                            </a:rPr>
                            <m:t>𝛼</m:t>
                          </m:r>
                        </m:num>
                        <m:den>
                          <m:r>
                            <a:rPr lang="ru-RU" sz="1200" b="0" i="1" smtClean="0">
                              <a:latin typeface="Cambria Math" panose="02040503050406030204" pitchFamily="18" charset="0"/>
                              <a:ea typeface="Cambria Math" panose="02040503050406030204" pitchFamily="18" charset="0"/>
                            </a:rPr>
                            <m:t>𝛽</m:t>
                          </m:r>
                        </m:den>
                      </m:f>
                    </m:oMath>
                  </m:oMathPara>
                </a14:m>
                <a:endParaRPr lang="ru-RU" sz="1200" dirty="0"/>
              </a:p>
            </p:txBody>
          </p:sp>
        </mc:Choice>
        <mc:Fallback>
          <p:sp>
            <p:nvSpPr>
              <p:cNvPr id="24" name="TextBox 23">
                <a:extLst>
                  <a:ext uri="{FF2B5EF4-FFF2-40B4-BE49-F238E27FC236}">
                    <a16:creationId xmlns:a16="http://schemas.microsoft.com/office/drawing/2014/main" id="{FEF9EB91-2469-CDDF-A85C-0729C078D645}"/>
                  </a:ext>
                </a:extLst>
              </p:cNvPr>
              <p:cNvSpPr txBox="1">
                <a:spLocks noRot="1" noChangeAspect="1" noMove="1" noResize="1" noEditPoints="1" noAdjustHandles="1" noChangeArrowheads="1" noChangeShapeType="1" noTextEdit="1"/>
              </p:cNvSpPr>
              <p:nvPr/>
            </p:nvSpPr>
            <p:spPr>
              <a:xfrm>
                <a:off x="4248332" y="2861603"/>
                <a:ext cx="876330" cy="377989"/>
              </a:xfrm>
              <a:prstGeom prst="rect">
                <a:avLst/>
              </a:prstGeom>
              <a:blipFill>
                <a:blip r:embed="rId5"/>
                <a:stretch>
                  <a:fillRect l="-4861" t="-1613" r="-694" b="-17742"/>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2F7DD6B7-0F4E-358A-6802-42D1DBB33585}"/>
                  </a:ext>
                </a:extLst>
              </p:cNvPr>
              <p:cNvSpPr txBox="1"/>
              <p:nvPr/>
            </p:nvSpPr>
            <p:spPr>
              <a:xfrm>
                <a:off x="4288118" y="3299363"/>
                <a:ext cx="879921" cy="347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200" i="1" smtClean="0">
                              <a:latin typeface="Cambria Math" panose="02040503050406030204" pitchFamily="18" charset="0"/>
                            </a:rPr>
                          </m:ctrlPr>
                        </m:sSubPr>
                        <m:e>
                          <m:r>
                            <a:rPr lang="ru-RU" sz="1200" b="0" i="1" smtClean="0">
                              <a:latin typeface="Cambria Math" panose="02040503050406030204" pitchFamily="18" charset="0"/>
                            </a:rPr>
                            <m:t>ПД</m:t>
                          </m:r>
                        </m:e>
                        <m:sub>
                          <m:r>
                            <a:rPr lang="ru-RU" sz="1200" b="0" i="1" smtClean="0">
                              <a:latin typeface="Cambria Math" panose="02040503050406030204" pitchFamily="18" charset="0"/>
                            </a:rPr>
                            <m:t>2</m:t>
                          </m:r>
                        </m:sub>
                      </m:sSub>
                      <m:r>
                        <a:rPr lang="ru-RU" sz="1200" b="0" i="1" smtClean="0">
                          <a:latin typeface="Cambria Math" panose="02040503050406030204" pitchFamily="18" charset="0"/>
                        </a:rPr>
                        <m:t>=</m:t>
                      </m:r>
                      <m:f>
                        <m:fPr>
                          <m:ctrlPr>
                            <a:rPr lang="ru-RU" sz="1200" b="0" i="1" smtClean="0">
                              <a:latin typeface="Cambria Math" panose="02040503050406030204" pitchFamily="18" charset="0"/>
                            </a:rPr>
                          </m:ctrlPr>
                        </m:fPr>
                        <m:num>
                          <m:r>
                            <a:rPr lang="ru-RU" sz="1200" b="0" i="1" smtClean="0">
                              <a:latin typeface="Cambria Math" panose="02040503050406030204" pitchFamily="18" charset="0"/>
                              <a:ea typeface="Cambria Math" panose="02040503050406030204" pitchFamily="18" charset="0"/>
                            </a:rPr>
                            <m:t>𝛼</m:t>
                          </m:r>
                        </m:num>
                        <m:den>
                          <m:r>
                            <a:rPr lang="ru-RU" sz="1200" b="0" i="1" smtClean="0">
                              <a:latin typeface="Cambria Math" panose="02040503050406030204" pitchFamily="18" charset="0"/>
                            </a:rPr>
                            <m:t>1−</m:t>
                          </m:r>
                          <m:r>
                            <a:rPr lang="ru-RU" sz="1200" b="0" i="1" smtClean="0">
                              <a:latin typeface="Cambria Math" panose="02040503050406030204" pitchFamily="18" charset="0"/>
                              <a:ea typeface="Cambria Math" panose="02040503050406030204" pitchFamily="18" charset="0"/>
                            </a:rPr>
                            <m:t>𝛽</m:t>
                          </m:r>
                        </m:den>
                      </m:f>
                    </m:oMath>
                  </m:oMathPara>
                </a14:m>
                <a:endParaRPr lang="ru-RU" sz="1200" dirty="0"/>
              </a:p>
            </p:txBody>
          </p:sp>
        </mc:Choice>
        <mc:Fallback>
          <p:sp>
            <p:nvSpPr>
              <p:cNvPr id="25" name="TextBox 24">
                <a:extLst>
                  <a:ext uri="{FF2B5EF4-FFF2-40B4-BE49-F238E27FC236}">
                    <a16:creationId xmlns:a16="http://schemas.microsoft.com/office/drawing/2014/main" id="{2F7DD6B7-0F4E-358A-6802-42D1DBB33585}"/>
                  </a:ext>
                </a:extLst>
              </p:cNvPr>
              <p:cNvSpPr txBox="1">
                <a:spLocks noRot="1" noChangeAspect="1" noMove="1" noResize="1" noEditPoints="1" noAdjustHandles="1" noChangeArrowheads="1" noChangeShapeType="1" noTextEdit="1"/>
              </p:cNvSpPr>
              <p:nvPr/>
            </p:nvSpPr>
            <p:spPr>
              <a:xfrm>
                <a:off x="4288118" y="3299363"/>
                <a:ext cx="879921" cy="347275"/>
              </a:xfrm>
              <a:prstGeom prst="rect">
                <a:avLst/>
              </a:prstGeom>
              <a:blipFill>
                <a:blip r:embed="rId6"/>
                <a:stretch>
                  <a:fillRect l="-4828" r="-4828" b="-1929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4F241A7F-1FCB-BD0F-6668-74413AE24342}"/>
                  </a:ext>
                </a:extLst>
              </p:cNvPr>
              <p:cNvSpPr txBox="1"/>
              <p:nvPr/>
            </p:nvSpPr>
            <p:spPr>
              <a:xfrm>
                <a:off x="3131712" y="3840465"/>
                <a:ext cx="1222578" cy="3779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ru-RU" sz="1200" b="0" i="1" smtClean="0">
                              <a:latin typeface="Cambria Math" panose="02040503050406030204" pitchFamily="18" charset="0"/>
                            </a:rPr>
                          </m:ctrlPr>
                        </m:sSubSupPr>
                        <m:e>
                          <m:r>
                            <a:rPr lang="ru-RU" sz="1200" b="0" i="1" smtClean="0">
                              <a:latin typeface="Cambria Math" panose="02040503050406030204" pitchFamily="18" charset="0"/>
                            </a:rPr>
                            <m:t>ПД</m:t>
                          </m:r>
                        </m:e>
                        <m:sub>
                          <m:r>
                            <a:rPr lang="ru-RU" sz="1200" b="0" i="1" smtClean="0">
                              <a:latin typeface="Cambria Math" panose="02040503050406030204" pitchFamily="18" charset="0"/>
                            </a:rPr>
                            <m:t>1</m:t>
                          </m:r>
                        </m:sub>
                        <m:sup>
                          <m:r>
                            <a:rPr lang="ru-RU" sz="1200" b="0" i="1" smtClean="0">
                              <a:latin typeface="Cambria Math" panose="02040503050406030204" pitchFamily="18" charset="0"/>
                            </a:rPr>
                            <m:t>∗</m:t>
                          </m:r>
                        </m:sup>
                      </m:sSubSup>
                      <m:r>
                        <a:rPr lang="ru-RU" sz="1200" b="0" i="1" smtClean="0">
                          <a:latin typeface="Cambria Math" panose="02040503050406030204" pitchFamily="18" charset="0"/>
                        </a:rPr>
                        <m:t>=10 </m:t>
                      </m:r>
                      <m:r>
                        <m:rPr>
                          <m:sty m:val="p"/>
                        </m:rPr>
                        <a:rPr lang="en-US" sz="1200" b="0" i="0" smtClean="0">
                          <a:latin typeface="Cambria Math" panose="02040503050406030204" pitchFamily="18" charset="0"/>
                        </a:rPr>
                        <m:t>lg</m:t>
                      </m:r>
                      <m:f>
                        <m:fPr>
                          <m:ctrlPr>
                            <a:rPr lang="ru-RU" sz="1200" b="0" i="1" smtClean="0">
                              <a:latin typeface="Cambria Math" panose="02040503050406030204" pitchFamily="18" charset="0"/>
                            </a:rPr>
                          </m:ctrlPr>
                        </m:fPr>
                        <m:num>
                          <m:r>
                            <a:rPr lang="ru-RU" sz="1200" b="0" i="1" smtClean="0">
                              <a:latin typeface="Cambria Math" panose="02040503050406030204" pitchFamily="18" charset="0"/>
                            </a:rPr>
                            <m:t>1−</m:t>
                          </m:r>
                          <m:r>
                            <a:rPr lang="ru-RU" sz="1200" b="0" i="1" smtClean="0">
                              <a:latin typeface="Cambria Math" panose="02040503050406030204" pitchFamily="18" charset="0"/>
                              <a:ea typeface="Cambria Math" panose="02040503050406030204" pitchFamily="18" charset="0"/>
                            </a:rPr>
                            <m:t>𝛼</m:t>
                          </m:r>
                        </m:num>
                        <m:den>
                          <m:r>
                            <a:rPr lang="ru-RU" sz="1200" b="0" i="1" smtClean="0">
                              <a:latin typeface="Cambria Math" panose="02040503050406030204" pitchFamily="18" charset="0"/>
                              <a:ea typeface="Cambria Math" panose="02040503050406030204" pitchFamily="18" charset="0"/>
                            </a:rPr>
                            <m:t>𝛽</m:t>
                          </m:r>
                        </m:den>
                      </m:f>
                    </m:oMath>
                  </m:oMathPara>
                </a14:m>
                <a:endParaRPr lang="ru-RU" sz="1200" dirty="0"/>
              </a:p>
            </p:txBody>
          </p:sp>
        </mc:Choice>
        <mc:Fallback>
          <p:sp>
            <p:nvSpPr>
              <p:cNvPr id="26" name="TextBox 25">
                <a:extLst>
                  <a:ext uri="{FF2B5EF4-FFF2-40B4-BE49-F238E27FC236}">
                    <a16:creationId xmlns:a16="http://schemas.microsoft.com/office/drawing/2014/main" id="{4F241A7F-1FCB-BD0F-6668-74413AE24342}"/>
                  </a:ext>
                </a:extLst>
              </p:cNvPr>
              <p:cNvSpPr txBox="1">
                <a:spLocks noRot="1" noChangeAspect="1" noMove="1" noResize="1" noEditPoints="1" noAdjustHandles="1" noChangeArrowheads="1" noChangeShapeType="1" noTextEdit="1"/>
              </p:cNvSpPr>
              <p:nvPr/>
            </p:nvSpPr>
            <p:spPr>
              <a:xfrm>
                <a:off x="3131712" y="3840465"/>
                <a:ext cx="1222578" cy="377989"/>
              </a:xfrm>
              <a:prstGeom prst="rect">
                <a:avLst/>
              </a:prstGeom>
              <a:blipFill>
                <a:blip r:embed="rId7"/>
                <a:stretch>
                  <a:fillRect l="-3500" t="-3226" r="-1000" b="-17742"/>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FC70C612-4994-8A8F-C02B-9ACE3F6E5F19}"/>
                  </a:ext>
                </a:extLst>
              </p:cNvPr>
              <p:cNvSpPr txBox="1"/>
              <p:nvPr/>
            </p:nvSpPr>
            <p:spPr>
              <a:xfrm>
                <a:off x="4964343" y="3857191"/>
                <a:ext cx="1226168" cy="3472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ru-RU" sz="1200" b="0" i="1" smtClean="0">
                              <a:latin typeface="Cambria Math" panose="02040503050406030204" pitchFamily="18" charset="0"/>
                            </a:rPr>
                          </m:ctrlPr>
                        </m:sSubSupPr>
                        <m:e>
                          <m:r>
                            <a:rPr lang="ru-RU" sz="1200" b="0" i="1" smtClean="0">
                              <a:latin typeface="Cambria Math" panose="02040503050406030204" pitchFamily="18" charset="0"/>
                            </a:rPr>
                            <m:t>ПД</m:t>
                          </m:r>
                        </m:e>
                        <m:sub>
                          <m:r>
                            <a:rPr lang="en-US" sz="1200" b="0" i="1" smtClean="0">
                              <a:latin typeface="Cambria Math" panose="02040503050406030204" pitchFamily="18" charset="0"/>
                            </a:rPr>
                            <m:t>2</m:t>
                          </m:r>
                        </m:sub>
                        <m:sup>
                          <m:r>
                            <a:rPr lang="ru-RU" sz="1200" b="0" i="1" smtClean="0">
                              <a:latin typeface="Cambria Math" panose="02040503050406030204" pitchFamily="18" charset="0"/>
                            </a:rPr>
                            <m:t>∗</m:t>
                          </m:r>
                        </m:sup>
                      </m:sSubSup>
                      <m:r>
                        <a:rPr lang="ru-RU" sz="1200" b="0" i="1" smtClean="0">
                          <a:latin typeface="Cambria Math" panose="02040503050406030204" pitchFamily="18" charset="0"/>
                        </a:rPr>
                        <m:t>=10 </m:t>
                      </m:r>
                      <m:r>
                        <m:rPr>
                          <m:sty m:val="p"/>
                        </m:rPr>
                        <a:rPr lang="en-US" sz="1200" b="0" i="0" smtClean="0">
                          <a:latin typeface="Cambria Math" panose="02040503050406030204" pitchFamily="18" charset="0"/>
                        </a:rPr>
                        <m:t>lg</m:t>
                      </m:r>
                      <m:f>
                        <m:fPr>
                          <m:ctrlPr>
                            <a:rPr lang="ru-RU" sz="1200" b="0" i="1" smtClean="0">
                              <a:latin typeface="Cambria Math" panose="02040503050406030204" pitchFamily="18" charset="0"/>
                            </a:rPr>
                          </m:ctrlPr>
                        </m:fPr>
                        <m:num>
                          <m:r>
                            <a:rPr lang="ru-RU" sz="1200" b="0" i="1" smtClean="0">
                              <a:latin typeface="Cambria Math" panose="02040503050406030204" pitchFamily="18" charset="0"/>
                              <a:ea typeface="Cambria Math" panose="02040503050406030204" pitchFamily="18" charset="0"/>
                            </a:rPr>
                            <m:t>𝛼</m:t>
                          </m:r>
                        </m:num>
                        <m:den>
                          <m:r>
                            <a:rPr lang="en-US" sz="1200" b="0" i="1" smtClean="0">
                              <a:latin typeface="Cambria Math" panose="02040503050406030204" pitchFamily="18" charset="0"/>
                            </a:rPr>
                            <m:t>1−</m:t>
                          </m:r>
                          <m:r>
                            <a:rPr lang="ru-RU" sz="1200" b="0" i="1" smtClean="0">
                              <a:latin typeface="Cambria Math" panose="02040503050406030204" pitchFamily="18" charset="0"/>
                              <a:ea typeface="Cambria Math" panose="02040503050406030204" pitchFamily="18" charset="0"/>
                            </a:rPr>
                            <m:t>𝛽</m:t>
                          </m:r>
                        </m:den>
                      </m:f>
                    </m:oMath>
                  </m:oMathPara>
                </a14:m>
                <a:endParaRPr lang="ru-RU" sz="1200" dirty="0"/>
              </a:p>
            </p:txBody>
          </p:sp>
        </mc:Choice>
        <mc:Fallback>
          <p:sp>
            <p:nvSpPr>
              <p:cNvPr id="28" name="TextBox 27">
                <a:extLst>
                  <a:ext uri="{FF2B5EF4-FFF2-40B4-BE49-F238E27FC236}">
                    <a16:creationId xmlns:a16="http://schemas.microsoft.com/office/drawing/2014/main" id="{FC70C612-4994-8A8F-C02B-9ACE3F6E5F19}"/>
                  </a:ext>
                </a:extLst>
              </p:cNvPr>
              <p:cNvSpPr txBox="1">
                <a:spLocks noRot="1" noChangeAspect="1" noMove="1" noResize="1" noEditPoints="1" noAdjustHandles="1" noChangeArrowheads="1" noChangeShapeType="1" noTextEdit="1"/>
              </p:cNvSpPr>
              <p:nvPr/>
            </p:nvSpPr>
            <p:spPr>
              <a:xfrm>
                <a:off x="4964343" y="3857191"/>
                <a:ext cx="1226168" cy="347275"/>
              </a:xfrm>
              <a:prstGeom prst="rect">
                <a:avLst/>
              </a:prstGeom>
              <a:blipFill>
                <a:blip r:embed="rId8"/>
                <a:stretch>
                  <a:fillRect l="-3465" t="-1754" r="-2970" b="-1929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6187052B-413C-91F7-484C-8C7EEB0182FB}"/>
                  </a:ext>
                </a:extLst>
              </p:cNvPr>
              <p:cNvSpPr txBox="1"/>
              <p:nvPr/>
            </p:nvSpPr>
            <p:spPr>
              <a:xfrm>
                <a:off x="2842152" y="4743021"/>
                <a:ext cx="1554785" cy="3885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200" i="1" smtClean="0">
                              <a:latin typeface="Cambria Math" panose="02040503050406030204" pitchFamily="18" charset="0"/>
                            </a:rPr>
                          </m:ctrlPr>
                        </m:sSubPr>
                        <m:e>
                          <m:r>
                            <a:rPr lang="ru-RU" sz="1200" b="0" i="1" smtClean="0">
                              <a:latin typeface="Cambria Math" panose="02040503050406030204" pitchFamily="18" charset="0"/>
                            </a:rPr>
                            <m:t>ПД</m:t>
                          </m:r>
                        </m:e>
                        <m:sub>
                          <m:r>
                            <a:rPr lang="ru-RU" sz="1200" b="0" i="1" smtClean="0">
                              <a:latin typeface="Cambria Math" panose="02040503050406030204" pitchFamily="18" charset="0"/>
                            </a:rPr>
                            <m:t>2</m:t>
                          </m:r>
                        </m:sub>
                      </m:sSub>
                      <m:r>
                        <a:rPr lang="en-US" sz="1200" b="0" i="1" smtClean="0">
                          <a:latin typeface="Cambria Math" panose="02040503050406030204" pitchFamily="18" charset="0"/>
                        </a:rPr>
                        <m:t>&lt;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𝑃</m:t>
                          </m:r>
                          <m:d>
                            <m:dPr>
                              <m:ctrlPr>
                                <a:rPr lang="en-US" sz="1200" b="0" i="1" smtClean="0">
                                  <a:latin typeface="Cambria Math" panose="02040503050406030204" pitchFamily="18" charset="0"/>
                                </a:rPr>
                              </m:ctrlPr>
                            </m:dPr>
                            <m:e>
                              <m:f>
                                <m:fPr>
                                  <m:type m:val="lin"/>
                                  <m:ctrlPr>
                                    <a:rPr lang="en-US" sz="1200" i="1">
                                      <a:latin typeface="Cambria Math" panose="02040503050406030204" pitchFamily="18" charset="0"/>
                                    </a:rPr>
                                  </m:ctrlPr>
                                </m:fPr>
                                <m:num>
                                  <m:r>
                                    <a:rPr lang="en-US" sz="1200" b="0" i="1" smtClean="0">
                                      <a:latin typeface="Cambria Math" panose="02040503050406030204" pitchFamily="18" charset="0"/>
                                    </a:rPr>
                                    <m:t>𝑆</m:t>
                                  </m:r>
                                </m:num>
                                <m:den>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𝐷</m:t>
                                      </m:r>
                                    </m:e>
                                    <m:sub>
                                      <m:r>
                                        <a:rPr lang="en-US" sz="1200" b="0" i="1" smtClean="0">
                                          <a:latin typeface="Cambria Math" panose="02040503050406030204" pitchFamily="18" charset="0"/>
                                        </a:rPr>
                                        <m:t>1</m:t>
                                      </m:r>
                                    </m:sub>
                                  </m:sSub>
                                </m:den>
                              </m:f>
                            </m:e>
                          </m:d>
                        </m:num>
                        <m:den>
                          <m:r>
                            <a:rPr lang="en-US" sz="1200" i="1">
                              <a:latin typeface="Cambria Math" panose="02040503050406030204" pitchFamily="18" charset="0"/>
                            </a:rPr>
                            <m:t>𝑃</m:t>
                          </m:r>
                          <m:d>
                            <m:dPr>
                              <m:ctrlPr>
                                <a:rPr lang="en-US" sz="1200" i="1">
                                  <a:latin typeface="Cambria Math" panose="02040503050406030204" pitchFamily="18" charset="0"/>
                                </a:rPr>
                              </m:ctrlPr>
                            </m:dPr>
                            <m:e>
                              <m:f>
                                <m:fPr>
                                  <m:type m:val="lin"/>
                                  <m:ctrlPr>
                                    <a:rPr lang="en-US" sz="1200" i="1">
                                      <a:latin typeface="Cambria Math" panose="02040503050406030204" pitchFamily="18" charset="0"/>
                                    </a:rPr>
                                  </m:ctrlPr>
                                </m:fPr>
                                <m:num>
                                  <m:r>
                                    <a:rPr lang="en-US" sz="1200" i="1">
                                      <a:latin typeface="Cambria Math" panose="02040503050406030204" pitchFamily="18" charset="0"/>
                                    </a:rPr>
                                    <m:t>𝑆</m:t>
                                  </m:r>
                                </m:num>
                                <m:den>
                                  <m:sSub>
                                    <m:sSubPr>
                                      <m:ctrlPr>
                                        <a:rPr lang="en-US" sz="1200" i="1">
                                          <a:latin typeface="Cambria Math" panose="02040503050406030204" pitchFamily="18" charset="0"/>
                                        </a:rPr>
                                      </m:ctrlPr>
                                    </m:sSubPr>
                                    <m:e>
                                      <m:r>
                                        <a:rPr lang="en-US" sz="1200" i="1">
                                          <a:latin typeface="Cambria Math" panose="02040503050406030204" pitchFamily="18" charset="0"/>
                                        </a:rPr>
                                        <m:t>𝐷</m:t>
                                      </m:r>
                                    </m:e>
                                    <m:sub>
                                      <m:r>
                                        <a:rPr lang="en-US" sz="1200" b="0" i="1" smtClean="0">
                                          <a:latin typeface="Cambria Math" panose="02040503050406030204" pitchFamily="18" charset="0"/>
                                        </a:rPr>
                                        <m:t>2</m:t>
                                      </m:r>
                                    </m:sub>
                                  </m:sSub>
                                </m:den>
                              </m:f>
                            </m:e>
                          </m:d>
                        </m:den>
                      </m:f>
                      <m:r>
                        <a:rPr lang="en-US" sz="1200" b="0" i="1" smtClean="0">
                          <a:latin typeface="Cambria Math" panose="02040503050406030204" pitchFamily="18" charset="0"/>
                        </a:rPr>
                        <m:t>&lt;</m:t>
                      </m:r>
                      <m:sSub>
                        <m:sSubPr>
                          <m:ctrlPr>
                            <a:rPr lang="en-US" sz="1200" b="0" i="1" smtClean="0">
                              <a:latin typeface="Cambria Math" panose="02040503050406030204" pitchFamily="18" charset="0"/>
                            </a:rPr>
                          </m:ctrlPr>
                        </m:sSubPr>
                        <m:e>
                          <m:r>
                            <a:rPr lang="ru-RU" sz="1200" b="0" i="1" smtClean="0">
                              <a:latin typeface="Cambria Math" panose="02040503050406030204" pitchFamily="18" charset="0"/>
                            </a:rPr>
                            <m:t>ПД</m:t>
                          </m:r>
                        </m:e>
                        <m:sub>
                          <m:r>
                            <a:rPr lang="ru-RU" sz="1200" b="0" i="1" smtClean="0">
                              <a:latin typeface="Cambria Math" panose="02040503050406030204" pitchFamily="18" charset="0"/>
                            </a:rPr>
                            <m:t>1</m:t>
                          </m:r>
                        </m:sub>
                      </m:sSub>
                    </m:oMath>
                  </m:oMathPara>
                </a14:m>
                <a:endParaRPr lang="ru-RU" sz="1200" dirty="0"/>
              </a:p>
            </p:txBody>
          </p:sp>
        </mc:Choice>
        <mc:Fallback>
          <p:sp>
            <p:nvSpPr>
              <p:cNvPr id="29" name="TextBox 28">
                <a:extLst>
                  <a:ext uri="{FF2B5EF4-FFF2-40B4-BE49-F238E27FC236}">
                    <a16:creationId xmlns:a16="http://schemas.microsoft.com/office/drawing/2014/main" id="{6187052B-413C-91F7-484C-8C7EEB0182FB}"/>
                  </a:ext>
                </a:extLst>
              </p:cNvPr>
              <p:cNvSpPr txBox="1">
                <a:spLocks noRot="1" noChangeAspect="1" noMove="1" noResize="1" noEditPoints="1" noAdjustHandles="1" noChangeArrowheads="1" noChangeShapeType="1" noTextEdit="1"/>
              </p:cNvSpPr>
              <p:nvPr/>
            </p:nvSpPr>
            <p:spPr>
              <a:xfrm>
                <a:off x="2842152" y="4743021"/>
                <a:ext cx="1554785" cy="388568"/>
              </a:xfrm>
              <a:prstGeom prst="rect">
                <a:avLst/>
              </a:prstGeom>
              <a:blipFill>
                <a:blip r:embed="rId9"/>
                <a:stretch>
                  <a:fillRect l="-2745" t="-79688" b="-118750"/>
                </a:stretch>
              </a:blipFill>
            </p:spPr>
            <p:txBody>
              <a:bodyPr/>
              <a:lstStyle/>
              <a:p>
                <a:r>
                  <a:rPr lang="ru-RU">
                    <a:noFill/>
                  </a:rPr>
                  <a:t> </a:t>
                </a:r>
              </a:p>
            </p:txBody>
          </p:sp>
        </mc:Fallback>
      </mc:AlternateContent>
      <p:sp>
        <p:nvSpPr>
          <p:cNvPr id="31" name="TextBox 30">
            <a:extLst>
              <a:ext uri="{FF2B5EF4-FFF2-40B4-BE49-F238E27FC236}">
                <a16:creationId xmlns:a16="http://schemas.microsoft.com/office/drawing/2014/main" id="{650061D6-B154-C6EF-6E94-7670FA45572C}"/>
              </a:ext>
            </a:extLst>
          </p:cNvPr>
          <p:cNvSpPr txBox="1"/>
          <p:nvPr/>
        </p:nvSpPr>
        <p:spPr>
          <a:xfrm>
            <a:off x="4456763" y="4798806"/>
            <a:ext cx="782471" cy="276999"/>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или</a:t>
            </a:r>
            <a:endParaRPr lang="ru-RU" sz="1200" dirty="0"/>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EA845197-9BC9-2ECE-E3B1-C3C0F282F94F}"/>
                  </a:ext>
                </a:extLst>
              </p:cNvPr>
              <p:cNvSpPr txBox="1"/>
              <p:nvPr/>
            </p:nvSpPr>
            <p:spPr>
              <a:xfrm>
                <a:off x="5012531" y="4798806"/>
                <a:ext cx="2074460" cy="276999"/>
              </a:xfrm>
              <a:prstGeom prst="rect">
                <a:avLst/>
              </a:prstGeom>
              <a:noFill/>
            </p:spPr>
            <p:txBody>
              <a:bodyPr wrap="square">
                <a:spAutoFit/>
              </a:bodyPr>
              <a:lstStyle/>
              <a:p>
                <a14:m>
                  <m:oMath xmlns:m="http://schemas.openxmlformats.org/officeDocument/2006/math">
                    <m:sSubSup>
                      <m:sSubSupPr>
                        <m:ctrlPr>
                          <a:rPr lang="ru-RU" sz="1200" b="0" i="1" smtClean="0">
                            <a:latin typeface="Cambria Math" panose="02040503050406030204" pitchFamily="18" charset="0"/>
                          </a:rPr>
                        </m:ctrlPr>
                      </m:sSubSupPr>
                      <m:e>
                        <m:r>
                          <a:rPr lang="ru-RU" sz="1200" b="0" i="1" smtClean="0">
                            <a:latin typeface="Cambria Math" panose="02040503050406030204" pitchFamily="18" charset="0"/>
                          </a:rPr>
                          <m:t>ПД</m:t>
                        </m:r>
                      </m:e>
                      <m:sub>
                        <m:r>
                          <a:rPr lang="en-US" sz="1200" b="0" i="1" smtClean="0">
                            <a:latin typeface="Cambria Math" panose="02040503050406030204" pitchFamily="18" charset="0"/>
                          </a:rPr>
                          <m:t>2</m:t>
                        </m:r>
                      </m:sub>
                      <m:sup>
                        <m:r>
                          <a:rPr lang="ru-RU" sz="1200" b="0" i="1" smtClean="0">
                            <a:latin typeface="Cambria Math" panose="02040503050406030204" pitchFamily="18" charset="0"/>
                          </a:rPr>
                          <m:t>∗</m:t>
                        </m:r>
                      </m:sup>
                    </m:sSubSup>
                    <m:r>
                      <a:rPr lang="en-US" sz="1200" b="0" i="1" smtClean="0">
                        <a:latin typeface="Cambria Math" panose="02040503050406030204" pitchFamily="18" charset="0"/>
                      </a:rPr>
                      <m:t>&lt;</m:t>
                    </m:r>
                    <m:r>
                      <a:rPr lang="ru-RU" sz="1200" b="0" i="1" smtClean="0">
                        <a:latin typeface="Cambria Math" panose="02040503050406030204" pitchFamily="18" charset="0"/>
                      </a:rPr>
                      <m:t>ДК</m:t>
                    </m:r>
                    <m:r>
                      <a:rPr lang="en-US" sz="1200" b="0" i="1" smtClean="0">
                        <a:latin typeface="Cambria Math" panose="02040503050406030204" pitchFamily="18" charset="0"/>
                      </a:rPr>
                      <m:t>&lt;</m:t>
                    </m:r>
                  </m:oMath>
                </a14:m>
                <a:r>
                  <a:rPr lang="ru-RU" sz="1200" dirty="0"/>
                  <a:t> </a:t>
                </a:r>
                <a14:m>
                  <m:oMath xmlns:m="http://schemas.openxmlformats.org/officeDocument/2006/math">
                    <m:sSubSup>
                      <m:sSubSupPr>
                        <m:ctrlPr>
                          <a:rPr lang="ru-RU" sz="1200" i="1">
                            <a:latin typeface="Cambria Math" panose="02040503050406030204" pitchFamily="18" charset="0"/>
                          </a:rPr>
                        </m:ctrlPr>
                      </m:sSubSupPr>
                      <m:e>
                        <m:r>
                          <a:rPr lang="ru-RU" sz="1200" i="1">
                            <a:latin typeface="Cambria Math" panose="02040503050406030204" pitchFamily="18" charset="0"/>
                          </a:rPr>
                          <m:t>ПД</m:t>
                        </m:r>
                      </m:e>
                      <m:sub>
                        <m:r>
                          <a:rPr lang="en-US" sz="1200" b="0" i="1" smtClean="0">
                            <a:latin typeface="Cambria Math" panose="02040503050406030204" pitchFamily="18" charset="0"/>
                          </a:rPr>
                          <m:t>1</m:t>
                        </m:r>
                      </m:sub>
                      <m:sup>
                        <m:r>
                          <a:rPr lang="ru-RU" sz="1200" i="1">
                            <a:latin typeface="Cambria Math" panose="02040503050406030204" pitchFamily="18" charset="0"/>
                          </a:rPr>
                          <m:t>∗</m:t>
                        </m:r>
                      </m:sup>
                    </m:sSubSup>
                  </m:oMath>
                </a14:m>
                <a:endParaRPr lang="ru-RU" sz="1200" dirty="0"/>
              </a:p>
            </p:txBody>
          </p:sp>
        </mc:Choice>
        <mc:Fallback>
          <p:sp>
            <p:nvSpPr>
              <p:cNvPr id="33" name="TextBox 32">
                <a:extLst>
                  <a:ext uri="{FF2B5EF4-FFF2-40B4-BE49-F238E27FC236}">
                    <a16:creationId xmlns:a16="http://schemas.microsoft.com/office/drawing/2014/main" id="{EA845197-9BC9-2ECE-E3B1-C3C0F282F94F}"/>
                  </a:ext>
                </a:extLst>
              </p:cNvPr>
              <p:cNvSpPr txBox="1">
                <a:spLocks noRot="1" noChangeAspect="1" noMove="1" noResize="1" noEditPoints="1" noAdjustHandles="1" noChangeArrowheads="1" noChangeShapeType="1" noTextEdit="1"/>
              </p:cNvSpPr>
              <p:nvPr/>
            </p:nvSpPr>
            <p:spPr>
              <a:xfrm>
                <a:off x="5012531" y="4798806"/>
                <a:ext cx="2074460" cy="276999"/>
              </a:xfrm>
              <a:prstGeom prst="rect">
                <a:avLst/>
              </a:prstGeom>
              <a:blipFill>
                <a:blip r:embed="rId10"/>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4177589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287D3-98FD-620F-B262-260A6F3EC45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053645A8-9DEC-D925-7BC9-6B707B9EB4B7}"/>
              </a:ext>
            </a:extLst>
          </p:cNvPr>
          <p:cNvSpPr>
            <a:spLocks noGrp="1"/>
          </p:cNvSpPr>
          <p:nvPr>
            <p:ph type="title"/>
          </p:nvPr>
        </p:nvSpPr>
        <p:spPr>
          <a:xfrm>
            <a:off x="838200" y="365125"/>
            <a:ext cx="10515600" cy="1325563"/>
          </a:xfrm>
        </p:spPr>
        <p:txBody>
          <a:bodyPr>
            <a:normAutofit/>
          </a:bodyPr>
          <a:lstStyle/>
          <a:p>
            <a:r>
              <a:rPr lang="ru-RU" sz="4000" dirty="0"/>
              <a:t>Явные вероятностные методы</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E90FD04-5A55-E1FD-729E-F71BD91DB2F7}"/>
                  </a:ext>
                </a:extLst>
              </p:cNvPr>
              <p:cNvSpPr txBox="1"/>
              <p:nvPr/>
            </p:nvSpPr>
            <p:spPr>
              <a:xfrm>
                <a:off x="838200" y="2171196"/>
                <a:ext cx="10515600" cy="1569660"/>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Корреляция симптомов с конкретным заболеванием подтверждается в результате  разнообразных верификаций. Пусть проводится ВД между заболеваниями </a:t>
                </a:r>
                <a14:m>
                  <m:oMath xmlns:m="http://schemas.openxmlformats.org/officeDocument/2006/math">
                    <m:sSub>
                      <m:sSubPr>
                        <m:ctrlPr>
                          <a:rPr lang="ru-RU"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𝐷</m:t>
                        </m:r>
                      </m:e>
                      <m:sub>
                        <m:r>
                          <a:rPr lang="en-US" sz="1200" b="0" i="1" smtClean="0">
                            <a:latin typeface="Cambria Math" panose="02040503050406030204" pitchFamily="18" charset="0"/>
                            <a:cs typeface="Arial" panose="020B0604020202020204" pitchFamily="34" charset="0"/>
                          </a:rPr>
                          <m:t>1</m:t>
                        </m:r>
                      </m:sub>
                    </m:sSub>
                    <m:r>
                      <a:rPr lang="en-US" sz="1200" b="0" i="0" smtClean="0">
                        <a:latin typeface="Cambria Math" panose="02040503050406030204" pitchFamily="18" charset="0"/>
                        <a:cs typeface="Arial" panose="020B0604020202020204" pitchFamily="34" charset="0"/>
                      </a:rPr>
                      <m:t> </m:t>
                    </m:r>
                  </m:oMath>
                </a14:m>
                <a:r>
                  <a:rPr lang="ru-RU" sz="1200" dirty="0">
                    <a:latin typeface="Arial" panose="020B0604020202020204" pitchFamily="34" charset="0"/>
                    <a:cs typeface="Arial" panose="020B0604020202020204" pitchFamily="34" charset="0"/>
                  </a:rPr>
                  <a:t>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b="0" i="1" smtClean="0">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причем они являются единственно возможными и взаимоисключающими случаями. Для вычисления коэффициента корреляции определим по группе обучения следующие показатели:</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𝑎</m:t>
                        </m:r>
                      </m:e>
                      <m:sub>
                        <m:r>
                          <a:rPr lang="en-US" sz="1200" i="1" smtClean="0">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 частота наличия симптома </a:t>
                </a:r>
                <a14:m>
                  <m:oMath xmlns:m="http://schemas.openxmlformats.org/officeDocument/2006/math">
                    <m:sSub>
                      <m:sSubPr>
                        <m:ctrlPr>
                          <a:rPr lang="ru-RU"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𝑆</m:t>
                        </m:r>
                      </m:e>
                      <m:sub>
                        <m:r>
                          <a:rPr lang="en-US" sz="1200" b="0" i="1" smtClean="0">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при заболевании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𝑏</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 частота наличия симптома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при заболевании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𝑐</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 частота отсутствия симптома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при заболевании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𝑑</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 частота отсутствия симптома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при заболевании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Коэффициент корреляции симптома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с подтвержденным диагнозом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определяется по формуле</a:t>
                </a:r>
              </a:p>
            </p:txBody>
          </p:sp>
        </mc:Choice>
        <mc:Fallback>
          <p:sp>
            <p:nvSpPr>
              <p:cNvPr id="6" name="TextBox 5">
                <a:extLst>
                  <a:ext uri="{FF2B5EF4-FFF2-40B4-BE49-F238E27FC236}">
                    <a16:creationId xmlns:a16="http://schemas.microsoft.com/office/drawing/2014/main" id="{9E90FD04-5A55-E1FD-729E-F71BD91DB2F7}"/>
                  </a:ext>
                </a:extLst>
              </p:cNvPr>
              <p:cNvSpPr txBox="1">
                <a:spLocks noRot="1" noChangeAspect="1" noMove="1" noResize="1" noEditPoints="1" noAdjustHandles="1" noChangeArrowheads="1" noChangeShapeType="1" noTextEdit="1"/>
              </p:cNvSpPr>
              <p:nvPr/>
            </p:nvSpPr>
            <p:spPr>
              <a:xfrm>
                <a:off x="838200" y="2171196"/>
                <a:ext cx="10515600" cy="1569660"/>
              </a:xfrm>
              <a:prstGeom prst="rect">
                <a:avLst/>
              </a:prstGeom>
              <a:blipFill>
                <a:blip r:embed="rId2"/>
                <a:stretch>
                  <a:fillRect l="-58" t="-388" b="-1550"/>
                </a:stretch>
              </a:blipFill>
            </p:spPr>
            <p:txBody>
              <a:bodyPr/>
              <a:lstStyle/>
              <a:p>
                <a:r>
                  <a:rPr lang="ru-RU">
                    <a:noFill/>
                  </a:rPr>
                  <a:t> </a:t>
                </a:r>
              </a:p>
            </p:txBody>
          </p:sp>
        </mc:Fallback>
      </mc:AlternateContent>
      <p:sp>
        <p:nvSpPr>
          <p:cNvPr id="2" name="TextBox 1">
            <a:extLst>
              <a:ext uri="{FF2B5EF4-FFF2-40B4-BE49-F238E27FC236}">
                <a16:creationId xmlns:a16="http://schemas.microsoft.com/office/drawing/2014/main" id="{52A775C8-97F6-6055-5C49-F3CFB8F4BEB1}"/>
              </a:ext>
            </a:extLst>
          </p:cNvPr>
          <p:cNvSpPr txBox="1"/>
          <p:nvPr/>
        </p:nvSpPr>
        <p:spPr>
          <a:xfrm>
            <a:off x="838199" y="1278644"/>
            <a:ext cx="9278074" cy="892552"/>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Алгоритм, основанный на сложении коэффициентов  корреляции симптомов</a:t>
            </a:r>
          </a:p>
        </p:txBody>
      </p:sp>
      <p:sp>
        <p:nvSpPr>
          <p:cNvPr id="3" name="Номер слайда 2">
            <a:extLst>
              <a:ext uri="{FF2B5EF4-FFF2-40B4-BE49-F238E27FC236}">
                <a16:creationId xmlns:a16="http://schemas.microsoft.com/office/drawing/2014/main" id="{6A7ACFCB-3EBB-4426-2BC3-73E448F3A37C}"/>
              </a:ext>
            </a:extLst>
          </p:cNvPr>
          <p:cNvSpPr>
            <a:spLocks noGrp="1"/>
          </p:cNvSpPr>
          <p:nvPr>
            <p:ph type="sldNum" sz="quarter" idx="12"/>
          </p:nvPr>
        </p:nvSpPr>
        <p:spPr/>
        <p:txBody>
          <a:bodyPr/>
          <a:lstStyle/>
          <a:p>
            <a:fld id="{818D4B0C-12DF-447C-B791-E379AA958CE7}" type="slidenum">
              <a:rPr lang="ru-RU" smtClean="0"/>
              <a:t>13</a:t>
            </a:fld>
            <a:endParaRPr lang="ru-RU"/>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76E10E8-5F57-C750-1D93-7408D765E820}"/>
                  </a:ext>
                </a:extLst>
              </p:cNvPr>
              <p:cNvSpPr txBox="1"/>
              <p:nvPr/>
            </p:nvSpPr>
            <p:spPr>
              <a:xfrm>
                <a:off x="3947970" y="3696107"/>
                <a:ext cx="3204660" cy="4281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200" i="1" smtClean="0">
                              <a:latin typeface="Cambria Math" panose="02040503050406030204" pitchFamily="18" charset="0"/>
                            </a:rPr>
                          </m:ctrlPr>
                        </m:sSubPr>
                        <m:e>
                          <m:r>
                            <a:rPr lang="en-US" sz="1200" b="0" i="1" smtClean="0">
                              <a:latin typeface="Cambria Math" panose="02040503050406030204" pitchFamily="18" charset="0"/>
                            </a:rPr>
                            <m:t>𝑟</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𝑎</m:t>
                              </m:r>
                            </m:e>
                            <m:sub>
                              <m:r>
                                <a:rPr lang="en-US" sz="1200" b="0" i="1" smtClean="0">
                                  <a:latin typeface="Cambria Math" panose="02040503050406030204" pitchFamily="18" charset="0"/>
                                </a:rPr>
                                <m:t>𝑖</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𝑑</m:t>
                              </m:r>
                            </m:e>
                            <m:sub>
                              <m:r>
                                <a:rPr lang="en-US" sz="1200" b="0" i="1" smtClean="0">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𝑏</m:t>
                              </m:r>
                            </m:e>
                            <m:sub>
                              <m:r>
                                <a:rPr lang="en-US" sz="1200" b="0" i="1" smtClean="0">
                                  <a:latin typeface="Cambria Math" panose="02040503050406030204" pitchFamily="18" charset="0"/>
                                </a:rPr>
                                <m:t>𝑖</m:t>
                              </m:r>
                            </m:sub>
                          </m:sSub>
                          <m:sSub>
                            <m:sSubPr>
                              <m:ctrlPr>
                                <a:rPr lang="en-US" sz="1200" i="1">
                                  <a:latin typeface="Cambria Math" panose="02040503050406030204" pitchFamily="18" charset="0"/>
                                </a:rPr>
                              </m:ctrlPr>
                            </m:sSubPr>
                            <m:e>
                              <m:r>
                                <a:rPr lang="en-US" sz="1200" b="0" i="1" smtClean="0">
                                  <a:latin typeface="Cambria Math" panose="02040503050406030204" pitchFamily="18" charset="0"/>
                                </a:rPr>
                                <m:t>𝑐</m:t>
                              </m:r>
                            </m:e>
                            <m:sub>
                              <m:r>
                                <a:rPr lang="en-US" sz="1200" b="0" i="1" smtClean="0">
                                  <a:latin typeface="Cambria Math" panose="02040503050406030204" pitchFamily="18" charset="0"/>
                                </a:rPr>
                                <m:t>𝑖</m:t>
                              </m:r>
                            </m:sub>
                          </m:sSub>
                        </m:num>
                        <m:den>
                          <m:rad>
                            <m:radPr>
                              <m:degHide m:val="on"/>
                              <m:ctrlPr>
                                <a:rPr lang="en-US" sz="1200" b="0" i="1" smtClean="0">
                                  <a:latin typeface="Cambria Math" panose="02040503050406030204" pitchFamily="18" charset="0"/>
                                </a:rPr>
                              </m:ctrlPr>
                            </m:radPr>
                            <m:deg/>
                            <m:e>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𝑖</m:t>
                                      </m:r>
                                    </m:sub>
                                  </m:sSub>
                                </m:e>
                              </m:d>
                              <m:d>
                                <m:dPr>
                                  <m:ctrlPr>
                                    <a:rPr lang="en-US" sz="1200" i="1">
                                      <a:latin typeface="Cambria Math" panose="02040503050406030204" pitchFamily="18" charset="0"/>
                                    </a:rPr>
                                  </m:ctrlPr>
                                </m:dPr>
                                <m:e>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𝑏</m:t>
                                      </m:r>
                                    </m:e>
                                    <m:sub>
                                      <m:r>
                                        <a:rPr lang="en-US" sz="1200" i="1">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𝑑</m:t>
                                      </m:r>
                                    </m:e>
                                    <m:sub>
                                      <m:r>
                                        <a:rPr lang="en-US" sz="1200" i="1">
                                          <a:latin typeface="Cambria Math" panose="02040503050406030204" pitchFamily="18" charset="0"/>
                                        </a:rPr>
                                        <m:t>𝑖</m:t>
                                      </m:r>
                                    </m:sub>
                                  </m:sSub>
                                </m:e>
                              </m:d>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𝑏</m:t>
                                      </m:r>
                                    </m:e>
                                    <m:sub>
                                      <m:r>
                                        <a:rPr lang="en-US" sz="1200" i="1">
                                          <a:latin typeface="Cambria Math" panose="02040503050406030204" pitchFamily="18" charset="0"/>
                                        </a:rPr>
                                        <m:t>𝑖</m:t>
                                      </m:r>
                                    </m:sub>
                                  </m:sSub>
                                </m:e>
                              </m:d>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b="0" i="1" smtClean="0">
                                          <a:latin typeface="Cambria Math" panose="02040503050406030204" pitchFamily="18" charset="0"/>
                                        </a:rPr>
                                        <m:t>𝑐</m:t>
                                      </m:r>
                                    </m:e>
                                    <m:sub>
                                      <m:r>
                                        <a:rPr lang="en-US" sz="1200" i="1">
                                          <a:latin typeface="Cambria Math" panose="02040503050406030204" pitchFamily="18" charset="0"/>
                                        </a:rPr>
                                        <m:t>𝑖</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b="0" i="1" smtClean="0">
                                          <a:latin typeface="Cambria Math" panose="02040503050406030204" pitchFamily="18" charset="0"/>
                                        </a:rPr>
                                        <m:t>𝑑</m:t>
                                      </m:r>
                                    </m:e>
                                    <m:sub>
                                      <m:r>
                                        <a:rPr lang="en-US" sz="1200" i="1">
                                          <a:latin typeface="Cambria Math" panose="02040503050406030204" pitchFamily="18" charset="0"/>
                                        </a:rPr>
                                        <m:t>𝑖</m:t>
                                      </m:r>
                                    </m:sub>
                                  </m:sSub>
                                </m:e>
                              </m:d>
                            </m:e>
                          </m:rad>
                        </m:den>
                      </m:f>
                      <m:r>
                        <a:rPr lang="ru-RU" sz="1200" b="0" i="1" smtClean="0">
                          <a:latin typeface="Cambria Math" panose="02040503050406030204" pitchFamily="18" charset="0"/>
                        </a:rPr>
                        <m:t> </m:t>
                      </m:r>
                      <m:r>
                        <a:rPr lang="en-US" sz="1200" b="0" i="1" smtClean="0">
                          <a:latin typeface="Cambria Math" panose="02040503050406030204" pitchFamily="18" charset="0"/>
                        </a:rPr>
                        <m:t>   </m:t>
                      </m:r>
                      <m:r>
                        <a:rPr lang="ru-RU" sz="1200" b="0" i="1" smtClean="0">
                          <a:latin typeface="Cambria Math" panose="02040503050406030204" pitchFamily="18" charset="0"/>
                        </a:rPr>
                        <m:t>(14)</m:t>
                      </m:r>
                    </m:oMath>
                  </m:oMathPara>
                </a14:m>
                <a:endParaRPr lang="ru-RU" sz="1200" dirty="0"/>
              </a:p>
            </p:txBody>
          </p:sp>
        </mc:Choice>
        <mc:Fallback xmlns="">
          <p:sp>
            <p:nvSpPr>
              <p:cNvPr id="4" name="TextBox 3">
                <a:extLst>
                  <a:ext uri="{FF2B5EF4-FFF2-40B4-BE49-F238E27FC236}">
                    <a16:creationId xmlns:a16="http://schemas.microsoft.com/office/drawing/2014/main" id="{776E10E8-5F57-C750-1D93-7408D765E820}"/>
                  </a:ext>
                </a:extLst>
              </p:cNvPr>
              <p:cNvSpPr txBox="1">
                <a:spLocks noRot="1" noChangeAspect="1" noMove="1" noResize="1" noEditPoints="1" noAdjustHandles="1" noChangeArrowheads="1" noChangeShapeType="1" noTextEdit="1"/>
              </p:cNvSpPr>
              <p:nvPr/>
            </p:nvSpPr>
            <p:spPr>
              <a:xfrm>
                <a:off x="3947970" y="3696107"/>
                <a:ext cx="3204660" cy="428131"/>
              </a:xfrm>
              <a:prstGeom prst="rect">
                <a:avLst/>
              </a:prstGeom>
              <a:blipFill>
                <a:blip r:embed="rId3"/>
                <a:stretch>
                  <a:fillRect l="-381" t="-2817" r="-1333" b="-5634"/>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EF360A6-11D8-7316-E458-88708DCA3385}"/>
                  </a:ext>
                </a:extLst>
              </p:cNvPr>
              <p:cNvSpPr txBox="1"/>
              <p:nvPr/>
            </p:nvSpPr>
            <p:spPr>
              <a:xfrm>
                <a:off x="838199" y="4063278"/>
                <a:ext cx="10107305" cy="1754326"/>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Для интерпретации </a:t>
                </a:r>
                <a14:m>
                  <m:oMath xmlns:m="http://schemas.openxmlformats.org/officeDocument/2006/math">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oMath>
                </a14:m>
                <a:r>
                  <a:rPr lang="ru-RU" sz="1200" dirty="0">
                    <a:latin typeface="Arial" panose="020B0604020202020204" pitchFamily="34" charset="0"/>
                    <a:cs typeface="Arial" panose="020B0604020202020204" pitchFamily="34" charset="0"/>
                  </a:rPr>
                  <a:t> применяют следующую шкалу:</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слабо коррелирует с</a:t>
                </a:r>
                <a:r>
                  <a:rPr lang="en-US" sz="1200" dirty="0">
                    <a:latin typeface="Arial" panose="020B0604020202020204" pitchFamily="34" charset="0"/>
                    <a:cs typeface="Arial" panose="020B0604020202020204" pitchFamily="34" charset="0"/>
                  </a:rPr>
                  <a:t>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a:t>
                </a:r>
                <a:r>
                  <a:rPr lang="en-US" sz="1200" dirty="0">
                    <a:latin typeface="Arial" panose="020B0604020202020204" pitchFamily="34" charset="0"/>
                    <a:cs typeface="Arial" panose="020B0604020202020204" pitchFamily="34" charset="0"/>
                  </a:rPr>
                  <a:t> </a:t>
                </a:r>
                <a14:m>
                  <m:oMath xmlns:m="http://schemas.openxmlformats.org/officeDocument/2006/math">
                    <m:r>
                      <a:rPr lang="en-US" sz="1200" b="0" i="1" smtClean="0">
                        <a:latin typeface="Cambria Math" panose="02040503050406030204" pitchFamily="18" charset="0"/>
                      </a:rPr>
                      <m:t>0&lt;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0,3</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умеренно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i="1">
                        <a:latin typeface="Cambria Math" panose="02040503050406030204" pitchFamily="18" charset="0"/>
                      </a:rPr>
                      <m:t>0</m:t>
                    </m:r>
                    <m:r>
                      <a:rPr lang="en-US" sz="1200" b="0" i="1" smtClean="0">
                        <a:latin typeface="Cambria Math" panose="02040503050406030204" pitchFamily="18" charset="0"/>
                      </a:rPr>
                      <m:t>,3</m:t>
                    </m:r>
                    <m:r>
                      <a:rPr lang="en-US" sz="1200" i="1">
                        <a:latin typeface="Cambria Math" panose="02040503050406030204" pitchFamily="18" charset="0"/>
                      </a:rPr>
                      <m:t>&lt;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5</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заметно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i="1">
                        <a:latin typeface="Cambria Math" panose="02040503050406030204" pitchFamily="18" charset="0"/>
                      </a:rPr>
                      <m:t>0</m:t>
                    </m:r>
                    <m:r>
                      <a:rPr lang="en-US" sz="1200" b="0" i="1" smtClean="0">
                        <a:latin typeface="Cambria Math" panose="02040503050406030204" pitchFamily="18" charset="0"/>
                      </a:rPr>
                      <m:t>,5</m:t>
                    </m:r>
                    <m:r>
                      <a:rPr lang="en-US" sz="1200" i="1">
                        <a:latin typeface="Cambria Math" panose="02040503050406030204" pitchFamily="18" charset="0"/>
                      </a:rPr>
                      <m:t>&lt;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7</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сильно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i="1">
                        <a:latin typeface="Cambria Math" panose="02040503050406030204" pitchFamily="18" charset="0"/>
                      </a:rPr>
                      <m:t>0</m:t>
                    </m:r>
                    <m:r>
                      <a:rPr lang="en-US" sz="1200" b="0" i="1" smtClean="0">
                        <a:latin typeface="Cambria Math" panose="02040503050406030204" pitchFamily="18" charset="0"/>
                      </a:rPr>
                      <m:t>,7</m:t>
                    </m:r>
                    <m:r>
                      <a:rPr lang="en-US" sz="1200" i="1">
                        <a:latin typeface="Cambria Math" panose="02040503050406030204" pitchFamily="18" charset="0"/>
                      </a:rPr>
                      <m:t>&lt;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1</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слабо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b="0" i="0" smtClean="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,3</m:t>
                    </m:r>
                    <m:r>
                      <a:rPr lang="en-US" sz="1200" i="1" smtClean="0">
                        <a:latin typeface="Cambria Math" panose="02040503050406030204" pitchFamily="18" charset="0"/>
                        <a:ea typeface="Cambria Math" panose="02040503050406030204" pitchFamily="18" charset="0"/>
                      </a:rPr>
                      <m: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b="0" i="1" smtClean="0">
                        <a:latin typeface="Cambria Math" panose="02040503050406030204" pitchFamily="18" charset="0"/>
                      </a:rPr>
                      <m:t>&gt;</m:t>
                    </m:r>
                    <m:r>
                      <a:rPr lang="en-US" sz="1200" i="1">
                        <a:latin typeface="Cambria Math" panose="02040503050406030204" pitchFamily="18" charset="0"/>
                      </a:rPr>
                      <m:t>0</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умеренно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5</m:t>
                    </m:r>
                    <m:r>
                      <a:rPr lang="en-US" sz="1200" i="1">
                        <a:latin typeface="Cambria Math" panose="02040503050406030204" pitchFamily="18" charset="0"/>
                        <a:ea typeface="Cambria Math" panose="02040503050406030204" pitchFamily="18" charset="0"/>
                      </a:rPr>
                      <m: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rPr>
                      <m:t>&gt;</m:t>
                    </m:r>
                    <m:r>
                      <a:rPr lang="en-US" sz="1200" b="0" i="1" smtClean="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,3</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заметно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7</m:t>
                    </m:r>
                    <m:r>
                      <a:rPr lang="en-US" sz="1200" i="1">
                        <a:latin typeface="Cambria Math" panose="02040503050406030204" pitchFamily="18" charset="0"/>
                        <a:ea typeface="Cambria Math" panose="02040503050406030204" pitchFamily="18" charset="0"/>
                      </a:rPr>
                      <m: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rPr>
                      <m:t>&gt;</m:t>
                    </m:r>
                    <m:r>
                      <a:rPr lang="en-US" sz="1200" b="0" i="1" smtClean="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,5</m:t>
                    </m:r>
                  </m:oMath>
                </a14:m>
                <a:r>
                  <a:rPr lang="ru-RU"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𝑆</m:t>
                        </m:r>
                      </m:e>
                      <m:sub>
                        <m:r>
                          <a:rPr lang="en-US" sz="1200" i="1">
                            <a:latin typeface="Cambria Math" panose="02040503050406030204" pitchFamily="18" charset="0"/>
                            <a:cs typeface="Arial" panose="020B0604020202020204" pitchFamily="34" charset="0"/>
                          </a:rPr>
                          <m:t>𝑖</m:t>
                        </m:r>
                      </m:sub>
                    </m:sSub>
                  </m:oMath>
                </a14:m>
                <a:r>
                  <a:rPr lang="ru-RU" sz="1200" dirty="0">
                    <a:latin typeface="Arial" panose="020B0604020202020204" pitchFamily="34" charset="0"/>
                    <a:cs typeface="Arial" panose="020B0604020202020204" pitchFamily="34" charset="0"/>
                  </a:rPr>
                  <a:t> сильно коррелирует с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если </a:t>
                </a:r>
                <a14:m>
                  <m:oMath xmlns:m="http://schemas.openxmlformats.org/officeDocument/2006/math">
                    <m:r>
                      <a:rPr lang="en-US" sz="1200">
                        <a:latin typeface="Cambria Math" panose="02040503050406030204" pitchFamily="18" charset="0"/>
                      </a:rPr>
                      <m:t>−</m:t>
                    </m:r>
                    <m:r>
                      <a:rPr lang="en-US" sz="1200" b="0" i="1" smtClean="0">
                        <a:latin typeface="Cambria Math" panose="02040503050406030204" pitchFamily="18" charset="0"/>
                      </a:rPr>
                      <m:t>1</m:t>
                    </m:r>
                    <m:r>
                      <a:rPr lang="en-US" sz="1200" i="1">
                        <a:latin typeface="Cambria Math" panose="02040503050406030204" pitchFamily="18" charset="0"/>
                        <a:ea typeface="Cambria Math" panose="02040503050406030204" pitchFamily="18" charset="0"/>
                      </a:rPr>
                      <m:t>≥</m:t>
                    </m:r>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r>
                      <a:rPr lang="en-US" sz="1200" i="1">
                        <a:latin typeface="Cambria Math" panose="02040503050406030204" pitchFamily="18" charset="0"/>
                      </a:rPr>
                      <m:t>&gt;</m:t>
                    </m:r>
                    <m:r>
                      <a:rPr lang="en-US" sz="1200" b="0" i="1" smtClean="0">
                        <a:latin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,7</m:t>
                    </m:r>
                  </m:oMath>
                </a14:m>
                <a:r>
                  <a:rPr lang="ru-RU" sz="1200" dirty="0">
                    <a:latin typeface="Arial" panose="020B0604020202020204" pitchFamily="34" charset="0"/>
                    <a:cs typeface="Arial" panose="020B0604020202020204" pitchFamily="34" charset="0"/>
                  </a:rPr>
                  <a:t>.</a:t>
                </a:r>
              </a:p>
            </p:txBody>
          </p:sp>
        </mc:Choice>
        <mc:Fallback>
          <p:sp>
            <p:nvSpPr>
              <p:cNvPr id="12" name="TextBox 11">
                <a:extLst>
                  <a:ext uri="{FF2B5EF4-FFF2-40B4-BE49-F238E27FC236}">
                    <a16:creationId xmlns:a16="http://schemas.microsoft.com/office/drawing/2014/main" id="{3EF360A6-11D8-7316-E458-88708DCA3385}"/>
                  </a:ext>
                </a:extLst>
              </p:cNvPr>
              <p:cNvSpPr txBox="1">
                <a:spLocks noRot="1" noChangeAspect="1" noMove="1" noResize="1" noEditPoints="1" noAdjustHandles="1" noChangeArrowheads="1" noChangeShapeType="1" noTextEdit="1"/>
              </p:cNvSpPr>
              <p:nvPr/>
            </p:nvSpPr>
            <p:spPr>
              <a:xfrm>
                <a:off x="838199" y="4063278"/>
                <a:ext cx="10107305" cy="1754326"/>
              </a:xfrm>
              <a:prstGeom prst="rect">
                <a:avLst/>
              </a:prstGeom>
              <a:blipFill>
                <a:blip r:embed="rId4"/>
                <a:stretch>
                  <a:fillRect t="-697" b="-1742"/>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9430DFBC-BB08-B7FF-7B08-04E3CDC8E702}"/>
                  </a:ext>
                </a:extLst>
              </p:cNvPr>
              <p:cNvSpPr txBox="1"/>
              <p:nvPr/>
            </p:nvSpPr>
            <p:spPr>
              <a:xfrm>
                <a:off x="838199" y="5785391"/>
                <a:ext cx="10955740" cy="831190"/>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Алгоритм постановки диагноза с использованием коэффициентов корреляции симптомов заключается в следующем. Складываются </a:t>
                </a:r>
                <a14:m>
                  <m:oMath xmlns:m="http://schemas.openxmlformats.org/officeDocument/2006/math">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oMath>
                </a14:m>
                <a:r>
                  <a:rPr lang="ru-RU" sz="1200" dirty="0">
                    <a:latin typeface="Arial" panose="020B0604020202020204" pitchFamily="34" charset="0"/>
                    <a:cs typeface="Arial" panose="020B0604020202020204" pitchFamily="34" charset="0"/>
                  </a:rPr>
                  <a:t> для всех симптомов, учитываемых у больного. Если их сумма превышает порог </a:t>
                </a:r>
                <a14:m>
                  <m:oMath xmlns:m="http://schemas.openxmlformats.org/officeDocument/2006/math">
                    <m:r>
                      <a:rPr lang="en-US" sz="1200" i="1">
                        <a:latin typeface="Cambria Math" panose="02040503050406030204" pitchFamily="18" charset="0"/>
                      </a:rPr>
                      <m:t>0,5</m:t>
                    </m:r>
                  </m:oMath>
                </a14:m>
                <a:r>
                  <a:rPr lang="ru-RU" sz="1200" dirty="0">
                    <a:latin typeface="Arial" panose="020B0604020202020204" pitchFamily="34" charset="0"/>
                    <a:cs typeface="Arial" panose="020B0604020202020204" pitchFamily="34" charset="0"/>
                  </a:rPr>
                  <a:t>, ставится диагноз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1</m:t>
                        </m:r>
                      </m:sub>
                    </m:sSub>
                  </m:oMath>
                </a14:m>
                <a:r>
                  <a:rPr lang="ru-RU" sz="1200" dirty="0">
                    <a:latin typeface="Arial" panose="020B0604020202020204" pitchFamily="34" charset="0"/>
                    <a:cs typeface="Arial" panose="020B0604020202020204" pitchFamily="34" charset="0"/>
                  </a:rPr>
                  <a:t>». Если она меньше чем </a:t>
                </a:r>
                <a14:m>
                  <m:oMath xmlns:m="http://schemas.openxmlformats.org/officeDocument/2006/math">
                    <m:r>
                      <a:rPr lang="en-US" sz="1200">
                        <a:latin typeface="Cambria Math" panose="02040503050406030204" pitchFamily="18" charset="0"/>
                      </a:rPr>
                      <m:t>−</m:t>
                    </m:r>
                    <m:r>
                      <a:rPr lang="en-US" sz="1200" i="1">
                        <a:latin typeface="Cambria Math" panose="02040503050406030204" pitchFamily="18" charset="0"/>
                      </a:rPr>
                      <m:t>0,5</m:t>
                    </m:r>
                  </m:oMath>
                </a14:m>
                <a:r>
                  <a:rPr lang="ru-RU" sz="1200" dirty="0">
                    <a:latin typeface="Arial" panose="020B0604020202020204" pitchFamily="34" charset="0"/>
                    <a:cs typeface="Arial" panose="020B0604020202020204" pitchFamily="34" charset="0"/>
                  </a:rPr>
                  <a:t>, то ставится диагноз «заболевание </a:t>
                </a:r>
                <a14:m>
                  <m:oMath xmlns:m="http://schemas.openxmlformats.org/officeDocument/2006/math">
                    <m:sSub>
                      <m:sSubPr>
                        <m:ctrlPr>
                          <a:rPr lang="ru-RU" sz="1200" i="1">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𝐷</m:t>
                        </m:r>
                      </m:e>
                      <m:sub>
                        <m:r>
                          <a:rPr lang="en-US" sz="1200" i="1">
                            <a:latin typeface="Cambria Math" panose="02040503050406030204" pitchFamily="18" charset="0"/>
                            <a:cs typeface="Arial" panose="020B0604020202020204" pitchFamily="34" charset="0"/>
                          </a:rPr>
                          <m:t>2</m:t>
                        </m:r>
                      </m:sub>
                    </m:sSub>
                  </m:oMath>
                </a14:m>
                <a:r>
                  <a:rPr lang="ru-RU" sz="1200" dirty="0">
                    <a:latin typeface="Arial" panose="020B0604020202020204" pitchFamily="34" charset="0"/>
                    <a:cs typeface="Arial" panose="020B0604020202020204" pitchFamily="34" charset="0"/>
                  </a:rPr>
                  <a:t>». В</a:t>
                </a:r>
                <a:r>
                  <a:rPr lang="en-US" sz="1200" dirty="0">
                    <a:latin typeface="Arial" panose="020B0604020202020204" pitchFamily="34" charset="0"/>
                    <a:cs typeface="Arial" panose="020B0604020202020204" pitchFamily="34" charset="0"/>
                  </a:rPr>
                  <a:t> </a:t>
                </a:r>
                <a:r>
                  <a:rPr lang="ru-RU" sz="1200" dirty="0">
                    <a:latin typeface="Arial" panose="020B0604020202020204" pitchFamily="34" charset="0"/>
                    <a:cs typeface="Arial" panose="020B0604020202020204" pitchFamily="34" charset="0"/>
                  </a:rPr>
                  <a:t>случае если </a:t>
                </a:r>
                <a14:m>
                  <m:oMath xmlns:m="http://schemas.openxmlformats.org/officeDocument/2006/math">
                    <m:r>
                      <a:rPr lang="en-US" sz="1200" b="0" i="0" smtClean="0">
                        <a:latin typeface="Cambria Math" panose="02040503050406030204" pitchFamily="18" charset="0"/>
                      </a:rPr>
                      <m:t>−</m:t>
                    </m:r>
                    <m:r>
                      <a:rPr lang="en-US" sz="1200" i="1">
                        <a:latin typeface="Cambria Math" panose="02040503050406030204" pitchFamily="18" charset="0"/>
                      </a:rPr>
                      <m:t>0,5&lt;</m:t>
                    </m:r>
                    <m:nary>
                      <m:naryPr>
                        <m:chr m:val="∑"/>
                        <m:supHide m:val="on"/>
                        <m:ctrlPr>
                          <a:rPr lang="en-US" sz="1200" i="1" smtClean="0">
                            <a:latin typeface="Cambria Math" panose="02040503050406030204" pitchFamily="18" charset="0"/>
                          </a:rPr>
                        </m:ctrlPr>
                      </m:naryPr>
                      <m:sub>
                        <m:r>
                          <m:rPr>
                            <m:brk m:alnAt="7"/>
                          </m:rPr>
                          <a:rPr lang="en-US" sz="1200" b="0" i="1" smtClean="0">
                            <a:latin typeface="Cambria Math" panose="02040503050406030204" pitchFamily="18" charset="0"/>
                          </a:rPr>
                          <m:t>𝑖</m:t>
                        </m:r>
                      </m:sub>
                      <m:sup/>
                      <m:e>
                        <m:sSub>
                          <m:sSubPr>
                            <m:ctrlPr>
                              <a:rPr lang="ru-RU" sz="1200" i="1">
                                <a:latin typeface="Cambria Math" panose="02040503050406030204" pitchFamily="18" charset="0"/>
                              </a:rPr>
                            </m:ctrlPr>
                          </m:sSubPr>
                          <m:e>
                            <m:r>
                              <a:rPr lang="en-US" sz="1200" i="1">
                                <a:latin typeface="Cambria Math" panose="02040503050406030204" pitchFamily="18" charset="0"/>
                              </a:rPr>
                              <m:t>𝑟</m:t>
                            </m:r>
                          </m:e>
                          <m:sub>
                            <m:r>
                              <a:rPr lang="en-US" sz="1200" i="1">
                                <a:latin typeface="Cambria Math" panose="02040503050406030204" pitchFamily="18" charset="0"/>
                              </a:rPr>
                              <m:t>𝑖</m:t>
                            </m:r>
                          </m:sub>
                        </m:sSub>
                      </m:e>
                    </m:nary>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0,</m:t>
                    </m:r>
                    <m:r>
                      <a:rPr lang="en-US" sz="1200" b="0" i="1" smtClean="0">
                        <a:latin typeface="Cambria Math" panose="02040503050406030204" pitchFamily="18" charset="0"/>
                      </a:rPr>
                      <m:t>5, </m:t>
                    </m:r>
                  </m:oMath>
                </a14:m>
                <a:r>
                  <a:rPr lang="en-US" sz="1200" dirty="0">
                    <a:latin typeface="Arial" panose="020B0604020202020204" pitchFamily="34" charset="0"/>
                    <a:cs typeface="Arial" panose="020B0604020202020204" pitchFamily="34" charset="0"/>
                  </a:rPr>
                  <a:t> </a:t>
                </a:r>
                <a:r>
                  <a:rPr lang="ru-RU" sz="1200" dirty="0">
                    <a:latin typeface="Arial" panose="020B0604020202020204" pitchFamily="34" charset="0"/>
                    <a:cs typeface="Arial" panose="020B0604020202020204" pitchFamily="34" charset="0"/>
                  </a:rPr>
                  <a:t>диагноз считается</a:t>
                </a:r>
                <a:r>
                  <a:rPr lang="en-US" sz="1200" dirty="0">
                    <a:latin typeface="Arial" panose="020B0604020202020204" pitchFamily="34" charset="0"/>
                    <a:cs typeface="Arial" panose="020B0604020202020204" pitchFamily="34" charset="0"/>
                  </a:rPr>
                  <a:t> </a:t>
                </a:r>
                <a:r>
                  <a:rPr lang="ru-RU" sz="1200" dirty="0">
                    <a:latin typeface="Arial" panose="020B0604020202020204" pitchFamily="34" charset="0"/>
                    <a:cs typeface="Arial" panose="020B0604020202020204" pitchFamily="34" charset="0"/>
                  </a:rPr>
                  <a:t>неопределенным. Для улучшения качества ВД значение</a:t>
                </a:r>
                <a:r>
                  <a:rPr lang="en-US" sz="1200" dirty="0">
                    <a:latin typeface="Arial" panose="020B0604020202020204" pitchFamily="34" charset="0"/>
                    <a:cs typeface="Arial" panose="020B0604020202020204" pitchFamily="34" charset="0"/>
                  </a:rPr>
                  <a:t> </a:t>
                </a:r>
                <a:r>
                  <a:rPr lang="ru-RU" sz="1200" dirty="0">
                    <a:latin typeface="Arial" panose="020B0604020202020204" pitchFamily="34" charset="0"/>
                    <a:cs typeface="Arial" panose="020B0604020202020204" pitchFamily="34" charset="0"/>
                  </a:rPr>
                  <a:t>порога можно изменить, подобрав его по группе обучения.</a:t>
                </a:r>
              </a:p>
            </p:txBody>
          </p:sp>
        </mc:Choice>
        <mc:Fallback>
          <p:sp>
            <p:nvSpPr>
              <p:cNvPr id="16" name="TextBox 15">
                <a:extLst>
                  <a:ext uri="{FF2B5EF4-FFF2-40B4-BE49-F238E27FC236}">
                    <a16:creationId xmlns:a16="http://schemas.microsoft.com/office/drawing/2014/main" id="{9430DFBC-BB08-B7FF-7B08-04E3CDC8E702}"/>
                  </a:ext>
                </a:extLst>
              </p:cNvPr>
              <p:cNvSpPr txBox="1">
                <a:spLocks noRot="1" noChangeAspect="1" noMove="1" noResize="1" noEditPoints="1" noAdjustHandles="1" noChangeArrowheads="1" noChangeShapeType="1" noTextEdit="1"/>
              </p:cNvSpPr>
              <p:nvPr/>
            </p:nvSpPr>
            <p:spPr>
              <a:xfrm>
                <a:off x="838199" y="5785391"/>
                <a:ext cx="10955740" cy="831190"/>
              </a:xfrm>
              <a:prstGeom prst="rect">
                <a:avLst/>
              </a:prstGeom>
              <a:blipFill>
                <a:blip r:embed="rId5"/>
                <a:stretch>
                  <a:fillRect t="-735" b="-30882"/>
                </a:stretch>
              </a:blipFill>
            </p:spPr>
            <p:txBody>
              <a:bodyPr/>
              <a:lstStyle/>
              <a:p>
                <a:r>
                  <a:rPr lang="ru-RU">
                    <a:noFill/>
                  </a:rPr>
                  <a:t> </a:t>
                </a:r>
              </a:p>
            </p:txBody>
          </p:sp>
        </mc:Fallback>
      </mc:AlternateContent>
    </p:spTree>
    <p:extLst>
      <p:ext uri="{BB962C8B-B14F-4D97-AF65-F5344CB8AC3E}">
        <p14:creationId xmlns:p14="http://schemas.microsoft.com/office/powerpoint/2010/main" val="78540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F4BBE-F5F7-02E2-52C3-99565EEC3223}"/>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72070A8A-88B3-5D12-21F2-2D3239FDCCDF}"/>
              </a:ext>
            </a:extLst>
          </p:cNvPr>
          <p:cNvSpPr>
            <a:spLocks noGrp="1"/>
          </p:cNvSpPr>
          <p:nvPr>
            <p:ph type="title"/>
          </p:nvPr>
        </p:nvSpPr>
        <p:spPr>
          <a:xfrm>
            <a:off x="838200" y="365125"/>
            <a:ext cx="10515600" cy="1325563"/>
          </a:xfrm>
        </p:spPr>
        <p:txBody>
          <a:bodyPr>
            <a:normAutofit/>
          </a:bodyPr>
          <a:lstStyle/>
          <a:p>
            <a:r>
              <a:rPr lang="ru-RU" sz="4000" dirty="0"/>
              <a:t>Структура процесса вычислительной диагностики</a:t>
            </a:r>
          </a:p>
        </p:txBody>
      </p:sp>
      <p:sp>
        <p:nvSpPr>
          <p:cNvPr id="3" name="Номер слайда 2">
            <a:extLst>
              <a:ext uri="{FF2B5EF4-FFF2-40B4-BE49-F238E27FC236}">
                <a16:creationId xmlns:a16="http://schemas.microsoft.com/office/drawing/2014/main" id="{5B9DB314-0C37-7A42-9E3E-8DBD1E84A26E}"/>
              </a:ext>
            </a:extLst>
          </p:cNvPr>
          <p:cNvSpPr>
            <a:spLocks noGrp="1"/>
          </p:cNvSpPr>
          <p:nvPr>
            <p:ph type="sldNum" sz="quarter" idx="12"/>
          </p:nvPr>
        </p:nvSpPr>
        <p:spPr/>
        <p:txBody>
          <a:bodyPr/>
          <a:lstStyle/>
          <a:p>
            <a:fld id="{818D4B0C-12DF-447C-B791-E379AA958CE7}" type="slidenum">
              <a:rPr lang="ru-RU" smtClean="0"/>
              <a:t>14</a:t>
            </a:fld>
            <a:endParaRPr lang="ru-RU"/>
          </a:p>
        </p:txBody>
      </p:sp>
      <p:graphicFrame>
        <p:nvGraphicFramePr>
          <p:cNvPr id="4" name="Таблица 3">
            <a:extLst>
              <a:ext uri="{FF2B5EF4-FFF2-40B4-BE49-F238E27FC236}">
                <a16:creationId xmlns:a16="http://schemas.microsoft.com/office/drawing/2014/main" id="{7EBB05E4-184F-4219-BF23-45C347993172}"/>
              </a:ext>
            </a:extLst>
          </p:cNvPr>
          <p:cNvGraphicFramePr>
            <a:graphicFrameLocks noGrp="1"/>
          </p:cNvGraphicFramePr>
          <p:nvPr>
            <p:extLst>
              <p:ext uri="{D42A27DB-BD31-4B8C-83A1-F6EECF244321}">
                <p14:modId xmlns:p14="http://schemas.microsoft.com/office/powerpoint/2010/main" val="2260391279"/>
              </p:ext>
            </p:extLst>
          </p:nvPr>
        </p:nvGraphicFramePr>
        <p:xfrm>
          <a:off x="1193800" y="2197289"/>
          <a:ext cx="9804400" cy="2804160"/>
        </p:xfrm>
        <a:graphic>
          <a:graphicData uri="http://schemas.openxmlformats.org/drawingml/2006/table">
            <a:tbl>
              <a:tblPr firstRow="1" bandRow="1">
                <a:tableStyleId>{5C22544A-7EE6-4342-B048-85BDC9FD1C3A}</a:tableStyleId>
              </a:tblPr>
              <a:tblGrid>
                <a:gridCol w="4902200">
                  <a:extLst>
                    <a:ext uri="{9D8B030D-6E8A-4147-A177-3AD203B41FA5}">
                      <a16:colId xmlns:a16="http://schemas.microsoft.com/office/drawing/2014/main" val="2680166278"/>
                    </a:ext>
                  </a:extLst>
                </a:gridCol>
                <a:gridCol w="4902200">
                  <a:extLst>
                    <a:ext uri="{9D8B030D-6E8A-4147-A177-3AD203B41FA5}">
                      <a16:colId xmlns:a16="http://schemas.microsoft.com/office/drawing/2014/main" val="1144981106"/>
                    </a:ext>
                  </a:extLst>
                </a:gridCol>
              </a:tblGrid>
              <a:tr h="0">
                <a:tc>
                  <a:txBody>
                    <a:bodyPr/>
                    <a:lstStyle/>
                    <a:p>
                      <a:r>
                        <a:rPr lang="ru-RU" sz="1600" dirty="0">
                          <a:latin typeface="Arial" panose="020B0604020202020204" pitchFamily="34" charset="0"/>
                          <a:cs typeface="Arial" panose="020B0604020202020204" pitchFamily="34" charset="0"/>
                        </a:rPr>
                        <a:t>Этап</a:t>
                      </a:r>
                    </a:p>
                  </a:txBody>
                  <a:tcPr/>
                </a:tc>
                <a:tc>
                  <a:txBody>
                    <a:bodyPr/>
                    <a:lstStyle/>
                    <a:p>
                      <a:r>
                        <a:rPr lang="ru-RU" sz="1600" dirty="0">
                          <a:latin typeface="Arial" panose="020B0604020202020204" pitchFamily="34" charset="0"/>
                          <a:cs typeface="Arial" panose="020B0604020202020204" pitchFamily="34" charset="0"/>
                        </a:rPr>
                        <a:t>Задачи</a:t>
                      </a:r>
                    </a:p>
                  </a:txBody>
                  <a:tcPr/>
                </a:tc>
                <a:extLst>
                  <a:ext uri="{0D108BD9-81ED-4DB2-BD59-A6C34878D82A}">
                    <a16:rowId xmlns:a16="http://schemas.microsoft.com/office/drawing/2014/main" val="1576789951"/>
                  </a:ext>
                </a:extLst>
              </a:tr>
              <a:tr h="370840">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I. </a:t>
                      </a:r>
                      <a:r>
                        <a:rPr lang="ru-RU" sz="1600" b="0" i="0" kern="1200" dirty="0">
                          <a:solidFill>
                            <a:schemeClr val="dk1"/>
                          </a:solidFill>
                          <a:effectLst/>
                          <a:latin typeface="Arial" panose="020B0604020202020204" pitchFamily="34" charset="0"/>
                          <a:ea typeface="+mn-ea"/>
                          <a:cs typeface="Arial" panose="020B0604020202020204" pitchFamily="34" charset="0"/>
                        </a:rPr>
                        <a:t>Сбор информации</a:t>
                      </a:r>
                      <a:endParaRPr lang="ru-RU" sz="1600" dirty="0">
                        <a:latin typeface="Arial" panose="020B0604020202020204" pitchFamily="34" charset="0"/>
                        <a:cs typeface="Arial" panose="020B0604020202020204" pitchFamily="34" charset="0"/>
                      </a:endParaRPr>
                    </a:p>
                  </a:txBody>
                  <a:tcPr/>
                </a:tc>
                <a:tc>
                  <a:txBody>
                    <a:bodyPr/>
                    <a:lstStyle/>
                    <a:p>
                      <a:r>
                        <a:rPr lang="ru-RU" sz="1600" b="0" i="0" kern="1200" dirty="0">
                          <a:solidFill>
                            <a:schemeClr val="dk1"/>
                          </a:solidFill>
                          <a:effectLst/>
                          <a:latin typeface="Arial" panose="020B0604020202020204" pitchFamily="34" charset="0"/>
                          <a:ea typeface="+mn-ea"/>
                          <a:cs typeface="Arial" panose="020B0604020202020204" pitchFamily="34" charset="0"/>
                        </a:rPr>
                        <a:t>Получение клинического материала, адекватного диагностической задаче</a:t>
                      </a:r>
                    </a:p>
                  </a:txBody>
                  <a:tcPr/>
                </a:tc>
                <a:extLst>
                  <a:ext uri="{0D108BD9-81ED-4DB2-BD59-A6C34878D82A}">
                    <a16:rowId xmlns:a16="http://schemas.microsoft.com/office/drawing/2014/main" val="714206131"/>
                  </a:ext>
                </a:extLst>
              </a:tr>
              <a:tr h="370840">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II. </a:t>
                      </a:r>
                      <a:r>
                        <a:rPr lang="ru-RU" sz="1600" b="0" i="0" kern="1200" dirty="0">
                          <a:solidFill>
                            <a:schemeClr val="dk1"/>
                          </a:solidFill>
                          <a:effectLst/>
                          <a:latin typeface="Arial" panose="020B0604020202020204" pitchFamily="34" charset="0"/>
                          <a:ea typeface="+mn-ea"/>
                          <a:cs typeface="Arial" panose="020B0604020202020204" pitchFamily="34" charset="0"/>
                        </a:rPr>
                        <a:t>Отбор информации</a:t>
                      </a:r>
                      <a:endParaRPr lang="ru-RU" sz="1600" dirty="0">
                        <a:latin typeface="Arial" panose="020B0604020202020204" pitchFamily="34" charset="0"/>
                        <a:cs typeface="Arial" panose="020B0604020202020204" pitchFamily="34" charset="0"/>
                      </a:endParaRPr>
                    </a:p>
                  </a:txBody>
                  <a:tcPr/>
                </a:tc>
                <a:tc>
                  <a:txBody>
                    <a:bodyPr/>
                    <a:lstStyle/>
                    <a:p>
                      <a:r>
                        <a:rPr lang="ru-RU" sz="1600" b="0" i="0" kern="1200" dirty="0">
                          <a:solidFill>
                            <a:schemeClr val="dk1"/>
                          </a:solidFill>
                          <a:effectLst/>
                          <a:latin typeface="Arial" panose="020B0604020202020204" pitchFamily="34" charset="0"/>
                          <a:ea typeface="+mn-ea"/>
                          <a:cs typeface="Arial" panose="020B0604020202020204" pitchFamily="34" charset="0"/>
                        </a:rPr>
                        <a:t>1. Определение информативности симптомов. </a:t>
                      </a:r>
                    </a:p>
                    <a:p>
                      <a:r>
                        <a:rPr lang="ru-RU" sz="1600" b="0" i="0" kern="1200" dirty="0">
                          <a:solidFill>
                            <a:schemeClr val="dk1"/>
                          </a:solidFill>
                          <a:effectLst/>
                          <a:latin typeface="Arial" panose="020B0604020202020204" pitchFamily="34" charset="0"/>
                          <a:ea typeface="+mn-ea"/>
                          <a:cs typeface="Arial" panose="020B0604020202020204" pitchFamily="34" charset="0"/>
                        </a:rPr>
                        <a:t>2. Отсев малоинформативных симптомов </a:t>
                      </a:r>
                    </a:p>
                  </a:txBody>
                  <a:tcPr/>
                </a:tc>
                <a:extLst>
                  <a:ext uri="{0D108BD9-81ED-4DB2-BD59-A6C34878D82A}">
                    <a16:rowId xmlns:a16="http://schemas.microsoft.com/office/drawing/2014/main" val="1008185262"/>
                  </a:ext>
                </a:extLst>
              </a:tr>
              <a:tr h="370840">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III</a:t>
                      </a:r>
                      <a:r>
                        <a:rPr lang="ru-RU" sz="1600" b="0" i="0" kern="1200" dirty="0">
                          <a:solidFill>
                            <a:schemeClr val="dk1"/>
                          </a:solidFill>
                          <a:effectLst/>
                          <a:latin typeface="Arial" panose="020B0604020202020204" pitchFamily="34" charset="0"/>
                          <a:ea typeface="+mn-ea"/>
                          <a:cs typeface="Arial" panose="020B0604020202020204" pitchFamily="34" charset="0"/>
                        </a:rPr>
                        <a:t>. Классификация</a:t>
                      </a:r>
                      <a:endParaRPr lang="ru-RU" sz="1600" dirty="0">
                        <a:latin typeface="Arial" panose="020B0604020202020204" pitchFamily="34" charset="0"/>
                        <a:cs typeface="Arial" panose="020B0604020202020204" pitchFamily="34" charset="0"/>
                      </a:endParaRPr>
                    </a:p>
                  </a:txBody>
                  <a:tcPr/>
                </a:tc>
                <a:tc>
                  <a:txBody>
                    <a:bodyPr/>
                    <a:lstStyle/>
                    <a:p>
                      <a:r>
                        <a:rPr lang="ru-RU" sz="1600" b="0" i="0" kern="1200" dirty="0">
                          <a:solidFill>
                            <a:schemeClr val="dk1"/>
                          </a:solidFill>
                          <a:effectLst/>
                          <a:latin typeface="Arial" panose="020B0604020202020204" pitchFamily="34" charset="0"/>
                          <a:ea typeface="+mn-ea"/>
                          <a:cs typeface="Arial" panose="020B0604020202020204" pitchFamily="34" charset="0"/>
                        </a:rPr>
                        <a:t>1. Диагностика по группе контроля по отобранным симптомам. </a:t>
                      </a:r>
                    </a:p>
                    <a:p>
                      <a:r>
                        <a:rPr lang="ru-RU" sz="1600" b="0" i="0" kern="1200" dirty="0">
                          <a:solidFill>
                            <a:schemeClr val="dk1"/>
                          </a:solidFill>
                          <a:effectLst/>
                          <a:latin typeface="Arial" panose="020B0604020202020204" pitchFamily="34" charset="0"/>
                          <a:ea typeface="+mn-ea"/>
                          <a:cs typeface="Arial" panose="020B0604020202020204" pitchFamily="34" charset="0"/>
                        </a:rPr>
                        <a:t>2. Корректировка построенной системы ВД. </a:t>
                      </a:r>
                    </a:p>
                    <a:p>
                      <a:r>
                        <a:rPr lang="ru-RU" sz="1600" b="0" i="0" kern="1200" dirty="0">
                          <a:solidFill>
                            <a:schemeClr val="dk1"/>
                          </a:solidFill>
                          <a:effectLst/>
                          <a:latin typeface="Arial" panose="020B0604020202020204" pitchFamily="34" charset="0"/>
                          <a:ea typeface="+mn-ea"/>
                          <a:cs typeface="Arial" panose="020B0604020202020204" pitchFamily="34" charset="0"/>
                        </a:rPr>
                        <a:t>3. Применение системы ВД в клинике на основе выбранного диагностического алгоритма</a:t>
                      </a:r>
                    </a:p>
                  </a:txBody>
                  <a:tcPr/>
                </a:tc>
                <a:extLst>
                  <a:ext uri="{0D108BD9-81ED-4DB2-BD59-A6C34878D82A}">
                    <a16:rowId xmlns:a16="http://schemas.microsoft.com/office/drawing/2014/main" val="2452104219"/>
                  </a:ext>
                </a:extLst>
              </a:tr>
            </a:tbl>
          </a:graphicData>
        </a:graphic>
      </p:graphicFrame>
    </p:spTree>
    <p:extLst>
      <p:ext uri="{BB962C8B-B14F-4D97-AF65-F5344CB8AC3E}">
        <p14:creationId xmlns:p14="http://schemas.microsoft.com/office/powerpoint/2010/main" val="3096267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90EC-7573-BA7A-F503-5E6E57A06E13}"/>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6868F599-7E0E-1061-CA7F-EE13B182CA03}"/>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BF06F31D-3207-C6FB-505B-ED10E863AC47}"/>
              </a:ext>
            </a:extLst>
          </p:cNvPr>
          <p:cNvSpPr txBox="1"/>
          <p:nvPr/>
        </p:nvSpPr>
        <p:spPr>
          <a:xfrm>
            <a:off x="838200" y="2019600"/>
            <a:ext cx="9867900" cy="1815882"/>
          </a:xfrm>
          <a:prstGeom prst="rect">
            <a:avLst/>
          </a:prstGeom>
          <a:noFill/>
        </p:spPr>
        <p:txBody>
          <a:bodyPr wrap="square">
            <a:spAutoFit/>
          </a:bodyPr>
          <a:lstStyle/>
          <a:p>
            <a:r>
              <a:rPr lang="ru-RU" sz="1600" dirty="0">
                <a:latin typeface="Arial" panose="020B0604020202020204" pitchFamily="34" charset="0"/>
                <a:cs typeface="Arial" panose="020B0604020202020204" pitchFamily="34" charset="0"/>
              </a:rPr>
              <a:t>В общем случае этап сбора информации состоит из нескольких процедур:</a:t>
            </a:r>
            <a:endParaRPr lang="en-US" sz="1600" dirty="0">
              <a:latin typeface="Arial" panose="020B0604020202020204" pitchFamily="34" charset="0"/>
              <a:cs typeface="Arial" panose="020B0604020202020204" pitchFamily="34" charset="0"/>
            </a:endParaRPr>
          </a:p>
          <a:p>
            <a:pPr marL="342900" indent="-342900">
              <a:buAutoNum type="arabicParenR"/>
            </a:pPr>
            <a:r>
              <a:rPr lang="ru-RU" sz="1600" dirty="0">
                <a:latin typeface="Arial" panose="020B0604020202020204" pitchFamily="34" charset="0"/>
                <a:cs typeface="Arial" panose="020B0604020202020204" pitchFamily="34" charset="0"/>
              </a:rPr>
              <a:t>постановка диагностической задачи;</a:t>
            </a:r>
            <a:endParaRPr lang="en-US" sz="1600" dirty="0">
              <a:latin typeface="Arial" panose="020B0604020202020204" pitchFamily="34" charset="0"/>
              <a:cs typeface="Arial" panose="020B0604020202020204" pitchFamily="34" charset="0"/>
            </a:endParaRPr>
          </a:p>
          <a:p>
            <a:pPr marL="342900" indent="-342900">
              <a:buAutoNum type="arabicParenR"/>
            </a:pPr>
            <a:r>
              <a:rPr lang="ru-RU" sz="1600" dirty="0">
                <a:latin typeface="Arial" panose="020B0604020202020204" pitchFamily="34" charset="0"/>
                <a:cs typeface="Arial" panose="020B0604020202020204" pitchFamily="34" charset="0"/>
              </a:rPr>
              <a:t>поиск верифицированного материала (т. е. ИБ), адекватного диагностической задаче, и разбиение этого материала на группы «заболевание D1» и «заболевание D2»;</a:t>
            </a:r>
            <a:endParaRPr lang="en-US" sz="1600" dirty="0">
              <a:latin typeface="Arial" panose="020B0604020202020204" pitchFamily="34" charset="0"/>
              <a:cs typeface="Arial" panose="020B0604020202020204" pitchFamily="34" charset="0"/>
            </a:endParaRPr>
          </a:p>
          <a:p>
            <a:pPr marL="342900" indent="-342900">
              <a:buAutoNum type="arabicParenR"/>
            </a:pPr>
            <a:r>
              <a:rPr lang="ru-RU" sz="1600" dirty="0">
                <a:latin typeface="Arial" panose="020B0604020202020204" pitchFamily="34" charset="0"/>
                <a:cs typeface="Arial" panose="020B0604020202020204" pitchFamily="34" charset="0"/>
              </a:rPr>
              <a:t>разбиение верифицированного материала на группу обучения и группу контроля;</a:t>
            </a:r>
            <a:endParaRPr lang="en-US" sz="1600" dirty="0">
              <a:latin typeface="Arial" panose="020B0604020202020204" pitchFamily="34" charset="0"/>
              <a:cs typeface="Arial" panose="020B0604020202020204" pitchFamily="34" charset="0"/>
            </a:endParaRPr>
          </a:p>
          <a:p>
            <a:pPr marL="342900" indent="-342900">
              <a:buAutoNum type="arabicParenR"/>
            </a:pPr>
            <a:r>
              <a:rPr lang="ru-RU" sz="1600" dirty="0">
                <a:latin typeface="Arial" panose="020B0604020202020204" pitchFamily="34" charset="0"/>
                <a:cs typeface="Arial" panose="020B0604020202020204" pitchFamily="34" charset="0"/>
              </a:rPr>
              <a:t>составление карты признаков и симптомов, свойственных заболеванию D1 и заболеванию D2;</a:t>
            </a:r>
            <a:endParaRPr lang="en-US" sz="1600" dirty="0">
              <a:latin typeface="Arial" panose="020B0604020202020204" pitchFamily="34" charset="0"/>
              <a:cs typeface="Arial" panose="020B0604020202020204" pitchFamily="34" charset="0"/>
            </a:endParaRPr>
          </a:p>
          <a:p>
            <a:pPr marL="342900" indent="-342900">
              <a:buAutoNum type="arabicParenR"/>
            </a:pPr>
            <a:r>
              <a:rPr lang="ru-RU" sz="1600" dirty="0">
                <a:latin typeface="Arial" panose="020B0604020202020204" pitchFamily="34" charset="0"/>
                <a:cs typeface="Arial" panose="020B0604020202020204" pitchFamily="34" charset="0"/>
              </a:rPr>
              <a:t>кодировка верифицированного материала группы обучения по карте признаков и симптомов.</a:t>
            </a:r>
          </a:p>
        </p:txBody>
      </p:sp>
      <p:sp>
        <p:nvSpPr>
          <p:cNvPr id="3" name="Номер слайда 2">
            <a:extLst>
              <a:ext uri="{FF2B5EF4-FFF2-40B4-BE49-F238E27FC236}">
                <a16:creationId xmlns:a16="http://schemas.microsoft.com/office/drawing/2014/main" id="{10A4967E-DED6-ECBC-18EC-CEDA9DB3E75E}"/>
              </a:ext>
            </a:extLst>
          </p:cNvPr>
          <p:cNvSpPr>
            <a:spLocks noGrp="1"/>
          </p:cNvSpPr>
          <p:nvPr>
            <p:ph type="sldNum" sz="quarter" idx="12"/>
          </p:nvPr>
        </p:nvSpPr>
        <p:spPr/>
        <p:txBody>
          <a:bodyPr/>
          <a:lstStyle/>
          <a:p>
            <a:fld id="{818D4B0C-12DF-447C-B791-E379AA958CE7}" type="slidenum">
              <a:rPr lang="ru-RU" smtClean="0"/>
              <a:t>15</a:t>
            </a:fld>
            <a:endParaRPr lang="ru-RU"/>
          </a:p>
        </p:txBody>
      </p:sp>
    </p:spTree>
    <p:extLst>
      <p:ext uri="{BB962C8B-B14F-4D97-AF65-F5344CB8AC3E}">
        <p14:creationId xmlns:p14="http://schemas.microsoft.com/office/powerpoint/2010/main" val="2344786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A7DF9-FF64-D6B8-3292-7D04013ABEDF}"/>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C1223EDA-B99F-6130-0248-2840659F9E6F}"/>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387F48D4-5806-9C97-9E3B-D83108FC8D1E}"/>
              </a:ext>
            </a:extLst>
          </p:cNvPr>
          <p:cNvSpPr txBox="1"/>
          <p:nvPr/>
        </p:nvSpPr>
        <p:spPr>
          <a:xfrm>
            <a:off x="838200" y="2019600"/>
            <a:ext cx="10515600"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Постановка диагностической задачи состоит в разбиении рассматриваемых случаев на</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диагнозы, которые должны составлять полную группу событий.</a:t>
            </a:r>
          </a:p>
        </p:txBody>
      </p:sp>
      <p:sp>
        <p:nvSpPr>
          <p:cNvPr id="2" name="TextBox 1">
            <a:extLst>
              <a:ext uri="{FF2B5EF4-FFF2-40B4-BE49-F238E27FC236}">
                <a16:creationId xmlns:a16="http://schemas.microsoft.com/office/drawing/2014/main" id="{90252D59-00FA-C4EE-2A37-F3901EC8A4FE}"/>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Постановка  диагностической  задачи</a:t>
            </a:r>
          </a:p>
        </p:txBody>
      </p:sp>
      <p:sp>
        <p:nvSpPr>
          <p:cNvPr id="3" name="Номер слайда 2">
            <a:extLst>
              <a:ext uri="{FF2B5EF4-FFF2-40B4-BE49-F238E27FC236}">
                <a16:creationId xmlns:a16="http://schemas.microsoft.com/office/drawing/2014/main" id="{6327A88D-AAC1-59DA-5C27-23D124CFAE04}"/>
              </a:ext>
            </a:extLst>
          </p:cNvPr>
          <p:cNvSpPr>
            <a:spLocks noGrp="1"/>
          </p:cNvSpPr>
          <p:nvPr>
            <p:ph type="sldNum" sz="quarter" idx="12"/>
          </p:nvPr>
        </p:nvSpPr>
        <p:spPr/>
        <p:txBody>
          <a:bodyPr/>
          <a:lstStyle/>
          <a:p>
            <a:fld id="{818D4B0C-12DF-447C-B791-E379AA958CE7}" type="slidenum">
              <a:rPr lang="ru-RU" smtClean="0"/>
              <a:t>16</a:t>
            </a:fld>
            <a:endParaRPr lang="ru-RU"/>
          </a:p>
        </p:txBody>
      </p:sp>
    </p:spTree>
    <p:extLst>
      <p:ext uri="{BB962C8B-B14F-4D97-AF65-F5344CB8AC3E}">
        <p14:creationId xmlns:p14="http://schemas.microsoft.com/office/powerpoint/2010/main" val="378768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A171-288C-9431-7215-648BD4AB534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492FA555-AFD5-094E-3248-DEB2F688FCA3}"/>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F9CD239D-BFA8-7AC0-4224-C984ECC2A43F}"/>
              </a:ext>
            </a:extLst>
          </p:cNvPr>
          <p:cNvSpPr txBox="1"/>
          <p:nvPr/>
        </p:nvSpPr>
        <p:spPr>
          <a:xfrm>
            <a:off x="838200" y="2019600"/>
            <a:ext cx="10515600" cy="3539430"/>
          </a:xfrm>
          <a:prstGeom prst="rect">
            <a:avLst/>
          </a:prstGeom>
          <a:noFill/>
        </p:spPr>
        <p:txBody>
          <a:bodyPr wrap="square">
            <a:spAutoFit/>
          </a:bodyPr>
          <a:lstStyle/>
          <a:p>
            <a:r>
              <a:rPr lang="ru-RU" sz="1600" dirty="0">
                <a:latin typeface="Arial" panose="020B0604020202020204" pitchFamily="34" charset="0"/>
                <a:cs typeface="Arial" panose="020B0604020202020204" pitchFamily="34" charset="0"/>
              </a:rPr>
              <a:t>Поиск верифицированного материала заключается в отборе определенного количества ИБ с верифицированными диагнозами. </a:t>
            </a:r>
            <a:r>
              <a:rPr lang="ru-RU" sz="1600" dirty="0" err="1">
                <a:latin typeface="Arial" panose="020B0604020202020204" pitchFamily="34" charset="0"/>
                <a:cs typeface="Arial" panose="020B0604020202020204" pitchFamily="34" charset="0"/>
              </a:rPr>
              <a:t>Верифицированность</a:t>
            </a:r>
            <a:r>
              <a:rPr lang="ru-RU" sz="1600" dirty="0">
                <a:latin typeface="Arial" panose="020B0604020202020204" pitchFamily="34" charset="0"/>
                <a:cs typeface="Arial" panose="020B0604020202020204" pitchFamily="34" charset="0"/>
              </a:rPr>
              <a:t> обеспечивается данными вскрытий, биопсий, а также в ходе хирургических операций, в результате длительных наблюдений.</a:t>
            </a: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Отбор ИБ с верифицированным диагнозом должен проводиться в соответствии со следующими требованиями:</a:t>
            </a:r>
            <a:endParaRPr lang="en-US" sz="1600" dirty="0">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а) однородность. Следует отбирать ИБ за несколько последних лет и только из тех лечебных учреждений, в которых существуют сходные взгляды на симптоматику, присущую выбранным заболеваниям;</a:t>
            </a:r>
            <a:endParaRPr lang="en-US" sz="1600" dirty="0">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б) качественность. Не следует отбирать ИБ, в которых содержится совокупность симптомов, явно недостаточная даже для приблизительной постановки диагноза;</a:t>
            </a:r>
            <a:endParaRPr lang="en-US" sz="1600" dirty="0">
              <a:latin typeface="Arial" panose="020B0604020202020204" pitchFamily="34" charset="0"/>
              <a:cs typeface="Arial" panose="020B0604020202020204" pitchFamily="34" charset="0"/>
            </a:endParaRPr>
          </a:p>
          <a:p>
            <a:r>
              <a:rPr lang="ru-RU" sz="1600" dirty="0">
                <a:latin typeface="Arial" panose="020B0604020202020204" pitchFamily="34" charset="0"/>
                <a:cs typeface="Arial" panose="020B0604020202020204" pitchFamily="34" charset="0"/>
              </a:rPr>
              <a:t>в) диагностическая нетривиальность. Среди отобранных ИБ должны преобладать</a:t>
            </a:r>
            <a:r>
              <a:rPr lang="en-US" sz="1600" dirty="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диагностически трудные, т. е. нетипичные случаи. Типичные случаи, превалирующие в клинике любого заболевания, для ВД интереса не представляют, зато в силу своего большого</a:t>
            </a:r>
            <a:r>
              <a:rPr lang="en-US" sz="1600" dirty="0">
                <a:latin typeface="Arial" panose="020B0604020202020204" pitchFamily="34" charset="0"/>
                <a:cs typeface="Arial" panose="020B0604020202020204" pitchFamily="34" charset="0"/>
              </a:rPr>
              <a:t> </a:t>
            </a:r>
            <a:r>
              <a:rPr lang="ru-RU" sz="1600" dirty="0">
                <a:latin typeface="Arial" panose="020B0604020202020204" pitchFamily="34" charset="0"/>
                <a:cs typeface="Arial" panose="020B0604020202020204" pitchFamily="34" charset="0"/>
              </a:rPr>
              <a:t>удельного веса они могут поглотить интересные случаи, ради которых и создается система ВД. </a:t>
            </a:r>
          </a:p>
        </p:txBody>
      </p:sp>
      <p:sp>
        <p:nvSpPr>
          <p:cNvPr id="2" name="TextBox 1">
            <a:extLst>
              <a:ext uri="{FF2B5EF4-FFF2-40B4-BE49-F238E27FC236}">
                <a16:creationId xmlns:a16="http://schemas.microsoft.com/office/drawing/2014/main" id="{76B5302D-3686-09CA-0065-CFE1CE347E7E}"/>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Поиск верифицированного материала</a:t>
            </a:r>
          </a:p>
        </p:txBody>
      </p:sp>
      <p:sp>
        <p:nvSpPr>
          <p:cNvPr id="3" name="Номер слайда 2">
            <a:extLst>
              <a:ext uri="{FF2B5EF4-FFF2-40B4-BE49-F238E27FC236}">
                <a16:creationId xmlns:a16="http://schemas.microsoft.com/office/drawing/2014/main" id="{17A2BB77-E891-4AD7-84F9-3539179392EF}"/>
              </a:ext>
            </a:extLst>
          </p:cNvPr>
          <p:cNvSpPr>
            <a:spLocks noGrp="1"/>
          </p:cNvSpPr>
          <p:nvPr>
            <p:ph type="sldNum" sz="quarter" idx="12"/>
          </p:nvPr>
        </p:nvSpPr>
        <p:spPr/>
        <p:txBody>
          <a:bodyPr/>
          <a:lstStyle/>
          <a:p>
            <a:fld id="{818D4B0C-12DF-447C-B791-E379AA958CE7}" type="slidenum">
              <a:rPr lang="ru-RU" smtClean="0"/>
              <a:t>17</a:t>
            </a:fld>
            <a:endParaRPr lang="ru-RU"/>
          </a:p>
        </p:txBody>
      </p:sp>
    </p:spTree>
    <p:extLst>
      <p:ext uri="{BB962C8B-B14F-4D97-AF65-F5344CB8AC3E}">
        <p14:creationId xmlns:p14="http://schemas.microsoft.com/office/powerpoint/2010/main" val="815662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11698-2102-EC2F-59AE-1F2619577430}"/>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EB98FB2A-F424-A68E-7A36-214555C8D607}"/>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EA29DA2D-72AB-2578-E47C-A03B7563B84D}"/>
              </a:ext>
            </a:extLst>
          </p:cNvPr>
          <p:cNvSpPr txBox="1"/>
          <p:nvPr/>
        </p:nvSpPr>
        <p:spPr>
          <a:xfrm>
            <a:off x="838198" y="2171196"/>
            <a:ext cx="10515600" cy="2246769"/>
          </a:xfrm>
          <a:prstGeom prst="rect">
            <a:avLst/>
          </a:prstGeom>
          <a:noFill/>
        </p:spPr>
        <p:txBody>
          <a:bodyPr wrap="square">
            <a:spAutoFit/>
          </a:bodyPr>
          <a:lstStyle/>
          <a:p>
            <a:r>
              <a:rPr lang="ru-RU" sz="1400" dirty="0">
                <a:latin typeface="Arial" panose="020B0604020202020204" pitchFamily="34" charset="0"/>
                <a:cs typeface="Arial" panose="020B0604020202020204" pitchFamily="34" charset="0"/>
              </a:rPr>
              <a:t>Разбиение верифицированного материала на группу обучения и группу контроля является необходимой процедурой, без проведения которой невозможно будет провести проверку качества работы системы ВД. В зависимости от объема материала процедуру разбиения проводят следующим образом. При недостаточном количестве ИБ в группу обучения включают весь имеющийся в наличии материал, а группу контроля формируют из поступающих в дальнейшем ИБ, в которых диагнозы уточняются со временем. При наличии большого количества ИБ группу обучения и группу контроля формируют одновременно. В этом случае к группе контроля предъявляется следующее основное требование: она должна быть отобрана из имеющегося материала случайным образом. Минимальный объем группы контроля, соответствующий предполагаемому уровню диагностических ошибок, легко определяется по известным из курса статистики соотношениям. Следует подчеркнуть, что при использовании для проверки системы ВД группы обучения вместо группы контроля оценки диагностических ошибок могут оказаться заниженными.</a:t>
            </a:r>
          </a:p>
        </p:txBody>
      </p:sp>
      <p:sp>
        <p:nvSpPr>
          <p:cNvPr id="2" name="TextBox 1">
            <a:extLst>
              <a:ext uri="{FF2B5EF4-FFF2-40B4-BE49-F238E27FC236}">
                <a16:creationId xmlns:a16="http://schemas.microsoft.com/office/drawing/2014/main" id="{F796E2D3-07EA-3ED8-DB45-E656389D5A69}"/>
              </a:ext>
            </a:extLst>
          </p:cNvPr>
          <p:cNvSpPr txBox="1"/>
          <p:nvPr/>
        </p:nvSpPr>
        <p:spPr>
          <a:xfrm>
            <a:off x="838199" y="1278644"/>
            <a:ext cx="10980762" cy="892552"/>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Разбиение верифицированного материала на группу обучения и</a:t>
            </a:r>
            <a:r>
              <a:rPr lang="en-US" sz="2600" dirty="0">
                <a:latin typeface="Arial" panose="020B0604020202020204" pitchFamily="34" charset="0"/>
                <a:cs typeface="Arial" panose="020B0604020202020204" pitchFamily="34" charset="0"/>
              </a:rPr>
              <a:t> </a:t>
            </a:r>
            <a:r>
              <a:rPr lang="ru-RU" sz="2600" dirty="0">
                <a:latin typeface="Arial" panose="020B0604020202020204" pitchFamily="34" charset="0"/>
                <a:cs typeface="Arial" panose="020B0604020202020204" pitchFamily="34" charset="0"/>
              </a:rPr>
              <a:t>группу контроля</a:t>
            </a:r>
          </a:p>
        </p:txBody>
      </p:sp>
      <p:sp>
        <p:nvSpPr>
          <p:cNvPr id="3" name="Номер слайда 2">
            <a:extLst>
              <a:ext uri="{FF2B5EF4-FFF2-40B4-BE49-F238E27FC236}">
                <a16:creationId xmlns:a16="http://schemas.microsoft.com/office/drawing/2014/main" id="{179EC75E-15AD-628C-1676-A49906E6DD15}"/>
              </a:ext>
            </a:extLst>
          </p:cNvPr>
          <p:cNvSpPr>
            <a:spLocks noGrp="1"/>
          </p:cNvSpPr>
          <p:nvPr>
            <p:ph type="sldNum" sz="quarter" idx="12"/>
          </p:nvPr>
        </p:nvSpPr>
        <p:spPr/>
        <p:txBody>
          <a:bodyPr/>
          <a:lstStyle/>
          <a:p>
            <a:fld id="{818D4B0C-12DF-447C-B791-E379AA958CE7}" type="slidenum">
              <a:rPr lang="ru-RU" smtClean="0"/>
              <a:t>18</a:t>
            </a:fld>
            <a:endParaRPr lang="ru-RU"/>
          </a:p>
        </p:txBody>
      </p:sp>
    </p:spTree>
    <p:extLst>
      <p:ext uri="{BB962C8B-B14F-4D97-AF65-F5344CB8AC3E}">
        <p14:creationId xmlns:p14="http://schemas.microsoft.com/office/powerpoint/2010/main" val="1084601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D7E2F-DA1E-87EC-3035-AB3E6B6EA4DC}"/>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E3A4EF1A-8333-4529-8B2B-FEB7FF51E1F7}"/>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ED350507-4E60-BB41-3A4A-FBE7B604F13C}"/>
              </a:ext>
            </a:extLst>
          </p:cNvPr>
          <p:cNvSpPr txBox="1"/>
          <p:nvPr/>
        </p:nvSpPr>
        <p:spPr>
          <a:xfrm>
            <a:off x="838199" y="1897680"/>
            <a:ext cx="10515600" cy="3539430"/>
          </a:xfrm>
          <a:prstGeom prst="rect">
            <a:avLst/>
          </a:prstGeom>
          <a:noFill/>
        </p:spPr>
        <p:txBody>
          <a:bodyPr wrap="square">
            <a:spAutoFit/>
          </a:bodyPr>
          <a:lstStyle/>
          <a:p>
            <a:r>
              <a:rPr lang="ru-RU" sz="1400" dirty="0">
                <a:latin typeface="Arial" panose="020B0604020202020204" pitchFamily="34" charset="0"/>
                <a:cs typeface="Arial" panose="020B0604020202020204" pitchFamily="34" charset="0"/>
              </a:rPr>
              <a:t>Карта  признаков и симптомов представляет собой вопросник, который включает в себя заранее составленные ответы на каждый вопрос. В ходе составления карты признаков и симптомов решаются две задачи: отбор признаков в карту и их градуировка, т. е. разбиение на симптомы. В карту включаются все признаки и симптомы, которые, по мнению врача,  представляют определенную диагностическую ценность и традиционно проверяются при обследовании пациента. При их градуировке учитываются следующие основные правила.</a:t>
            </a:r>
          </a:p>
          <a:p>
            <a:pPr marL="342900" indent="-342900">
              <a:buFont typeface="+mj-lt"/>
              <a:buAutoNum type="arabicPeriod"/>
            </a:pPr>
            <a:r>
              <a:rPr lang="ru-RU" sz="1400" dirty="0">
                <a:latin typeface="Arial" panose="020B0604020202020204" pitchFamily="34" charset="0"/>
                <a:cs typeface="Arial" panose="020B0604020202020204" pitchFamily="34" charset="0"/>
              </a:rPr>
              <a:t>Выделяются такие симптомы, условные вероятности (относительные частоты) которых при заболеваниях D1 и D2 различаются.</a:t>
            </a:r>
          </a:p>
          <a:p>
            <a:pPr marL="342900" indent="-342900">
              <a:buFont typeface="+mj-lt"/>
              <a:buAutoNum type="arabicPeriod"/>
            </a:pPr>
            <a:r>
              <a:rPr lang="ru-RU" sz="1400" dirty="0">
                <a:latin typeface="Arial" panose="020B0604020202020204" pitchFamily="34" charset="0"/>
                <a:cs typeface="Arial" panose="020B0604020202020204" pitchFamily="34" charset="0"/>
              </a:rPr>
              <a:t>Следует избегать, насколько это возможно, слишком резких различий между условными вероятностями соседних симптомов.</a:t>
            </a:r>
          </a:p>
          <a:p>
            <a:pPr marL="342900" indent="-342900">
              <a:buFont typeface="+mj-lt"/>
              <a:buAutoNum type="arabicPeriod"/>
            </a:pPr>
            <a:r>
              <a:rPr lang="ru-RU" sz="1400" dirty="0">
                <a:latin typeface="Arial" panose="020B0604020202020204" pitchFamily="34" charset="0"/>
                <a:cs typeface="Arial" panose="020B0604020202020204" pitchFamily="34" charset="0"/>
              </a:rPr>
              <a:t>Градуировку необходимо проводить таким образом, чтобы каждый симптом встречался не менее чем в 5–7 наблюдениях, относящихся к каждому заболеванию D1 и D2. Если какой-либо симптом встречался только в наблюдениях, относящихся к D1 (D2), и ни разу не встречался в наблюдениях, относящихся к D2 (D1), то необходимо условно положить, что он встречался в одном наблюдении, относящемся к D2 (D1). Карта составляется таким образом, чтобы у пациента обязательно был хотя бы один из симптомов каждого признака, что приводит, например, к включению в карту таких симптомов, как «норма по данному признаку». В то же время недопустимо наличие у пациента более одного симптома каждого признака. </a:t>
            </a:r>
          </a:p>
        </p:txBody>
      </p:sp>
      <p:sp>
        <p:nvSpPr>
          <p:cNvPr id="2" name="TextBox 1">
            <a:extLst>
              <a:ext uri="{FF2B5EF4-FFF2-40B4-BE49-F238E27FC236}">
                <a16:creationId xmlns:a16="http://schemas.microsoft.com/office/drawing/2014/main" id="{86D18F47-51CC-8AF1-B8C3-E254E1395500}"/>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Карта признаков и симптомов</a:t>
            </a:r>
          </a:p>
        </p:txBody>
      </p:sp>
      <p:sp>
        <p:nvSpPr>
          <p:cNvPr id="3" name="Номер слайда 2">
            <a:extLst>
              <a:ext uri="{FF2B5EF4-FFF2-40B4-BE49-F238E27FC236}">
                <a16:creationId xmlns:a16="http://schemas.microsoft.com/office/drawing/2014/main" id="{84E82FA8-4A13-6A25-B63C-895C3E198626}"/>
              </a:ext>
            </a:extLst>
          </p:cNvPr>
          <p:cNvSpPr>
            <a:spLocks noGrp="1"/>
          </p:cNvSpPr>
          <p:nvPr>
            <p:ph type="sldNum" sz="quarter" idx="12"/>
          </p:nvPr>
        </p:nvSpPr>
        <p:spPr/>
        <p:txBody>
          <a:bodyPr/>
          <a:lstStyle/>
          <a:p>
            <a:fld id="{818D4B0C-12DF-447C-B791-E379AA958CE7}" type="slidenum">
              <a:rPr lang="ru-RU" smtClean="0"/>
              <a:t>19</a:t>
            </a:fld>
            <a:endParaRPr lang="ru-RU" dirty="0"/>
          </a:p>
        </p:txBody>
      </p:sp>
    </p:spTree>
    <p:extLst>
      <p:ext uri="{BB962C8B-B14F-4D97-AF65-F5344CB8AC3E}">
        <p14:creationId xmlns:p14="http://schemas.microsoft.com/office/powerpoint/2010/main" val="736820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C9D40-F30B-3D96-8DE9-44A5D62AD47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BBF998ED-6FB2-36D8-ABE1-B7679B680320}"/>
              </a:ext>
            </a:extLst>
          </p:cNvPr>
          <p:cNvSpPr>
            <a:spLocks noGrp="1"/>
          </p:cNvSpPr>
          <p:nvPr>
            <p:ph type="title"/>
          </p:nvPr>
        </p:nvSpPr>
        <p:spPr>
          <a:xfrm>
            <a:off x="838200" y="365125"/>
            <a:ext cx="10515600" cy="1325563"/>
          </a:xfrm>
        </p:spPr>
        <p:txBody>
          <a:bodyPr>
            <a:normAutofit/>
          </a:bodyPr>
          <a:lstStyle/>
          <a:p>
            <a:r>
              <a:rPr lang="ru-RU" sz="4000" dirty="0"/>
              <a:t>Сбор информации</a:t>
            </a:r>
          </a:p>
        </p:txBody>
      </p:sp>
      <p:sp>
        <p:nvSpPr>
          <p:cNvPr id="6" name="TextBox 5">
            <a:extLst>
              <a:ext uri="{FF2B5EF4-FFF2-40B4-BE49-F238E27FC236}">
                <a16:creationId xmlns:a16="http://schemas.microsoft.com/office/drawing/2014/main" id="{375089AB-B2E2-1592-8C08-6923356E5CB1}"/>
              </a:ext>
            </a:extLst>
          </p:cNvPr>
          <p:cNvSpPr txBox="1"/>
          <p:nvPr/>
        </p:nvSpPr>
        <p:spPr>
          <a:xfrm>
            <a:off x="838200" y="2019600"/>
            <a:ext cx="10515600" cy="2031325"/>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Кодировка материала группы обучения должна позволить установить из закодированной ИБ:</a:t>
            </a:r>
          </a:p>
          <a:p>
            <a:r>
              <a:rPr lang="ru-RU" dirty="0">
                <a:latin typeface="Arial" panose="020B0604020202020204" pitchFamily="34" charset="0"/>
                <a:cs typeface="Arial" panose="020B0604020202020204" pitchFamily="34" charset="0"/>
              </a:rPr>
              <a:t>а) какие признаки проверялись для данного больного – наличие признаков;</a:t>
            </a:r>
          </a:p>
          <a:p>
            <a:r>
              <a:rPr lang="ru-RU" dirty="0">
                <a:latin typeface="Arial" panose="020B0604020202020204" pitchFamily="34" charset="0"/>
                <a:cs typeface="Arial" panose="020B0604020202020204" pitchFamily="34" charset="0"/>
              </a:rPr>
              <a:t>б) какие не проверялись – пропуск признака;</a:t>
            </a:r>
          </a:p>
          <a:p>
            <a:r>
              <a:rPr lang="ru-RU" dirty="0">
                <a:latin typeface="Arial" panose="020B0604020202020204" pitchFamily="34" charset="0"/>
                <a:cs typeface="Arial" panose="020B0604020202020204" pitchFamily="34" charset="0"/>
              </a:rPr>
              <a:t>в) какие симптомы имеются у данного больного – наличие симптома;</a:t>
            </a:r>
          </a:p>
          <a:p>
            <a:r>
              <a:rPr lang="ru-RU" dirty="0">
                <a:latin typeface="Arial" panose="020B0604020202020204" pitchFamily="34" charset="0"/>
                <a:cs typeface="Arial" panose="020B0604020202020204" pitchFamily="34" charset="0"/>
              </a:rPr>
              <a:t>г) какие симптомы отсутствовали у данного больного – отсутствие симптома;</a:t>
            </a:r>
          </a:p>
          <a:p>
            <a:r>
              <a:rPr lang="ru-RU" dirty="0">
                <a:latin typeface="Arial" panose="020B0604020202020204" pitchFamily="34" charset="0"/>
                <a:cs typeface="Arial" panose="020B0604020202020204" pitchFamily="34" charset="0"/>
              </a:rPr>
              <a:t>д) про какие симптомы, содержащиеся в карте признаков и симптомов, мы не можем сказать  есть они или нет – пропуск симптома.</a:t>
            </a:r>
          </a:p>
        </p:txBody>
      </p:sp>
      <p:sp>
        <p:nvSpPr>
          <p:cNvPr id="2" name="TextBox 1">
            <a:extLst>
              <a:ext uri="{FF2B5EF4-FFF2-40B4-BE49-F238E27FC236}">
                <a16:creationId xmlns:a16="http://schemas.microsoft.com/office/drawing/2014/main" id="{2664B2B7-340F-53AA-2C78-EAC4E1C02FA5}"/>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Кодировка материала группы обучения</a:t>
            </a:r>
          </a:p>
        </p:txBody>
      </p:sp>
      <p:sp>
        <p:nvSpPr>
          <p:cNvPr id="3" name="Номер слайда 2">
            <a:extLst>
              <a:ext uri="{FF2B5EF4-FFF2-40B4-BE49-F238E27FC236}">
                <a16:creationId xmlns:a16="http://schemas.microsoft.com/office/drawing/2014/main" id="{CBAF916C-1F16-A339-A38D-3F05F4FE6EA9}"/>
              </a:ext>
            </a:extLst>
          </p:cNvPr>
          <p:cNvSpPr>
            <a:spLocks noGrp="1"/>
          </p:cNvSpPr>
          <p:nvPr>
            <p:ph type="sldNum" sz="quarter" idx="12"/>
          </p:nvPr>
        </p:nvSpPr>
        <p:spPr/>
        <p:txBody>
          <a:bodyPr/>
          <a:lstStyle/>
          <a:p>
            <a:fld id="{818D4B0C-12DF-447C-B791-E379AA958CE7}" type="slidenum">
              <a:rPr lang="ru-RU" smtClean="0"/>
              <a:t>20</a:t>
            </a:fld>
            <a:endParaRPr lang="ru-RU"/>
          </a:p>
        </p:txBody>
      </p:sp>
    </p:spTree>
    <p:extLst>
      <p:ext uri="{BB962C8B-B14F-4D97-AF65-F5344CB8AC3E}">
        <p14:creationId xmlns:p14="http://schemas.microsoft.com/office/powerpoint/2010/main" val="4266826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0932-5644-B852-FACD-789483464C75}"/>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2A63938C-D67C-F250-819D-8E5ABBAB3EC4}"/>
              </a:ext>
            </a:extLst>
          </p:cNvPr>
          <p:cNvSpPr>
            <a:spLocks noGrp="1"/>
          </p:cNvSpPr>
          <p:nvPr>
            <p:ph type="title"/>
          </p:nvPr>
        </p:nvSpPr>
        <p:spPr>
          <a:xfrm>
            <a:off x="838200" y="365125"/>
            <a:ext cx="10515600" cy="1325563"/>
          </a:xfrm>
        </p:spPr>
        <p:txBody>
          <a:bodyPr>
            <a:normAutofit/>
          </a:bodyPr>
          <a:lstStyle/>
          <a:p>
            <a:r>
              <a:rPr lang="ru-RU" sz="4000" dirty="0"/>
              <a:t>Отбор информации</a:t>
            </a:r>
          </a:p>
        </p:txBody>
      </p:sp>
      <p:sp>
        <p:nvSpPr>
          <p:cNvPr id="6" name="TextBox 5">
            <a:extLst>
              <a:ext uri="{FF2B5EF4-FFF2-40B4-BE49-F238E27FC236}">
                <a16:creationId xmlns:a16="http://schemas.microsoft.com/office/drawing/2014/main" id="{681B177B-18A7-9A58-5C94-84D50FC1E32A}"/>
              </a:ext>
            </a:extLst>
          </p:cNvPr>
          <p:cNvSpPr txBox="1"/>
          <p:nvPr/>
        </p:nvSpPr>
        <p:spPr>
          <a:xfrm>
            <a:off x="838200" y="2019600"/>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Задача определения информативности симптомов складывается из следующих процедур:</a:t>
            </a:r>
          </a:p>
          <a:p>
            <a:pPr marL="342900" indent="-342900">
              <a:buAutoNum type="arabicParenR"/>
            </a:pPr>
            <a:r>
              <a:rPr lang="ru-RU" dirty="0">
                <a:latin typeface="Arial" panose="020B0604020202020204" pitchFamily="34" charset="0"/>
                <a:cs typeface="Arial" panose="020B0604020202020204" pitchFamily="34" charset="0"/>
              </a:rPr>
              <a:t>подсчет исходных данных;</a:t>
            </a:r>
          </a:p>
          <a:p>
            <a:pPr marL="342900" indent="-342900">
              <a:buAutoNum type="arabicParenR"/>
            </a:pPr>
            <a:r>
              <a:rPr lang="ru-RU" dirty="0">
                <a:latin typeface="Arial" panose="020B0604020202020204" pitchFamily="34" charset="0"/>
                <a:cs typeface="Arial" panose="020B0604020202020204" pitchFamily="34" charset="0"/>
              </a:rPr>
              <a:t>расчет информативности симптомов по результатам подсчета исходных данных.</a:t>
            </a:r>
          </a:p>
        </p:txBody>
      </p:sp>
      <p:sp>
        <p:nvSpPr>
          <p:cNvPr id="2" name="TextBox 1">
            <a:extLst>
              <a:ext uri="{FF2B5EF4-FFF2-40B4-BE49-F238E27FC236}">
                <a16:creationId xmlns:a16="http://schemas.microsoft.com/office/drawing/2014/main" id="{CDB24229-6F9C-2E81-FA85-A0DA55C7082E}"/>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Определение информативности симптомов</a:t>
            </a:r>
          </a:p>
        </p:txBody>
      </p:sp>
      <p:sp>
        <p:nvSpPr>
          <p:cNvPr id="3" name="Номер слайда 2">
            <a:extLst>
              <a:ext uri="{FF2B5EF4-FFF2-40B4-BE49-F238E27FC236}">
                <a16:creationId xmlns:a16="http://schemas.microsoft.com/office/drawing/2014/main" id="{00A8E769-6679-3369-557D-5FEC0A448D81}"/>
              </a:ext>
            </a:extLst>
          </p:cNvPr>
          <p:cNvSpPr>
            <a:spLocks noGrp="1"/>
          </p:cNvSpPr>
          <p:nvPr>
            <p:ph type="sldNum" sz="quarter" idx="12"/>
          </p:nvPr>
        </p:nvSpPr>
        <p:spPr/>
        <p:txBody>
          <a:bodyPr/>
          <a:lstStyle/>
          <a:p>
            <a:fld id="{818D4B0C-12DF-447C-B791-E379AA958CE7}" type="slidenum">
              <a:rPr lang="ru-RU" smtClean="0"/>
              <a:t>21</a:t>
            </a:fld>
            <a:endParaRPr lang="ru-RU"/>
          </a:p>
        </p:txBody>
      </p:sp>
    </p:spTree>
    <p:extLst>
      <p:ext uri="{BB962C8B-B14F-4D97-AF65-F5344CB8AC3E}">
        <p14:creationId xmlns:p14="http://schemas.microsoft.com/office/powerpoint/2010/main" val="386568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479B4-B61F-B166-8C03-A6D8F651B5B6}"/>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775AEB6F-7BD0-5211-C79B-704FEEBF0D79}"/>
              </a:ext>
            </a:extLst>
          </p:cNvPr>
          <p:cNvSpPr>
            <a:spLocks noGrp="1"/>
          </p:cNvSpPr>
          <p:nvPr>
            <p:ph type="title"/>
          </p:nvPr>
        </p:nvSpPr>
        <p:spPr>
          <a:xfrm>
            <a:off x="838200" y="365125"/>
            <a:ext cx="10515600" cy="1325563"/>
          </a:xfrm>
        </p:spPr>
        <p:txBody>
          <a:bodyPr>
            <a:normAutofit/>
          </a:bodyPr>
          <a:lstStyle/>
          <a:p>
            <a:r>
              <a:rPr lang="ru-RU" sz="4000" dirty="0"/>
              <a:t>Отбор информации</a:t>
            </a:r>
          </a:p>
        </p:txBody>
      </p:sp>
      <p:sp>
        <p:nvSpPr>
          <p:cNvPr id="6" name="TextBox 5">
            <a:extLst>
              <a:ext uri="{FF2B5EF4-FFF2-40B4-BE49-F238E27FC236}">
                <a16:creationId xmlns:a16="http://schemas.microsoft.com/office/drawing/2014/main" id="{60918AB1-502B-D449-B222-D4B2EF7D49E7}"/>
              </a:ext>
            </a:extLst>
          </p:cNvPr>
          <p:cNvSpPr txBox="1"/>
          <p:nvPr/>
        </p:nvSpPr>
        <p:spPr>
          <a:xfrm>
            <a:off x="838200" y="2019600"/>
            <a:ext cx="10515600" cy="1200329"/>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Как следует из теории распознавания образов, чрезмерное увеличение числа симптомов, по которым проводится ВД, может привести к снижению достоверности результатов ВД. Поэтому среди всех имеющихся симптомов отбирают только информативные, которые и будут использованы в выбранном алгоритме ВД.</a:t>
            </a:r>
          </a:p>
        </p:txBody>
      </p:sp>
      <p:sp>
        <p:nvSpPr>
          <p:cNvPr id="2" name="TextBox 1">
            <a:extLst>
              <a:ext uri="{FF2B5EF4-FFF2-40B4-BE49-F238E27FC236}">
                <a16:creationId xmlns:a16="http://schemas.microsoft.com/office/drawing/2014/main" id="{0579031F-808C-6F3B-E0FC-FF47C96DFC5B}"/>
              </a:ext>
            </a:extLst>
          </p:cNvPr>
          <p:cNvSpPr txBox="1"/>
          <p:nvPr/>
        </p:nvSpPr>
        <p:spPr>
          <a:xfrm>
            <a:off x="838199" y="1278644"/>
            <a:ext cx="799190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Отсев малоинформативных симптомов</a:t>
            </a:r>
          </a:p>
        </p:txBody>
      </p:sp>
      <p:sp>
        <p:nvSpPr>
          <p:cNvPr id="3" name="Номер слайда 2">
            <a:extLst>
              <a:ext uri="{FF2B5EF4-FFF2-40B4-BE49-F238E27FC236}">
                <a16:creationId xmlns:a16="http://schemas.microsoft.com/office/drawing/2014/main" id="{01008656-F235-4F75-E953-3D793267B79D}"/>
              </a:ext>
            </a:extLst>
          </p:cNvPr>
          <p:cNvSpPr>
            <a:spLocks noGrp="1"/>
          </p:cNvSpPr>
          <p:nvPr>
            <p:ph type="sldNum" sz="quarter" idx="12"/>
          </p:nvPr>
        </p:nvSpPr>
        <p:spPr/>
        <p:txBody>
          <a:bodyPr/>
          <a:lstStyle/>
          <a:p>
            <a:fld id="{818D4B0C-12DF-447C-B791-E379AA958CE7}" type="slidenum">
              <a:rPr lang="ru-RU" smtClean="0"/>
              <a:t>22</a:t>
            </a:fld>
            <a:endParaRPr lang="ru-RU"/>
          </a:p>
        </p:txBody>
      </p:sp>
    </p:spTree>
    <p:extLst>
      <p:ext uri="{BB962C8B-B14F-4D97-AF65-F5344CB8AC3E}">
        <p14:creationId xmlns:p14="http://schemas.microsoft.com/office/powerpoint/2010/main" val="582535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FD7C4-0A1A-DB97-297D-701EC492617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3130B5A4-9A9C-4E53-CF6D-B1534F77EE65}"/>
              </a:ext>
            </a:extLst>
          </p:cNvPr>
          <p:cNvSpPr>
            <a:spLocks noGrp="1"/>
          </p:cNvSpPr>
          <p:nvPr>
            <p:ph type="title"/>
          </p:nvPr>
        </p:nvSpPr>
        <p:spPr>
          <a:xfrm>
            <a:off x="838200" y="365125"/>
            <a:ext cx="10515600" cy="1325563"/>
          </a:xfrm>
        </p:spPr>
        <p:txBody>
          <a:bodyPr>
            <a:normAutofit/>
          </a:bodyPr>
          <a:lstStyle/>
          <a:p>
            <a:r>
              <a:rPr lang="ru-RU" sz="4000" dirty="0"/>
              <a:t>Классификация</a:t>
            </a:r>
          </a:p>
        </p:txBody>
      </p:sp>
      <p:sp>
        <p:nvSpPr>
          <p:cNvPr id="6" name="TextBox 5">
            <a:extLst>
              <a:ext uri="{FF2B5EF4-FFF2-40B4-BE49-F238E27FC236}">
                <a16:creationId xmlns:a16="http://schemas.microsoft.com/office/drawing/2014/main" id="{671CFD6F-1CF4-E23F-C7C0-98299C13D96F}"/>
              </a:ext>
            </a:extLst>
          </p:cNvPr>
          <p:cNvSpPr txBox="1"/>
          <p:nvPr/>
        </p:nvSpPr>
        <p:spPr>
          <a:xfrm>
            <a:off x="838200" y="2019600"/>
            <a:ext cx="10515600" cy="1200329"/>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Этап классификации заключается в последовательном решении следующих задач.</a:t>
            </a:r>
          </a:p>
          <a:p>
            <a:pPr marL="342900" indent="-342900">
              <a:buAutoNum type="arabicPeriod"/>
            </a:pPr>
            <a:r>
              <a:rPr lang="ru-RU" dirty="0">
                <a:latin typeface="Arial" panose="020B0604020202020204" pitchFamily="34" charset="0"/>
                <a:cs typeface="Arial" panose="020B0604020202020204" pitchFamily="34" charset="0"/>
              </a:rPr>
              <a:t>Диагностика по группе контроля по отобранным симптомам.</a:t>
            </a:r>
          </a:p>
          <a:p>
            <a:pPr marL="342900" indent="-342900">
              <a:buAutoNum type="arabicPeriod"/>
            </a:pPr>
            <a:r>
              <a:rPr lang="ru-RU" dirty="0">
                <a:latin typeface="Arial" panose="020B0604020202020204" pitchFamily="34" charset="0"/>
                <a:cs typeface="Arial" panose="020B0604020202020204" pitchFamily="34" charset="0"/>
              </a:rPr>
              <a:t>Корректировка построенной системы ВД.</a:t>
            </a:r>
          </a:p>
          <a:p>
            <a:r>
              <a:rPr lang="ru-RU" dirty="0">
                <a:latin typeface="Arial" panose="020B0604020202020204" pitchFamily="34" charset="0"/>
                <a:cs typeface="Arial" panose="020B0604020202020204" pitchFamily="34" charset="0"/>
              </a:rPr>
              <a:t>3.  Применение системы ВД в клинике на основе выбранного диагностического алгоритма.</a:t>
            </a:r>
          </a:p>
        </p:txBody>
      </p:sp>
      <p:sp>
        <p:nvSpPr>
          <p:cNvPr id="3" name="Номер слайда 2">
            <a:extLst>
              <a:ext uri="{FF2B5EF4-FFF2-40B4-BE49-F238E27FC236}">
                <a16:creationId xmlns:a16="http://schemas.microsoft.com/office/drawing/2014/main" id="{11BD9F90-7FFE-7F42-8DE5-AA6FF61DB063}"/>
              </a:ext>
            </a:extLst>
          </p:cNvPr>
          <p:cNvSpPr>
            <a:spLocks noGrp="1"/>
          </p:cNvSpPr>
          <p:nvPr>
            <p:ph type="sldNum" sz="quarter" idx="12"/>
          </p:nvPr>
        </p:nvSpPr>
        <p:spPr/>
        <p:txBody>
          <a:bodyPr/>
          <a:lstStyle/>
          <a:p>
            <a:fld id="{818D4B0C-12DF-447C-B791-E379AA958CE7}" type="slidenum">
              <a:rPr lang="ru-RU" smtClean="0"/>
              <a:t>23</a:t>
            </a:fld>
            <a:endParaRPr lang="ru-RU"/>
          </a:p>
        </p:txBody>
      </p:sp>
    </p:spTree>
    <p:extLst>
      <p:ext uri="{BB962C8B-B14F-4D97-AF65-F5344CB8AC3E}">
        <p14:creationId xmlns:p14="http://schemas.microsoft.com/office/powerpoint/2010/main" val="985350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6A75-AFBF-7319-9A78-4D5E3AA6DA6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1F3BC610-32AF-F598-8FDC-22EF22BB9F30}"/>
              </a:ext>
            </a:extLst>
          </p:cNvPr>
          <p:cNvSpPr>
            <a:spLocks noGrp="1"/>
          </p:cNvSpPr>
          <p:nvPr>
            <p:ph type="title"/>
          </p:nvPr>
        </p:nvSpPr>
        <p:spPr>
          <a:xfrm>
            <a:off x="838200" y="365125"/>
            <a:ext cx="10515600" cy="1325563"/>
          </a:xfrm>
        </p:spPr>
        <p:txBody>
          <a:bodyPr>
            <a:normAutofit/>
          </a:bodyPr>
          <a:lstStyle/>
          <a:p>
            <a:r>
              <a:rPr lang="ru-RU" sz="4000" dirty="0"/>
              <a:t>Материалы</a:t>
            </a:r>
          </a:p>
        </p:txBody>
      </p:sp>
      <p:sp>
        <p:nvSpPr>
          <p:cNvPr id="6" name="TextBox 5">
            <a:extLst>
              <a:ext uri="{FF2B5EF4-FFF2-40B4-BE49-F238E27FC236}">
                <a16:creationId xmlns:a16="http://schemas.microsoft.com/office/drawing/2014/main" id="{821B38E1-7FB6-B153-63F8-627607B00260}"/>
              </a:ext>
            </a:extLst>
          </p:cNvPr>
          <p:cNvSpPr txBox="1"/>
          <p:nvPr/>
        </p:nvSpPr>
        <p:spPr>
          <a:xfrm>
            <a:off x="838200" y="2019600"/>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Спиридонов И.Н., А. В. Самородов А.В. Методы и алгоритмы вычислительной диагностики</a:t>
            </a:r>
          </a:p>
          <a:p>
            <a:r>
              <a:rPr lang="ru-RU" dirty="0">
                <a:latin typeface="Arial" panose="020B0604020202020204" pitchFamily="34" charset="0"/>
                <a:cs typeface="Arial" panose="020B0604020202020204" pitchFamily="34" charset="0"/>
                <a:hlinkClick r:id="rId3"/>
              </a:rPr>
              <a:t>https://press.bmstu.ru/catalog/item/2627/</a:t>
            </a:r>
            <a:endParaRPr lang="ru-RU" dirty="0">
              <a:latin typeface="Arial" panose="020B0604020202020204" pitchFamily="34" charset="0"/>
              <a:cs typeface="Arial" panose="020B0604020202020204" pitchFamily="34" charset="0"/>
            </a:endParaRPr>
          </a:p>
          <a:p>
            <a:endParaRPr lang="ru-RU" dirty="0">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1DD257DF-5559-AC28-1095-A474F2398666}"/>
              </a:ext>
            </a:extLst>
          </p:cNvPr>
          <p:cNvSpPr>
            <a:spLocks noGrp="1"/>
          </p:cNvSpPr>
          <p:nvPr>
            <p:ph type="sldNum" sz="quarter" idx="12"/>
          </p:nvPr>
        </p:nvSpPr>
        <p:spPr/>
        <p:txBody>
          <a:bodyPr/>
          <a:lstStyle/>
          <a:p>
            <a:fld id="{818D4B0C-12DF-447C-B791-E379AA958CE7}" type="slidenum">
              <a:rPr lang="ru-RU" smtClean="0"/>
              <a:t>24</a:t>
            </a:fld>
            <a:endParaRPr lang="ru-RU"/>
          </a:p>
        </p:txBody>
      </p:sp>
    </p:spTree>
    <p:extLst>
      <p:ext uri="{BB962C8B-B14F-4D97-AF65-F5344CB8AC3E}">
        <p14:creationId xmlns:p14="http://schemas.microsoft.com/office/powerpoint/2010/main" val="156916131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9383</TotalTime>
  <Words>2393</Words>
  <Application>Microsoft Office PowerPoint</Application>
  <PresentationFormat>Широкоэкранный</PresentationFormat>
  <Paragraphs>189</Paragraphs>
  <Slides>24</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24</vt:i4>
      </vt:variant>
    </vt:vector>
  </HeadingPairs>
  <TitlesOfParts>
    <vt:vector size="28" baseType="lpstr">
      <vt:lpstr>Aptos</vt:lpstr>
      <vt:lpstr>Arial</vt:lpstr>
      <vt:lpstr>Cambria Math</vt:lpstr>
      <vt:lpstr>Тема Office</vt:lpstr>
      <vt:lpstr>Методы вычислительной диагностики</vt:lpstr>
      <vt:lpstr>Задачи вычислительной диагностики</vt:lpstr>
      <vt:lpstr>Методы вычислительной диагностики</vt:lpstr>
      <vt:lpstr>Методы вычислительной диагностики</vt:lpstr>
      <vt:lpstr>Методы вычислительной диагностики</vt:lpstr>
      <vt:lpstr>Явные вероятностные методы</vt:lpstr>
      <vt:lpstr>Явные вероятностные методы</vt:lpstr>
      <vt:lpstr>Явные вероятностные методы</vt:lpstr>
      <vt:lpstr>Явные вероятностные методы</vt:lpstr>
      <vt:lpstr>Явные вероятностные методы</vt:lpstr>
      <vt:lpstr>Явные вероятностные методы</vt:lpstr>
      <vt:lpstr>Явные вероятностные методы</vt:lpstr>
      <vt:lpstr>Явные вероятностные методы</vt:lpstr>
      <vt:lpstr>Структура процесса вычислительной диагностики</vt:lpstr>
      <vt:lpstr>Сбор информации</vt:lpstr>
      <vt:lpstr>Сбор информации</vt:lpstr>
      <vt:lpstr>Сбор информации</vt:lpstr>
      <vt:lpstr>Сбор информации</vt:lpstr>
      <vt:lpstr>Сбор информации</vt:lpstr>
      <vt:lpstr>Сбор информации</vt:lpstr>
      <vt:lpstr>Отбор информации</vt:lpstr>
      <vt:lpstr>Отбор информации</vt:lpstr>
      <vt:lpstr>Классификация</vt:lpstr>
      <vt:lpstr>Материалы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Кумов Вячеслав Сергеевич</dc:creator>
  <cp:lastModifiedBy>a165</cp:lastModifiedBy>
  <cp:revision>207</cp:revision>
  <dcterms:created xsi:type="dcterms:W3CDTF">2024-11-06T14:38:58Z</dcterms:created>
  <dcterms:modified xsi:type="dcterms:W3CDTF">2026-02-27T10:00:40Z</dcterms:modified>
</cp:coreProperties>
</file>