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4"/>
  </p:notesMasterIdLst>
  <p:sldIdLst>
    <p:sldId id="256" r:id="rId2"/>
    <p:sldId id="435" r:id="rId3"/>
    <p:sldId id="456" r:id="rId4"/>
    <p:sldId id="457" r:id="rId5"/>
    <p:sldId id="458" r:id="rId6"/>
    <p:sldId id="459" r:id="rId7"/>
    <p:sldId id="460" r:id="rId8"/>
    <p:sldId id="436" r:id="rId9"/>
    <p:sldId id="462" r:id="rId10"/>
    <p:sldId id="463" r:id="rId11"/>
    <p:sldId id="464" r:id="rId12"/>
    <p:sldId id="461" r:id="rId13"/>
    <p:sldId id="437" r:id="rId14"/>
    <p:sldId id="445" r:id="rId15"/>
    <p:sldId id="465" r:id="rId16"/>
    <p:sldId id="466" r:id="rId17"/>
    <p:sldId id="467" r:id="rId18"/>
    <p:sldId id="468" r:id="rId19"/>
    <p:sldId id="469" r:id="rId20"/>
    <p:sldId id="470" r:id="rId21"/>
    <p:sldId id="487" r:id="rId22"/>
    <p:sldId id="488" r:id="rId23"/>
    <p:sldId id="471" r:id="rId24"/>
    <p:sldId id="472" r:id="rId25"/>
    <p:sldId id="473" r:id="rId26"/>
    <p:sldId id="474" r:id="rId27"/>
    <p:sldId id="475" r:id="rId28"/>
    <p:sldId id="476" r:id="rId29"/>
    <p:sldId id="477" r:id="rId30"/>
    <p:sldId id="486" r:id="rId31"/>
    <p:sldId id="481" r:id="rId32"/>
    <p:sldId id="489" r:id="rId33"/>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Светлый стиль 2 — акцент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39" autoAdjust="0"/>
    <p:restoredTop sz="94660"/>
  </p:normalViewPr>
  <p:slideViewPr>
    <p:cSldViewPr snapToGrid="0">
      <p:cViewPr>
        <p:scale>
          <a:sx n="66" d="100"/>
          <a:sy n="66" d="100"/>
        </p:scale>
        <p:origin x="1469"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FADCA2-25A3-4BBB-85F2-B020AF830912}" type="datetimeFigureOut">
              <a:rPr lang="ru-RU" smtClean="0"/>
              <a:t>14.02.2026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3CF49C-3C76-4248-B9A5-9A29CA2BA2D7}" type="slidenum">
              <a:rPr lang="ru-RU" smtClean="0"/>
              <a:t>‹#›</a:t>
            </a:fld>
            <a:endParaRPr lang="ru-RU"/>
          </a:p>
        </p:txBody>
      </p:sp>
    </p:spTree>
    <p:extLst>
      <p:ext uri="{BB962C8B-B14F-4D97-AF65-F5344CB8AC3E}">
        <p14:creationId xmlns:p14="http://schemas.microsoft.com/office/powerpoint/2010/main" val="957410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8DBD17F-B6F7-D2D0-3630-012BD3FEFA43}"/>
              </a:ext>
            </a:extLst>
          </p:cNvPr>
          <p:cNvSpPr>
            <a:spLocks noGrp="1"/>
          </p:cNvSpPr>
          <p:nvPr>
            <p:ph type="ctrTitle"/>
          </p:nvPr>
        </p:nvSpPr>
        <p:spPr>
          <a:xfrm>
            <a:off x="1524000" y="1122363"/>
            <a:ext cx="9144000" cy="2387600"/>
          </a:xfrm>
        </p:spPr>
        <p:txBody>
          <a:bodyPr anchor="b"/>
          <a:lstStyle>
            <a:lvl1pPr algn="ctr">
              <a:defRPr sz="6000"/>
            </a:lvl1pPr>
          </a:lstStyle>
          <a:p>
            <a:r>
              <a:rPr lang="ru-RU" dirty="0"/>
              <a:t>Образец заголовка</a:t>
            </a:r>
          </a:p>
        </p:txBody>
      </p:sp>
      <p:sp>
        <p:nvSpPr>
          <p:cNvPr id="3" name="Подзаголовок 2">
            <a:extLst>
              <a:ext uri="{FF2B5EF4-FFF2-40B4-BE49-F238E27FC236}">
                <a16:creationId xmlns:a16="http://schemas.microsoft.com/office/drawing/2014/main" id="{6D8DA831-5D8D-D37F-C5AD-F9F1A98EDC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Образец подзаголовка</a:t>
            </a:r>
          </a:p>
        </p:txBody>
      </p:sp>
      <p:sp>
        <p:nvSpPr>
          <p:cNvPr id="4" name="Дата 3">
            <a:extLst>
              <a:ext uri="{FF2B5EF4-FFF2-40B4-BE49-F238E27FC236}">
                <a16:creationId xmlns:a16="http://schemas.microsoft.com/office/drawing/2014/main" id="{72320724-1352-C3A9-F2AA-0F161DCCBB99}"/>
              </a:ext>
            </a:extLst>
          </p:cNvPr>
          <p:cNvSpPr>
            <a:spLocks noGrp="1"/>
          </p:cNvSpPr>
          <p:nvPr>
            <p:ph type="dt" sz="half" idx="10"/>
          </p:nvPr>
        </p:nvSpPr>
        <p:spPr/>
        <p:txBody>
          <a:bodyPr/>
          <a:lstStyle/>
          <a:p>
            <a:fld id="{42EBA0A1-B326-4860-83E0-6E244AFCF3D2}" type="datetime1">
              <a:rPr lang="ru-RU" smtClean="0"/>
              <a:t>14.02.2026</a:t>
            </a:fld>
            <a:endParaRPr lang="ru-RU"/>
          </a:p>
        </p:txBody>
      </p:sp>
      <p:sp>
        <p:nvSpPr>
          <p:cNvPr id="5" name="Нижний колонтитул 4">
            <a:extLst>
              <a:ext uri="{FF2B5EF4-FFF2-40B4-BE49-F238E27FC236}">
                <a16:creationId xmlns:a16="http://schemas.microsoft.com/office/drawing/2014/main" id="{7C937268-0EAB-1169-A8B2-06180A88E5A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D5BB2750-F058-A380-3743-696059B96C1E}"/>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1775518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A3CEE73-FF5F-D062-8CC5-8CDD5A4FF1C2}"/>
              </a:ext>
            </a:extLst>
          </p:cNvPr>
          <p:cNvSpPr>
            <a:spLocks noGrp="1"/>
          </p:cNvSpPr>
          <p:nvPr>
            <p:ph type="title"/>
          </p:nvPr>
        </p:nvSpPr>
        <p:spPr/>
        <p:txBody>
          <a:bodyPr/>
          <a:lstStyle/>
          <a:p>
            <a:r>
              <a:rPr lang="ru-RU" dirty="0"/>
              <a:t>Образец заголовка</a:t>
            </a:r>
          </a:p>
        </p:txBody>
      </p:sp>
      <p:sp>
        <p:nvSpPr>
          <p:cNvPr id="3" name="Объект 2">
            <a:extLst>
              <a:ext uri="{FF2B5EF4-FFF2-40B4-BE49-F238E27FC236}">
                <a16:creationId xmlns:a16="http://schemas.microsoft.com/office/drawing/2014/main" id="{E7592C3B-FF04-3CDD-F8D3-D96870E61AEB}"/>
              </a:ext>
            </a:extLst>
          </p:cNvPr>
          <p:cNvSpPr>
            <a:spLocks noGrp="1"/>
          </p:cNvSpPr>
          <p:nvPr>
            <p:ph idx="1"/>
          </p:nvPr>
        </p:nvSpPr>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AF3D8B3E-0C15-3BBB-10E9-73474C9B5DE2}"/>
              </a:ext>
            </a:extLst>
          </p:cNvPr>
          <p:cNvSpPr>
            <a:spLocks noGrp="1"/>
          </p:cNvSpPr>
          <p:nvPr>
            <p:ph type="dt" sz="half" idx="10"/>
          </p:nvPr>
        </p:nvSpPr>
        <p:spPr/>
        <p:txBody>
          <a:bodyPr/>
          <a:lstStyle/>
          <a:p>
            <a:fld id="{9A26607E-D3BA-408D-A363-63D2006109D7}" type="datetime1">
              <a:rPr lang="ru-RU" smtClean="0"/>
              <a:t>14.02.2026</a:t>
            </a:fld>
            <a:endParaRPr lang="ru-RU"/>
          </a:p>
        </p:txBody>
      </p:sp>
      <p:sp>
        <p:nvSpPr>
          <p:cNvPr id="5" name="Нижний колонтитул 4">
            <a:extLst>
              <a:ext uri="{FF2B5EF4-FFF2-40B4-BE49-F238E27FC236}">
                <a16:creationId xmlns:a16="http://schemas.microsoft.com/office/drawing/2014/main" id="{BA90C292-299E-289C-C4C5-DF4A73B1EB4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0CA3FBA-4315-3B13-6AD9-EF20822B8A26}"/>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2740878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48B0F8-9531-246A-350F-18F57DB9E962}"/>
              </a:ext>
            </a:extLst>
          </p:cNvPr>
          <p:cNvSpPr>
            <a:spLocks noGrp="1"/>
          </p:cNvSpPr>
          <p:nvPr>
            <p:ph type="title"/>
          </p:nvPr>
        </p:nvSpPr>
        <p:spPr>
          <a:xfrm>
            <a:off x="831850" y="1709738"/>
            <a:ext cx="10515600" cy="2852737"/>
          </a:xfrm>
        </p:spPr>
        <p:txBody>
          <a:bodyPr anchor="b"/>
          <a:lstStyle>
            <a:lvl1pPr>
              <a:defRPr sz="6000"/>
            </a:lvl1pPr>
          </a:lstStyle>
          <a:p>
            <a:r>
              <a:rPr lang="ru-RU" dirty="0"/>
              <a:t>Образец заголовка</a:t>
            </a:r>
          </a:p>
        </p:txBody>
      </p:sp>
      <p:sp>
        <p:nvSpPr>
          <p:cNvPr id="3" name="Текст 2">
            <a:extLst>
              <a:ext uri="{FF2B5EF4-FFF2-40B4-BE49-F238E27FC236}">
                <a16:creationId xmlns:a16="http://schemas.microsoft.com/office/drawing/2014/main" id="{2D4ED5CA-A6A8-F8A8-EAF2-C5D7EDAE22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A0A1835A-4701-4541-B51C-AB65AF88F787}"/>
              </a:ext>
            </a:extLst>
          </p:cNvPr>
          <p:cNvSpPr>
            <a:spLocks noGrp="1"/>
          </p:cNvSpPr>
          <p:nvPr>
            <p:ph type="dt" sz="half" idx="10"/>
          </p:nvPr>
        </p:nvSpPr>
        <p:spPr/>
        <p:txBody>
          <a:bodyPr/>
          <a:lstStyle/>
          <a:p>
            <a:fld id="{E7763B39-6243-4058-9473-2682C660205A}" type="datetime1">
              <a:rPr lang="ru-RU" smtClean="0"/>
              <a:t>14.02.2026</a:t>
            </a:fld>
            <a:endParaRPr lang="ru-RU"/>
          </a:p>
        </p:txBody>
      </p:sp>
      <p:sp>
        <p:nvSpPr>
          <p:cNvPr id="5" name="Нижний колонтитул 4">
            <a:extLst>
              <a:ext uri="{FF2B5EF4-FFF2-40B4-BE49-F238E27FC236}">
                <a16:creationId xmlns:a16="http://schemas.microsoft.com/office/drawing/2014/main" id="{E28A0C0A-E49C-3701-3F1D-A16AE4FEFC5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0CF2EFE-1316-9937-893C-AEF3ACE91029}"/>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34119443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B3FD90-3A06-6EDD-09AA-67A7D6A56208}"/>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C963343F-1856-3FC0-2FE5-224687A8A520}"/>
              </a:ext>
            </a:extLst>
          </p:cNvPr>
          <p:cNvSpPr>
            <a:spLocks noGrp="1"/>
          </p:cNvSpPr>
          <p:nvPr>
            <p:ph sz="half" idx="1"/>
          </p:nvPr>
        </p:nvSpPr>
        <p:spPr>
          <a:xfrm>
            <a:off x="838200" y="1825625"/>
            <a:ext cx="5181600" cy="4351338"/>
          </a:xfr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Объект 3">
            <a:extLst>
              <a:ext uri="{FF2B5EF4-FFF2-40B4-BE49-F238E27FC236}">
                <a16:creationId xmlns:a16="http://schemas.microsoft.com/office/drawing/2014/main" id="{6D2304A2-A8AB-49EA-813E-B899E3E38862}"/>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058E7F94-673A-5908-F2A7-B5A0A4C0AC7D}"/>
              </a:ext>
            </a:extLst>
          </p:cNvPr>
          <p:cNvSpPr>
            <a:spLocks noGrp="1"/>
          </p:cNvSpPr>
          <p:nvPr>
            <p:ph type="dt" sz="half" idx="10"/>
          </p:nvPr>
        </p:nvSpPr>
        <p:spPr/>
        <p:txBody>
          <a:bodyPr/>
          <a:lstStyle/>
          <a:p>
            <a:fld id="{F5FFDC28-7AF4-42B7-B36A-E3245B53B015}" type="datetime1">
              <a:rPr lang="ru-RU" smtClean="0"/>
              <a:t>14.02.2026</a:t>
            </a:fld>
            <a:endParaRPr lang="ru-RU"/>
          </a:p>
        </p:txBody>
      </p:sp>
      <p:sp>
        <p:nvSpPr>
          <p:cNvPr id="6" name="Нижний колонтитул 5">
            <a:extLst>
              <a:ext uri="{FF2B5EF4-FFF2-40B4-BE49-F238E27FC236}">
                <a16:creationId xmlns:a16="http://schemas.microsoft.com/office/drawing/2014/main" id="{F59D10C7-CCB7-074E-BBF1-62FDCE584752}"/>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54DC28F4-3DD1-0930-418F-9261A9172FC8}"/>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255366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3E7DCA2-93E3-4A8F-E375-B263513008F7}"/>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D250B223-5A46-1B7F-2518-B1695E29B5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DE6FDC1E-0D03-43F8-3BE8-791DAEFCE61F}"/>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4B752D2D-049E-6875-C4A0-78DF105A08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FAF88B04-52FC-A4C7-222E-5E445B22FD19}"/>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61B40C4A-AD29-81C2-4B4C-A34A3EEA8771}"/>
              </a:ext>
            </a:extLst>
          </p:cNvPr>
          <p:cNvSpPr>
            <a:spLocks noGrp="1"/>
          </p:cNvSpPr>
          <p:nvPr>
            <p:ph type="dt" sz="half" idx="10"/>
          </p:nvPr>
        </p:nvSpPr>
        <p:spPr/>
        <p:txBody>
          <a:bodyPr/>
          <a:lstStyle/>
          <a:p>
            <a:fld id="{4E257DC2-5BDC-4324-AA93-1088A9C7BE09}" type="datetime1">
              <a:rPr lang="ru-RU" smtClean="0"/>
              <a:t>14.02.2026</a:t>
            </a:fld>
            <a:endParaRPr lang="ru-RU"/>
          </a:p>
        </p:txBody>
      </p:sp>
      <p:sp>
        <p:nvSpPr>
          <p:cNvPr id="8" name="Нижний колонтитул 7">
            <a:extLst>
              <a:ext uri="{FF2B5EF4-FFF2-40B4-BE49-F238E27FC236}">
                <a16:creationId xmlns:a16="http://schemas.microsoft.com/office/drawing/2014/main" id="{9C8F5526-7555-0A36-D599-DB2C93979F04}"/>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56DECF9A-0E2A-8864-A192-91025021B9B0}"/>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609636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25DB98-A5B5-3438-3616-DF66F3DAC33B}"/>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9170717A-616B-3B17-373F-3F866473E676}"/>
              </a:ext>
            </a:extLst>
          </p:cNvPr>
          <p:cNvSpPr>
            <a:spLocks noGrp="1"/>
          </p:cNvSpPr>
          <p:nvPr>
            <p:ph type="dt" sz="half" idx="10"/>
          </p:nvPr>
        </p:nvSpPr>
        <p:spPr/>
        <p:txBody>
          <a:bodyPr/>
          <a:lstStyle/>
          <a:p>
            <a:fld id="{4000ACAE-6741-4A51-914D-5A71E1F0BD68}" type="datetime1">
              <a:rPr lang="ru-RU" smtClean="0"/>
              <a:t>14.02.2026</a:t>
            </a:fld>
            <a:endParaRPr lang="ru-RU"/>
          </a:p>
        </p:txBody>
      </p:sp>
      <p:sp>
        <p:nvSpPr>
          <p:cNvPr id="4" name="Нижний колонтитул 3">
            <a:extLst>
              <a:ext uri="{FF2B5EF4-FFF2-40B4-BE49-F238E27FC236}">
                <a16:creationId xmlns:a16="http://schemas.microsoft.com/office/drawing/2014/main" id="{EF9C2CB1-2633-0F01-61F4-D821EB2EB4C1}"/>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B34473C-F1C2-7452-CA68-4B736EC2687A}"/>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961378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B1B7CACC-DF26-B62A-AD80-9CF8CDD9C1E1}"/>
              </a:ext>
            </a:extLst>
          </p:cNvPr>
          <p:cNvSpPr>
            <a:spLocks noGrp="1"/>
          </p:cNvSpPr>
          <p:nvPr>
            <p:ph type="dt" sz="half" idx="10"/>
          </p:nvPr>
        </p:nvSpPr>
        <p:spPr/>
        <p:txBody>
          <a:bodyPr/>
          <a:lstStyle/>
          <a:p>
            <a:fld id="{47220D48-7342-4077-A13D-9386383C728B}" type="datetime1">
              <a:rPr lang="ru-RU" smtClean="0"/>
              <a:t>14.02.2026</a:t>
            </a:fld>
            <a:endParaRPr lang="ru-RU"/>
          </a:p>
        </p:txBody>
      </p:sp>
      <p:sp>
        <p:nvSpPr>
          <p:cNvPr id="3" name="Нижний колонтитул 2">
            <a:extLst>
              <a:ext uri="{FF2B5EF4-FFF2-40B4-BE49-F238E27FC236}">
                <a16:creationId xmlns:a16="http://schemas.microsoft.com/office/drawing/2014/main" id="{0B6EC42A-449A-823F-419D-3907F1F07CD9}"/>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591BA030-F1E0-FE9F-D717-74821A5432D4}"/>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3209965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4A86C9-5C65-B65D-425F-DE3113E1166A}"/>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0E5084B0-1F47-AAE3-0198-4E63A45CCA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28160BF8-1A7A-B36F-50A5-3998B09E98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dirty="0"/>
              <a:t>Образец текста</a:t>
            </a:r>
          </a:p>
        </p:txBody>
      </p:sp>
      <p:sp>
        <p:nvSpPr>
          <p:cNvPr id="5" name="Дата 4">
            <a:extLst>
              <a:ext uri="{FF2B5EF4-FFF2-40B4-BE49-F238E27FC236}">
                <a16:creationId xmlns:a16="http://schemas.microsoft.com/office/drawing/2014/main" id="{648F8D2F-7724-1061-E98D-9E231407B1E6}"/>
              </a:ext>
            </a:extLst>
          </p:cNvPr>
          <p:cNvSpPr>
            <a:spLocks noGrp="1"/>
          </p:cNvSpPr>
          <p:nvPr>
            <p:ph type="dt" sz="half" idx="10"/>
          </p:nvPr>
        </p:nvSpPr>
        <p:spPr/>
        <p:txBody>
          <a:bodyPr/>
          <a:lstStyle/>
          <a:p>
            <a:fld id="{180E2733-AE3E-42EF-86D9-BE9D4F27462D}" type="datetime1">
              <a:rPr lang="ru-RU" smtClean="0"/>
              <a:t>14.02.2026</a:t>
            </a:fld>
            <a:endParaRPr lang="ru-RU"/>
          </a:p>
        </p:txBody>
      </p:sp>
      <p:sp>
        <p:nvSpPr>
          <p:cNvPr id="6" name="Нижний колонтитул 5">
            <a:extLst>
              <a:ext uri="{FF2B5EF4-FFF2-40B4-BE49-F238E27FC236}">
                <a16:creationId xmlns:a16="http://schemas.microsoft.com/office/drawing/2014/main" id="{962CD5AB-4E05-098A-0C4E-32CF1BDDF4F3}"/>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00355C40-5D02-2C51-A75F-95A7840994B9}"/>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3511196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956929-FD75-C0AE-7C5C-C6456727FA0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B35B8921-5168-4761-240F-1F2D4296DD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789AE9BF-D85D-484B-3084-2BB43B9DF3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DC30992-2BD0-C25C-D77B-DDDD95DF24C5}"/>
              </a:ext>
            </a:extLst>
          </p:cNvPr>
          <p:cNvSpPr>
            <a:spLocks noGrp="1"/>
          </p:cNvSpPr>
          <p:nvPr>
            <p:ph type="dt" sz="half" idx="10"/>
          </p:nvPr>
        </p:nvSpPr>
        <p:spPr/>
        <p:txBody>
          <a:bodyPr/>
          <a:lstStyle/>
          <a:p>
            <a:fld id="{C9715276-9BB3-4ACE-9F64-F4E954D67518}" type="datetime1">
              <a:rPr lang="ru-RU" smtClean="0"/>
              <a:t>14.02.2026</a:t>
            </a:fld>
            <a:endParaRPr lang="ru-RU"/>
          </a:p>
        </p:txBody>
      </p:sp>
      <p:sp>
        <p:nvSpPr>
          <p:cNvPr id="6" name="Нижний колонтитул 5">
            <a:extLst>
              <a:ext uri="{FF2B5EF4-FFF2-40B4-BE49-F238E27FC236}">
                <a16:creationId xmlns:a16="http://schemas.microsoft.com/office/drawing/2014/main" id="{3C71DED5-75B2-472E-7970-EEBC35C47DCC}"/>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7ACE7235-A1FA-507C-BDA3-FF60840C1AC8}"/>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79023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0522671-5997-B3F0-1CF5-FE693B6F6FB1}"/>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60C58ABE-0AA1-5035-CC95-C31EA7DECF19}"/>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36E4E59-08D4-3F97-A481-26A03B87E8FA}"/>
              </a:ext>
            </a:extLst>
          </p:cNvPr>
          <p:cNvSpPr>
            <a:spLocks noGrp="1"/>
          </p:cNvSpPr>
          <p:nvPr>
            <p:ph type="dt" sz="half" idx="10"/>
          </p:nvPr>
        </p:nvSpPr>
        <p:spPr/>
        <p:txBody>
          <a:bodyPr/>
          <a:lstStyle/>
          <a:p>
            <a:fld id="{6A899C77-79D7-4EF0-9B35-EE074040BB10}" type="datetime1">
              <a:rPr lang="ru-RU" smtClean="0"/>
              <a:t>14.02.2026</a:t>
            </a:fld>
            <a:endParaRPr lang="ru-RU"/>
          </a:p>
        </p:txBody>
      </p:sp>
      <p:sp>
        <p:nvSpPr>
          <p:cNvPr id="5" name="Нижний колонтитул 4">
            <a:extLst>
              <a:ext uri="{FF2B5EF4-FFF2-40B4-BE49-F238E27FC236}">
                <a16:creationId xmlns:a16="http://schemas.microsoft.com/office/drawing/2014/main" id="{43612C97-AD20-9B74-1D9E-20E6D0AF0A47}"/>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3DBA50A-CF5D-F52F-ADFD-E27A8EC011E7}"/>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2017720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45728371-BBF1-C052-5C83-60B90C189841}"/>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7F90CBDC-54AC-0F04-BFCF-D191D5AE2DF0}"/>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278DCFD-149E-564A-688C-62291B7370B9}"/>
              </a:ext>
            </a:extLst>
          </p:cNvPr>
          <p:cNvSpPr>
            <a:spLocks noGrp="1"/>
          </p:cNvSpPr>
          <p:nvPr>
            <p:ph type="dt" sz="half" idx="10"/>
          </p:nvPr>
        </p:nvSpPr>
        <p:spPr/>
        <p:txBody>
          <a:bodyPr/>
          <a:lstStyle/>
          <a:p>
            <a:fld id="{51F14674-2FDA-4F3A-A3A1-E4F080484048}" type="datetime1">
              <a:rPr lang="ru-RU" smtClean="0"/>
              <a:t>14.02.2026</a:t>
            </a:fld>
            <a:endParaRPr lang="ru-RU"/>
          </a:p>
        </p:txBody>
      </p:sp>
      <p:sp>
        <p:nvSpPr>
          <p:cNvPr id="5" name="Нижний колонтитул 4">
            <a:extLst>
              <a:ext uri="{FF2B5EF4-FFF2-40B4-BE49-F238E27FC236}">
                <a16:creationId xmlns:a16="http://schemas.microsoft.com/office/drawing/2014/main" id="{375F0560-6883-F96E-16B1-C6C143DD62D4}"/>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E259203-947D-2A0B-2F17-691028A54C8E}"/>
              </a:ext>
            </a:extLst>
          </p:cNvPr>
          <p:cNvSpPr>
            <a:spLocks noGrp="1"/>
          </p:cNvSpPr>
          <p:nvPr>
            <p:ph type="sldNum" sz="quarter" idx="12"/>
          </p:nvPr>
        </p:nvSpPr>
        <p:spPr/>
        <p:txBody>
          <a:bodyPr/>
          <a:lstStyle/>
          <a:p>
            <a:fld id="{818D4B0C-12DF-447C-B791-E379AA958CE7}" type="slidenum">
              <a:rPr lang="ru-RU" smtClean="0"/>
              <a:t>‹#›</a:t>
            </a:fld>
            <a:endParaRPr lang="ru-RU"/>
          </a:p>
        </p:txBody>
      </p:sp>
    </p:spTree>
    <p:extLst>
      <p:ext uri="{BB962C8B-B14F-4D97-AF65-F5344CB8AC3E}">
        <p14:creationId xmlns:p14="http://schemas.microsoft.com/office/powerpoint/2010/main" val="778257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E73F10A-1CBC-F46A-8ACA-52DEEE23C7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2D2AAE10-3298-EBED-1AAB-4FC5956784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a:extLst>
              <a:ext uri="{FF2B5EF4-FFF2-40B4-BE49-F238E27FC236}">
                <a16:creationId xmlns:a16="http://schemas.microsoft.com/office/drawing/2014/main" id="{4F2D3DF7-F658-A4E6-AC36-CFE6343722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15E8D009-A248-483D-975C-5A28A056285B}" type="datetime1">
              <a:rPr lang="ru-RU" smtClean="0"/>
              <a:t>14.02.2026</a:t>
            </a:fld>
            <a:endParaRPr lang="ru-RU" dirty="0"/>
          </a:p>
        </p:txBody>
      </p:sp>
      <p:sp>
        <p:nvSpPr>
          <p:cNvPr id="5" name="Нижний колонтитул 4">
            <a:extLst>
              <a:ext uri="{FF2B5EF4-FFF2-40B4-BE49-F238E27FC236}">
                <a16:creationId xmlns:a16="http://schemas.microsoft.com/office/drawing/2014/main" id="{6ED00B84-0413-2BF8-AAE6-2D3092BE5F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ru-RU" dirty="0"/>
          </a:p>
        </p:txBody>
      </p:sp>
      <p:sp>
        <p:nvSpPr>
          <p:cNvPr id="6" name="Номер слайда 5">
            <a:extLst>
              <a:ext uri="{FF2B5EF4-FFF2-40B4-BE49-F238E27FC236}">
                <a16:creationId xmlns:a16="http://schemas.microsoft.com/office/drawing/2014/main" id="{EAD3A335-BD73-C78E-0328-9E641CD68E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818D4B0C-12DF-447C-B791-E379AA958CE7}" type="slidenum">
              <a:rPr lang="ru-RU" smtClean="0"/>
              <a:pPr/>
              <a:t>‹#›</a:t>
            </a:fld>
            <a:endParaRPr lang="ru-RU"/>
          </a:p>
        </p:txBody>
      </p:sp>
    </p:spTree>
    <p:extLst>
      <p:ext uri="{BB962C8B-B14F-4D97-AF65-F5344CB8AC3E}">
        <p14:creationId xmlns:p14="http://schemas.microsoft.com/office/powerpoint/2010/main" val="2175367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package" Target="../embeddings/Microsoft_Word_Document.docx"/><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package" Target="../embeddings/Microsoft_Word_Document1.docx"/><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emf"/><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8.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hyperlink" Target="https://kpfu.ru/staff_files/F850320868/Osnovy_nechetkoj_logiki.pdf" TargetMode="External"/><Relationship Id="rId4" Type="http://schemas.openxmlformats.org/officeDocument/2006/relationships/image" Target="../media/image4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slideLayout" Target="../slideLayouts/slideLayout2.xml"/><Relationship Id="rId4" Type="http://schemas.openxmlformats.org/officeDocument/2006/relationships/image" Target="../media/image49.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mathworks.com/help/fuzzy/fuzzy-inference-process.html" TargetMode="External"/><Relationship Id="rId2" Type="http://schemas.openxmlformats.org/officeDocument/2006/relationships/hyperlink" Target="https://www.mathworks.com/help/fuzzy/foundations-of-fuzzy-logic.html" TargetMode="External"/><Relationship Id="rId1" Type="http://schemas.openxmlformats.org/officeDocument/2006/relationships/slideLayout" Target="../slideLayouts/slideLayout2.xml"/><Relationship Id="rId5" Type="http://schemas.openxmlformats.org/officeDocument/2006/relationships/hyperlink" Target="https://kpfu.ru/staff_files/F850320868/Osnovy_nechetkoj_logiki.pdf" TargetMode="External"/><Relationship Id="rId4" Type="http://schemas.openxmlformats.org/officeDocument/2006/relationships/hyperlink" Target="https://www.mathworks.com/help/fuzzy/types-of-fuzzy-inference-systems.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5AE178-3CA4-4E38-452D-6CA5374C3301}"/>
              </a:ext>
            </a:extLst>
          </p:cNvPr>
          <p:cNvSpPr>
            <a:spLocks noGrp="1"/>
          </p:cNvSpPr>
          <p:nvPr>
            <p:ph type="ctrTitle"/>
          </p:nvPr>
        </p:nvSpPr>
        <p:spPr/>
        <p:txBody>
          <a:bodyPr>
            <a:normAutofit/>
          </a:bodyPr>
          <a:lstStyle/>
          <a:p>
            <a:r>
              <a:rPr lang="ru-RU" sz="4400" dirty="0">
                <a:latin typeface="Arial" panose="020B0604020202020204" pitchFamily="34" charset="0"/>
                <a:cs typeface="Arial" panose="020B0604020202020204" pitchFamily="34" charset="0"/>
              </a:rPr>
              <a:t>Методы нечеткого вывода</a:t>
            </a:r>
          </a:p>
        </p:txBody>
      </p:sp>
    </p:spTree>
    <p:extLst>
      <p:ext uri="{BB962C8B-B14F-4D97-AF65-F5344CB8AC3E}">
        <p14:creationId xmlns:p14="http://schemas.microsoft.com/office/powerpoint/2010/main" val="58101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8B3B1-4D0C-9C43-5F06-508814E3072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B1BE96E-8085-2371-735F-72A47C933CCC}"/>
              </a:ext>
            </a:extLst>
          </p:cNvPr>
          <p:cNvSpPr txBox="1"/>
          <p:nvPr/>
        </p:nvSpPr>
        <p:spPr>
          <a:xfrm>
            <a:off x="838200" y="2019600"/>
            <a:ext cx="10803340" cy="646331"/>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Нечеткое множество – это множество без четко определенной границы. Оно может содержать элементы с частичной степенью принадлежности.</a:t>
            </a:r>
          </a:p>
        </p:txBody>
      </p:sp>
      <p:sp>
        <p:nvSpPr>
          <p:cNvPr id="2" name="TextBox 1">
            <a:extLst>
              <a:ext uri="{FF2B5EF4-FFF2-40B4-BE49-F238E27FC236}">
                <a16:creationId xmlns:a16="http://schemas.microsoft.com/office/drawing/2014/main" id="{3ED81FF9-9C0D-D1E5-D58B-E5F2B28DA1AC}"/>
              </a:ext>
            </a:extLst>
          </p:cNvPr>
          <p:cNvSpPr txBox="1"/>
          <p:nvPr/>
        </p:nvSpPr>
        <p:spPr>
          <a:xfrm>
            <a:off x="838200" y="1278644"/>
            <a:ext cx="6096000"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Нечеткие множества</a:t>
            </a:r>
          </a:p>
        </p:txBody>
      </p:sp>
      <p:sp>
        <p:nvSpPr>
          <p:cNvPr id="3" name="Номер слайда 2">
            <a:extLst>
              <a:ext uri="{FF2B5EF4-FFF2-40B4-BE49-F238E27FC236}">
                <a16:creationId xmlns:a16="http://schemas.microsoft.com/office/drawing/2014/main" id="{E1A490E6-6ADA-E5B4-2070-BB5C636AD5C0}"/>
              </a:ext>
            </a:extLst>
          </p:cNvPr>
          <p:cNvSpPr>
            <a:spLocks noGrp="1"/>
          </p:cNvSpPr>
          <p:nvPr>
            <p:ph type="sldNum" sz="quarter" idx="12"/>
          </p:nvPr>
        </p:nvSpPr>
        <p:spPr/>
        <p:txBody>
          <a:bodyPr/>
          <a:lstStyle/>
          <a:p>
            <a:fld id="{818D4B0C-12DF-447C-B791-E379AA958CE7}" type="slidenum">
              <a:rPr lang="ru-RU" smtClean="0"/>
              <a:t>2</a:t>
            </a:fld>
            <a:endParaRPr lang="ru-RU"/>
          </a:p>
        </p:txBody>
      </p:sp>
      <p:sp>
        <p:nvSpPr>
          <p:cNvPr id="9" name="Заголовок 1">
            <a:extLst>
              <a:ext uri="{FF2B5EF4-FFF2-40B4-BE49-F238E27FC236}">
                <a16:creationId xmlns:a16="http://schemas.microsoft.com/office/drawing/2014/main" id="{5AE9BA74-1CCB-1B69-A019-9BD3DAD60358}"/>
              </a:ext>
            </a:extLst>
          </p:cNvPr>
          <p:cNvSpPr>
            <a:spLocks noGrp="1"/>
          </p:cNvSpPr>
          <p:nvPr>
            <p:ph type="title"/>
          </p:nvPr>
        </p:nvSpPr>
        <p:spPr>
          <a:xfrm>
            <a:off x="838200" y="365125"/>
            <a:ext cx="10515600" cy="1325563"/>
          </a:xfrm>
        </p:spPr>
        <p:txBody>
          <a:bodyPr>
            <a:normAutofit/>
          </a:bodyPr>
          <a:lstStyle/>
          <a:p>
            <a:r>
              <a:rPr lang="ru-RU" sz="4000" dirty="0"/>
              <a:t>Основы нечеткой логики</a:t>
            </a:r>
            <a:endParaRPr lang="ru-RU" sz="4000" dirty="0">
              <a:latin typeface="Arial" panose="020B0604020202020204" pitchFamily="34" charset="0"/>
              <a:cs typeface="Arial" panose="020B0604020202020204" pitchFamily="34" charset="0"/>
            </a:endParaRPr>
          </a:p>
        </p:txBody>
      </p:sp>
      <p:pic>
        <p:nvPicPr>
          <p:cNvPr id="12" name="Рисунок 11">
            <a:extLst>
              <a:ext uri="{FF2B5EF4-FFF2-40B4-BE49-F238E27FC236}">
                <a16:creationId xmlns:a16="http://schemas.microsoft.com/office/drawing/2014/main" id="{78F2A487-A73E-1553-84CB-E91263EDE6C6}"/>
              </a:ext>
            </a:extLst>
          </p:cNvPr>
          <p:cNvPicPr>
            <a:picLocks noChangeAspect="1"/>
          </p:cNvPicPr>
          <p:nvPr/>
        </p:nvPicPr>
        <p:blipFill>
          <a:blip r:embed="rId2"/>
          <a:stretch>
            <a:fillRect/>
          </a:stretch>
        </p:blipFill>
        <p:spPr>
          <a:xfrm>
            <a:off x="904876" y="3429000"/>
            <a:ext cx="4810125" cy="2019300"/>
          </a:xfrm>
          <a:prstGeom prst="rect">
            <a:avLst/>
          </a:prstGeom>
        </p:spPr>
      </p:pic>
      <p:pic>
        <p:nvPicPr>
          <p:cNvPr id="15" name="Рисунок 14">
            <a:extLst>
              <a:ext uri="{FF2B5EF4-FFF2-40B4-BE49-F238E27FC236}">
                <a16:creationId xmlns:a16="http://schemas.microsoft.com/office/drawing/2014/main" id="{C4ADFF55-1F10-F7D4-5D0B-307A4C914EBE}"/>
              </a:ext>
            </a:extLst>
          </p:cNvPr>
          <p:cNvPicPr>
            <a:picLocks noChangeAspect="1"/>
          </p:cNvPicPr>
          <p:nvPr/>
        </p:nvPicPr>
        <p:blipFill>
          <a:blip r:embed="rId3"/>
          <a:stretch>
            <a:fillRect/>
          </a:stretch>
        </p:blipFill>
        <p:spPr>
          <a:xfrm>
            <a:off x="5994780" y="3483856"/>
            <a:ext cx="5715000" cy="2095500"/>
          </a:xfrm>
          <a:prstGeom prst="rect">
            <a:avLst/>
          </a:prstGeom>
        </p:spPr>
      </p:pic>
      <p:cxnSp>
        <p:nvCxnSpPr>
          <p:cNvPr id="17" name="Прямая соединительная линия 16">
            <a:extLst>
              <a:ext uri="{FF2B5EF4-FFF2-40B4-BE49-F238E27FC236}">
                <a16:creationId xmlns:a16="http://schemas.microsoft.com/office/drawing/2014/main" id="{B7A69D36-706C-B750-EE59-3EB9A973FC53}"/>
              </a:ext>
            </a:extLst>
          </p:cNvPr>
          <p:cNvCxnSpPr/>
          <p:nvPr/>
        </p:nvCxnSpPr>
        <p:spPr>
          <a:xfrm>
            <a:off x="5877634" y="2784141"/>
            <a:ext cx="0" cy="356206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9322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572A3-E224-A880-8A82-A54B7BE84B4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BD9957C-6F04-4375-5042-238A91578E7D}"/>
              </a:ext>
            </a:extLst>
          </p:cNvPr>
          <p:cNvSpPr txBox="1"/>
          <p:nvPr/>
        </p:nvSpPr>
        <p:spPr>
          <a:xfrm>
            <a:off x="838200" y="1278644"/>
            <a:ext cx="6096000"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Нечеткие множества</a:t>
            </a:r>
          </a:p>
        </p:txBody>
      </p:sp>
      <p:sp>
        <p:nvSpPr>
          <p:cNvPr id="3" name="Номер слайда 2">
            <a:extLst>
              <a:ext uri="{FF2B5EF4-FFF2-40B4-BE49-F238E27FC236}">
                <a16:creationId xmlns:a16="http://schemas.microsoft.com/office/drawing/2014/main" id="{A40033FB-2013-065A-A5D6-01AB6F131C52}"/>
              </a:ext>
            </a:extLst>
          </p:cNvPr>
          <p:cNvSpPr>
            <a:spLocks noGrp="1"/>
          </p:cNvSpPr>
          <p:nvPr>
            <p:ph type="sldNum" sz="quarter" idx="12"/>
          </p:nvPr>
        </p:nvSpPr>
        <p:spPr/>
        <p:txBody>
          <a:bodyPr/>
          <a:lstStyle/>
          <a:p>
            <a:fld id="{818D4B0C-12DF-447C-B791-E379AA958CE7}" type="slidenum">
              <a:rPr lang="ru-RU" smtClean="0"/>
              <a:t>3</a:t>
            </a:fld>
            <a:endParaRPr lang="ru-RU"/>
          </a:p>
        </p:txBody>
      </p:sp>
      <p:sp>
        <p:nvSpPr>
          <p:cNvPr id="9" name="Заголовок 1">
            <a:extLst>
              <a:ext uri="{FF2B5EF4-FFF2-40B4-BE49-F238E27FC236}">
                <a16:creationId xmlns:a16="http://schemas.microsoft.com/office/drawing/2014/main" id="{C594695E-1F15-9118-DB73-EEADFDB7F0B7}"/>
              </a:ext>
            </a:extLst>
          </p:cNvPr>
          <p:cNvSpPr>
            <a:spLocks noGrp="1"/>
          </p:cNvSpPr>
          <p:nvPr>
            <p:ph type="title"/>
          </p:nvPr>
        </p:nvSpPr>
        <p:spPr>
          <a:xfrm>
            <a:off x="838200" y="365125"/>
            <a:ext cx="10515600" cy="1325563"/>
          </a:xfrm>
        </p:spPr>
        <p:txBody>
          <a:bodyPr>
            <a:normAutofit/>
          </a:bodyPr>
          <a:lstStyle/>
          <a:p>
            <a:r>
              <a:rPr lang="ru-RU" sz="4000" dirty="0"/>
              <a:t>Основы нечеткой логики</a:t>
            </a:r>
            <a:endParaRPr lang="ru-RU" sz="4000" dirty="0">
              <a:latin typeface="Arial" panose="020B0604020202020204" pitchFamily="34" charset="0"/>
              <a:cs typeface="Arial" panose="020B0604020202020204" pitchFamily="34" charset="0"/>
            </a:endParaRPr>
          </a:p>
        </p:txBody>
      </p:sp>
      <p:pic>
        <p:nvPicPr>
          <p:cNvPr id="5" name="Рисунок 4">
            <a:extLst>
              <a:ext uri="{FF2B5EF4-FFF2-40B4-BE49-F238E27FC236}">
                <a16:creationId xmlns:a16="http://schemas.microsoft.com/office/drawing/2014/main" id="{89AA0346-F116-9A74-A349-26F5E3542913}"/>
              </a:ext>
            </a:extLst>
          </p:cNvPr>
          <p:cNvPicPr>
            <a:picLocks noChangeAspect="1"/>
          </p:cNvPicPr>
          <p:nvPr/>
        </p:nvPicPr>
        <p:blipFill>
          <a:blip r:embed="rId2"/>
          <a:stretch>
            <a:fillRect/>
          </a:stretch>
        </p:blipFill>
        <p:spPr>
          <a:xfrm>
            <a:off x="2444157" y="1938876"/>
            <a:ext cx="7058025" cy="1914525"/>
          </a:xfrm>
          <a:prstGeom prst="rect">
            <a:avLst/>
          </a:prstGeom>
        </p:spPr>
      </p:pic>
      <p:pic>
        <p:nvPicPr>
          <p:cNvPr id="8" name="Рисунок 7">
            <a:extLst>
              <a:ext uri="{FF2B5EF4-FFF2-40B4-BE49-F238E27FC236}">
                <a16:creationId xmlns:a16="http://schemas.microsoft.com/office/drawing/2014/main" id="{10908DEB-F9A9-EF41-F360-F4B0F38087A7}"/>
              </a:ext>
            </a:extLst>
          </p:cNvPr>
          <p:cNvPicPr>
            <a:picLocks noChangeAspect="1"/>
          </p:cNvPicPr>
          <p:nvPr/>
        </p:nvPicPr>
        <p:blipFill>
          <a:blip r:embed="rId3"/>
          <a:stretch>
            <a:fillRect/>
          </a:stretch>
        </p:blipFill>
        <p:spPr>
          <a:xfrm>
            <a:off x="2444157" y="4305848"/>
            <a:ext cx="7092676" cy="1951601"/>
          </a:xfrm>
          <a:prstGeom prst="rect">
            <a:avLst/>
          </a:prstGeom>
        </p:spPr>
      </p:pic>
    </p:spTree>
    <p:extLst>
      <p:ext uri="{BB962C8B-B14F-4D97-AF65-F5344CB8AC3E}">
        <p14:creationId xmlns:p14="http://schemas.microsoft.com/office/powerpoint/2010/main" val="2945174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96EB2-35C5-EBD1-3941-B4EC33886A7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CC4ED86-6442-FF5B-A8A6-DE2F7B2DB14F}"/>
              </a:ext>
            </a:extLst>
          </p:cNvPr>
          <p:cNvSpPr txBox="1"/>
          <p:nvPr/>
        </p:nvSpPr>
        <p:spPr>
          <a:xfrm>
            <a:off x="838200" y="1278644"/>
            <a:ext cx="6096000" cy="492443"/>
          </a:xfrm>
          <a:prstGeom prst="rect">
            <a:avLst/>
          </a:prstGeom>
          <a:noFill/>
        </p:spPr>
        <p:txBody>
          <a:bodyPr wrap="square">
            <a:spAutoFit/>
          </a:bodyPr>
          <a:lstStyle/>
          <a:p>
            <a:r>
              <a:rPr lang="ru-RU" sz="2600">
                <a:latin typeface="Arial" panose="020B0604020202020204" pitchFamily="34" charset="0"/>
                <a:cs typeface="Arial" panose="020B0604020202020204" pitchFamily="34" charset="0"/>
              </a:rPr>
              <a:t>Нечеткие множества</a:t>
            </a:r>
            <a:endParaRPr lang="ru-RU" sz="2600" dirty="0">
              <a:latin typeface="Arial" panose="020B0604020202020204" pitchFamily="34" charset="0"/>
              <a:cs typeface="Arial" panose="020B0604020202020204" pitchFamily="34" charset="0"/>
            </a:endParaRPr>
          </a:p>
        </p:txBody>
      </p:sp>
      <p:sp>
        <p:nvSpPr>
          <p:cNvPr id="3" name="Номер слайда 2">
            <a:extLst>
              <a:ext uri="{FF2B5EF4-FFF2-40B4-BE49-F238E27FC236}">
                <a16:creationId xmlns:a16="http://schemas.microsoft.com/office/drawing/2014/main" id="{BEECE51A-5EE1-252B-E5EE-251B1F407ACC}"/>
              </a:ext>
            </a:extLst>
          </p:cNvPr>
          <p:cNvSpPr>
            <a:spLocks noGrp="1"/>
          </p:cNvSpPr>
          <p:nvPr>
            <p:ph type="sldNum" sz="quarter" idx="12"/>
          </p:nvPr>
        </p:nvSpPr>
        <p:spPr/>
        <p:txBody>
          <a:bodyPr/>
          <a:lstStyle/>
          <a:p>
            <a:fld id="{818D4B0C-12DF-447C-B791-E379AA958CE7}" type="slidenum">
              <a:rPr lang="ru-RU" smtClean="0"/>
              <a:t>4</a:t>
            </a:fld>
            <a:endParaRPr lang="ru-RU"/>
          </a:p>
        </p:txBody>
      </p:sp>
      <p:sp>
        <p:nvSpPr>
          <p:cNvPr id="9" name="Заголовок 1">
            <a:extLst>
              <a:ext uri="{FF2B5EF4-FFF2-40B4-BE49-F238E27FC236}">
                <a16:creationId xmlns:a16="http://schemas.microsoft.com/office/drawing/2014/main" id="{0F754E6F-F871-303B-D189-B99C0D286560}"/>
              </a:ext>
            </a:extLst>
          </p:cNvPr>
          <p:cNvSpPr>
            <a:spLocks noGrp="1"/>
          </p:cNvSpPr>
          <p:nvPr>
            <p:ph type="title"/>
          </p:nvPr>
        </p:nvSpPr>
        <p:spPr>
          <a:xfrm>
            <a:off x="838200" y="365125"/>
            <a:ext cx="10515600" cy="1325563"/>
          </a:xfrm>
        </p:spPr>
        <p:txBody>
          <a:bodyPr>
            <a:normAutofit/>
          </a:bodyPr>
          <a:lstStyle/>
          <a:p>
            <a:r>
              <a:rPr lang="ru-RU" sz="4000"/>
              <a:t>Основы нечеткой логики</a:t>
            </a:r>
            <a:endParaRPr lang="ru-RU" sz="4000" dirty="0">
              <a:latin typeface="Arial" panose="020B0604020202020204" pitchFamily="34" charset="0"/>
              <a:cs typeface="Arial" panose="020B0604020202020204" pitchFamily="34" charset="0"/>
            </a:endParaRPr>
          </a:p>
        </p:txBody>
      </p:sp>
      <p:pic>
        <p:nvPicPr>
          <p:cNvPr id="6" name="Рисунок 5">
            <a:extLst>
              <a:ext uri="{FF2B5EF4-FFF2-40B4-BE49-F238E27FC236}">
                <a16:creationId xmlns:a16="http://schemas.microsoft.com/office/drawing/2014/main" id="{A9CDE837-0831-799E-7650-50EA102F11E0}"/>
              </a:ext>
            </a:extLst>
          </p:cNvPr>
          <p:cNvPicPr>
            <a:picLocks noChangeAspect="1"/>
          </p:cNvPicPr>
          <p:nvPr/>
        </p:nvPicPr>
        <p:blipFill>
          <a:blip r:embed="rId2"/>
          <a:stretch>
            <a:fillRect/>
          </a:stretch>
        </p:blipFill>
        <p:spPr>
          <a:xfrm>
            <a:off x="1270425" y="2453992"/>
            <a:ext cx="9057113" cy="2638989"/>
          </a:xfrm>
          <a:prstGeom prst="rect">
            <a:avLst/>
          </a:prstGeom>
        </p:spPr>
      </p:pic>
    </p:spTree>
    <p:extLst>
      <p:ext uri="{BB962C8B-B14F-4D97-AF65-F5344CB8AC3E}">
        <p14:creationId xmlns:p14="http://schemas.microsoft.com/office/powerpoint/2010/main" val="3594094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C2868-CBD4-F35A-90EA-04DF9D79D7D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AE69D2B-4058-C900-B2BC-D85A591BE026}"/>
              </a:ext>
            </a:extLst>
          </p:cNvPr>
          <p:cNvSpPr txBox="1"/>
          <p:nvPr/>
        </p:nvSpPr>
        <p:spPr>
          <a:xfrm>
            <a:off x="838200" y="1278644"/>
            <a:ext cx="6096000"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Функции принадлежности</a:t>
            </a:r>
          </a:p>
        </p:txBody>
      </p:sp>
      <p:sp>
        <p:nvSpPr>
          <p:cNvPr id="3" name="Номер слайда 2">
            <a:extLst>
              <a:ext uri="{FF2B5EF4-FFF2-40B4-BE49-F238E27FC236}">
                <a16:creationId xmlns:a16="http://schemas.microsoft.com/office/drawing/2014/main" id="{5EE2E195-E0AC-83F6-9716-D8F9EAA73B4B}"/>
              </a:ext>
            </a:extLst>
          </p:cNvPr>
          <p:cNvSpPr>
            <a:spLocks noGrp="1"/>
          </p:cNvSpPr>
          <p:nvPr>
            <p:ph type="sldNum" sz="quarter" idx="12"/>
          </p:nvPr>
        </p:nvSpPr>
        <p:spPr/>
        <p:txBody>
          <a:bodyPr/>
          <a:lstStyle/>
          <a:p>
            <a:fld id="{818D4B0C-12DF-447C-B791-E379AA958CE7}" type="slidenum">
              <a:rPr lang="ru-RU" smtClean="0"/>
              <a:t>5</a:t>
            </a:fld>
            <a:endParaRPr lang="ru-RU"/>
          </a:p>
        </p:txBody>
      </p:sp>
      <p:sp>
        <p:nvSpPr>
          <p:cNvPr id="9" name="Заголовок 1">
            <a:extLst>
              <a:ext uri="{FF2B5EF4-FFF2-40B4-BE49-F238E27FC236}">
                <a16:creationId xmlns:a16="http://schemas.microsoft.com/office/drawing/2014/main" id="{55A49B0A-438A-D405-4ACC-91FF5ACB2F19}"/>
              </a:ext>
            </a:extLst>
          </p:cNvPr>
          <p:cNvSpPr>
            <a:spLocks noGrp="1"/>
          </p:cNvSpPr>
          <p:nvPr>
            <p:ph type="title"/>
          </p:nvPr>
        </p:nvSpPr>
        <p:spPr>
          <a:xfrm>
            <a:off x="838200" y="365125"/>
            <a:ext cx="10515600" cy="1325563"/>
          </a:xfrm>
        </p:spPr>
        <p:txBody>
          <a:bodyPr>
            <a:normAutofit/>
          </a:bodyPr>
          <a:lstStyle/>
          <a:p>
            <a:r>
              <a:rPr lang="ru-RU" sz="4000" dirty="0"/>
              <a:t>Основы нечеткой логики</a:t>
            </a:r>
            <a:endParaRPr lang="ru-RU" sz="40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8610512-7CA6-6A5D-1CFB-00314601016D}"/>
                  </a:ext>
                </a:extLst>
              </p:cNvPr>
              <p:cNvSpPr txBox="1"/>
              <p:nvPr/>
            </p:nvSpPr>
            <p:spPr>
              <a:xfrm>
                <a:off x="838200" y="2019600"/>
                <a:ext cx="10515600" cy="923330"/>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Функция принадлежности (ФП</a:t>
                </a:r>
                <a:r>
                  <a:rPr lang="en-US" dirty="0">
                    <a:latin typeface="Arial" panose="020B0604020202020204" pitchFamily="34" charset="0"/>
                    <a:cs typeface="Arial" panose="020B0604020202020204" pitchFamily="34" charset="0"/>
                  </a:rPr>
                  <a:t>, </a:t>
                </a:r>
                <a14:m>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𝜇</m:t>
                    </m:r>
                  </m:oMath>
                </a14:m>
                <a:r>
                  <a:rPr lang="ru-RU" dirty="0">
                    <a:latin typeface="Arial" panose="020B0604020202020204" pitchFamily="34" charset="0"/>
                    <a:cs typeface="Arial" panose="020B0604020202020204" pitchFamily="34" charset="0"/>
                  </a:rPr>
                  <a:t>) – это кривая, которая определяет, как каждая точка входного пространства отображается в значение принадлежности (или степень принадлежности) между 0 и 1.</a:t>
                </a:r>
              </a:p>
            </p:txBody>
          </p:sp>
        </mc:Choice>
        <mc:Fallback xmlns="">
          <p:sp>
            <p:nvSpPr>
              <p:cNvPr id="4" name="TextBox 3">
                <a:extLst>
                  <a:ext uri="{FF2B5EF4-FFF2-40B4-BE49-F238E27FC236}">
                    <a16:creationId xmlns:a16="http://schemas.microsoft.com/office/drawing/2014/main" id="{38610512-7CA6-6A5D-1CFB-00314601016D}"/>
                  </a:ext>
                </a:extLst>
              </p:cNvPr>
              <p:cNvSpPr txBox="1">
                <a:spLocks noRot="1" noChangeAspect="1" noMove="1" noResize="1" noEditPoints="1" noAdjustHandles="1" noChangeArrowheads="1" noChangeShapeType="1" noTextEdit="1"/>
              </p:cNvSpPr>
              <p:nvPr/>
            </p:nvSpPr>
            <p:spPr>
              <a:xfrm>
                <a:off x="838200" y="2019600"/>
                <a:ext cx="10515600" cy="923330"/>
              </a:xfrm>
              <a:prstGeom prst="rect">
                <a:avLst/>
              </a:prstGeom>
              <a:blipFill>
                <a:blip r:embed="rId2"/>
                <a:stretch>
                  <a:fillRect l="-522" t="-3289" b="-9211"/>
                </a:stretch>
              </a:blipFill>
            </p:spPr>
            <p:txBody>
              <a:bodyPr/>
              <a:lstStyle/>
              <a:p>
                <a:r>
                  <a:rPr lang="ru-RU">
                    <a:noFill/>
                  </a:rPr>
                  <a:t> </a:t>
                </a:r>
              </a:p>
            </p:txBody>
          </p:sp>
        </mc:Fallback>
      </mc:AlternateContent>
      <p:pic>
        <p:nvPicPr>
          <p:cNvPr id="7" name="Рисунок 6">
            <a:extLst>
              <a:ext uri="{FF2B5EF4-FFF2-40B4-BE49-F238E27FC236}">
                <a16:creationId xmlns:a16="http://schemas.microsoft.com/office/drawing/2014/main" id="{2599A7D2-997C-CD6D-3754-2DA1DF20D72B}"/>
              </a:ext>
            </a:extLst>
          </p:cNvPr>
          <p:cNvPicPr>
            <a:picLocks noChangeAspect="1"/>
          </p:cNvPicPr>
          <p:nvPr/>
        </p:nvPicPr>
        <p:blipFill>
          <a:blip r:embed="rId3"/>
          <a:stretch>
            <a:fillRect/>
          </a:stretch>
        </p:blipFill>
        <p:spPr>
          <a:xfrm>
            <a:off x="947382" y="3643744"/>
            <a:ext cx="4610100" cy="1724025"/>
          </a:xfrm>
          <a:prstGeom prst="rect">
            <a:avLst/>
          </a:prstGeom>
        </p:spPr>
      </p:pic>
      <p:pic>
        <p:nvPicPr>
          <p:cNvPr id="10" name="Рисунок 9">
            <a:extLst>
              <a:ext uri="{FF2B5EF4-FFF2-40B4-BE49-F238E27FC236}">
                <a16:creationId xmlns:a16="http://schemas.microsoft.com/office/drawing/2014/main" id="{77CE3660-3AF8-9B5F-9731-AA359E8542C6}"/>
              </a:ext>
            </a:extLst>
          </p:cNvPr>
          <p:cNvPicPr>
            <a:picLocks noChangeAspect="1"/>
          </p:cNvPicPr>
          <p:nvPr/>
        </p:nvPicPr>
        <p:blipFill>
          <a:blip r:embed="rId4"/>
          <a:stretch>
            <a:fillRect/>
          </a:stretch>
        </p:blipFill>
        <p:spPr>
          <a:xfrm>
            <a:off x="6347916" y="3020863"/>
            <a:ext cx="3801468" cy="3596379"/>
          </a:xfrm>
          <a:prstGeom prst="rect">
            <a:avLst/>
          </a:prstGeom>
        </p:spPr>
      </p:pic>
    </p:spTree>
    <p:extLst>
      <p:ext uri="{BB962C8B-B14F-4D97-AF65-F5344CB8AC3E}">
        <p14:creationId xmlns:p14="http://schemas.microsoft.com/office/powerpoint/2010/main" val="3251964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64F91-11C7-7FEA-27A1-6964C0312BA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0038BDC-E4F9-A010-F4E5-216B6972502A}"/>
              </a:ext>
            </a:extLst>
          </p:cNvPr>
          <p:cNvSpPr txBox="1"/>
          <p:nvPr/>
        </p:nvSpPr>
        <p:spPr>
          <a:xfrm>
            <a:off x="838200" y="1278644"/>
            <a:ext cx="6096000"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Нечеткое множество</a:t>
            </a:r>
          </a:p>
        </p:txBody>
      </p:sp>
      <p:sp>
        <p:nvSpPr>
          <p:cNvPr id="3" name="Номер слайда 2">
            <a:extLst>
              <a:ext uri="{FF2B5EF4-FFF2-40B4-BE49-F238E27FC236}">
                <a16:creationId xmlns:a16="http://schemas.microsoft.com/office/drawing/2014/main" id="{81B0A46F-3F9D-FED5-C11D-F784F6549AAA}"/>
              </a:ext>
            </a:extLst>
          </p:cNvPr>
          <p:cNvSpPr>
            <a:spLocks noGrp="1"/>
          </p:cNvSpPr>
          <p:nvPr>
            <p:ph type="sldNum" sz="quarter" idx="12"/>
          </p:nvPr>
        </p:nvSpPr>
        <p:spPr/>
        <p:txBody>
          <a:bodyPr/>
          <a:lstStyle/>
          <a:p>
            <a:fld id="{818D4B0C-12DF-447C-B791-E379AA958CE7}" type="slidenum">
              <a:rPr lang="ru-RU" smtClean="0"/>
              <a:t>6</a:t>
            </a:fld>
            <a:endParaRPr lang="ru-RU"/>
          </a:p>
        </p:txBody>
      </p:sp>
      <p:sp>
        <p:nvSpPr>
          <p:cNvPr id="9" name="Заголовок 1">
            <a:extLst>
              <a:ext uri="{FF2B5EF4-FFF2-40B4-BE49-F238E27FC236}">
                <a16:creationId xmlns:a16="http://schemas.microsoft.com/office/drawing/2014/main" id="{FD37789E-613F-1C27-C553-DD769AA06412}"/>
              </a:ext>
            </a:extLst>
          </p:cNvPr>
          <p:cNvSpPr>
            <a:spLocks noGrp="1"/>
          </p:cNvSpPr>
          <p:nvPr>
            <p:ph type="title"/>
          </p:nvPr>
        </p:nvSpPr>
        <p:spPr>
          <a:xfrm>
            <a:off x="838200" y="365125"/>
            <a:ext cx="10515600" cy="1325563"/>
          </a:xfrm>
        </p:spPr>
        <p:txBody>
          <a:bodyPr>
            <a:normAutofit/>
          </a:bodyPr>
          <a:lstStyle/>
          <a:p>
            <a:r>
              <a:rPr lang="ru-RU" sz="4000" dirty="0"/>
              <a:t>Основы нечеткой логики</a:t>
            </a:r>
            <a:endParaRPr lang="ru-RU" sz="40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B336AAE0-9BB2-2A6B-CA9C-6F57DBEB140B}"/>
              </a:ext>
            </a:extLst>
          </p:cNvPr>
          <p:cNvSpPr txBox="1"/>
          <p:nvPr/>
        </p:nvSpPr>
        <p:spPr>
          <a:xfrm>
            <a:off x="838200" y="2327035"/>
            <a:ext cx="3174242" cy="369332"/>
          </a:xfrm>
          <a:prstGeom prst="rect">
            <a:avLst/>
          </a:prstGeom>
          <a:noFill/>
        </p:spPr>
        <p:txBody>
          <a:bodyPr wrap="square">
            <a:spAutoFit/>
          </a:bodyPr>
          <a:lstStyle/>
          <a:p>
            <a:pPr algn="ctr"/>
            <a:r>
              <a:rPr lang="ru-RU" dirty="0">
                <a:latin typeface="Arial" panose="020B0604020202020204" pitchFamily="34" charset="0"/>
                <a:cs typeface="Arial" panose="020B0604020202020204" pitchFamily="34" charset="0"/>
              </a:rPr>
              <a:t>Классическое множество</a:t>
            </a:r>
          </a:p>
        </p:txBody>
      </p:sp>
      <p:sp>
        <p:nvSpPr>
          <p:cNvPr id="5" name="TextBox 4">
            <a:extLst>
              <a:ext uri="{FF2B5EF4-FFF2-40B4-BE49-F238E27FC236}">
                <a16:creationId xmlns:a16="http://schemas.microsoft.com/office/drawing/2014/main" id="{C6CD1C97-59A4-47C6-D617-2F7B68CD0C72}"/>
              </a:ext>
            </a:extLst>
          </p:cNvPr>
          <p:cNvSpPr txBox="1"/>
          <p:nvPr/>
        </p:nvSpPr>
        <p:spPr>
          <a:xfrm>
            <a:off x="6975142" y="2327035"/>
            <a:ext cx="3174242" cy="369332"/>
          </a:xfrm>
          <a:prstGeom prst="rect">
            <a:avLst/>
          </a:prstGeom>
          <a:noFill/>
        </p:spPr>
        <p:txBody>
          <a:bodyPr wrap="square">
            <a:spAutoFit/>
          </a:bodyPr>
          <a:lstStyle/>
          <a:p>
            <a:pPr algn="ctr"/>
            <a:r>
              <a:rPr lang="ru-RU" dirty="0">
                <a:latin typeface="Arial" panose="020B0604020202020204" pitchFamily="34" charset="0"/>
                <a:cs typeface="Arial" panose="020B0604020202020204" pitchFamily="34" charset="0"/>
              </a:rPr>
              <a:t>Нечеткое множество</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70EFED7-7826-E4A7-06BE-B63AECB8B0B3}"/>
                  </a:ext>
                </a:extLst>
              </p:cNvPr>
              <p:cNvSpPr txBox="1"/>
              <p:nvPr/>
            </p:nvSpPr>
            <p:spPr>
              <a:xfrm>
                <a:off x="1702655" y="2863565"/>
                <a:ext cx="1445332" cy="276999"/>
              </a:xfrm>
              <a:prstGeom prst="rect">
                <a:avLst/>
              </a:prstGeom>
              <a:noFill/>
            </p:spPr>
            <p:txBody>
              <a:bodyPr wrap="none" lIns="0" tIns="0" rIns="0" bIns="0" rtlCol="0">
                <a:spAutoFit/>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&gt;6</m:t>
                          </m:r>
                        </m:e>
                      </m:d>
                    </m:oMath>
                  </m:oMathPara>
                </a14:m>
                <a:endParaRPr lang="ru-RU" dirty="0"/>
              </a:p>
            </p:txBody>
          </p:sp>
        </mc:Choice>
        <mc:Fallback xmlns="">
          <p:sp>
            <p:nvSpPr>
              <p:cNvPr id="6" name="TextBox 5">
                <a:extLst>
                  <a:ext uri="{FF2B5EF4-FFF2-40B4-BE49-F238E27FC236}">
                    <a16:creationId xmlns:a16="http://schemas.microsoft.com/office/drawing/2014/main" id="{370EFED7-7826-E4A7-06BE-B63AECB8B0B3}"/>
                  </a:ext>
                </a:extLst>
              </p:cNvPr>
              <p:cNvSpPr txBox="1">
                <a:spLocks noRot="1" noChangeAspect="1" noMove="1" noResize="1" noEditPoints="1" noAdjustHandles="1" noChangeArrowheads="1" noChangeShapeType="1" noTextEdit="1"/>
              </p:cNvSpPr>
              <p:nvPr/>
            </p:nvSpPr>
            <p:spPr>
              <a:xfrm>
                <a:off x="1702655" y="2863565"/>
                <a:ext cx="1445332" cy="276999"/>
              </a:xfrm>
              <a:prstGeom prst="rect">
                <a:avLst/>
              </a:prstGeom>
              <a:blipFill>
                <a:blip r:embed="rId2"/>
                <a:stretch>
                  <a:fillRect l="-5063" t="-4444" b="-35556"/>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DC6A29C-EBBE-19D0-5065-D592E90E95C8}"/>
                  </a:ext>
                </a:extLst>
              </p:cNvPr>
              <p:cNvSpPr txBox="1"/>
              <p:nvPr/>
            </p:nvSpPr>
            <p:spPr>
              <a:xfrm>
                <a:off x="7511463" y="2863565"/>
                <a:ext cx="210160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𝐴</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𝑋</m:t>
                          </m:r>
                        </m:e>
                      </m:d>
                    </m:oMath>
                  </m:oMathPara>
                </a14:m>
                <a:endParaRPr lang="ru-RU" dirty="0"/>
              </a:p>
            </p:txBody>
          </p:sp>
        </mc:Choice>
        <mc:Fallback xmlns="">
          <p:sp>
            <p:nvSpPr>
              <p:cNvPr id="8" name="TextBox 7">
                <a:extLst>
                  <a:ext uri="{FF2B5EF4-FFF2-40B4-BE49-F238E27FC236}">
                    <a16:creationId xmlns:a16="http://schemas.microsoft.com/office/drawing/2014/main" id="{1DC6A29C-EBBE-19D0-5065-D592E90E95C8}"/>
                  </a:ext>
                </a:extLst>
              </p:cNvPr>
              <p:cNvSpPr txBox="1">
                <a:spLocks noRot="1" noChangeAspect="1" noMove="1" noResize="1" noEditPoints="1" noAdjustHandles="1" noChangeArrowheads="1" noChangeShapeType="1" noTextEdit="1"/>
              </p:cNvSpPr>
              <p:nvPr/>
            </p:nvSpPr>
            <p:spPr>
              <a:xfrm>
                <a:off x="7511463" y="2863565"/>
                <a:ext cx="2101601" cy="276999"/>
              </a:xfrm>
              <a:prstGeom prst="rect">
                <a:avLst/>
              </a:prstGeom>
              <a:blipFill>
                <a:blip r:embed="rId3"/>
                <a:stretch>
                  <a:fillRect l="-2029" t="-4444" b="-35556"/>
                </a:stretch>
              </a:blipFill>
            </p:spPr>
            <p:txBody>
              <a:bodyPr/>
              <a:lstStyle/>
              <a:p>
                <a:r>
                  <a:rPr lang="ru-RU">
                    <a:noFill/>
                  </a:rPr>
                  <a:t> </a:t>
                </a:r>
              </a:p>
            </p:txBody>
          </p:sp>
        </mc:Fallback>
      </mc:AlternateContent>
    </p:spTree>
    <p:extLst>
      <p:ext uri="{BB962C8B-B14F-4D97-AF65-F5344CB8AC3E}">
        <p14:creationId xmlns:p14="http://schemas.microsoft.com/office/powerpoint/2010/main" val="3766673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3008E-BE04-C8B8-C1D1-EE209DCFC18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3539A6-F926-F6D6-343F-A6ABACB0E1C1}"/>
              </a:ext>
            </a:extLst>
          </p:cNvPr>
          <p:cNvSpPr txBox="1"/>
          <p:nvPr/>
        </p:nvSpPr>
        <p:spPr>
          <a:xfrm>
            <a:off x="838200" y="1278644"/>
            <a:ext cx="6096000"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Виды функций принадлежности</a:t>
            </a:r>
          </a:p>
        </p:txBody>
      </p:sp>
      <p:sp>
        <p:nvSpPr>
          <p:cNvPr id="3" name="Номер слайда 2">
            <a:extLst>
              <a:ext uri="{FF2B5EF4-FFF2-40B4-BE49-F238E27FC236}">
                <a16:creationId xmlns:a16="http://schemas.microsoft.com/office/drawing/2014/main" id="{76CEF963-9D01-EF0D-24D7-1A82F1D6BB3C}"/>
              </a:ext>
            </a:extLst>
          </p:cNvPr>
          <p:cNvSpPr>
            <a:spLocks noGrp="1"/>
          </p:cNvSpPr>
          <p:nvPr>
            <p:ph type="sldNum" sz="quarter" idx="12"/>
          </p:nvPr>
        </p:nvSpPr>
        <p:spPr/>
        <p:txBody>
          <a:bodyPr/>
          <a:lstStyle/>
          <a:p>
            <a:fld id="{818D4B0C-12DF-447C-B791-E379AA958CE7}" type="slidenum">
              <a:rPr lang="ru-RU" smtClean="0"/>
              <a:t>7</a:t>
            </a:fld>
            <a:endParaRPr lang="ru-RU"/>
          </a:p>
        </p:txBody>
      </p:sp>
      <p:sp>
        <p:nvSpPr>
          <p:cNvPr id="9" name="Заголовок 1">
            <a:extLst>
              <a:ext uri="{FF2B5EF4-FFF2-40B4-BE49-F238E27FC236}">
                <a16:creationId xmlns:a16="http://schemas.microsoft.com/office/drawing/2014/main" id="{C72B3F88-1773-D80D-6DB5-74CDDA60E181}"/>
              </a:ext>
            </a:extLst>
          </p:cNvPr>
          <p:cNvSpPr>
            <a:spLocks noGrp="1"/>
          </p:cNvSpPr>
          <p:nvPr>
            <p:ph type="title"/>
          </p:nvPr>
        </p:nvSpPr>
        <p:spPr>
          <a:xfrm>
            <a:off x="838200" y="365125"/>
            <a:ext cx="10515600" cy="1325563"/>
          </a:xfrm>
        </p:spPr>
        <p:txBody>
          <a:bodyPr>
            <a:normAutofit/>
          </a:bodyPr>
          <a:lstStyle/>
          <a:p>
            <a:r>
              <a:rPr lang="ru-RU" sz="4000" dirty="0"/>
              <a:t>Основы нечеткой логики</a:t>
            </a:r>
            <a:endParaRPr lang="ru-RU" sz="4000" dirty="0">
              <a:latin typeface="Arial" panose="020B0604020202020204" pitchFamily="34" charset="0"/>
              <a:cs typeface="Arial" panose="020B0604020202020204" pitchFamily="34" charset="0"/>
            </a:endParaRPr>
          </a:p>
        </p:txBody>
      </p:sp>
      <p:pic>
        <p:nvPicPr>
          <p:cNvPr id="10" name="Рисунок 9">
            <a:extLst>
              <a:ext uri="{FF2B5EF4-FFF2-40B4-BE49-F238E27FC236}">
                <a16:creationId xmlns:a16="http://schemas.microsoft.com/office/drawing/2014/main" id="{D94C4C99-5A12-D8A0-49F8-B9A129C9177E}"/>
              </a:ext>
            </a:extLst>
          </p:cNvPr>
          <p:cNvPicPr>
            <a:picLocks noChangeAspect="1"/>
          </p:cNvPicPr>
          <p:nvPr/>
        </p:nvPicPr>
        <p:blipFill>
          <a:blip r:embed="rId2"/>
          <a:stretch>
            <a:fillRect/>
          </a:stretch>
        </p:blipFill>
        <p:spPr>
          <a:xfrm>
            <a:off x="3495675" y="1833174"/>
            <a:ext cx="5200650" cy="1040130"/>
          </a:xfrm>
          <a:prstGeom prst="rect">
            <a:avLst/>
          </a:prstGeom>
        </p:spPr>
      </p:pic>
      <p:pic>
        <p:nvPicPr>
          <p:cNvPr id="13" name="Рисунок 12">
            <a:extLst>
              <a:ext uri="{FF2B5EF4-FFF2-40B4-BE49-F238E27FC236}">
                <a16:creationId xmlns:a16="http://schemas.microsoft.com/office/drawing/2014/main" id="{D4C952CC-2121-3827-43B7-0F17E278DF1F}"/>
              </a:ext>
            </a:extLst>
          </p:cNvPr>
          <p:cNvPicPr>
            <a:picLocks noChangeAspect="1"/>
          </p:cNvPicPr>
          <p:nvPr/>
        </p:nvPicPr>
        <p:blipFill>
          <a:blip r:embed="rId3"/>
          <a:stretch>
            <a:fillRect/>
          </a:stretch>
        </p:blipFill>
        <p:spPr>
          <a:xfrm>
            <a:off x="4132422" y="2969578"/>
            <a:ext cx="3927157" cy="1040130"/>
          </a:xfrm>
          <a:prstGeom prst="rect">
            <a:avLst/>
          </a:prstGeom>
        </p:spPr>
      </p:pic>
      <p:pic>
        <p:nvPicPr>
          <p:cNvPr id="15" name="Рисунок 14">
            <a:extLst>
              <a:ext uri="{FF2B5EF4-FFF2-40B4-BE49-F238E27FC236}">
                <a16:creationId xmlns:a16="http://schemas.microsoft.com/office/drawing/2014/main" id="{E6447A33-DD11-C1F1-3C14-E04FCB3AC7C1}"/>
              </a:ext>
            </a:extLst>
          </p:cNvPr>
          <p:cNvPicPr>
            <a:picLocks noChangeAspect="1"/>
          </p:cNvPicPr>
          <p:nvPr/>
        </p:nvPicPr>
        <p:blipFill>
          <a:blip r:embed="rId4"/>
          <a:stretch>
            <a:fillRect/>
          </a:stretch>
        </p:blipFill>
        <p:spPr>
          <a:xfrm>
            <a:off x="3495675" y="4046784"/>
            <a:ext cx="5200650" cy="1040130"/>
          </a:xfrm>
          <a:prstGeom prst="rect">
            <a:avLst/>
          </a:prstGeom>
        </p:spPr>
      </p:pic>
      <p:pic>
        <p:nvPicPr>
          <p:cNvPr id="17" name="Рисунок 16">
            <a:extLst>
              <a:ext uri="{FF2B5EF4-FFF2-40B4-BE49-F238E27FC236}">
                <a16:creationId xmlns:a16="http://schemas.microsoft.com/office/drawing/2014/main" id="{288036FD-635A-862D-4A0A-536993473100}"/>
              </a:ext>
            </a:extLst>
          </p:cNvPr>
          <p:cNvPicPr>
            <a:picLocks noChangeAspect="1"/>
          </p:cNvPicPr>
          <p:nvPr/>
        </p:nvPicPr>
        <p:blipFill>
          <a:blip r:embed="rId5"/>
          <a:stretch>
            <a:fillRect/>
          </a:stretch>
        </p:blipFill>
        <p:spPr>
          <a:xfrm>
            <a:off x="4129088" y="5323044"/>
            <a:ext cx="3933825" cy="1040130"/>
          </a:xfrm>
          <a:prstGeom prst="rect">
            <a:avLst/>
          </a:prstGeom>
        </p:spPr>
      </p:pic>
    </p:spTree>
    <p:extLst>
      <p:ext uri="{BB962C8B-B14F-4D97-AF65-F5344CB8AC3E}">
        <p14:creationId xmlns:p14="http://schemas.microsoft.com/office/powerpoint/2010/main" val="2677866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CE26E-1E04-4F02-94CB-B1852D7137AE}"/>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F1A4042B-C50D-4D72-7EA5-27722F33519A}"/>
              </a:ext>
            </a:extLst>
          </p:cNvPr>
          <p:cNvSpPr>
            <a:spLocks noGrp="1"/>
          </p:cNvSpPr>
          <p:nvPr>
            <p:ph type="title"/>
          </p:nvPr>
        </p:nvSpPr>
        <p:spPr>
          <a:xfrm>
            <a:off x="838200" y="365125"/>
            <a:ext cx="10515600" cy="1325563"/>
          </a:xfrm>
        </p:spPr>
        <p:txBody>
          <a:bodyPr>
            <a:normAutofit/>
          </a:bodyPr>
          <a:lstStyle/>
          <a:p>
            <a:r>
              <a:rPr lang="ru-RU" sz="4000" dirty="0"/>
              <a:t>Основы нечеткой логики</a:t>
            </a:r>
          </a:p>
        </p:txBody>
      </p:sp>
      <p:sp>
        <p:nvSpPr>
          <p:cNvPr id="2" name="TextBox 1">
            <a:extLst>
              <a:ext uri="{FF2B5EF4-FFF2-40B4-BE49-F238E27FC236}">
                <a16:creationId xmlns:a16="http://schemas.microsoft.com/office/drawing/2014/main" id="{FDB06476-9F46-9208-D4DE-402BEE1B0130}"/>
              </a:ext>
            </a:extLst>
          </p:cNvPr>
          <p:cNvSpPr txBox="1"/>
          <p:nvPr/>
        </p:nvSpPr>
        <p:spPr>
          <a:xfrm>
            <a:off x="838200" y="1278644"/>
            <a:ext cx="6096000"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Логические операции</a:t>
            </a:r>
          </a:p>
        </p:txBody>
      </p:sp>
      <p:sp>
        <p:nvSpPr>
          <p:cNvPr id="3" name="Номер слайда 2">
            <a:extLst>
              <a:ext uri="{FF2B5EF4-FFF2-40B4-BE49-F238E27FC236}">
                <a16:creationId xmlns:a16="http://schemas.microsoft.com/office/drawing/2014/main" id="{57A53FB2-31DD-405C-D88C-B6433315B5D5}"/>
              </a:ext>
            </a:extLst>
          </p:cNvPr>
          <p:cNvSpPr>
            <a:spLocks noGrp="1"/>
          </p:cNvSpPr>
          <p:nvPr>
            <p:ph type="sldNum" sz="quarter" idx="12"/>
          </p:nvPr>
        </p:nvSpPr>
        <p:spPr/>
        <p:txBody>
          <a:bodyPr/>
          <a:lstStyle/>
          <a:p>
            <a:fld id="{818D4B0C-12DF-447C-B791-E379AA958CE7}" type="slidenum">
              <a:rPr lang="ru-RU" smtClean="0"/>
              <a:t>8</a:t>
            </a:fld>
            <a:endParaRPr lang="ru-RU"/>
          </a:p>
        </p:txBody>
      </p:sp>
      <p:pic>
        <p:nvPicPr>
          <p:cNvPr id="5" name="Рисунок 4">
            <a:extLst>
              <a:ext uri="{FF2B5EF4-FFF2-40B4-BE49-F238E27FC236}">
                <a16:creationId xmlns:a16="http://schemas.microsoft.com/office/drawing/2014/main" id="{93E95A8F-A1E7-A889-4795-0932EC9A2353}"/>
              </a:ext>
            </a:extLst>
          </p:cNvPr>
          <p:cNvPicPr>
            <a:picLocks noChangeAspect="1"/>
          </p:cNvPicPr>
          <p:nvPr/>
        </p:nvPicPr>
        <p:blipFill>
          <a:blip r:embed="rId2"/>
          <a:stretch>
            <a:fillRect/>
          </a:stretch>
        </p:blipFill>
        <p:spPr>
          <a:xfrm>
            <a:off x="2867025" y="1993899"/>
            <a:ext cx="6457950" cy="2181225"/>
          </a:xfrm>
          <a:prstGeom prst="rect">
            <a:avLst/>
          </a:prstGeom>
        </p:spPr>
      </p:pic>
      <p:pic>
        <p:nvPicPr>
          <p:cNvPr id="8" name="Рисунок 7">
            <a:extLst>
              <a:ext uri="{FF2B5EF4-FFF2-40B4-BE49-F238E27FC236}">
                <a16:creationId xmlns:a16="http://schemas.microsoft.com/office/drawing/2014/main" id="{F9FF5C0F-6118-9209-9A43-97BBF6C0FA2A}"/>
              </a:ext>
            </a:extLst>
          </p:cNvPr>
          <p:cNvPicPr>
            <a:picLocks noChangeAspect="1"/>
          </p:cNvPicPr>
          <p:nvPr/>
        </p:nvPicPr>
        <p:blipFill>
          <a:blip r:embed="rId3"/>
          <a:stretch>
            <a:fillRect/>
          </a:stretch>
        </p:blipFill>
        <p:spPr>
          <a:xfrm>
            <a:off x="2867025" y="4548759"/>
            <a:ext cx="6457950" cy="2181225"/>
          </a:xfrm>
          <a:prstGeom prst="rect">
            <a:avLst/>
          </a:prstGeom>
        </p:spPr>
      </p:pic>
      <p:sp>
        <p:nvSpPr>
          <p:cNvPr id="10" name="TextBox 9">
            <a:extLst>
              <a:ext uri="{FF2B5EF4-FFF2-40B4-BE49-F238E27FC236}">
                <a16:creationId xmlns:a16="http://schemas.microsoft.com/office/drawing/2014/main" id="{2639C7DA-DBF8-97FC-B751-D95329F3E9EB}"/>
              </a:ext>
            </a:extLst>
          </p:cNvPr>
          <p:cNvSpPr txBox="1"/>
          <p:nvPr/>
        </p:nvSpPr>
        <p:spPr>
          <a:xfrm>
            <a:off x="3049138" y="1653199"/>
            <a:ext cx="6093724" cy="369332"/>
          </a:xfrm>
          <a:prstGeom prst="rect">
            <a:avLst/>
          </a:prstGeom>
          <a:noFill/>
        </p:spPr>
        <p:txBody>
          <a:bodyPr wrap="square">
            <a:spAutoFit/>
          </a:bodyPr>
          <a:lstStyle/>
          <a:p>
            <a:pPr algn="ctr"/>
            <a:r>
              <a:rPr lang="ru-RU" b="0" i="0" dirty="0">
                <a:solidFill>
                  <a:srgbClr val="212121"/>
                </a:solidFill>
                <a:effectLst/>
                <a:latin typeface="Arial" panose="020B0604020202020204" pitchFamily="34" charset="0"/>
                <a:cs typeface="Arial" panose="020B0604020202020204" pitchFamily="34" charset="0"/>
              </a:rPr>
              <a:t>Булева логика</a:t>
            </a:r>
            <a:endParaRPr lang="ru-RU"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9FE962D0-2F52-F3C5-66B2-210DEF25355F}"/>
              </a:ext>
            </a:extLst>
          </p:cNvPr>
          <p:cNvSpPr txBox="1"/>
          <p:nvPr/>
        </p:nvSpPr>
        <p:spPr>
          <a:xfrm>
            <a:off x="3049138" y="4199298"/>
            <a:ext cx="6093724" cy="369332"/>
          </a:xfrm>
          <a:prstGeom prst="rect">
            <a:avLst/>
          </a:prstGeom>
          <a:noFill/>
        </p:spPr>
        <p:txBody>
          <a:bodyPr wrap="square">
            <a:spAutoFit/>
          </a:bodyPr>
          <a:lstStyle/>
          <a:p>
            <a:pPr algn="ctr"/>
            <a:r>
              <a:rPr lang="ru-RU" dirty="0">
                <a:solidFill>
                  <a:srgbClr val="212121"/>
                </a:solidFill>
                <a:latin typeface="Arial" panose="020B0604020202020204" pitchFamily="34" charset="0"/>
                <a:cs typeface="Arial" panose="020B0604020202020204" pitchFamily="34" charset="0"/>
              </a:rPr>
              <a:t>Нечеткая</a:t>
            </a:r>
            <a:r>
              <a:rPr lang="ru-RU" b="0" i="0" dirty="0">
                <a:solidFill>
                  <a:srgbClr val="212121"/>
                </a:solidFill>
                <a:effectLst/>
                <a:latin typeface="Arial" panose="020B0604020202020204" pitchFamily="34" charset="0"/>
                <a:cs typeface="Arial" panose="020B0604020202020204" pitchFamily="34" charset="0"/>
              </a:rPr>
              <a:t> логика</a:t>
            </a:r>
            <a:endParaRPr lang="ru-R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2710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B47DD-8ABA-0CA2-31CE-B07035065232}"/>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A90FAE5D-50F2-C5C0-FFA2-45856F317157}"/>
              </a:ext>
            </a:extLst>
          </p:cNvPr>
          <p:cNvSpPr>
            <a:spLocks noGrp="1"/>
          </p:cNvSpPr>
          <p:nvPr>
            <p:ph type="title"/>
          </p:nvPr>
        </p:nvSpPr>
        <p:spPr>
          <a:xfrm>
            <a:off x="838200" y="365125"/>
            <a:ext cx="10515600" cy="1325563"/>
          </a:xfrm>
        </p:spPr>
        <p:txBody>
          <a:bodyPr>
            <a:normAutofit/>
          </a:bodyPr>
          <a:lstStyle/>
          <a:p>
            <a:r>
              <a:rPr lang="ru-RU" sz="4000" dirty="0"/>
              <a:t>Основы нечеткой логики</a:t>
            </a:r>
          </a:p>
        </p:txBody>
      </p:sp>
      <p:sp>
        <p:nvSpPr>
          <p:cNvPr id="2" name="TextBox 1">
            <a:extLst>
              <a:ext uri="{FF2B5EF4-FFF2-40B4-BE49-F238E27FC236}">
                <a16:creationId xmlns:a16="http://schemas.microsoft.com/office/drawing/2014/main" id="{51259176-CD01-74C1-D3D8-4EB8AB186C3A}"/>
              </a:ext>
            </a:extLst>
          </p:cNvPr>
          <p:cNvSpPr txBox="1"/>
          <p:nvPr/>
        </p:nvSpPr>
        <p:spPr>
          <a:xfrm>
            <a:off x="838200" y="1278644"/>
            <a:ext cx="6096000"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Логические операции</a:t>
            </a:r>
          </a:p>
        </p:txBody>
      </p:sp>
      <p:sp>
        <p:nvSpPr>
          <p:cNvPr id="3" name="Номер слайда 2">
            <a:extLst>
              <a:ext uri="{FF2B5EF4-FFF2-40B4-BE49-F238E27FC236}">
                <a16:creationId xmlns:a16="http://schemas.microsoft.com/office/drawing/2014/main" id="{94C40B10-3B3C-EC8F-87EA-F9C7004368FD}"/>
              </a:ext>
            </a:extLst>
          </p:cNvPr>
          <p:cNvSpPr>
            <a:spLocks noGrp="1"/>
          </p:cNvSpPr>
          <p:nvPr>
            <p:ph type="sldNum" sz="quarter" idx="12"/>
          </p:nvPr>
        </p:nvSpPr>
        <p:spPr/>
        <p:txBody>
          <a:bodyPr/>
          <a:lstStyle/>
          <a:p>
            <a:fld id="{818D4B0C-12DF-447C-B791-E379AA958CE7}" type="slidenum">
              <a:rPr lang="ru-RU" smtClean="0"/>
              <a:t>9</a:t>
            </a:fld>
            <a:endParaRPr lang="ru-RU"/>
          </a:p>
        </p:txBody>
      </p:sp>
      <p:pic>
        <p:nvPicPr>
          <p:cNvPr id="6" name="Рисунок 5">
            <a:extLst>
              <a:ext uri="{FF2B5EF4-FFF2-40B4-BE49-F238E27FC236}">
                <a16:creationId xmlns:a16="http://schemas.microsoft.com/office/drawing/2014/main" id="{DC601B38-E40E-76F8-F4E2-09E56C791F9E}"/>
              </a:ext>
            </a:extLst>
          </p:cNvPr>
          <p:cNvPicPr>
            <a:picLocks noChangeAspect="1"/>
          </p:cNvPicPr>
          <p:nvPr/>
        </p:nvPicPr>
        <p:blipFill>
          <a:blip r:embed="rId2"/>
          <a:stretch>
            <a:fillRect/>
          </a:stretch>
        </p:blipFill>
        <p:spPr>
          <a:xfrm>
            <a:off x="3119438" y="2013187"/>
            <a:ext cx="5953125" cy="3295650"/>
          </a:xfrm>
          <a:prstGeom prst="rect">
            <a:avLst/>
          </a:prstGeom>
        </p:spPr>
      </p:pic>
    </p:spTree>
    <p:extLst>
      <p:ext uri="{BB962C8B-B14F-4D97-AF65-F5344CB8AC3E}">
        <p14:creationId xmlns:p14="http://schemas.microsoft.com/office/powerpoint/2010/main" val="2273173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D9DC3-B7B8-E77A-1760-F6295B536D81}"/>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23893B14-B515-E68E-7962-9435A6C853FE}"/>
              </a:ext>
            </a:extLst>
          </p:cNvPr>
          <p:cNvSpPr>
            <a:spLocks noGrp="1"/>
          </p:cNvSpPr>
          <p:nvPr>
            <p:ph type="title"/>
          </p:nvPr>
        </p:nvSpPr>
        <p:spPr>
          <a:xfrm>
            <a:off x="838200" y="365125"/>
            <a:ext cx="10515600" cy="1325563"/>
          </a:xfrm>
        </p:spPr>
        <p:txBody>
          <a:bodyPr>
            <a:normAutofit/>
          </a:bodyPr>
          <a:lstStyle/>
          <a:p>
            <a:r>
              <a:rPr lang="ru-RU" sz="4000" dirty="0"/>
              <a:t>Основы нечеткой логики</a:t>
            </a:r>
          </a:p>
        </p:txBody>
      </p:sp>
      <p:sp>
        <p:nvSpPr>
          <p:cNvPr id="3" name="Номер слайда 2">
            <a:extLst>
              <a:ext uri="{FF2B5EF4-FFF2-40B4-BE49-F238E27FC236}">
                <a16:creationId xmlns:a16="http://schemas.microsoft.com/office/drawing/2014/main" id="{F0DF0157-1CD6-8618-8252-0AA63D9D4A71}"/>
              </a:ext>
            </a:extLst>
          </p:cNvPr>
          <p:cNvSpPr>
            <a:spLocks noGrp="1"/>
          </p:cNvSpPr>
          <p:nvPr>
            <p:ph type="sldNum" sz="quarter" idx="12"/>
          </p:nvPr>
        </p:nvSpPr>
        <p:spPr/>
        <p:txBody>
          <a:bodyPr/>
          <a:lstStyle/>
          <a:p>
            <a:fld id="{818D4B0C-12DF-447C-B791-E379AA958CE7}" type="slidenum">
              <a:rPr lang="ru-RU" smtClean="0"/>
              <a:t>10</a:t>
            </a:fld>
            <a:endParaRPr lang="ru-RU"/>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227A4D9-AD04-2D6A-35D6-23947236F2A3}"/>
                  </a:ext>
                </a:extLst>
              </p:cNvPr>
              <p:cNvSpPr txBox="1"/>
              <p:nvPr/>
            </p:nvSpPr>
            <p:spPr>
              <a:xfrm>
                <a:off x="4004495" y="2920795"/>
                <a:ext cx="2745495" cy="3126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ru-RU" i="1" smtClean="0">
                              <a:latin typeface="Cambria Math" panose="02040503050406030204" pitchFamily="18" charset="0"/>
                            </a:rPr>
                          </m:ctrlPr>
                        </m:sSubPr>
                        <m:e>
                          <m:r>
                            <a:rPr lang="ru-RU"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sub>
                      </m:sSub>
                      <m:d>
                        <m:dPr>
                          <m:ctrlPr>
                            <a:rPr lang="ru-RU"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sSub>
                            <m:sSubPr>
                              <m:ctrlPr>
                                <a:rPr lang="ru-RU" i="1">
                                  <a:latin typeface="Cambria Math" panose="02040503050406030204" pitchFamily="18" charset="0"/>
                                </a:rPr>
                              </m:ctrlPr>
                            </m:sSubPr>
                            <m:e>
                              <m:r>
                                <a:rPr lang="ru-RU"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rPr>
                                <m:t>𝐴</m:t>
                              </m:r>
                            </m:sub>
                          </m:sSub>
                          <m:d>
                            <m:dPr>
                              <m:ctrlPr>
                                <a:rPr lang="ru-RU" i="1">
                                  <a:latin typeface="Cambria Math" panose="02040503050406030204" pitchFamily="18" charset="0"/>
                                </a:rPr>
                              </m:ctrlPr>
                            </m:dPr>
                            <m:e>
                              <m:r>
                                <a:rPr lang="en-US" i="1">
                                  <a:latin typeface="Cambria Math" panose="02040503050406030204" pitchFamily="18" charset="0"/>
                                </a:rPr>
                                <m:t>𝑥</m:t>
                              </m:r>
                            </m:e>
                          </m:d>
                          <m:r>
                            <a:rPr lang="en-US" b="0" i="1" smtClean="0">
                              <a:latin typeface="Cambria Math" panose="02040503050406030204" pitchFamily="18" charset="0"/>
                            </a:rPr>
                            <m:t>,</m:t>
                          </m:r>
                          <m:sSub>
                            <m:sSubPr>
                              <m:ctrlPr>
                                <a:rPr lang="ru-RU" i="1">
                                  <a:latin typeface="Cambria Math" panose="02040503050406030204" pitchFamily="18" charset="0"/>
                                </a:rPr>
                              </m:ctrlPr>
                            </m:sSubPr>
                            <m:e>
                              <m:r>
                                <a:rPr lang="ru-RU"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ea typeface="Cambria Math" panose="02040503050406030204" pitchFamily="18" charset="0"/>
                                </a:rPr>
                                <m:t>𝐵</m:t>
                              </m:r>
                            </m:sub>
                          </m:sSub>
                          <m:d>
                            <m:dPr>
                              <m:ctrlPr>
                                <a:rPr lang="ru-RU" i="1">
                                  <a:latin typeface="Cambria Math" panose="02040503050406030204" pitchFamily="18" charset="0"/>
                                </a:rPr>
                              </m:ctrlPr>
                            </m:dPr>
                            <m:e>
                              <m:r>
                                <a:rPr lang="en-US" i="1">
                                  <a:latin typeface="Cambria Math" panose="02040503050406030204" pitchFamily="18" charset="0"/>
                                </a:rPr>
                                <m:t>𝑥</m:t>
                              </m:r>
                            </m:e>
                          </m:d>
                        </m:e>
                      </m:d>
                    </m:oMath>
                  </m:oMathPara>
                </a14:m>
                <a:endParaRPr lang="ru-RU" dirty="0"/>
              </a:p>
            </p:txBody>
          </p:sp>
        </mc:Choice>
        <mc:Fallback xmlns="">
          <p:sp>
            <p:nvSpPr>
              <p:cNvPr id="4" name="TextBox 3">
                <a:extLst>
                  <a:ext uri="{FF2B5EF4-FFF2-40B4-BE49-F238E27FC236}">
                    <a16:creationId xmlns:a16="http://schemas.microsoft.com/office/drawing/2014/main" id="{6227A4D9-AD04-2D6A-35D6-23947236F2A3}"/>
                  </a:ext>
                </a:extLst>
              </p:cNvPr>
              <p:cNvSpPr txBox="1">
                <a:spLocks noRot="1" noChangeAspect="1" noMove="1" noResize="1" noEditPoints="1" noAdjustHandles="1" noChangeArrowheads="1" noChangeShapeType="1" noTextEdit="1"/>
              </p:cNvSpPr>
              <p:nvPr/>
            </p:nvSpPr>
            <p:spPr>
              <a:xfrm>
                <a:off x="4004495" y="2920795"/>
                <a:ext cx="2745495" cy="312650"/>
              </a:xfrm>
              <a:prstGeom prst="rect">
                <a:avLst/>
              </a:prstGeom>
              <a:blipFill>
                <a:blip r:embed="rId2"/>
                <a:stretch>
                  <a:fillRect l="-1778" b="-17647"/>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5C2612D-4BE7-406F-7904-2F719C1FAF25}"/>
                  </a:ext>
                </a:extLst>
              </p:cNvPr>
              <p:cNvSpPr txBox="1"/>
              <p:nvPr/>
            </p:nvSpPr>
            <p:spPr>
              <a:xfrm>
                <a:off x="838200" y="1987509"/>
                <a:ext cx="9517629" cy="923330"/>
              </a:xfrm>
              <a:prstGeom prst="rect">
                <a:avLst/>
              </a:prstGeom>
              <a:noFill/>
            </p:spPr>
            <p:txBody>
              <a:bodyPr wrap="square">
                <a:spAutoFit/>
              </a:bodyPr>
              <a:lstStyle/>
              <a:p>
                <a:r>
                  <a:rPr lang="ru-RU" b="0" i="0" dirty="0">
                    <a:solidFill>
                      <a:srgbClr val="212121"/>
                    </a:solidFill>
                    <a:effectLst/>
                    <a:latin typeface="Arial" panose="020B0604020202020204" pitchFamily="34" charset="0"/>
                    <a:cs typeface="Arial" panose="020B0604020202020204" pitchFamily="34" charset="0"/>
                  </a:rPr>
                  <a:t>Пересечение двух нечетких множеств</a:t>
                </a:r>
                <a:r>
                  <a:rPr lang="en-US" dirty="0">
                    <a:latin typeface="Arial" panose="020B0604020202020204" pitchFamily="34" charset="0"/>
                    <a:cs typeface="Arial" panose="020B0604020202020204" pitchFamily="34" charset="0"/>
                  </a:rPr>
                  <a:t> </a:t>
                </a:r>
                <a14:m>
                  <m:oMath xmlns:m="http://schemas.openxmlformats.org/officeDocument/2006/math">
                    <m:r>
                      <a:rPr lang="en-US" i="1">
                        <a:latin typeface="Cambria Math" panose="02040503050406030204" pitchFamily="18" charset="0"/>
                      </a:rPr>
                      <m:t>𝐴</m:t>
                    </m:r>
                  </m:oMath>
                </a14:m>
                <a:r>
                  <a:rPr lang="en-US" b="0" i="0" dirty="0">
                    <a:solidFill>
                      <a:srgbClr val="212121"/>
                    </a:solidFill>
                    <a:effectLst/>
                    <a:latin typeface="Arial" panose="020B0604020202020204" pitchFamily="34" charset="0"/>
                    <a:cs typeface="Arial" panose="020B0604020202020204" pitchFamily="34" charset="0"/>
                  </a:rPr>
                  <a:t> </a:t>
                </a:r>
                <a:r>
                  <a:rPr lang="ru-RU" b="0" i="0" dirty="0">
                    <a:solidFill>
                      <a:srgbClr val="212121"/>
                    </a:solidFill>
                    <a:effectLst/>
                    <a:latin typeface="Arial" panose="020B0604020202020204" pitchFamily="34" charset="0"/>
                    <a:cs typeface="Arial" panose="020B0604020202020204" pitchFamily="34" charset="0"/>
                  </a:rPr>
                  <a:t>и</a:t>
                </a:r>
                <a:r>
                  <a:rPr lang="en-US" dirty="0">
                    <a:latin typeface="Arial" panose="020B0604020202020204" pitchFamily="34" charset="0"/>
                    <a:ea typeface="Cambria Math" panose="02040503050406030204" pitchFamily="18" charset="0"/>
                    <a:cs typeface="Arial" panose="020B0604020202020204" pitchFamily="34" charset="0"/>
                  </a:rPr>
                  <a:t> </a:t>
                </a:r>
                <a14:m>
                  <m:oMath xmlns:m="http://schemas.openxmlformats.org/officeDocument/2006/math">
                    <m:r>
                      <a:rPr lang="en-US" i="1">
                        <a:latin typeface="Cambria Math" panose="02040503050406030204" pitchFamily="18" charset="0"/>
                        <a:ea typeface="Cambria Math" panose="02040503050406030204" pitchFamily="18" charset="0"/>
                      </a:rPr>
                      <m:t>𝐵</m:t>
                    </m:r>
                  </m:oMath>
                </a14:m>
                <a:r>
                  <a:rPr lang="en-US" b="0" i="0" dirty="0">
                    <a:solidFill>
                      <a:srgbClr val="212121"/>
                    </a:solidFill>
                    <a:effectLst/>
                    <a:latin typeface="Arial" panose="020B0604020202020204" pitchFamily="34" charset="0"/>
                    <a:cs typeface="Arial" panose="020B0604020202020204" pitchFamily="34" charset="0"/>
                  </a:rPr>
                  <a:t> </a:t>
                </a:r>
                <a:r>
                  <a:rPr lang="ru-RU" b="0" i="0" dirty="0">
                    <a:solidFill>
                      <a:srgbClr val="212121"/>
                    </a:solidFill>
                    <a:effectLst/>
                    <a:latin typeface="Arial" panose="020B0604020202020204" pitchFamily="34" charset="0"/>
                    <a:cs typeface="Arial" panose="020B0604020202020204" pitchFamily="34" charset="0"/>
                  </a:rPr>
                  <a:t>задается в общем случае бинарным отображением</a:t>
                </a:r>
                <a:r>
                  <a:rPr lang="en-US" dirty="0">
                    <a:latin typeface="Arial" panose="020B0604020202020204" pitchFamily="34" charset="0"/>
                    <a:cs typeface="Arial" panose="020B0604020202020204" pitchFamily="34" charset="0"/>
                  </a:rPr>
                  <a:t> </a:t>
                </a:r>
                <a14:m>
                  <m:oMath xmlns:m="http://schemas.openxmlformats.org/officeDocument/2006/math">
                    <m:r>
                      <a:rPr lang="en-US" b="0" i="1" smtClean="0">
                        <a:latin typeface="Cambria Math" panose="02040503050406030204" pitchFamily="18" charset="0"/>
                      </a:rPr>
                      <m:t>𝑇</m:t>
                    </m:r>
                  </m:oMath>
                </a14:m>
                <a:r>
                  <a:rPr lang="ru-RU" b="0" i="0" dirty="0">
                    <a:solidFill>
                      <a:srgbClr val="212121"/>
                    </a:solidFill>
                    <a:effectLst/>
                    <a:latin typeface="Arial" panose="020B0604020202020204" pitchFamily="34" charset="0"/>
                    <a:cs typeface="Arial" panose="020B0604020202020204" pitchFamily="34" charset="0"/>
                  </a:rPr>
                  <a:t>, которое агрегирует две функции принадлежности следующим образом:</a:t>
                </a:r>
                <a:endParaRPr lang="ru-RU" dirty="0">
                  <a:latin typeface="Arial" panose="020B0604020202020204" pitchFamily="34" charset="0"/>
                  <a:cs typeface="Arial" panose="020B0604020202020204" pitchFamily="34" charset="0"/>
                </a:endParaRPr>
              </a:p>
            </p:txBody>
          </p:sp>
        </mc:Choice>
        <mc:Fallback xmlns="">
          <p:sp>
            <p:nvSpPr>
              <p:cNvPr id="10" name="TextBox 9">
                <a:extLst>
                  <a:ext uri="{FF2B5EF4-FFF2-40B4-BE49-F238E27FC236}">
                    <a16:creationId xmlns:a16="http://schemas.microsoft.com/office/drawing/2014/main" id="{45C2612D-4BE7-406F-7904-2F719C1FAF25}"/>
                  </a:ext>
                </a:extLst>
              </p:cNvPr>
              <p:cNvSpPr txBox="1">
                <a:spLocks noRot="1" noChangeAspect="1" noMove="1" noResize="1" noEditPoints="1" noAdjustHandles="1" noChangeArrowheads="1" noChangeShapeType="1" noTextEdit="1"/>
              </p:cNvSpPr>
              <p:nvPr/>
            </p:nvSpPr>
            <p:spPr>
              <a:xfrm>
                <a:off x="838200" y="1987509"/>
                <a:ext cx="9517629" cy="923330"/>
              </a:xfrm>
              <a:prstGeom prst="rect">
                <a:avLst/>
              </a:prstGeom>
              <a:blipFill>
                <a:blip r:embed="rId3"/>
                <a:stretch>
                  <a:fillRect l="-577" t="-3311" b="-9934"/>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7B1C2A0-45E9-81A7-95AC-7DEAF720E7E2}"/>
                  </a:ext>
                </a:extLst>
              </p:cNvPr>
              <p:cNvSpPr txBox="1"/>
              <p:nvPr/>
            </p:nvSpPr>
            <p:spPr>
              <a:xfrm>
                <a:off x="838200" y="3243400"/>
                <a:ext cx="9517629" cy="646331"/>
              </a:xfrm>
              <a:prstGeom prst="rect">
                <a:avLst/>
              </a:prstGeom>
              <a:noFill/>
            </p:spPr>
            <p:txBody>
              <a:bodyPr wrap="square">
                <a:spAutoFit/>
              </a:bodyPr>
              <a:lstStyle/>
              <a:p>
                <a:r>
                  <a:rPr lang="ru-RU" b="0" i="0" dirty="0">
                    <a:solidFill>
                      <a:srgbClr val="212121"/>
                    </a:solidFill>
                    <a:effectLst/>
                    <a:latin typeface="Arial" panose="020B0604020202020204" pitchFamily="34" charset="0"/>
                    <a:cs typeface="Arial" panose="020B0604020202020204" pitchFamily="34" charset="0"/>
                  </a:rPr>
                  <a:t>Например, бинарный оператор </a:t>
                </a:r>
                <a14:m>
                  <m:oMath xmlns:m="http://schemas.openxmlformats.org/officeDocument/2006/math">
                    <m:r>
                      <a:rPr lang="en-US" i="1">
                        <a:latin typeface="Cambria Math" panose="02040503050406030204" pitchFamily="18" charset="0"/>
                      </a:rPr>
                      <m:t>𝑇</m:t>
                    </m:r>
                  </m:oMath>
                </a14:m>
                <a:r>
                  <a:rPr lang="ru-RU" b="0" i="0" dirty="0">
                    <a:solidFill>
                      <a:srgbClr val="212121"/>
                    </a:solidFill>
                    <a:effectLst/>
                    <a:latin typeface="Arial" panose="020B0604020202020204" pitchFamily="34" charset="0"/>
                    <a:cs typeface="Arial" panose="020B0604020202020204" pitchFamily="34" charset="0"/>
                  </a:rPr>
                  <a:t> может представлять умножение</a:t>
                </a:r>
                <a:r>
                  <a:rPr lang="ru-RU" dirty="0">
                    <a:latin typeface="Arial" panose="020B0604020202020204" pitchFamily="34" charset="0"/>
                    <a:cs typeface="Arial" panose="020B0604020202020204" pitchFamily="34" charset="0"/>
                  </a:rPr>
                  <a:t> </a:t>
                </a:r>
                <a14:m>
                  <m:oMath xmlns:m="http://schemas.openxmlformats.org/officeDocument/2006/math">
                    <m:sSub>
                      <m:sSubPr>
                        <m:ctrlPr>
                          <a:rPr lang="ru-RU" i="1">
                            <a:latin typeface="Cambria Math" panose="02040503050406030204" pitchFamily="18" charset="0"/>
                          </a:rPr>
                        </m:ctrlPr>
                      </m:sSubPr>
                      <m:e>
                        <m:r>
                          <a:rPr lang="ru-RU"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rPr>
                          <m:t>𝐴</m:t>
                        </m:r>
                      </m:sub>
                    </m:sSub>
                    <m:d>
                      <m:dPr>
                        <m:ctrlPr>
                          <a:rPr lang="ru-RU" i="1">
                            <a:latin typeface="Cambria Math" panose="02040503050406030204" pitchFamily="18" charset="0"/>
                          </a:rPr>
                        </m:ctrlPr>
                      </m:dPr>
                      <m:e>
                        <m:r>
                          <a:rPr lang="en-US" i="1">
                            <a:latin typeface="Cambria Math" panose="02040503050406030204" pitchFamily="18" charset="0"/>
                          </a:rPr>
                          <m:t>𝑥</m:t>
                        </m:r>
                      </m:e>
                    </m:d>
                  </m:oMath>
                </a14:m>
                <a:r>
                  <a:rPr lang="ru-RU" b="0" i="0" dirty="0">
                    <a:solidFill>
                      <a:srgbClr val="212121"/>
                    </a:solidFill>
                    <a:effectLst/>
                    <a:latin typeface="Arial" panose="020B0604020202020204" pitchFamily="34" charset="0"/>
                    <a:cs typeface="Arial" panose="020B0604020202020204" pitchFamily="34" charset="0"/>
                  </a:rPr>
                  <a:t> и</a:t>
                </a:r>
                <a:r>
                  <a:rPr lang="ru-RU" dirty="0">
                    <a:latin typeface="Arial" panose="020B0604020202020204" pitchFamily="34" charset="0"/>
                    <a:cs typeface="Arial" panose="020B0604020202020204" pitchFamily="34" charset="0"/>
                  </a:rPr>
                  <a:t> </a:t>
                </a:r>
                <a14:m>
                  <m:oMath xmlns:m="http://schemas.openxmlformats.org/officeDocument/2006/math">
                    <m:sSub>
                      <m:sSubPr>
                        <m:ctrlPr>
                          <a:rPr lang="ru-RU" i="1">
                            <a:latin typeface="Cambria Math" panose="02040503050406030204" pitchFamily="18" charset="0"/>
                          </a:rPr>
                        </m:ctrlPr>
                      </m:sSubPr>
                      <m:e>
                        <m:r>
                          <a:rPr lang="ru-RU"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ea typeface="Cambria Math" panose="02040503050406030204" pitchFamily="18" charset="0"/>
                          </a:rPr>
                          <m:t>𝐵</m:t>
                        </m:r>
                      </m:sub>
                    </m:sSub>
                    <m:d>
                      <m:dPr>
                        <m:ctrlPr>
                          <a:rPr lang="ru-RU" i="1">
                            <a:latin typeface="Cambria Math" panose="02040503050406030204" pitchFamily="18" charset="0"/>
                          </a:rPr>
                        </m:ctrlPr>
                      </m:dPr>
                      <m:e>
                        <m:r>
                          <a:rPr lang="en-US" i="1">
                            <a:latin typeface="Cambria Math" panose="02040503050406030204" pitchFamily="18" charset="0"/>
                          </a:rPr>
                          <m:t>𝑥</m:t>
                        </m:r>
                      </m:e>
                    </m:d>
                  </m:oMath>
                </a14:m>
                <a:endParaRPr lang="en-US" dirty="0">
                  <a:latin typeface="Arial" panose="020B0604020202020204" pitchFamily="34" charset="0"/>
                </a:endParaRPr>
              </a:p>
              <a:p>
                <a:r>
                  <a:rPr lang="en-US" b="0" i="0" dirty="0">
                    <a:solidFill>
                      <a:srgbClr val="212121"/>
                    </a:solidFill>
                    <a:effectLst/>
                    <a:latin typeface="Arial" panose="020B0604020202020204" pitchFamily="34" charset="0"/>
                    <a:cs typeface="Arial" panose="020B0604020202020204" pitchFamily="34" charset="0"/>
                  </a:rPr>
                  <a:t>(</a:t>
                </a:r>
                <a:r>
                  <a:rPr lang="ru-RU" b="0" i="0" dirty="0">
                    <a:solidFill>
                      <a:srgbClr val="212121"/>
                    </a:solidFill>
                    <a:effectLst/>
                    <a:latin typeface="Arial" panose="020B0604020202020204" pitchFamily="34" charset="0"/>
                    <a:cs typeface="Arial" panose="020B0604020202020204" pitchFamily="34" charset="0"/>
                  </a:rPr>
                  <a:t>для пересечения нечетких множеств</a:t>
                </a:r>
                <a:r>
                  <a:rPr lang="en-US" b="0" i="0" dirty="0">
                    <a:solidFill>
                      <a:srgbClr val="212121"/>
                    </a:solidFill>
                    <a:effectLst/>
                    <a:latin typeface="Arial" panose="020B0604020202020204" pitchFamily="34" charset="0"/>
                    <a:cs typeface="Arial" panose="020B0604020202020204" pitchFamily="34" charset="0"/>
                  </a:rPr>
                  <a:t> </a:t>
                </a:r>
                <a:r>
                  <a:rPr lang="ru-RU" b="0" i="0" dirty="0">
                    <a:solidFill>
                      <a:srgbClr val="212121"/>
                    </a:solidFill>
                    <a:effectLst/>
                    <a:latin typeface="Arial" panose="020B0604020202020204" pitchFamily="34" charset="0"/>
                    <a:cs typeface="Arial" panose="020B0604020202020204" pitchFamily="34" charset="0"/>
                  </a:rPr>
                  <a:t>необязательно используется </a:t>
                </a:r>
                <a:r>
                  <a:rPr lang="en-US" b="0" i="0" dirty="0">
                    <a:solidFill>
                      <a:srgbClr val="212121"/>
                    </a:solidFill>
                    <a:effectLst/>
                    <a:latin typeface="Arial" panose="020B0604020202020204" pitchFamily="34" charset="0"/>
                    <a:cs typeface="Arial" panose="020B0604020202020204" pitchFamily="34" charset="0"/>
                  </a:rPr>
                  <a:t>min)</a:t>
                </a:r>
                <a:r>
                  <a:rPr lang="ru-RU" b="0" i="0" dirty="0">
                    <a:solidFill>
                      <a:srgbClr val="212121"/>
                    </a:solidFill>
                    <a:effectLst/>
                    <a:latin typeface="Arial" panose="020B0604020202020204" pitchFamily="34" charset="0"/>
                    <a:cs typeface="Arial" panose="020B0604020202020204" pitchFamily="34" charset="0"/>
                  </a:rPr>
                  <a:t>.</a:t>
                </a:r>
                <a:endParaRPr lang="ru-RU" dirty="0">
                  <a:latin typeface="Arial" panose="020B0604020202020204" pitchFamily="34" charset="0"/>
                  <a:cs typeface="Arial" panose="020B0604020202020204" pitchFamily="34" charset="0"/>
                </a:endParaRPr>
              </a:p>
            </p:txBody>
          </p:sp>
        </mc:Choice>
        <mc:Fallback xmlns="">
          <p:sp>
            <p:nvSpPr>
              <p:cNvPr id="12" name="TextBox 11">
                <a:extLst>
                  <a:ext uri="{FF2B5EF4-FFF2-40B4-BE49-F238E27FC236}">
                    <a16:creationId xmlns:a16="http://schemas.microsoft.com/office/drawing/2014/main" id="{57B1C2A0-45E9-81A7-95AC-7DEAF720E7E2}"/>
                  </a:ext>
                </a:extLst>
              </p:cNvPr>
              <p:cNvSpPr txBox="1">
                <a:spLocks noRot="1" noChangeAspect="1" noMove="1" noResize="1" noEditPoints="1" noAdjustHandles="1" noChangeArrowheads="1" noChangeShapeType="1" noTextEdit="1"/>
              </p:cNvSpPr>
              <p:nvPr/>
            </p:nvSpPr>
            <p:spPr>
              <a:xfrm>
                <a:off x="838200" y="3243400"/>
                <a:ext cx="9517629" cy="646331"/>
              </a:xfrm>
              <a:prstGeom prst="rect">
                <a:avLst/>
              </a:prstGeom>
              <a:blipFill>
                <a:blip r:embed="rId4"/>
                <a:stretch>
                  <a:fillRect l="-577" t="-4717" b="-14151"/>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68B0657-DB7B-AA3B-5EC4-B94188592A46}"/>
                  </a:ext>
                </a:extLst>
              </p:cNvPr>
              <p:cNvSpPr txBox="1"/>
              <p:nvPr/>
            </p:nvSpPr>
            <p:spPr>
              <a:xfrm>
                <a:off x="838199" y="4491727"/>
                <a:ext cx="9187405" cy="646331"/>
              </a:xfrm>
              <a:prstGeom prst="rect">
                <a:avLst/>
              </a:prstGeom>
              <a:noFill/>
            </p:spPr>
            <p:txBody>
              <a:bodyPr wrap="square">
                <a:spAutoFit/>
              </a:bodyPr>
              <a:lstStyle/>
              <a:p>
                <a:r>
                  <a:rPr lang="ru-RU" b="0" i="0" dirty="0">
                    <a:solidFill>
                      <a:srgbClr val="212121"/>
                    </a:solidFill>
                    <a:effectLst/>
                    <a:latin typeface="Arial" panose="020B0604020202020204" pitchFamily="34" charset="0"/>
                    <a:cs typeface="Arial" panose="020B0604020202020204" pitchFamily="34" charset="0"/>
                  </a:rPr>
                  <a:t>Подобно нечеткому пересечению, оператор нечеткого объединения задается в общем случае бинарным отображением </a:t>
                </a:r>
                <a14:m>
                  <m:oMath xmlns:m="http://schemas.openxmlformats.org/officeDocument/2006/math">
                    <m:r>
                      <a:rPr lang="en-US" i="1">
                        <a:solidFill>
                          <a:srgbClr val="212121"/>
                        </a:solidFill>
                        <a:latin typeface="Cambria Math" panose="02040503050406030204" pitchFamily="18" charset="0"/>
                      </a:rPr>
                      <m:t>𝑆</m:t>
                    </m:r>
                  </m:oMath>
                </a14:m>
                <a:r>
                  <a:rPr lang="ru-RU" b="0" i="0" dirty="0">
                    <a:solidFill>
                      <a:srgbClr val="212121"/>
                    </a:solidFill>
                    <a:effectLst/>
                    <a:latin typeface="Arial" panose="020B0604020202020204" pitchFamily="34" charset="0"/>
                    <a:cs typeface="Arial" panose="020B0604020202020204" pitchFamily="34" charset="0"/>
                  </a:rPr>
                  <a:t>:</a:t>
                </a:r>
                <a:endParaRPr lang="ru-RU" dirty="0">
                  <a:latin typeface="Arial" panose="020B0604020202020204" pitchFamily="34" charset="0"/>
                  <a:cs typeface="Arial" panose="020B0604020202020204" pitchFamily="34" charset="0"/>
                </a:endParaRPr>
              </a:p>
            </p:txBody>
          </p:sp>
        </mc:Choice>
        <mc:Fallback xmlns="">
          <p:sp>
            <p:nvSpPr>
              <p:cNvPr id="14" name="TextBox 13">
                <a:extLst>
                  <a:ext uri="{FF2B5EF4-FFF2-40B4-BE49-F238E27FC236}">
                    <a16:creationId xmlns:a16="http://schemas.microsoft.com/office/drawing/2014/main" id="{468B0657-DB7B-AA3B-5EC4-B94188592A46}"/>
                  </a:ext>
                </a:extLst>
              </p:cNvPr>
              <p:cNvSpPr txBox="1">
                <a:spLocks noRot="1" noChangeAspect="1" noMove="1" noResize="1" noEditPoints="1" noAdjustHandles="1" noChangeArrowheads="1" noChangeShapeType="1" noTextEdit="1"/>
              </p:cNvSpPr>
              <p:nvPr/>
            </p:nvSpPr>
            <p:spPr>
              <a:xfrm>
                <a:off x="838199" y="4491727"/>
                <a:ext cx="9187405" cy="646331"/>
              </a:xfrm>
              <a:prstGeom prst="rect">
                <a:avLst/>
              </a:prstGeom>
              <a:blipFill>
                <a:blip r:embed="rId5"/>
                <a:stretch>
                  <a:fillRect l="-531" t="-5660" b="-14151"/>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DDD2A68-0B82-E439-E124-786F7D2A0F2A}"/>
                  </a:ext>
                </a:extLst>
              </p:cNvPr>
              <p:cNvSpPr txBox="1"/>
              <p:nvPr/>
            </p:nvSpPr>
            <p:spPr>
              <a:xfrm>
                <a:off x="4012798" y="5235513"/>
                <a:ext cx="2728889" cy="3126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ru-RU" i="1" smtClean="0">
                              <a:latin typeface="Cambria Math" panose="02040503050406030204" pitchFamily="18" charset="0"/>
                            </a:rPr>
                          </m:ctrlPr>
                        </m:sSubPr>
                        <m:e>
                          <m:r>
                            <a:rPr lang="ru-RU" i="1" smtClean="0">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rPr>
                            <m:t>𝐴</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sub>
                      </m:sSub>
                      <m:d>
                        <m:dPr>
                          <m:ctrlPr>
                            <a:rPr lang="ru-RU"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𝑆</m:t>
                      </m:r>
                      <m:d>
                        <m:dPr>
                          <m:ctrlPr>
                            <a:rPr lang="en-US" b="0" i="1" smtClean="0">
                              <a:latin typeface="Cambria Math" panose="02040503050406030204" pitchFamily="18" charset="0"/>
                            </a:rPr>
                          </m:ctrlPr>
                        </m:dPr>
                        <m:e>
                          <m:sSub>
                            <m:sSubPr>
                              <m:ctrlPr>
                                <a:rPr lang="ru-RU" i="1">
                                  <a:latin typeface="Cambria Math" panose="02040503050406030204" pitchFamily="18" charset="0"/>
                                </a:rPr>
                              </m:ctrlPr>
                            </m:sSubPr>
                            <m:e>
                              <m:r>
                                <a:rPr lang="ru-RU"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rPr>
                                <m:t>𝐴</m:t>
                              </m:r>
                            </m:sub>
                          </m:sSub>
                          <m:d>
                            <m:dPr>
                              <m:ctrlPr>
                                <a:rPr lang="ru-RU" i="1">
                                  <a:latin typeface="Cambria Math" panose="02040503050406030204" pitchFamily="18" charset="0"/>
                                </a:rPr>
                              </m:ctrlPr>
                            </m:dPr>
                            <m:e>
                              <m:r>
                                <a:rPr lang="en-US" i="1">
                                  <a:latin typeface="Cambria Math" panose="02040503050406030204" pitchFamily="18" charset="0"/>
                                </a:rPr>
                                <m:t>𝑥</m:t>
                              </m:r>
                            </m:e>
                          </m:d>
                          <m:r>
                            <a:rPr lang="en-US" b="0" i="1" smtClean="0">
                              <a:latin typeface="Cambria Math" panose="02040503050406030204" pitchFamily="18" charset="0"/>
                            </a:rPr>
                            <m:t>,</m:t>
                          </m:r>
                          <m:sSub>
                            <m:sSubPr>
                              <m:ctrlPr>
                                <a:rPr lang="ru-RU" i="1">
                                  <a:latin typeface="Cambria Math" panose="02040503050406030204" pitchFamily="18" charset="0"/>
                                </a:rPr>
                              </m:ctrlPr>
                            </m:sSubPr>
                            <m:e>
                              <m:r>
                                <a:rPr lang="ru-RU"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ea typeface="Cambria Math" panose="02040503050406030204" pitchFamily="18" charset="0"/>
                                </a:rPr>
                                <m:t>𝐵</m:t>
                              </m:r>
                            </m:sub>
                          </m:sSub>
                          <m:d>
                            <m:dPr>
                              <m:ctrlPr>
                                <a:rPr lang="ru-RU" i="1">
                                  <a:latin typeface="Cambria Math" panose="02040503050406030204" pitchFamily="18" charset="0"/>
                                </a:rPr>
                              </m:ctrlPr>
                            </m:dPr>
                            <m:e>
                              <m:r>
                                <a:rPr lang="en-US" i="1">
                                  <a:latin typeface="Cambria Math" panose="02040503050406030204" pitchFamily="18" charset="0"/>
                                </a:rPr>
                                <m:t>𝑥</m:t>
                              </m:r>
                            </m:e>
                          </m:d>
                        </m:e>
                      </m:d>
                    </m:oMath>
                  </m:oMathPara>
                </a14:m>
                <a:endParaRPr lang="ru-RU" dirty="0"/>
              </a:p>
            </p:txBody>
          </p:sp>
        </mc:Choice>
        <mc:Fallback xmlns="">
          <p:sp>
            <p:nvSpPr>
              <p:cNvPr id="15" name="TextBox 14">
                <a:extLst>
                  <a:ext uri="{FF2B5EF4-FFF2-40B4-BE49-F238E27FC236}">
                    <a16:creationId xmlns:a16="http://schemas.microsoft.com/office/drawing/2014/main" id="{5DDD2A68-0B82-E439-E124-786F7D2A0F2A}"/>
                  </a:ext>
                </a:extLst>
              </p:cNvPr>
              <p:cNvSpPr txBox="1">
                <a:spLocks noRot="1" noChangeAspect="1" noMove="1" noResize="1" noEditPoints="1" noAdjustHandles="1" noChangeArrowheads="1" noChangeShapeType="1" noTextEdit="1"/>
              </p:cNvSpPr>
              <p:nvPr/>
            </p:nvSpPr>
            <p:spPr>
              <a:xfrm>
                <a:off x="4012798" y="5235513"/>
                <a:ext cx="2728889" cy="312650"/>
              </a:xfrm>
              <a:prstGeom prst="rect">
                <a:avLst/>
              </a:prstGeom>
              <a:blipFill>
                <a:blip r:embed="rId6"/>
                <a:stretch>
                  <a:fillRect l="-1563" b="-15686"/>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CC5EE89-038D-0749-D6BD-3F43E8BFD309}"/>
                  </a:ext>
                </a:extLst>
              </p:cNvPr>
              <p:cNvSpPr txBox="1"/>
              <p:nvPr/>
            </p:nvSpPr>
            <p:spPr>
              <a:xfrm>
                <a:off x="838201" y="5645617"/>
                <a:ext cx="9517628" cy="646331"/>
              </a:xfrm>
              <a:prstGeom prst="rect">
                <a:avLst/>
              </a:prstGeom>
              <a:noFill/>
            </p:spPr>
            <p:txBody>
              <a:bodyPr wrap="square">
                <a:spAutoFit/>
              </a:bodyPr>
              <a:lstStyle/>
              <a:p>
                <a:r>
                  <a:rPr lang="ru-RU" b="0" i="0" dirty="0">
                    <a:solidFill>
                      <a:srgbClr val="212121"/>
                    </a:solidFill>
                    <a:effectLst/>
                    <a:latin typeface="Arial" panose="020B0604020202020204" pitchFamily="34" charset="0"/>
                    <a:cs typeface="Arial" panose="020B0604020202020204" pitchFamily="34" charset="0"/>
                  </a:rPr>
                  <a:t>Например, бинарный оператор </a:t>
                </a:r>
                <a14:m>
                  <m:oMath xmlns:m="http://schemas.openxmlformats.org/officeDocument/2006/math">
                    <m:r>
                      <a:rPr lang="en-US" b="0" i="1" smtClean="0">
                        <a:solidFill>
                          <a:srgbClr val="212121"/>
                        </a:solidFill>
                        <a:effectLst/>
                        <a:latin typeface="Cambria Math" panose="02040503050406030204" pitchFamily="18" charset="0"/>
                      </a:rPr>
                      <m:t>𝑆</m:t>
                    </m:r>
                  </m:oMath>
                </a14:m>
                <a:r>
                  <a:rPr lang="ru-RU" b="0" i="0" dirty="0">
                    <a:solidFill>
                      <a:srgbClr val="212121"/>
                    </a:solidFill>
                    <a:effectLst/>
                    <a:latin typeface="Arial" panose="020B0604020202020204" pitchFamily="34" charset="0"/>
                    <a:cs typeface="Arial" panose="020B0604020202020204" pitchFamily="34" charset="0"/>
                  </a:rPr>
                  <a:t> может представлять сложение </a:t>
                </a:r>
                <a14:m>
                  <m:oMath xmlns:m="http://schemas.openxmlformats.org/officeDocument/2006/math">
                    <m:sSub>
                      <m:sSubPr>
                        <m:ctrlPr>
                          <a:rPr lang="ru-RU" i="1">
                            <a:latin typeface="Cambria Math" panose="02040503050406030204" pitchFamily="18" charset="0"/>
                          </a:rPr>
                        </m:ctrlPr>
                      </m:sSubPr>
                      <m:e>
                        <m:r>
                          <a:rPr lang="ru-RU"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rPr>
                          <m:t>𝐴</m:t>
                        </m:r>
                      </m:sub>
                    </m:sSub>
                    <m:d>
                      <m:dPr>
                        <m:ctrlPr>
                          <a:rPr lang="ru-RU" i="1">
                            <a:latin typeface="Cambria Math" panose="02040503050406030204" pitchFamily="18" charset="0"/>
                          </a:rPr>
                        </m:ctrlPr>
                      </m:dPr>
                      <m:e>
                        <m:r>
                          <a:rPr lang="en-US" i="1">
                            <a:latin typeface="Cambria Math" panose="02040503050406030204" pitchFamily="18" charset="0"/>
                          </a:rPr>
                          <m:t>𝑥</m:t>
                        </m:r>
                      </m:e>
                    </m:d>
                  </m:oMath>
                </a14:m>
                <a:r>
                  <a:rPr lang="ru-RU" b="0" i="0" dirty="0">
                    <a:solidFill>
                      <a:srgbClr val="212121"/>
                    </a:solidFill>
                    <a:effectLst/>
                    <a:latin typeface="Arial" panose="020B0604020202020204" pitchFamily="34" charset="0"/>
                    <a:cs typeface="Arial" panose="020B0604020202020204" pitchFamily="34" charset="0"/>
                  </a:rPr>
                  <a:t> и</a:t>
                </a:r>
                <a:r>
                  <a:rPr lang="ru-RU" dirty="0">
                    <a:latin typeface="Arial" panose="020B0604020202020204" pitchFamily="34" charset="0"/>
                    <a:cs typeface="Arial" panose="020B0604020202020204" pitchFamily="34" charset="0"/>
                  </a:rPr>
                  <a:t> </a:t>
                </a:r>
                <a14:m>
                  <m:oMath xmlns:m="http://schemas.openxmlformats.org/officeDocument/2006/math">
                    <m:sSub>
                      <m:sSubPr>
                        <m:ctrlPr>
                          <a:rPr lang="ru-RU" i="1">
                            <a:latin typeface="Cambria Math" panose="02040503050406030204" pitchFamily="18" charset="0"/>
                          </a:rPr>
                        </m:ctrlPr>
                      </m:sSubPr>
                      <m:e>
                        <m:r>
                          <a:rPr lang="ru-RU"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ea typeface="Cambria Math" panose="02040503050406030204" pitchFamily="18" charset="0"/>
                          </a:rPr>
                          <m:t>𝐵</m:t>
                        </m:r>
                      </m:sub>
                    </m:sSub>
                    <m:d>
                      <m:dPr>
                        <m:ctrlPr>
                          <a:rPr lang="ru-RU" i="1">
                            <a:latin typeface="Cambria Math" panose="02040503050406030204" pitchFamily="18" charset="0"/>
                          </a:rPr>
                        </m:ctrlPr>
                      </m:dPr>
                      <m:e>
                        <m:r>
                          <a:rPr lang="en-US" i="1">
                            <a:latin typeface="Cambria Math" panose="02040503050406030204" pitchFamily="18" charset="0"/>
                          </a:rPr>
                          <m:t>𝑥</m:t>
                        </m:r>
                      </m:e>
                    </m:d>
                  </m:oMath>
                </a14:m>
                <a:endParaRPr lang="ru-RU" dirty="0">
                  <a:latin typeface="Arial" panose="020B0604020202020204" pitchFamily="34" charset="0"/>
                </a:endParaRPr>
              </a:p>
              <a:p>
                <a:r>
                  <a:rPr lang="ru-RU" b="0" i="0" dirty="0">
                    <a:solidFill>
                      <a:srgbClr val="212121"/>
                    </a:solidFill>
                    <a:effectLst/>
                    <a:latin typeface="Arial" panose="020B0604020202020204" pitchFamily="34" charset="0"/>
                    <a:cs typeface="Arial" panose="020B0604020202020204" pitchFamily="34" charset="0"/>
                  </a:rPr>
                  <a:t>(</a:t>
                </a:r>
                <a:r>
                  <a:rPr lang="ru-RU" dirty="0">
                    <a:solidFill>
                      <a:srgbClr val="212121"/>
                    </a:solidFill>
                    <a:latin typeface="Arial" panose="020B0604020202020204" pitchFamily="34" charset="0"/>
                    <a:cs typeface="Arial" panose="020B0604020202020204" pitchFamily="34" charset="0"/>
                  </a:rPr>
                  <a:t>для объединения нечетких множеств</a:t>
                </a:r>
                <a:r>
                  <a:rPr lang="en-US" dirty="0">
                    <a:solidFill>
                      <a:srgbClr val="212121"/>
                    </a:solidFill>
                    <a:latin typeface="Arial" panose="020B0604020202020204" pitchFamily="34" charset="0"/>
                    <a:cs typeface="Arial" panose="020B0604020202020204" pitchFamily="34" charset="0"/>
                  </a:rPr>
                  <a:t> </a:t>
                </a:r>
                <a:r>
                  <a:rPr lang="ru-RU" dirty="0">
                    <a:solidFill>
                      <a:srgbClr val="212121"/>
                    </a:solidFill>
                    <a:latin typeface="Arial" panose="020B0604020202020204" pitchFamily="34" charset="0"/>
                    <a:cs typeface="Arial" panose="020B0604020202020204" pitchFamily="34" charset="0"/>
                  </a:rPr>
                  <a:t>необязательно используется </a:t>
                </a:r>
                <a:r>
                  <a:rPr lang="en-US" dirty="0">
                    <a:solidFill>
                      <a:srgbClr val="212121"/>
                    </a:solidFill>
                    <a:latin typeface="Arial" panose="020B0604020202020204" pitchFamily="34" charset="0"/>
                    <a:cs typeface="Arial" panose="020B0604020202020204" pitchFamily="34" charset="0"/>
                  </a:rPr>
                  <a:t>max</a:t>
                </a:r>
                <a:r>
                  <a:rPr lang="ru-RU" b="0" i="0" dirty="0">
                    <a:solidFill>
                      <a:srgbClr val="212121"/>
                    </a:solidFill>
                    <a:effectLst/>
                    <a:latin typeface="Arial" panose="020B0604020202020204" pitchFamily="34" charset="0"/>
                    <a:cs typeface="Arial" panose="020B0604020202020204" pitchFamily="34" charset="0"/>
                  </a:rPr>
                  <a:t>). </a:t>
                </a:r>
                <a:endParaRPr lang="ru-RU" dirty="0">
                  <a:latin typeface="Arial" panose="020B0604020202020204" pitchFamily="34" charset="0"/>
                  <a:cs typeface="Arial" panose="020B0604020202020204" pitchFamily="34" charset="0"/>
                </a:endParaRPr>
              </a:p>
            </p:txBody>
          </p:sp>
        </mc:Choice>
        <mc:Fallback xmlns="">
          <p:sp>
            <p:nvSpPr>
              <p:cNvPr id="17" name="TextBox 16">
                <a:extLst>
                  <a:ext uri="{FF2B5EF4-FFF2-40B4-BE49-F238E27FC236}">
                    <a16:creationId xmlns:a16="http://schemas.microsoft.com/office/drawing/2014/main" id="{BCC5EE89-038D-0749-D6BD-3F43E8BFD309}"/>
                  </a:ext>
                </a:extLst>
              </p:cNvPr>
              <p:cNvSpPr txBox="1">
                <a:spLocks noRot="1" noChangeAspect="1" noMove="1" noResize="1" noEditPoints="1" noAdjustHandles="1" noChangeArrowheads="1" noChangeShapeType="1" noTextEdit="1"/>
              </p:cNvSpPr>
              <p:nvPr/>
            </p:nvSpPr>
            <p:spPr>
              <a:xfrm>
                <a:off x="838201" y="5645617"/>
                <a:ext cx="9517628" cy="646331"/>
              </a:xfrm>
              <a:prstGeom prst="rect">
                <a:avLst/>
              </a:prstGeom>
              <a:blipFill>
                <a:blip r:embed="rId7"/>
                <a:stretch>
                  <a:fillRect l="-577" t="-4717" b="-14151"/>
                </a:stretch>
              </a:blipFill>
            </p:spPr>
            <p:txBody>
              <a:bodyPr/>
              <a:lstStyle/>
              <a:p>
                <a:r>
                  <a:rPr lang="ru-RU">
                    <a:noFill/>
                  </a:rPr>
                  <a:t> </a:t>
                </a:r>
              </a:p>
            </p:txBody>
          </p:sp>
        </mc:Fallback>
      </mc:AlternateContent>
      <p:sp>
        <p:nvSpPr>
          <p:cNvPr id="5" name="TextBox 4">
            <a:extLst>
              <a:ext uri="{FF2B5EF4-FFF2-40B4-BE49-F238E27FC236}">
                <a16:creationId xmlns:a16="http://schemas.microsoft.com/office/drawing/2014/main" id="{8C6E5CE5-220E-AF2A-AEE2-5FE8DD67C4FD}"/>
              </a:ext>
            </a:extLst>
          </p:cNvPr>
          <p:cNvSpPr txBox="1"/>
          <p:nvPr/>
        </p:nvSpPr>
        <p:spPr>
          <a:xfrm>
            <a:off x="838200" y="1278644"/>
            <a:ext cx="6096000"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Логические операции</a:t>
            </a:r>
          </a:p>
        </p:txBody>
      </p:sp>
    </p:spTree>
    <p:extLst>
      <p:ext uri="{BB962C8B-B14F-4D97-AF65-F5344CB8AC3E}">
        <p14:creationId xmlns:p14="http://schemas.microsoft.com/office/powerpoint/2010/main" val="424072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22478-7CFB-D719-6D1E-D9443568E05A}"/>
            </a:ext>
          </a:extLst>
        </p:cNvPr>
        <p:cNvGrpSpPr/>
        <p:nvPr/>
      </p:nvGrpSpPr>
      <p:grpSpPr>
        <a:xfrm>
          <a:off x="0" y="0"/>
          <a:ext cx="0" cy="0"/>
          <a:chOff x="0" y="0"/>
          <a:chExt cx="0" cy="0"/>
        </a:xfrm>
      </p:grpSpPr>
      <p:pic>
        <p:nvPicPr>
          <p:cNvPr id="9218" name="Picture 2" descr="Fuzzy rule evaluation steps from top to bottom: Fuzzify inputs, apply logical operator to fuzzified inputs, apply implication operator to the antecedent outputs">
            <a:extLst>
              <a:ext uri="{FF2B5EF4-FFF2-40B4-BE49-F238E27FC236}">
                <a16:creationId xmlns:a16="http://schemas.microsoft.com/office/drawing/2014/main" id="{7307D42F-BFB5-65FD-2C21-241B4FFC68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7889" y="1462176"/>
            <a:ext cx="5629084" cy="4795669"/>
          </a:xfrm>
          <a:prstGeom prst="rect">
            <a:avLst/>
          </a:prstGeom>
          <a:noFill/>
          <a:extLst>
            <a:ext uri="{909E8E84-426E-40DD-AFC4-6F175D3DCCD1}">
              <a14:hiddenFill xmlns:a14="http://schemas.microsoft.com/office/drawing/2010/main">
                <a:solidFill>
                  <a:srgbClr val="FFFFFF"/>
                </a:solidFill>
              </a14:hiddenFill>
            </a:ext>
          </a:extLst>
        </p:spPr>
      </p:pic>
      <p:sp>
        <p:nvSpPr>
          <p:cNvPr id="7" name="Заголовок 1">
            <a:extLst>
              <a:ext uri="{FF2B5EF4-FFF2-40B4-BE49-F238E27FC236}">
                <a16:creationId xmlns:a16="http://schemas.microsoft.com/office/drawing/2014/main" id="{93F935F1-354E-2AF4-4ADD-38A21663808A}"/>
              </a:ext>
            </a:extLst>
          </p:cNvPr>
          <p:cNvSpPr>
            <a:spLocks noGrp="1"/>
          </p:cNvSpPr>
          <p:nvPr>
            <p:ph type="title"/>
          </p:nvPr>
        </p:nvSpPr>
        <p:spPr>
          <a:xfrm>
            <a:off x="838200" y="365125"/>
            <a:ext cx="10515600" cy="1325563"/>
          </a:xfrm>
        </p:spPr>
        <p:txBody>
          <a:bodyPr>
            <a:normAutofit/>
          </a:bodyPr>
          <a:lstStyle/>
          <a:p>
            <a:r>
              <a:rPr lang="ru-RU" sz="4000" dirty="0"/>
              <a:t>Основы нечеткой логики</a:t>
            </a:r>
          </a:p>
        </p:txBody>
      </p:sp>
      <p:sp>
        <p:nvSpPr>
          <p:cNvPr id="2" name="TextBox 1">
            <a:extLst>
              <a:ext uri="{FF2B5EF4-FFF2-40B4-BE49-F238E27FC236}">
                <a16:creationId xmlns:a16="http://schemas.microsoft.com/office/drawing/2014/main" id="{434F9FAA-080A-896E-C77E-F17668171C69}"/>
              </a:ext>
            </a:extLst>
          </p:cNvPr>
          <p:cNvSpPr txBox="1"/>
          <p:nvPr/>
        </p:nvSpPr>
        <p:spPr>
          <a:xfrm>
            <a:off x="838199" y="1278644"/>
            <a:ext cx="6682409"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Правила «Если …, то …» (</a:t>
            </a:r>
            <a:r>
              <a:rPr lang="en-US" sz="2600" dirty="0">
                <a:latin typeface="Arial" panose="020B0604020202020204" pitchFamily="34" charset="0"/>
                <a:cs typeface="Arial" panose="020B0604020202020204" pitchFamily="34" charset="0"/>
              </a:rPr>
              <a:t>If-Then Rules</a:t>
            </a:r>
            <a:r>
              <a:rPr lang="ru-RU" sz="2600" dirty="0">
                <a:latin typeface="Arial" panose="020B0604020202020204" pitchFamily="34" charset="0"/>
                <a:cs typeface="Arial" panose="020B0604020202020204" pitchFamily="34" charset="0"/>
              </a:rPr>
              <a:t>)</a:t>
            </a:r>
          </a:p>
        </p:txBody>
      </p:sp>
      <p:sp>
        <p:nvSpPr>
          <p:cNvPr id="3" name="Номер слайда 2">
            <a:extLst>
              <a:ext uri="{FF2B5EF4-FFF2-40B4-BE49-F238E27FC236}">
                <a16:creationId xmlns:a16="http://schemas.microsoft.com/office/drawing/2014/main" id="{5323A58B-AB7C-35DC-0311-BAA1588A6AB4}"/>
              </a:ext>
            </a:extLst>
          </p:cNvPr>
          <p:cNvSpPr>
            <a:spLocks noGrp="1"/>
          </p:cNvSpPr>
          <p:nvPr>
            <p:ph type="sldNum" sz="quarter" idx="12"/>
          </p:nvPr>
        </p:nvSpPr>
        <p:spPr/>
        <p:txBody>
          <a:bodyPr/>
          <a:lstStyle/>
          <a:p>
            <a:fld id="{818D4B0C-12DF-447C-B791-E379AA958CE7}" type="slidenum">
              <a:rPr lang="ru-RU" smtClean="0"/>
              <a:t>11</a:t>
            </a:fld>
            <a:endParaRPr lang="ru-RU"/>
          </a:p>
        </p:txBody>
      </p:sp>
      <p:sp>
        <p:nvSpPr>
          <p:cNvPr id="16" name="TextBox 15">
            <a:extLst>
              <a:ext uri="{FF2B5EF4-FFF2-40B4-BE49-F238E27FC236}">
                <a16:creationId xmlns:a16="http://schemas.microsoft.com/office/drawing/2014/main" id="{590205D4-8EA9-86C7-6CEE-7503D7ED53A1}"/>
              </a:ext>
            </a:extLst>
          </p:cNvPr>
          <p:cNvSpPr txBox="1"/>
          <p:nvPr/>
        </p:nvSpPr>
        <p:spPr>
          <a:xfrm>
            <a:off x="838199" y="2124086"/>
            <a:ext cx="6094070" cy="369332"/>
          </a:xfrm>
          <a:prstGeom prst="rect">
            <a:avLst/>
          </a:prstGeom>
          <a:noFill/>
        </p:spPr>
        <p:txBody>
          <a:bodyPr wrap="square">
            <a:spAutoFit/>
          </a:bodyPr>
          <a:lstStyle/>
          <a:p>
            <a:r>
              <a:rPr lang="en-US" dirty="0"/>
              <a:t>If x is A, then y is B</a:t>
            </a:r>
          </a:p>
        </p:txBody>
      </p:sp>
      <p:sp>
        <p:nvSpPr>
          <p:cNvPr id="22" name="TextBox 21">
            <a:extLst>
              <a:ext uri="{FF2B5EF4-FFF2-40B4-BE49-F238E27FC236}">
                <a16:creationId xmlns:a16="http://schemas.microsoft.com/office/drawing/2014/main" id="{A7B240AB-D769-2028-3773-19156E5DD4B6}"/>
              </a:ext>
            </a:extLst>
          </p:cNvPr>
          <p:cNvSpPr txBox="1"/>
          <p:nvPr/>
        </p:nvSpPr>
        <p:spPr>
          <a:xfrm>
            <a:off x="838199" y="2556835"/>
            <a:ext cx="6094070" cy="369332"/>
          </a:xfrm>
          <a:prstGeom prst="rect">
            <a:avLst/>
          </a:prstGeom>
          <a:noFill/>
        </p:spPr>
        <p:txBody>
          <a:bodyPr wrap="square">
            <a:spAutoFit/>
          </a:bodyPr>
          <a:lstStyle/>
          <a:p>
            <a:r>
              <a:rPr lang="en-US" dirty="0"/>
              <a:t>If service is good, then tip is average</a:t>
            </a:r>
          </a:p>
        </p:txBody>
      </p:sp>
      <p:sp>
        <p:nvSpPr>
          <p:cNvPr id="27" name="TextBox 26">
            <a:extLst>
              <a:ext uri="{FF2B5EF4-FFF2-40B4-BE49-F238E27FC236}">
                <a16:creationId xmlns:a16="http://schemas.microsoft.com/office/drawing/2014/main" id="{0F3D1A46-82C6-9BD3-29D0-D59D749ED1F5}"/>
              </a:ext>
            </a:extLst>
          </p:cNvPr>
          <p:cNvSpPr txBox="1"/>
          <p:nvPr/>
        </p:nvSpPr>
        <p:spPr>
          <a:xfrm>
            <a:off x="838199" y="2972250"/>
            <a:ext cx="6094070" cy="369332"/>
          </a:xfrm>
          <a:prstGeom prst="rect">
            <a:avLst/>
          </a:prstGeom>
          <a:noFill/>
        </p:spPr>
        <p:txBody>
          <a:bodyPr wrap="square">
            <a:spAutoFit/>
          </a:bodyPr>
          <a:lstStyle/>
          <a:p>
            <a:r>
              <a:rPr lang="en-US" dirty="0"/>
              <a:t>If service == good, then tip = average</a:t>
            </a:r>
          </a:p>
        </p:txBody>
      </p:sp>
      <p:sp>
        <p:nvSpPr>
          <p:cNvPr id="5" name="TextBox 4">
            <a:extLst>
              <a:ext uri="{FF2B5EF4-FFF2-40B4-BE49-F238E27FC236}">
                <a16:creationId xmlns:a16="http://schemas.microsoft.com/office/drawing/2014/main" id="{69D008A2-0D1D-6834-2BB6-C037E5360780}"/>
              </a:ext>
            </a:extLst>
          </p:cNvPr>
          <p:cNvSpPr txBox="1"/>
          <p:nvPr/>
        </p:nvSpPr>
        <p:spPr>
          <a:xfrm>
            <a:off x="838198" y="3387665"/>
            <a:ext cx="4694585" cy="3139321"/>
          </a:xfrm>
          <a:prstGeom prst="rect">
            <a:avLst/>
          </a:prstGeom>
          <a:noFill/>
        </p:spPr>
        <p:txBody>
          <a:bodyPr wrap="square">
            <a:spAutoFit/>
          </a:bodyPr>
          <a:lstStyle/>
          <a:p>
            <a:r>
              <a:rPr lang="ru-RU" b="0" i="0" dirty="0">
                <a:solidFill>
                  <a:srgbClr val="212121"/>
                </a:solidFill>
                <a:effectLst/>
                <a:latin typeface="Roboto" panose="02000000000000000000" pitchFamily="2" charset="0"/>
              </a:rPr>
              <a:t>Для правила типа </a:t>
            </a:r>
            <a:r>
              <a:rPr lang="ru-RU" dirty="0">
                <a:solidFill>
                  <a:srgbClr val="212121"/>
                </a:solidFill>
                <a:latin typeface="Roboto" panose="02000000000000000000" pitchFamily="2" charset="0"/>
              </a:rPr>
              <a:t>«если – то</a:t>
            </a:r>
            <a:r>
              <a:rPr lang="ru-RU" b="0" i="0" dirty="0">
                <a:solidFill>
                  <a:srgbClr val="212121"/>
                </a:solidFill>
                <a:effectLst/>
                <a:latin typeface="Roboto" panose="02000000000000000000" pitchFamily="2" charset="0"/>
              </a:rPr>
              <a:t>» антецедент</a:t>
            </a:r>
            <a:r>
              <a:rPr lang="en-US" b="0" i="0" dirty="0">
                <a:solidFill>
                  <a:srgbClr val="212121"/>
                </a:solidFill>
                <a:effectLst/>
                <a:latin typeface="Roboto" panose="02000000000000000000" pitchFamily="2" charset="0"/>
              </a:rPr>
              <a:t> (</a:t>
            </a:r>
            <a:r>
              <a:rPr lang="ru-RU" b="0" i="0" dirty="0">
                <a:solidFill>
                  <a:srgbClr val="212121"/>
                </a:solidFill>
                <a:effectLst/>
                <a:latin typeface="Roboto" panose="02000000000000000000" pitchFamily="2" charset="0"/>
              </a:rPr>
              <a:t>условие</a:t>
            </a:r>
            <a:r>
              <a:rPr lang="en-US" b="0" i="0" dirty="0">
                <a:solidFill>
                  <a:srgbClr val="212121"/>
                </a:solidFill>
                <a:effectLst/>
                <a:latin typeface="Roboto" panose="02000000000000000000" pitchFamily="2" charset="0"/>
              </a:rPr>
              <a:t>)</a:t>
            </a:r>
            <a:r>
              <a:rPr lang="ru-RU" b="0" i="0" dirty="0">
                <a:solidFill>
                  <a:srgbClr val="212121"/>
                </a:solidFill>
                <a:effectLst/>
                <a:latin typeface="Roboto" panose="02000000000000000000" pitchFamily="2" charset="0"/>
              </a:rPr>
              <a:t> p влечет (имплицирует) </a:t>
            </a:r>
            <a:r>
              <a:rPr lang="ru-RU" b="0" i="0" dirty="0" err="1">
                <a:solidFill>
                  <a:srgbClr val="212121"/>
                </a:solidFill>
                <a:effectLst/>
                <a:latin typeface="Roboto" panose="02000000000000000000" pitchFamily="2" charset="0"/>
              </a:rPr>
              <a:t>консеквент</a:t>
            </a:r>
            <a:r>
              <a:rPr lang="ru-RU" b="0" i="0" dirty="0">
                <a:solidFill>
                  <a:srgbClr val="212121"/>
                </a:solidFill>
                <a:effectLst/>
                <a:latin typeface="Roboto" panose="02000000000000000000" pitchFamily="2" charset="0"/>
              </a:rPr>
              <a:t> (следствие) q.</a:t>
            </a:r>
          </a:p>
          <a:p>
            <a:r>
              <a:rPr lang="ru-RU" b="0" i="0" dirty="0">
                <a:solidFill>
                  <a:srgbClr val="212121"/>
                </a:solidFill>
                <a:effectLst/>
                <a:latin typeface="Roboto" panose="02000000000000000000" pitchFamily="2" charset="0"/>
              </a:rPr>
              <a:t>В двоичной логике, если p истинно, то q тоже истинно (</a:t>
            </a:r>
            <a:r>
              <a:rPr lang="ru-RU" b="0" i="0" dirty="0" err="1">
                <a:solidFill>
                  <a:srgbClr val="212121"/>
                </a:solidFill>
                <a:effectLst/>
                <a:latin typeface="Roboto" panose="02000000000000000000" pitchFamily="2" charset="0"/>
              </a:rPr>
              <a:t>p→q</a:t>
            </a:r>
            <a:r>
              <a:rPr lang="ru-RU" b="0" i="0" dirty="0">
                <a:solidFill>
                  <a:srgbClr val="212121"/>
                </a:solidFill>
                <a:effectLst/>
                <a:latin typeface="Roboto" panose="02000000000000000000" pitchFamily="2" charset="0"/>
              </a:rPr>
              <a:t>).</a:t>
            </a:r>
          </a:p>
          <a:p>
            <a:r>
              <a:rPr lang="ru-RU" b="0" i="0" dirty="0">
                <a:solidFill>
                  <a:srgbClr val="212121"/>
                </a:solidFill>
                <a:effectLst/>
                <a:latin typeface="Roboto" panose="02000000000000000000" pitchFamily="2" charset="0"/>
              </a:rPr>
              <a:t>В нечеткой логике, если p истинно с некоторой степенью принадлежности, то q также истинно в той же степени (0</a:t>
            </a:r>
            <a:r>
              <a:rPr lang="en-US" b="0" i="0" dirty="0">
                <a:solidFill>
                  <a:srgbClr val="212121"/>
                </a:solidFill>
                <a:effectLst/>
                <a:latin typeface="Roboto" panose="02000000000000000000" pitchFamily="2" charset="0"/>
              </a:rPr>
              <a:t>,</a:t>
            </a:r>
            <a:r>
              <a:rPr lang="ru-RU" b="0" i="0" dirty="0">
                <a:solidFill>
                  <a:srgbClr val="212121"/>
                </a:solidFill>
                <a:effectLst/>
                <a:latin typeface="Roboto" panose="02000000000000000000" pitchFamily="2" charset="0"/>
              </a:rPr>
              <a:t>5p→0</a:t>
            </a:r>
            <a:r>
              <a:rPr lang="en-US" b="0" i="0" dirty="0">
                <a:solidFill>
                  <a:srgbClr val="212121"/>
                </a:solidFill>
                <a:effectLst/>
                <a:latin typeface="Roboto" panose="02000000000000000000" pitchFamily="2" charset="0"/>
              </a:rPr>
              <a:t>,</a:t>
            </a:r>
            <a:r>
              <a:rPr lang="ru-RU" b="0" i="0" dirty="0">
                <a:solidFill>
                  <a:srgbClr val="212121"/>
                </a:solidFill>
                <a:effectLst/>
                <a:latin typeface="Roboto" panose="02000000000000000000" pitchFamily="2" charset="0"/>
              </a:rPr>
              <a:t>5q).</a:t>
            </a:r>
            <a:endParaRPr lang="en-US" b="0" i="0" dirty="0">
              <a:solidFill>
                <a:srgbClr val="212121"/>
              </a:solidFill>
              <a:effectLst/>
              <a:latin typeface="Roboto" panose="02000000000000000000" pitchFamily="2" charset="0"/>
            </a:endParaRPr>
          </a:p>
          <a:p>
            <a:r>
              <a:rPr lang="ru-RU" b="0" i="0" dirty="0">
                <a:solidFill>
                  <a:srgbClr val="212121"/>
                </a:solidFill>
                <a:effectLst/>
                <a:latin typeface="Roboto" panose="02000000000000000000" pitchFamily="2" charset="0"/>
              </a:rPr>
              <a:t>В обоих случаях, если p ложно, то значение q не определено.</a:t>
            </a:r>
          </a:p>
        </p:txBody>
      </p:sp>
    </p:spTree>
    <p:extLst>
      <p:ext uri="{BB962C8B-B14F-4D97-AF65-F5344CB8AC3E}">
        <p14:creationId xmlns:p14="http://schemas.microsoft.com/office/powerpoint/2010/main" val="1665389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C8541-9063-F390-36EF-3AAB7B3FFC70}"/>
            </a:ext>
          </a:extLst>
        </p:cNvPr>
        <p:cNvGrpSpPr/>
        <p:nvPr/>
      </p:nvGrpSpPr>
      <p:grpSpPr>
        <a:xfrm>
          <a:off x="0" y="0"/>
          <a:ext cx="0" cy="0"/>
          <a:chOff x="0" y="0"/>
          <a:chExt cx="0" cy="0"/>
        </a:xfrm>
      </p:grpSpPr>
      <p:sp>
        <p:nvSpPr>
          <p:cNvPr id="7" name="Заголовок 1">
            <a:extLst>
              <a:ext uri="{FF2B5EF4-FFF2-40B4-BE49-F238E27FC236}">
                <a16:creationId xmlns:a16="http://schemas.microsoft.com/office/drawing/2014/main" id="{080A6A5D-BC50-88FA-14CB-B128E2AF9753}"/>
              </a:ext>
            </a:extLst>
          </p:cNvPr>
          <p:cNvSpPr>
            <a:spLocks noGrp="1"/>
          </p:cNvSpPr>
          <p:nvPr>
            <p:ph type="title"/>
          </p:nvPr>
        </p:nvSpPr>
        <p:spPr>
          <a:xfrm>
            <a:off x="838200" y="365125"/>
            <a:ext cx="10515600" cy="1325563"/>
          </a:xfrm>
        </p:spPr>
        <p:txBody>
          <a:bodyPr>
            <a:normAutofit/>
          </a:bodyPr>
          <a:lstStyle/>
          <a:p>
            <a:r>
              <a:rPr lang="ru-RU" sz="4000" dirty="0"/>
              <a:t>Основы нечеткой логики</a:t>
            </a:r>
          </a:p>
        </p:txBody>
      </p:sp>
      <p:sp>
        <p:nvSpPr>
          <p:cNvPr id="3" name="Номер слайда 2">
            <a:extLst>
              <a:ext uri="{FF2B5EF4-FFF2-40B4-BE49-F238E27FC236}">
                <a16:creationId xmlns:a16="http://schemas.microsoft.com/office/drawing/2014/main" id="{23CA1186-61E2-D4F4-EB33-6876488B9DE9}"/>
              </a:ext>
            </a:extLst>
          </p:cNvPr>
          <p:cNvSpPr>
            <a:spLocks noGrp="1"/>
          </p:cNvSpPr>
          <p:nvPr>
            <p:ph type="sldNum" sz="quarter" idx="12"/>
          </p:nvPr>
        </p:nvSpPr>
        <p:spPr/>
        <p:txBody>
          <a:bodyPr/>
          <a:lstStyle/>
          <a:p>
            <a:fld id="{818D4B0C-12DF-447C-B791-E379AA958CE7}" type="slidenum">
              <a:rPr lang="ru-RU" smtClean="0"/>
              <a:t>12</a:t>
            </a:fld>
            <a:endParaRPr lang="ru-RU"/>
          </a:p>
        </p:txBody>
      </p:sp>
      <p:sp>
        <p:nvSpPr>
          <p:cNvPr id="30" name="TextBox 29">
            <a:extLst>
              <a:ext uri="{FF2B5EF4-FFF2-40B4-BE49-F238E27FC236}">
                <a16:creationId xmlns:a16="http://schemas.microsoft.com/office/drawing/2014/main" id="{95C5C3E2-2EC8-B371-58DB-3E371C78BCB7}"/>
              </a:ext>
            </a:extLst>
          </p:cNvPr>
          <p:cNvSpPr txBox="1"/>
          <p:nvPr/>
        </p:nvSpPr>
        <p:spPr>
          <a:xfrm>
            <a:off x="957459" y="1921248"/>
            <a:ext cx="9517629" cy="4524315"/>
          </a:xfrm>
          <a:prstGeom prst="rect">
            <a:avLst/>
          </a:prstGeom>
          <a:noFill/>
        </p:spPr>
        <p:txBody>
          <a:bodyPr wrap="square">
            <a:spAutoFit/>
          </a:bodyPr>
          <a:lstStyle/>
          <a:p>
            <a:pPr marL="342900" indent="-342900">
              <a:buAutoNum type="arabicPeriod"/>
            </a:pPr>
            <a:r>
              <a:rPr lang="ru-RU" dirty="0" err="1">
                <a:latin typeface="Arial" panose="020B0604020202020204" pitchFamily="34" charset="0"/>
                <a:cs typeface="Arial" panose="020B0604020202020204" pitchFamily="34" charset="0"/>
              </a:rPr>
              <a:t>Фаззификация</a:t>
            </a:r>
            <a:r>
              <a:rPr lang="ru-RU" dirty="0">
                <a:latin typeface="Arial" panose="020B0604020202020204" pitchFamily="34" charset="0"/>
                <a:cs typeface="Arial" panose="020B0604020202020204" pitchFamily="34" charset="0"/>
              </a:rPr>
              <a:t> входов: определить степени истинности всех нечетких высказываний в условии в виде степеней принадлежности в диапазоне от 0 до 1. Если условие состоит из одной части, то полученная величина и есть степень поддержки правила.</a:t>
            </a:r>
          </a:p>
          <a:p>
            <a:pPr marL="342900" indent="-342900">
              <a:buAutoNum type="arabicPeriod"/>
            </a:pPr>
            <a:endParaRPr lang="ru-RU" dirty="0">
              <a:latin typeface="Arial" panose="020B0604020202020204" pitchFamily="34" charset="0"/>
              <a:cs typeface="Arial" panose="020B0604020202020204" pitchFamily="34" charset="0"/>
            </a:endParaRPr>
          </a:p>
          <a:p>
            <a:r>
              <a:rPr lang="ru-RU" dirty="0">
                <a:latin typeface="Arial" panose="020B0604020202020204" pitchFamily="34" charset="0"/>
                <a:cs typeface="Arial" panose="020B0604020202020204" pitchFamily="34" charset="0"/>
              </a:rPr>
              <a:t>2. Применение нечеткого оператора к составному условию: если условие включает несколько частей, применить операции нечеткой логики и свести условие к одному числу в диапазоне от 0 до 1. Это и есть степень поддержки правила.</a:t>
            </a:r>
          </a:p>
          <a:p>
            <a:endParaRPr lang="ru-RU" dirty="0">
              <a:latin typeface="Arial" panose="020B0604020202020204" pitchFamily="34" charset="0"/>
              <a:cs typeface="Arial" panose="020B0604020202020204" pitchFamily="34" charset="0"/>
            </a:endParaRPr>
          </a:p>
          <a:p>
            <a:r>
              <a:rPr lang="ru-RU" dirty="0">
                <a:latin typeface="Arial" panose="020B0604020202020204" pitchFamily="34" charset="0"/>
                <a:cs typeface="Arial" panose="020B0604020202020204" pitchFamily="34" charset="0"/>
              </a:rPr>
              <a:t>3. Применение метода импликации: использовать степень поддержки всего правила для формирования (модификации) выходного нечеткого множества. Следствие нечеткого правила задает для выхода целое нечеткое множество. Это множество представляется функцией принадлежности, выбранной так, чтобы отражать свойства следствия. Если условие истинно лишь частично (то есть ему присвоено значение меньше 1), то выходное нечеткое множество усекается в соответствии с выбранным методом импликации.</a:t>
            </a:r>
          </a:p>
        </p:txBody>
      </p:sp>
      <p:sp>
        <p:nvSpPr>
          <p:cNvPr id="4" name="TextBox 3">
            <a:extLst>
              <a:ext uri="{FF2B5EF4-FFF2-40B4-BE49-F238E27FC236}">
                <a16:creationId xmlns:a16="http://schemas.microsoft.com/office/drawing/2014/main" id="{A16E89D6-CC03-653C-460B-18C20EB5C454}"/>
              </a:ext>
            </a:extLst>
          </p:cNvPr>
          <p:cNvSpPr txBox="1"/>
          <p:nvPr/>
        </p:nvSpPr>
        <p:spPr>
          <a:xfrm>
            <a:off x="838199" y="1278644"/>
            <a:ext cx="6682409"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Правила «Если …, то …» (</a:t>
            </a:r>
            <a:r>
              <a:rPr lang="en-US" sz="2600" dirty="0">
                <a:latin typeface="Arial" panose="020B0604020202020204" pitchFamily="34" charset="0"/>
                <a:cs typeface="Arial" panose="020B0604020202020204" pitchFamily="34" charset="0"/>
              </a:rPr>
              <a:t>If-Then Rules</a:t>
            </a:r>
            <a:r>
              <a:rPr lang="ru-RU" sz="26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748613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7ACEE-E780-E764-832C-C86ED43F5034}"/>
            </a:ext>
          </a:extLst>
        </p:cNvPr>
        <p:cNvGrpSpPr/>
        <p:nvPr/>
      </p:nvGrpSpPr>
      <p:grpSpPr>
        <a:xfrm>
          <a:off x="0" y="0"/>
          <a:ext cx="0" cy="0"/>
          <a:chOff x="0" y="0"/>
          <a:chExt cx="0" cy="0"/>
        </a:xfrm>
      </p:grpSpPr>
      <p:sp>
        <p:nvSpPr>
          <p:cNvPr id="5" name="Заголовок 1">
            <a:extLst>
              <a:ext uri="{FF2B5EF4-FFF2-40B4-BE49-F238E27FC236}">
                <a16:creationId xmlns:a16="http://schemas.microsoft.com/office/drawing/2014/main" id="{7DC3EDC3-1354-B3A4-3EBA-A87AAE068C91}"/>
              </a:ext>
            </a:extLst>
          </p:cNvPr>
          <p:cNvSpPr>
            <a:spLocks noGrp="1"/>
          </p:cNvSpPr>
          <p:nvPr>
            <p:ph type="title"/>
          </p:nvPr>
        </p:nvSpPr>
        <p:spPr>
          <a:xfrm>
            <a:off x="838200" y="365125"/>
            <a:ext cx="10515600" cy="1325563"/>
          </a:xfrm>
        </p:spPr>
        <p:txBody>
          <a:bodyPr>
            <a:normAutofit/>
          </a:bodyPr>
          <a:lstStyle/>
          <a:p>
            <a:r>
              <a:rPr lang="ru-RU" sz="4000" dirty="0"/>
              <a:t>Процесс нечеткого вывода</a:t>
            </a:r>
          </a:p>
        </p:txBody>
      </p:sp>
      <p:sp>
        <p:nvSpPr>
          <p:cNvPr id="20" name="Rectangle 1">
            <a:extLst>
              <a:ext uri="{FF2B5EF4-FFF2-40B4-BE49-F238E27FC236}">
                <a16:creationId xmlns:a16="http://schemas.microsoft.com/office/drawing/2014/main" id="{43E13FB1-BB95-E913-FF82-AF14D28AAF8B}"/>
              </a:ext>
            </a:extLst>
          </p:cNvPr>
          <p:cNvSpPr>
            <a:spLocks noChangeArrowheads="1"/>
          </p:cNvSpPr>
          <p:nvPr/>
        </p:nvSpPr>
        <p:spPr bwMode="auto">
          <a:xfrm>
            <a:off x="838200" y="2802623"/>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rPr>
            </a:br>
            <a:endPar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3" name="Номер слайда 2">
            <a:extLst>
              <a:ext uri="{FF2B5EF4-FFF2-40B4-BE49-F238E27FC236}">
                <a16:creationId xmlns:a16="http://schemas.microsoft.com/office/drawing/2014/main" id="{10EDF798-3EA0-9557-AD31-DACA85945D5B}"/>
              </a:ext>
            </a:extLst>
          </p:cNvPr>
          <p:cNvSpPr>
            <a:spLocks noGrp="1"/>
          </p:cNvSpPr>
          <p:nvPr>
            <p:ph type="sldNum" sz="quarter" idx="12"/>
          </p:nvPr>
        </p:nvSpPr>
        <p:spPr/>
        <p:txBody>
          <a:bodyPr/>
          <a:lstStyle/>
          <a:p>
            <a:fld id="{818D4B0C-12DF-447C-B791-E379AA958CE7}" type="slidenum">
              <a:rPr lang="ru-RU" smtClean="0"/>
              <a:t>13</a:t>
            </a:fld>
            <a:endParaRPr lang="ru-RU"/>
          </a:p>
        </p:txBody>
      </p:sp>
      <p:pic>
        <p:nvPicPr>
          <p:cNvPr id="11266" name="Picture 2" descr="The fuzzy inference process takes crisp inputs, evaluates the rules in parallel using fuzzy reasoning, combines the rule results, and produces a crisp output.">
            <a:extLst>
              <a:ext uri="{FF2B5EF4-FFF2-40B4-BE49-F238E27FC236}">
                <a16:creationId xmlns:a16="http://schemas.microsoft.com/office/drawing/2014/main" id="{9C9EAA3B-03AD-D80B-3D60-F2AD198BB8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6937" y="1613881"/>
            <a:ext cx="7858125" cy="4229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7277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3923E-A2BF-EE11-3947-53876A4D3D34}"/>
            </a:ext>
          </a:extLst>
        </p:cNvPr>
        <p:cNvGrpSpPr/>
        <p:nvPr/>
      </p:nvGrpSpPr>
      <p:grpSpPr>
        <a:xfrm>
          <a:off x="0" y="0"/>
          <a:ext cx="0" cy="0"/>
          <a:chOff x="0" y="0"/>
          <a:chExt cx="0" cy="0"/>
        </a:xfrm>
      </p:grpSpPr>
      <p:sp>
        <p:nvSpPr>
          <p:cNvPr id="20" name="Rectangle 1">
            <a:extLst>
              <a:ext uri="{FF2B5EF4-FFF2-40B4-BE49-F238E27FC236}">
                <a16:creationId xmlns:a16="http://schemas.microsoft.com/office/drawing/2014/main" id="{F259C394-8FBA-C300-7CBC-271706E70A39}"/>
              </a:ext>
            </a:extLst>
          </p:cNvPr>
          <p:cNvSpPr>
            <a:spLocks noChangeArrowheads="1"/>
          </p:cNvSpPr>
          <p:nvPr/>
        </p:nvSpPr>
        <p:spPr bwMode="auto">
          <a:xfrm>
            <a:off x="838200" y="2802623"/>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rPr>
            </a:br>
            <a:endPar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FC412A46-8316-2F0C-B0BB-76A544A0E756}"/>
              </a:ext>
            </a:extLst>
          </p:cNvPr>
          <p:cNvSpPr txBox="1"/>
          <p:nvPr/>
        </p:nvSpPr>
        <p:spPr>
          <a:xfrm>
            <a:off x="838199" y="1278644"/>
            <a:ext cx="7682949"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1. Введение нечеткости (</a:t>
            </a:r>
            <a:r>
              <a:rPr lang="ru-RU" sz="2600" dirty="0" err="1">
                <a:latin typeface="Arial" panose="020B0604020202020204" pitchFamily="34" charset="0"/>
                <a:cs typeface="Arial" panose="020B0604020202020204" pitchFamily="34" charset="0"/>
              </a:rPr>
              <a:t>фаззификация</a:t>
            </a:r>
            <a:r>
              <a:rPr lang="ru-RU" sz="2600" dirty="0">
                <a:latin typeface="Arial" panose="020B0604020202020204" pitchFamily="34" charset="0"/>
                <a:cs typeface="Arial" panose="020B0604020202020204" pitchFamily="34" charset="0"/>
              </a:rPr>
              <a:t> входов)</a:t>
            </a:r>
          </a:p>
        </p:txBody>
      </p:sp>
      <p:sp>
        <p:nvSpPr>
          <p:cNvPr id="3" name="Номер слайда 2">
            <a:extLst>
              <a:ext uri="{FF2B5EF4-FFF2-40B4-BE49-F238E27FC236}">
                <a16:creationId xmlns:a16="http://schemas.microsoft.com/office/drawing/2014/main" id="{373C8B36-C108-1F82-900E-B0DEB1740566}"/>
              </a:ext>
            </a:extLst>
          </p:cNvPr>
          <p:cNvSpPr>
            <a:spLocks noGrp="1"/>
          </p:cNvSpPr>
          <p:nvPr>
            <p:ph type="sldNum" sz="quarter" idx="12"/>
          </p:nvPr>
        </p:nvSpPr>
        <p:spPr/>
        <p:txBody>
          <a:bodyPr/>
          <a:lstStyle/>
          <a:p>
            <a:fld id="{818D4B0C-12DF-447C-B791-E379AA958CE7}" type="slidenum">
              <a:rPr lang="ru-RU" smtClean="0"/>
              <a:t>14</a:t>
            </a:fld>
            <a:endParaRPr lang="ru-RU"/>
          </a:p>
        </p:txBody>
      </p:sp>
      <p:pic>
        <p:nvPicPr>
          <p:cNvPr id="13314" name="Picture 2" descr="For a food rating of 8, the delicious membership function value is 0.7.">
            <a:extLst>
              <a:ext uri="{FF2B5EF4-FFF2-40B4-BE49-F238E27FC236}">
                <a16:creationId xmlns:a16="http://schemas.microsoft.com/office/drawing/2014/main" id="{ED728AB6-43DB-CCAC-2634-0ECB3F59EC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5738" y="2195513"/>
            <a:ext cx="4200525" cy="2466975"/>
          </a:xfrm>
          <a:prstGeom prst="rect">
            <a:avLst/>
          </a:prstGeom>
          <a:noFill/>
          <a:extLst>
            <a:ext uri="{909E8E84-426E-40DD-AFC4-6F175D3DCCD1}">
              <a14:hiddenFill xmlns:a14="http://schemas.microsoft.com/office/drawing/2010/main">
                <a:solidFill>
                  <a:srgbClr val="FFFFFF"/>
                </a:solidFill>
              </a14:hiddenFill>
            </a:ext>
          </a:extLst>
        </p:spPr>
      </p:pic>
      <p:sp>
        <p:nvSpPr>
          <p:cNvPr id="8" name="Заголовок 1">
            <a:extLst>
              <a:ext uri="{FF2B5EF4-FFF2-40B4-BE49-F238E27FC236}">
                <a16:creationId xmlns:a16="http://schemas.microsoft.com/office/drawing/2014/main" id="{1EC60D17-FC5D-ACD4-F340-EFBCB480811F}"/>
              </a:ext>
            </a:extLst>
          </p:cNvPr>
          <p:cNvSpPr>
            <a:spLocks noGrp="1"/>
          </p:cNvSpPr>
          <p:nvPr>
            <p:ph type="title"/>
          </p:nvPr>
        </p:nvSpPr>
        <p:spPr>
          <a:xfrm>
            <a:off x="838200" y="365125"/>
            <a:ext cx="10515600" cy="1325563"/>
          </a:xfrm>
        </p:spPr>
        <p:txBody>
          <a:bodyPr>
            <a:normAutofit/>
          </a:bodyPr>
          <a:lstStyle/>
          <a:p>
            <a:r>
              <a:rPr lang="ru-RU" sz="4000" dirty="0"/>
              <a:t>Процесс нечеткого вывода</a:t>
            </a:r>
          </a:p>
        </p:txBody>
      </p:sp>
    </p:spTree>
    <p:extLst>
      <p:ext uri="{BB962C8B-B14F-4D97-AF65-F5344CB8AC3E}">
        <p14:creationId xmlns:p14="http://schemas.microsoft.com/office/powerpoint/2010/main" val="3053273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D0793-99FA-DD00-20CE-6D6F15DC671F}"/>
            </a:ext>
          </a:extLst>
        </p:cNvPr>
        <p:cNvGrpSpPr/>
        <p:nvPr/>
      </p:nvGrpSpPr>
      <p:grpSpPr>
        <a:xfrm>
          <a:off x="0" y="0"/>
          <a:ext cx="0" cy="0"/>
          <a:chOff x="0" y="0"/>
          <a:chExt cx="0" cy="0"/>
        </a:xfrm>
      </p:grpSpPr>
      <p:sp>
        <p:nvSpPr>
          <p:cNvPr id="20" name="Rectangle 1">
            <a:extLst>
              <a:ext uri="{FF2B5EF4-FFF2-40B4-BE49-F238E27FC236}">
                <a16:creationId xmlns:a16="http://schemas.microsoft.com/office/drawing/2014/main" id="{4A6C011C-9754-BFAA-6332-1C03CF34601C}"/>
              </a:ext>
            </a:extLst>
          </p:cNvPr>
          <p:cNvSpPr>
            <a:spLocks noChangeArrowheads="1"/>
          </p:cNvSpPr>
          <p:nvPr/>
        </p:nvSpPr>
        <p:spPr bwMode="auto">
          <a:xfrm>
            <a:off x="838200" y="2802623"/>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rPr>
            </a:br>
            <a:endPar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628072C4-2F88-C345-FE2D-EBFFBDB45136}"/>
              </a:ext>
            </a:extLst>
          </p:cNvPr>
          <p:cNvSpPr txBox="1"/>
          <p:nvPr/>
        </p:nvSpPr>
        <p:spPr>
          <a:xfrm>
            <a:off x="838200" y="1278644"/>
            <a:ext cx="9226826"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2. Применение нечетких операций</a:t>
            </a:r>
          </a:p>
        </p:txBody>
      </p:sp>
      <p:sp>
        <p:nvSpPr>
          <p:cNvPr id="3" name="Номер слайда 2">
            <a:extLst>
              <a:ext uri="{FF2B5EF4-FFF2-40B4-BE49-F238E27FC236}">
                <a16:creationId xmlns:a16="http://schemas.microsoft.com/office/drawing/2014/main" id="{33B89FCE-1D40-55D1-C625-D51680372FBB}"/>
              </a:ext>
            </a:extLst>
          </p:cNvPr>
          <p:cNvSpPr>
            <a:spLocks noGrp="1"/>
          </p:cNvSpPr>
          <p:nvPr>
            <p:ph type="sldNum" sz="quarter" idx="12"/>
          </p:nvPr>
        </p:nvSpPr>
        <p:spPr/>
        <p:txBody>
          <a:bodyPr/>
          <a:lstStyle/>
          <a:p>
            <a:fld id="{818D4B0C-12DF-447C-B791-E379AA958CE7}" type="slidenum">
              <a:rPr lang="ru-RU" smtClean="0"/>
              <a:t>15</a:t>
            </a:fld>
            <a:endParaRPr lang="ru-RU"/>
          </a:p>
        </p:txBody>
      </p:sp>
      <p:pic>
        <p:nvPicPr>
          <p:cNvPr id="14338" name="Picture 2" descr="For a service rating of 3 and a food rating of 8, fuzzifying the inputs and applying the OR fuzzy operator produces an output of 0.7.">
            <a:extLst>
              <a:ext uri="{FF2B5EF4-FFF2-40B4-BE49-F238E27FC236}">
                <a16:creationId xmlns:a16="http://schemas.microsoft.com/office/drawing/2014/main" id="{DB21B4BA-F85D-5371-BFE4-C8AD778F28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7950" y="2167349"/>
            <a:ext cx="6896100" cy="3000375"/>
          </a:xfrm>
          <a:prstGeom prst="rect">
            <a:avLst/>
          </a:prstGeom>
          <a:noFill/>
          <a:extLst>
            <a:ext uri="{909E8E84-426E-40DD-AFC4-6F175D3DCCD1}">
              <a14:hiddenFill xmlns:a14="http://schemas.microsoft.com/office/drawing/2010/main">
                <a:solidFill>
                  <a:srgbClr val="FFFFFF"/>
                </a:solidFill>
              </a14:hiddenFill>
            </a:ext>
          </a:extLst>
        </p:spPr>
      </p:pic>
      <p:sp>
        <p:nvSpPr>
          <p:cNvPr id="8" name="Заголовок 1">
            <a:extLst>
              <a:ext uri="{FF2B5EF4-FFF2-40B4-BE49-F238E27FC236}">
                <a16:creationId xmlns:a16="http://schemas.microsoft.com/office/drawing/2014/main" id="{1E87A8C8-7830-C665-9077-13B6555773B6}"/>
              </a:ext>
            </a:extLst>
          </p:cNvPr>
          <p:cNvSpPr>
            <a:spLocks noGrp="1"/>
          </p:cNvSpPr>
          <p:nvPr>
            <p:ph type="title"/>
          </p:nvPr>
        </p:nvSpPr>
        <p:spPr>
          <a:xfrm>
            <a:off x="838200" y="365125"/>
            <a:ext cx="10515600" cy="1325563"/>
          </a:xfrm>
        </p:spPr>
        <p:txBody>
          <a:bodyPr>
            <a:normAutofit/>
          </a:bodyPr>
          <a:lstStyle/>
          <a:p>
            <a:r>
              <a:rPr lang="ru-RU" sz="4000" dirty="0"/>
              <a:t>Процесс нечеткого вывода</a:t>
            </a:r>
          </a:p>
        </p:txBody>
      </p:sp>
    </p:spTree>
    <p:extLst>
      <p:ext uri="{BB962C8B-B14F-4D97-AF65-F5344CB8AC3E}">
        <p14:creationId xmlns:p14="http://schemas.microsoft.com/office/powerpoint/2010/main" val="20664128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B1542-279D-E025-7734-DCF5ADD96367}"/>
            </a:ext>
          </a:extLst>
        </p:cNvPr>
        <p:cNvGrpSpPr/>
        <p:nvPr/>
      </p:nvGrpSpPr>
      <p:grpSpPr>
        <a:xfrm>
          <a:off x="0" y="0"/>
          <a:ext cx="0" cy="0"/>
          <a:chOff x="0" y="0"/>
          <a:chExt cx="0" cy="0"/>
        </a:xfrm>
      </p:grpSpPr>
      <p:sp>
        <p:nvSpPr>
          <p:cNvPr id="20" name="Rectangle 1">
            <a:extLst>
              <a:ext uri="{FF2B5EF4-FFF2-40B4-BE49-F238E27FC236}">
                <a16:creationId xmlns:a16="http://schemas.microsoft.com/office/drawing/2014/main" id="{946B2118-D100-1389-DF6D-84CACA08FB50}"/>
              </a:ext>
            </a:extLst>
          </p:cNvPr>
          <p:cNvSpPr>
            <a:spLocks noChangeArrowheads="1"/>
          </p:cNvSpPr>
          <p:nvPr/>
        </p:nvSpPr>
        <p:spPr bwMode="auto">
          <a:xfrm>
            <a:off x="838200" y="2802623"/>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rPr>
            </a:br>
            <a:endPar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7325EF4-72C1-1251-F25F-514DF36626B0}"/>
              </a:ext>
            </a:extLst>
          </p:cNvPr>
          <p:cNvSpPr txBox="1"/>
          <p:nvPr/>
        </p:nvSpPr>
        <p:spPr>
          <a:xfrm>
            <a:off x="838199" y="1278644"/>
            <a:ext cx="7490791"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3. Применение метода импликации</a:t>
            </a:r>
          </a:p>
        </p:txBody>
      </p:sp>
      <p:sp>
        <p:nvSpPr>
          <p:cNvPr id="3" name="Номер слайда 2">
            <a:extLst>
              <a:ext uri="{FF2B5EF4-FFF2-40B4-BE49-F238E27FC236}">
                <a16:creationId xmlns:a16="http://schemas.microsoft.com/office/drawing/2014/main" id="{2D54342F-0D33-5A7F-9285-D60AC8B1734D}"/>
              </a:ext>
            </a:extLst>
          </p:cNvPr>
          <p:cNvSpPr>
            <a:spLocks noGrp="1"/>
          </p:cNvSpPr>
          <p:nvPr>
            <p:ph type="sldNum" sz="quarter" idx="12"/>
          </p:nvPr>
        </p:nvSpPr>
        <p:spPr/>
        <p:txBody>
          <a:bodyPr/>
          <a:lstStyle/>
          <a:p>
            <a:fld id="{818D4B0C-12DF-447C-B791-E379AA958CE7}" type="slidenum">
              <a:rPr lang="ru-RU" smtClean="0"/>
              <a:t>16</a:t>
            </a:fld>
            <a:endParaRPr lang="ru-RU"/>
          </a:p>
        </p:txBody>
      </p:sp>
      <p:pic>
        <p:nvPicPr>
          <p:cNvPr id="15362" name="Picture 2" descr="The minimum implication method truncates the output fuzzy set for a given rule. The output membership function is truncated at the value produced by the rule antecedent.">
            <a:extLst>
              <a:ext uri="{FF2B5EF4-FFF2-40B4-BE49-F238E27FC236}">
                <a16:creationId xmlns:a16="http://schemas.microsoft.com/office/drawing/2014/main" id="{0AA83FBF-9E77-C905-DEB5-605FF0F4C0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6022" y="1790965"/>
            <a:ext cx="8048625" cy="4143375"/>
          </a:xfrm>
          <a:prstGeom prst="rect">
            <a:avLst/>
          </a:prstGeom>
          <a:noFill/>
          <a:extLst>
            <a:ext uri="{909E8E84-426E-40DD-AFC4-6F175D3DCCD1}">
              <a14:hiddenFill xmlns:a14="http://schemas.microsoft.com/office/drawing/2010/main">
                <a:solidFill>
                  <a:srgbClr val="FFFFFF"/>
                </a:solidFill>
              </a14:hiddenFill>
            </a:ext>
          </a:extLst>
        </p:spPr>
      </p:pic>
      <p:sp>
        <p:nvSpPr>
          <p:cNvPr id="7" name="Заголовок 1">
            <a:extLst>
              <a:ext uri="{FF2B5EF4-FFF2-40B4-BE49-F238E27FC236}">
                <a16:creationId xmlns:a16="http://schemas.microsoft.com/office/drawing/2014/main" id="{24F6E4F6-32B0-7BCD-146D-71E7B6EC13F1}"/>
              </a:ext>
            </a:extLst>
          </p:cNvPr>
          <p:cNvSpPr>
            <a:spLocks noGrp="1"/>
          </p:cNvSpPr>
          <p:nvPr>
            <p:ph type="title"/>
          </p:nvPr>
        </p:nvSpPr>
        <p:spPr>
          <a:xfrm>
            <a:off x="838200" y="365125"/>
            <a:ext cx="10515600" cy="1325563"/>
          </a:xfrm>
        </p:spPr>
        <p:txBody>
          <a:bodyPr>
            <a:normAutofit/>
          </a:bodyPr>
          <a:lstStyle/>
          <a:p>
            <a:r>
              <a:rPr lang="ru-RU" sz="4000" dirty="0"/>
              <a:t>Процесс нечеткого вывода</a:t>
            </a:r>
          </a:p>
        </p:txBody>
      </p:sp>
    </p:spTree>
    <p:extLst>
      <p:ext uri="{BB962C8B-B14F-4D97-AF65-F5344CB8AC3E}">
        <p14:creationId xmlns:p14="http://schemas.microsoft.com/office/powerpoint/2010/main" val="11793028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5482F-B16F-D2F4-D880-17CF7C975EC1}"/>
            </a:ext>
          </a:extLst>
        </p:cNvPr>
        <p:cNvGrpSpPr/>
        <p:nvPr/>
      </p:nvGrpSpPr>
      <p:grpSpPr>
        <a:xfrm>
          <a:off x="0" y="0"/>
          <a:ext cx="0" cy="0"/>
          <a:chOff x="0" y="0"/>
          <a:chExt cx="0" cy="0"/>
        </a:xfrm>
      </p:grpSpPr>
      <p:sp>
        <p:nvSpPr>
          <p:cNvPr id="20" name="Rectangle 1">
            <a:extLst>
              <a:ext uri="{FF2B5EF4-FFF2-40B4-BE49-F238E27FC236}">
                <a16:creationId xmlns:a16="http://schemas.microsoft.com/office/drawing/2014/main" id="{87123B1B-E3E4-BB5B-28FF-284E0AA3E939}"/>
              </a:ext>
            </a:extLst>
          </p:cNvPr>
          <p:cNvSpPr>
            <a:spLocks noChangeArrowheads="1"/>
          </p:cNvSpPr>
          <p:nvPr/>
        </p:nvSpPr>
        <p:spPr bwMode="auto">
          <a:xfrm>
            <a:off x="838200" y="2802623"/>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rPr>
            </a:br>
            <a:endPar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58D01512-018D-A446-289B-A12605FDC6B7}"/>
              </a:ext>
            </a:extLst>
          </p:cNvPr>
          <p:cNvSpPr txBox="1"/>
          <p:nvPr/>
        </p:nvSpPr>
        <p:spPr>
          <a:xfrm>
            <a:off x="838200" y="1278644"/>
            <a:ext cx="7855226"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4. Агрегация всех выходов</a:t>
            </a:r>
          </a:p>
        </p:txBody>
      </p:sp>
      <p:sp>
        <p:nvSpPr>
          <p:cNvPr id="3" name="Номер слайда 2">
            <a:extLst>
              <a:ext uri="{FF2B5EF4-FFF2-40B4-BE49-F238E27FC236}">
                <a16:creationId xmlns:a16="http://schemas.microsoft.com/office/drawing/2014/main" id="{F1CDB578-AB4C-2706-1353-22E324BFD522}"/>
              </a:ext>
            </a:extLst>
          </p:cNvPr>
          <p:cNvSpPr>
            <a:spLocks noGrp="1"/>
          </p:cNvSpPr>
          <p:nvPr>
            <p:ph type="sldNum" sz="quarter" idx="12"/>
          </p:nvPr>
        </p:nvSpPr>
        <p:spPr/>
        <p:txBody>
          <a:bodyPr/>
          <a:lstStyle/>
          <a:p>
            <a:fld id="{818D4B0C-12DF-447C-B791-E379AA958CE7}" type="slidenum">
              <a:rPr lang="ru-RU" smtClean="0"/>
              <a:t>17</a:t>
            </a:fld>
            <a:endParaRPr lang="ru-RU"/>
          </a:p>
        </p:txBody>
      </p:sp>
      <p:pic>
        <p:nvPicPr>
          <p:cNvPr id="16386" name="Picture 2" descr="The output fuzzy sets of three rules are combined into a single fuzzy set by taking the maximum membership for each possible output value.">
            <a:extLst>
              <a:ext uri="{FF2B5EF4-FFF2-40B4-BE49-F238E27FC236}">
                <a16:creationId xmlns:a16="http://schemas.microsoft.com/office/drawing/2014/main" id="{B9BDE84E-E30C-6F09-100D-64154A38F7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0640" y="1720382"/>
            <a:ext cx="5850721" cy="4879366"/>
          </a:xfrm>
          <a:prstGeom prst="rect">
            <a:avLst/>
          </a:prstGeom>
          <a:noFill/>
          <a:extLst>
            <a:ext uri="{909E8E84-426E-40DD-AFC4-6F175D3DCCD1}">
              <a14:hiddenFill xmlns:a14="http://schemas.microsoft.com/office/drawing/2010/main">
                <a:solidFill>
                  <a:srgbClr val="FFFFFF"/>
                </a:solidFill>
              </a14:hiddenFill>
            </a:ext>
          </a:extLst>
        </p:spPr>
      </p:pic>
      <p:sp>
        <p:nvSpPr>
          <p:cNvPr id="7" name="Заголовок 1">
            <a:extLst>
              <a:ext uri="{FF2B5EF4-FFF2-40B4-BE49-F238E27FC236}">
                <a16:creationId xmlns:a16="http://schemas.microsoft.com/office/drawing/2014/main" id="{4EB5ACF2-22E3-4919-C4D0-91E34885DA9B}"/>
              </a:ext>
            </a:extLst>
          </p:cNvPr>
          <p:cNvSpPr>
            <a:spLocks noGrp="1"/>
          </p:cNvSpPr>
          <p:nvPr>
            <p:ph type="title"/>
          </p:nvPr>
        </p:nvSpPr>
        <p:spPr>
          <a:xfrm>
            <a:off x="838200" y="365125"/>
            <a:ext cx="10515600" cy="1325563"/>
          </a:xfrm>
        </p:spPr>
        <p:txBody>
          <a:bodyPr>
            <a:normAutofit/>
          </a:bodyPr>
          <a:lstStyle/>
          <a:p>
            <a:r>
              <a:rPr lang="ru-RU" sz="4000" dirty="0"/>
              <a:t>Процесс нечеткого вывода</a:t>
            </a:r>
          </a:p>
        </p:txBody>
      </p:sp>
    </p:spTree>
    <p:extLst>
      <p:ext uri="{BB962C8B-B14F-4D97-AF65-F5344CB8AC3E}">
        <p14:creationId xmlns:p14="http://schemas.microsoft.com/office/powerpoint/2010/main" val="42330961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8C9F9-6352-1867-5D95-5C7981BB71EF}"/>
            </a:ext>
          </a:extLst>
        </p:cNvPr>
        <p:cNvGrpSpPr/>
        <p:nvPr/>
      </p:nvGrpSpPr>
      <p:grpSpPr>
        <a:xfrm>
          <a:off x="0" y="0"/>
          <a:ext cx="0" cy="0"/>
          <a:chOff x="0" y="0"/>
          <a:chExt cx="0" cy="0"/>
        </a:xfrm>
      </p:grpSpPr>
      <p:sp>
        <p:nvSpPr>
          <p:cNvPr id="20" name="Rectangle 1">
            <a:extLst>
              <a:ext uri="{FF2B5EF4-FFF2-40B4-BE49-F238E27FC236}">
                <a16:creationId xmlns:a16="http://schemas.microsoft.com/office/drawing/2014/main" id="{002605A4-F575-942C-C0D2-1FEDE5280268}"/>
              </a:ext>
            </a:extLst>
          </p:cNvPr>
          <p:cNvSpPr>
            <a:spLocks noChangeArrowheads="1"/>
          </p:cNvSpPr>
          <p:nvPr/>
        </p:nvSpPr>
        <p:spPr bwMode="auto">
          <a:xfrm>
            <a:off x="838200" y="2802623"/>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rPr>
            </a:br>
            <a:endPar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A39A810C-0695-2132-EF84-EBBA6AF4CE2E}"/>
              </a:ext>
            </a:extLst>
          </p:cNvPr>
          <p:cNvSpPr txBox="1"/>
          <p:nvPr/>
        </p:nvSpPr>
        <p:spPr>
          <a:xfrm>
            <a:off x="838199" y="1278644"/>
            <a:ext cx="7610061"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5. Приведение к четкости (</a:t>
            </a:r>
            <a:r>
              <a:rPr lang="ru-RU" sz="2600" dirty="0" err="1">
                <a:latin typeface="Arial" panose="020B0604020202020204" pitchFamily="34" charset="0"/>
                <a:cs typeface="Arial" panose="020B0604020202020204" pitchFamily="34" charset="0"/>
              </a:rPr>
              <a:t>дефаззификация</a:t>
            </a:r>
            <a:r>
              <a:rPr lang="ru-RU" sz="2600" dirty="0">
                <a:latin typeface="Arial" panose="020B0604020202020204" pitchFamily="34" charset="0"/>
                <a:cs typeface="Arial" panose="020B0604020202020204" pitchFamily="34" charset="0"/>
              </a:rPr>
              <a:t>)</a:t>
            </a:r>
          </a:p>
        </p:txBody>
      </p:sp>
      <p:sp>
        <p:nvSpPr>
          <p:cNvPr id="3" name="Номер слайда 2">
            <a:extLst>
              <a:ext uri="{FF2B5EF4-FFF2-40B4-BE49-F238E27FC236}">
                <a16:creationId xmlns:a16="http://schemas.microsoft.com/office/drawing/2014/main" id="{8636D4AD-E684-50DD-923D-0641F0E5B308}"/>
              </a:ext>
            </a:extLst>
          </p:cNvPr>
          <p:cNvSpPr>
            <a:spLocks noGrp="1"/>
          </p:cNvSpPr>
          <p:nvPr>
            <p:ph type="sldNum" sz="quarter" idx="12"/>
          </p:nvPr>
        </p:nvSpPr>
        <p:spPr/>
        <p:txBody>
          <a:bodyPr/>
          <a:lstStyle/>
          <a:p>
            <a:fld id="{818D4B0C-12DF-447C-B791-E379AA958CE7}" type="slidenum">
              <a:rPr lang="ru-RU" smtClean="0"/>
              <a:t>18</a:t>
            </a:fld>
            <a:endParaRPr lang="ru-RU"/>
          </a:p>
        </p:txBody>
      </p:sp>
      <p:pic>
        <p:nvPicPr>
          <p:cNvPr id="17410" name="Picture 2" descr="Centroid defuzzification of a sample aggregate output fuzzy set produces a defuzzified tip value of 16.7%.">
            <a:extLst>
              <a:ext uri="{FF2B5EF4-FFF2-40B4-BE49-F238E27FC236}">
                <a16:creationId xmlns:a16="http://schemas.microsoft.com/office/drawing/2014/main" id="{33C6D97F-2463-42A3-B738-5A9D9F99B2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1025" y="2184950"/>
            <a:ext cx="3409950" cy="2819400"/>
          </a:xfrm>
          <a:prstGeom prst="rect">
            <a:avLst/>
          </a:prstGeom>
          <a:noFill/>
          <a:extLst>
            <a:ext uri="{909E8E84-426E-40DD-AFC4-6F175D3DCCD1}">
              <a14:hiddenFill xmlns:a14="http://schemas.microsoft.com/office/drawing/2010/main">
                <a:solidFill>
                  <a:srgbClr val="FFFFFF"/>
                </a:solidFill>
              </a14:hiddenFill>
            </a:ext>
          </a:extLst>
        </p:spPr>
      </p:pic>
      <p:sp>
        <p:nvSpPr>
          <p:cNvPr id="7" name="Заголовок 1">
            <a:extLst>
              <a:ext uri="{FF2B5EF4-FFF2-40B4-BE49-F238E27FC236}">
                <a16:creationId xmlns:a16="http://schemas.microsoft.com/office/drawing/2014/main" id="{2C65AEDE-06DB-A4C5-C508-79FC4F7D99AA}"/>
              </a:ext>
            </a:extLst>
          </p:cNvPr>
          <p:cNvSpPr>
            <a:spLocks noGrp="1"/>
          </p:cNvSpPr>
          <p:nvPr>
            <p:ph type="title"/>
          </p:nvPr>
        </p:nvSpPr>
        <p:spPr>
          <a:xfrm>
            <a:off x="838200" y="365125"/>
            <a:ext cx="10515600" cy="1325563"/>
          </a:xfrm>
        </p:spPr>
        <p:txBody>
          <a:bodyPr>
            <a:normAutofit/>
          </a:bodyPr>
          <a:lstStyle/>
          <a:p>
            <a:r>
              <a:rPr lang="ru-RU" sz="4000" dirty="0"/>
              <a:t>Процесс нечеткого вывода</a:t>
            </a:r>
          </a:p>
        </p:txBody>
      </p:sp>
    </p:spTree>
    <p:extLst>
      <p:ext uri="{BB962C8B-B14F-4D97-AF65-F5344CB8AC3E}">
        <p14:creationId xmlns:p14="http://schemas.microsoft.com/office/powerpoint/2010/main" val="13776144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9A130-F8A3-4028-21F1-8BA59C19122C}"/>
            </a:ext>
          </a:extLst>
        </p:cNvPr>
        <p:cNvGrpSpPr/>
        <p:nvPr/>
      </p:nvGrpSpPr>
      <p:grpSpPr>
        <a:xfrm>
          <a:off x="0" y="0"/>
          <a:ext cx="0" cy="0"/>
          <a:chOff x="0" y="0"/>
          <a:chExt cx="0" cy="0"/>
        </a:xfrm>
      </p:grpSpPr>
      <p:sp>
        <p:nvSpPr>
          <p:cNvPr id="20" name="Rectangle 1">
            <a:extLst>
              <a:ext uri="{FF2B5EF4-FFF2-40B4-BE49-F238E27FC236}">
                <a16:creationId xmlns:a16="http://schemas.microsoft.com/office/drawing/2014/main" id="{0964D572-C747-FCDA-E0D1-B656B355AEF6}"/>
              </a:ext>
            </a:extLst>
          </p:cNvPr>
          <p:cNvSpPr>
            <a:spLocks noChangeArrowheads="1"/>
          </p:cNvSpPr>
          <p:nvPr/>
        </p:nvSpPr>
        <p:spPr bwMode="auto">
          <a:xfrm>
            <a:off x="838200" y="2802623"/>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rPr>
            </a:br>
            <a:endPar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0D2C13D9-C914-37C4-F2D1-338E451F8212}"/>
              </a:ext>
            </a:extLst>
          </p:cNvPr>
          <p:cNvSpPr txBox="1"/>
          <p:nvPr/>
        </p:nvSpPr>
        <p:spPr>
          <a:xfrm>
            <a:off x="838200" y="1278644"/>
            <a:ext cx="8126896"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Схема нечеткого вывода (</a:t>
            </a:r>
            <a:r>
              <a:rPr lang="en-US" sz="2600" dirty="0">
                <a:latin typeface="Arial" panose="020B0604020202020204" pitchFamily="34" charset="0"/>
                <a:cs typeface="Arial" panose="020B0604020202020204" pitchFamily="34" charset="0"/>
              </a:rPr>
              <a:t>Mamdani</a:t>
            </a:r>
            <a:r>
              <a:rPr lang="ru-RU" sz="2600" dirty="0">
                <a:latin typeface="Arial" panose="020B0604020202020204" pitchFamily="34" charset="0"/>
                <a:cs typeface="Arial" panose="020B0604020202020204" pitchFamily="34" charset="0"/>
              </a:rPr>
              <a:t>)</a:t>
            </a:r>
          </a:p>
        </p:txBody>
      </p:sp>
      <p:sp>
        <p:nvSpPr>
          <p:cNvPr id="3" name="Номер слайда 2">
            <a:extLst>
              <a:ext uri="{FF2B5EF4-FFF2-40B4-BE49-F238E27FC236}">
                <a16:creationId xmlns:a16="http://schemas.microsoft.com/office/drawing/2014/main" id="{2EC72411-FE43-63D1-FB41-BCFB328D3CEC}"/>
              </a:ext>
            </a:extLst>
          </p:cNvPr>
          <p:cNvSpPr>
            <a:spLocks noGrp="1"/>
          </p:cNvSpPr>
          <p:nvPr>
            <p:ph type="sldNum" sz="quarter" idx="12"/>
          </p:nvPr>
        </p:nvSpPr>
        <p:spPr/>
        <p:txBody>
          <a:bodyPr/>
          <a:lstStyle/>
          <a:p>
            <a:fld id="{818D4B0C-12DF-447C-B791-E379AA958CE7}" type="slidenum">
              <a:rPr lang="ru-RU" smtClean="0"/>
              <a:t>19</a:t>
            </a:fld>
            <a:endParaRPr lang="ru-RU"/>
          </a:p>
        </p:txBody>
      </p:sp>
      <p:pic>
        <p:nvPicPr>
          <p:cNvPr id="18434" name="Picture 2" descr="Graphical representation of the fuzzy inference process">
            <a:extLst>
              <a:ext uri="{FF2B5EF4-FFF2-40B4-BE49-F238E27FC236}">
                <a16:creationId xmlns:a16="http://schemas.microsoft.com/office/drawing/2014/main" id="{E13F6C12-83C6-AA70-F64E-24E6A33AAA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2750" y="2099408"/>
            <a:ext cx="6286500" cy="3686175"/>
          </a:xfrm>
          <a:prstGeom prst="rect">
            <a:avLst/>
          </a:prstGeom>
          <a:noFill/>
          <a:extLst>
            <a:ext uri="{909E8E84-426E-40DD-AFC4-6F175D3DCCD1}">
              <a14:hiddenFill xmlns:a14="http://schemas.microsoft.com/office/drawing/2010/main">
                <a:solidFill>
                  <a:srgbClr val="FFFFFF"/>
                </a:solidFill>
              </a14:hiddenFill>
            </a:ext>
          </a:extLst>
        </p:spPr>
      </p:pic>
      <p:sp>
        <p:nvSpPr>
          <p:cNvPr id="7" name="Заголовок 1">
            <a:extLst>
              <a:ext uri="{FF2B5EF4-FFF2-40B4-BE49-F238E27FC236}">
                <a16:creationId xmlns:a16="http://schemas.microsoft.com/office/drawing/2014/main" id="{48086F4D-7D73-D6BA-32FA-6AF39C043988}"/>
              </a:ext>
            </a:extLst>
          </p:cNvPr>
          <p:cNvSpPr>
            <a:spLocks noGrp="1"/>
          </p:cNvSpPr>
          <p:nvPr>
            <p:ph type="title"/>
          </p:nvPr>
        </p:nvSpPr>
        <p:spPr>
          <a:xfrm>
            <a:off x="838200" y="365125"/>
            <a:ext cx="10515600" cy="1325563"/>
          </a:xfrm>
        </p:spPr>
        <p:txBody>
          <a:bodyPr>
            <a:normAutofit/>
          </a:bodyPr>
          <a:lstStyle/>
          <a:p>
            <a:r>
              <a:rPr lang="ru-RU" sz="4000" dirty="0"/>
              <a:t>Процесс нечеткого вывода</a:t>
            </a:r>
          </a:p>
        </p:txBody>
      </p:sp>
    </p:spTree>
    <p:extLst>
      <p:ext uri="{BB962C8B-B14F-4D97-AF65-F5344CB8AC3E}">
        <p14:creationId xmlns:p14="http://schemas.microsoft.com/office/powerpoint/2010/main" val="19453008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22F6E-AC0B-5C8D-71DE-58C2F56710D9}"/>
            </a:ext>
          </a:extLst>
        </p:cNvPr>
        <p:cNvGrpSpPr/>
        <p:nvPr/>
      </p:nvGrpSpPr>
      <p:grpSpPr>
        <a:xfrm>
          <a:off x="0" y="0"/>
          <a:ext cx="0" cy="0"/>
          <a:chOff x="0" y="0"/>
          <a:chExt cx="0" cy="0"/>
        </a:xfrm>
      </p:grpSpPr>
      <p:sp>
        <p:nvSpPr>
          <p:cNvPr id="20" name="Rectangle 1">
            <a:extLst>
              <a:ext uri="{FF2B5EF4-FFF2-40B4-BE49-F238E27FC236}">
                <a16:creationId xmlns:a16="http://schemas.microsoft.com/office/drawing/2014/main" id="{EE3D64E0-7C2B-2ACA-D4C9-D3C4E9160A51}"/>
              </a:ext>
            </a:extLst>
          </p:cNvPr>
          <p:cNvSpPr>
            <a:spLocks noChangeArrowheads="1"/>
          </p:cNvSpPr>
          <p:nvPr/>
        </p:nvSpPr>
        <p:spPr bwMode="auto">
          <a:xfrm>
            <a:off x="838200" y="2802623"/>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rPr>
            </a:br>
            <a:endPar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3" name="Номер слайда 2">
            <a:extLst>
              <a:ext uri="{FF2B5EF4-FFF2-40B4-BE49-F238E27FC236}">
                <a16:creationId xmlns:a16="http://schemas.microsoft.com/office/drawing/2014/main" id="{C732CE4F-DF26-F74B-1498-FE8225BD9E7D}"/>
              </a:ext>
            </a:extLst>
          </p:cNvPr>
          <p:cNvSpPr>
            <a:spLocks noGrp="1"/>
          </p:cNvSpPr>
          <p:nvPr>
            <p:ph type="sldNum" sz="quarter" idx="12"/>
          </p:nvPr>
        </p:nvSpPr>
        <p:spPr/>
        <p:txBody>
          <a:bodyPr/>
          <a:lstStyle/>
          <a:p>
            <a:fld id="{818D4B0C-12DF-447C-B791-E379AA958CE7}" type="slidenum">
              <a:rPr lang="ru-RU" smtClean="0"/>
              <a:t>20</a:t>
            </a:fld>
            <a:endParaRPr lang="ru-RU"/>
          </a:p>
        </p:txBody>
      </p:sp>
      <p:pic>
        <p:nvPicPr>
          <p:cNvPr id="19458" name="Picture 2" descr="Combined fuzzy inference diagram for the three-rule basic tipping problem">
            <a:extLst>
              <a:ext uri="{FF2B5EF4-FFF2-40B4-BE49-F238E27FC236}">
                <a16:creationId xmlns:a16="http://schemas.microsoft.com/office/drawing/2014/main" id="{1159B995-2AE2-5555-5DC7-5762F48829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1810843"/>
            <a:ext cx="6096000" cy="4989527"/>
          </a:xfrm>
          <a:prstGeom prst="rect">
            <a:avLst/>
          </a:prstGeom>
          <a:noFill/>
          <a:extLst>
            <a:ext uri="{909E8E84-426E-40DD-AFC4-6F175D3DCCD1}">
              <a14:hiddenFill xmlns:a14="http://schemas.microsoft.com/office/drawing/2010/main">
                <a:solidFill>
                  <a:srgbClr val="FFFFFF"/>
                </a:solidFill>
              </a14:hiddenFill>
            </a:ext>
          </a:extLst>
        </p:spPr>
      </p:pic>
      <p:sp>
        <p:nvSpPr>
          <p:cNvPr id="7" name="Заголовок 1">
            <a:extLst>
              <a:ext uri="{FF2B5EF4-FFF2-40B4-BE49-F238E27FC236}">
                <a16:creationId xmlns:a16="http://schemas.microsoft.com/office/drawing/2014/main" id="{54A7AE16-A85B-DA21-DC7C-2F6D8AD6D4D1}"/>
              </a:ext>
            </a:extLst>
          </p:cNvPr>
          <p:cNvSpPr>
            <a:spLocks noGrp="1"/>
          </p:cNvSpPr>
          <p:nvPr>
            <p:ph type="title"/>
          </p:nvPr>
        </p:nvSpPr>
        <p:spPr>
          <a:xfrm>
            <a:off x="838200" y="365125"/>
            <a:ext cx="10515600" cy="1325563"/>
          </a:xfrm>
        </p:spPr>
        <p:txBody>
          <a:bodyPr>
            <a:normAutofit/>
          </a:bodyPr>
          <a:lstStyle/>
          <a:p>
            <a:r>
              <a:rPr lang="ru-RU" sz="4000" dirty="0"/>
              <a:t>Процесс нечеткого вывода</a:t>
            </a:r>
          </a:p>
        </p:txBody>
      </p:sp>
      <p:sp>
        <p:nvSpPr>
          <p:cNvPr id="8" name="TextBox 7">
            <a:extLst>
              <a:ext uri="{FF2B5EF4-FFF2-40B4-BE49-F238E27FC236}">
                <a16:creationId xmlns:a16="http://schemas.microsoft.com/office/drawing/2014/main" id="{863F15A3-046A-999F-0D67-716496254473}"/>
              </a:ext>
            </a:extLst>
          </p:cNvPr>
          <p:cNvSpPr txBox="1"/>
          <p:nvPr/>
        </p:nvSpPr>
        <p:spPr>
          <a:xfrm>
            <a:off x="838200" y="1278644"/>
            <a:ext cx="8126896"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Схема нечеткого вывода (</a:t>
            </a:r>
            <a:r>
              <a:rPr lang="en-US" sz="2600" dirty="0">
                <a:latin typeface="Arial" panose="020B0604020202020204" pitchFamily="34" charset="0"/>
                <a:cs typeface="Arial" panose="020B0604020202020204" pitchFamily="34" charset="0"/>
              </a:rPr>
              <a:t>Mamdani</a:t>
            </a:r>
            <a:r>
              <a:rPr lang="ru-RU" sz="26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4018655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B9E4E-1150-484B-2F18-6893885D6D50}"/>
            </a:ext>
          </a:extLst>
        </p:cNvPr>
        <p:cNvGrpSpPr/>
        <p:nvPr/>
      </p:nvGrpSpPr>
      <p:grpSpPr>
        <a:xfrm>
          <a:off x="0" y="0"/>
          <a:ext cx="0" cy="0"/>
          <a:chOff x="0" y="0"/>
          <a:chExt cx="0" cy="0"/>
        </a:xfrm>
      </p:grpSpPr>
      <p:sp>
        <p:nvSpPr>
          <p:cNvPr id="20" name="Rectangle 1">
            <a:extLst>
              <a:ext uri="{FF2B5EF4-FFF2-40B4-BE49-F238E27FC236}">
                <a16:creationId xmlns:a16="http://schemas.microsoft.com/office/drawing/2014/main" id="{4D40568B-2A2C-B3FB-E7C3-2BE7D0B1B2ED}"/>
              </a:ext>
            </a:extLst>
          </p:cNvPr>
          <p:cNvSpPr>
            <a:spLocks noChangeArrowheads="1"/>
          </p:cNvSpPr>
          <p:nvPr/>
        </p:nvSpPr>
        <p:spPr bwMode="auto">
          <a:xfrm>
            <a:off x="838200" y="2802623"/>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rPr>
            </a:br>
            <a:endPar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3" name="Номер слайда 2">
            <a:extLst>
              <a:ext uri="{FF2B5EF4-FFF2-40B4-BE49-F238E27FC236}">
                <a16:creationId xmlns:a16="http://schemas.microsoft.com/office/drawing/2014/main" id="{DBCE11D2-2231-4917-621B-432B63B7BFCD}"/>
              </a:ext>
            </a:extLst>
          </p:cNvPr>
          <p:cNvSpPr>
            <a:spLocks noGrp="1"/>
          </p:cNvSpPr>
          <p:nvPr>
            <p:ph type="sldNum" sz="quarter" idx="12"/>
          </p:nvPr>
        </p:nvSpPr>
        <p:spPr/>
        <p:txBody>
          <a:bodyPr/>
          <a:lstStyle/>
          <a:p>
            <a:fld id="{818D4B0C-12DF-447C-B791-E379AA958CE7}" type="slidenum">
              <a:rPr lang="ru-RU" smtClean="0"/>
              <a:t>21</a:t>
            </a:fld>
            <a:endParaRPr lang="ru-RU"/>
          </a:p>
        </p:txBody>
      </p:sp>
      <p:sp>
        <p:nvSpPr>
          <p:cNvPr id="7" name="Заголовок 1">
            <a:extLst>
              <a:ext uri="{FF2B5EF4-FFF2-40B4-BE49-F238E27FC236}">
                <a16:creationId xmlns:a16="http://schemas.microsoft.com/office/drawing/2014/main" id="{8151FEA3-AD52-222F-4DF8-4104C18F7DDE}"/>
              </a:ext>
            </a:extLst>
          </p:cNvPr>
          <p:cNvSpPr>
            <a:spLocks noGrp="1"/>
          </p:cNvSpPr>
          <p:nvPr>
            <p:ph type="title"/>
          </p:nvPr>
        </p:nvSpPr>
        <p:spPr>
          <a:xfrm>
            <a:off x="838200" y="365125"/>
            <a:ext cx="10515600" cy="1325563"/>
          </a:xfrm>
        </p:spPr>
        <p:txBody>
          <a:bodyPr>
            <a:normAutofit/>
          </a:bodyPr>
          <a:lstStyle/>
          <a:p>
            <a:r>
              <a:rPr lang="ru-RU" sz="4000" dirty="0"/>
              <a:t>Процесс нечеткого вывода</a:t>
            </a:r>
          </a:p>
        </p:txBody>
      </p:sp>
      <p:sp>
        <p:nvSpPr>
          <p:cNvPr id="8" name="TextBox 7">
            <a:extLst>
              <a:ext uri="{FF2B5EF4-FFF2-40B4-BE49-F238E27FC236}">
                <a16:creationId xmlns:a16="http://schemas.microsoft.com/office/drawing/2014/main" id="{60F6473C-6478-FFA9-84A4-B1F546BFCAC1}"/>
              </a:ext>
            </a:extLst>
          </p:cNvPr>
          <p:cNvSpPr txBox="1"/>
          <p:nvPr/>
        </p:nvSpPr>
        <p:spPr>
          <a:xfrm>
            <a:off x="838200" y="1278644"/>
            <a:ext cx="8126896"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Алгоритм нечеткого вывода (</a:t>
            </a:r>
            <a:r>
              <a:rPr lang="en-US" sz="2600" dirty="0">
                <a:latin typeface="Arial" panose="020B0604020202020204" pitchFamily="34" charset="0"/>
                <a:cs typeface="Arial" panose="020B0604020202020204" pitchFamily="34" charset="0"/>
              </a:rPr>
              <a:t>Mamdani</a:t>
            </a:r>
            <a:r>
              <a:rPr lang="ru-RU" sz="2600" dirty="0">
                <a:latin typeface="Arial" panose="020B0604020202020204" pitchFamily="34" charset="0"/>
                <a:cs typeface="Arial" panose="020B0604020202020204" pitchFamily="34" charset="0"/>
              </a:rPr>
              <a:t>)</a:t>
            </a:r>
          </a:p>
        </p:txBody>
      </p:sp>
      <p:graphicFrame>
        <p:nvGraphicFramePr>
          <p:cNvPr id="2" name="Object 2">
            <a:extLst>
              <a:ext uri="{FF2B5EF4-FFF2-40B4-BE49-F238E27FC236}">
                <a16:creationId xmlns:a16="http://schemas.microsoft.com/office/drawing/2014/main" id="{9EA796E8-CD66-1A0D-AAEE-080034CC3BAA}"/>
              </a:ext>
            </a:extLst>
          </p:cNvPr>
          <p:cNvGraphicFramePr>
            <a:graphicFrameLocks noChangeAspect="1"/>
          </p:cNvGraphicFramePr>
          <p:nvPr>
            <p:extLst>
              <p:ext uri="{D42A27DB-BD31-4B8C-83A1-F6EECF244321}">
                <p14:modId xmlns:p14="http://schemas.microsoft.com/office/powerpoint/2010/main" val="2591403612"/>
              </p:ext>
            </p:extLst>
          </p:nvPr>
        </p:nvGraphicFramePr>
        <p:xfrm>
          <a:off x="1814513" y="1828800"/>
          <a:ext cx="7772400" cy="4381500"/>
        </p:xfrm>
        <a:graphic>
          <a:graphicData uri="http://schemas.openxmlformats.org/presentationml/2006/ole">
            <mc:AlternateContent xmlns:mc="http://schemas.openxmlformats.org/markup-compatibility/2006">
              <mc:Choice xmlns:v="urn:schemas-microsoft-com:vml" Requires="v">
                <p:oleObj name="Document" r:id="rId2" imgW="6580931" imgH="3708853" progId="Word.Document.12">
                  <p:embed/>
                </p:oleObj>
              </mc:Choice>
              <mc:Fallback>
                <p:oleObj name="Document" r:id="rId2" imgW="6580931" imgH="3708853" progId="Word.Document.12">
                  <p:embed/>
                  <p:pic>
                    <p:nvPicPr>
                      <p:cNvPr id="51202" name="Object 2"/>
                      <p:cNvPicPr>
                        <a:picLocks noChangeAspect="1" noChangeArrowheads="1"/>
                      </p:cNvPicPr>
                      <p:nvPr/>
                    </p:nvPicPr>
                    <p:blipFill>
                      <a:blip r:embed="rId3"/>
                      <a:srcRect/>
                      <a:stretch>
                        <a:fillRect/>
                      </a:stretch>
                    </p:blipFill>
                    <p:spPr bwMode="auto">
                      <a:xfrm>
                        <a:off x="1814513" y="1828800"/>
                        <a:ext cx="7772400" cy="43815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651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067E7-C8B1-6C60-A19A-407CC6CFEF43}"/>
            </a:ext>
          </a:extLst>
        </p:cNvPr>
        <p:cNvGrpSpPr/>
        <p:nvPr/>
      </p:nvGrpSpPr>
      <p:grpSpPr>
        <a:xfrm>
          <a:off x="0" y="0"/>
          <a:ext cx="0" cy="0"/>
          <a:chOff x="0" y="0"/>
          <a:chExt cx="0" cy="0"/>
        </a:xfrm>
      </p:grpSpPr>
      <p:sp>
        <p:nvSpPr>
          <p:cNvPr id="20" name="Rectangle 1">
            <a:extLst>
              <a:ext uri="{FF2B5EF4-FFF2-40B4-BE49-F238E27FC236}">
                <a16:creationId xmlns:a16="http://schemas.microsoft.com/office/drawing/2014/main" id="{44724E12-CDDD-48FB-5048-E8131AFDCECF}"/>
              </a:ext>
            </a:extLst>
          </p:cNvPr>
          <p:cNvSpPr>
            <a:spLocks noChangeArrowheads="1"/>
          </p:cNvSpPr>
          <p:nvPr/>
        </p:nvSpPr>
        <p:spPr bwMode="auto">
          <a:xfrm>
            <a:off x="838200" y="2802623"/>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rPr>
            </a:br>
            <a:endPar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3" name="Номер слайда 2">
            <a:extLst>
              <a:ext uri="{FF2B5EF4-FFF2-40B4-BE49-F238E27FC236}">
                <a16:creationId xmlns:a16="http://schemas.microsoft.com/office/drawing/2014/main" id="{BABA9A51-5BB1-B781-3682-4DA89A92ECF1}"/>
              </a:ext>
            </a:extLst>
          </p:cNvPr>
          <p:cNvSpPr>
            <a:spLocks noGrp="1"/>
          </p:cNvSpPr>
          <p:nvPr>
            <p:ph type="sldNum" sz="quarter" idx="12"/>
          </p:nvPr>
        </p:nvSpPr>
        <p:spPr/>
        <p:txBody>
          <a:bodyPr/>
          <a:lstStyle/>
          <a:p>
            <a:fld id="{818D4B0C-12DF-447C-B791-E379AA958CE7}" type="slidenum">
              <a:rPr lang="ru-RU" smtClean="0"/>
              <a:t>22</a:t>
            </a:fld>
            <a:endParaRPr lang="ru-RU"/>
          </a:p>
        </p:txBody>
      </p:sp>
      <p:sp>
        <p:nvSpPr>
          <p:cNvPr id="7" name="Заголовок 1">
            <a:extLst>
              <a:ext uri="{FF2B5EF4-FFF2-40B4-BE49-F238E27FC236}">
                <a16:creationId xmlns:a16="http://schemas.microsoft.com/office/drawing/2014/main" id="{711CF195-2283-F365-EE3C-84A81E8F591C}"/>
              </a:ext>
            </a:extLst>
          </p:cNvPr>
          <p:cNvSpPr>
            <a:spLocks noGrp="1"/>
          </p:cNvSpPr>
          <p:nvPr>
            <p:ph type="title"/>
          </p:nvPr>
        </p:nvSpPr>
        <p:spPr>
          <a:xfrm>
            <a:off x="838200" y="365125"/>
            <a:ext cx="10515600" cy="1325563"/>
          </a:xfrm>
        </p:spPr>
        <p:txBody>
          <a:bodyPr>
            <a:normAutofit/>
          </a:bodyPr>
          <a:lstStyle/>
          <a:p>
            <a:r>
              <a:rPr lang="ru-RU" sz="4000" dirty="0"/>
              <a:t>Процесс нечеткого вывода</a:t>
            </a:r>
          </a:p>
        </p:txBody>
      </p:sp>
      <p:sp>
        <p:nvSpPr>
          <p:cNvPr id="8" name="TextBox 7">
            <a:extLst>
              <a:ext uri="{FF2B5EF4-FFF2-40B4-BE49-F238E27FC236}">
                <a16:creationId xmlns:a16="http://schemas.microsoft.com/office/drawing/2014/main" id="{78C3606E-3ADF-E315-F4AD-7DAA9C71E9B1}"/>
              </a:ext>
            </a:extLst>
          </p:cNvPr>
          <p:cNvSpPr txBox="1"/>
          <p:nvPr/>
        </p:nvSpPr>
        <p:spPr>
          <a:xfrm>
            <a:off x="838200" y="1278644"/>
            <a:ext cx="8126896"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Схема нечеткого вывода (</a:t>
            </a:r>
            <a:r>
              <a:rPr lang="en-US" sz="2600" dirty="0" err="1">
                <a:latin typeface="Arial" panose="020B0604020202020204" pitchFamily="34" charset="0"/>
                <a:cs typeface="Arial" panose="020B0604020202020204" pitchFamily="34" charset="0"/>
              </a:rPr>
              <a:t>Sugeno</a:t>
            </a:r>
            <a:r>
              <a:rPr lang="ru-RU" sz="2600" dirty="0">
                <a:latin typeface="Arial" panose="020B0604020202020204" pitchFamily="34" charset="0"/>
                <a:cs typeface="Arial" panose="020B0604020202020204" pitchFamily="34" charset="0"/>
              </a:rPr>
              <a:t>)</a:t>
            </a:r>
          </a:p>
        </p:txBody>
      </p:sp>
      <p:sp>
        <p:nvSpPr>
          <p:cNvPr id="24" name="Rectangle 14">
            <a:extLst>
              <a:ext uri="{FF2B5EF4-FFF2-40B4-BE49-F238E27FC236}">
                <a16:creationId xmlns:a16="http://schemas.microsoft.com/office/drawing/2014/main" id="{C52D9DFA-FEC2-0CFE-AB2C-8EA6363F7181}"/>
              </a:ext>
            </a:extLst>
          </p:cNvPr>
          <p:cNvSpPr>
            <a:spLocks noChangeArrowheads="1"/>
          </p:cNvSpPr>
          <p:nvPr/>
        </p:nvSpPr>
        <p:spPr bwMode="auto">
          <a:xfrm>
            <a:off x="5353879" y="505080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200" b="0" i="0" u="none" strike="noStrike" cap="none" normalizeH="0" baseline="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2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a:t>
            </a:r>
            <a:r>
              <a:rPr kumimoji="0" lang="ru-RU" altLang="ru-RU" sz="600" b="0" i="0" u="none" strike="noStrike" cap="none" normalizeH="0" baseline="0">
                <a:ln>
                  <a:noFill/>
                </a:ln>
                <a:solidFill>
                  <a:schemeClr val="tx1"/>
                </a:solidFill>
                <a:effectLst/>
                <a:latin typeface="Arial" panose="020B0604020202020204" pitchFamily="34" charset="0"/>
              </a:rPr>
              <a:t> </a:t>
            </a:r>
            <a:endParaRPr kumimoji="0" lang="ru-RU" altLang="ru-RU" sz="1800" b="0" i="0" u="none" strike="noStrike" cap="none" normalizeH="0" baseline="0">
              <a:ln>
                <a:noFill/>
              </a:ln>
              <a:solidFill>
                <a:schemeClr val="tx1"/>
              </a:solidFill>
              <a:effectLst/>
              <a:latin typeface="Arial" panose="020B0604020202020204" pitchFamily="34" charset="0"/>
            </a:endParaRPr>
          </a:p>
        </p:txBody>
      </p:sp>
      <p:pic>
        <p:nvPicPr>
          <p:cNvPr id="19458" name="Picture 2" descr="Evaluating a rule for a Sugeno system generates both a rule weight and an output level.">
            <a:extLst>
              <a:ext uri="{FF2B5EF4-FFF2-40B4-BE49-F238E27FC236}">
                <a16:creationId xmlns:a16="http://schemas.microsoft.com/office/drawing/2014/main" id="{6D33C2C9-6A9A-2805-8D7A-026BA07DF0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85223"/>
            <a:ext cx="5715000" cy="1781175"/>
          </a:xfrm>
          <a:prstGeom prst="rect">
            <a:avLst/>
          </a:prstGeom>
          <a:noFill/>
          <a:extLst>
            <a:ext uri="{909E8E84-426E-40DD-AFC4-6F175D3DCCD1}">
              <a14:hiddenFill xmlns:a14="http://schemas.microsoft.com/office/drawing/2010/main">
                <a:solidFill>
                  <a:srgbClr val="FFFFFF"/>
                </a:solidFill>
              </a14:hiddenFill>
            </a:ext>
          </a:extLst>
        </p:spPr>
      </p:pic>
      <p:pic>
        <p:nvPicPr>
          <p:cNvPr id="4" name="Рисунок 3" descr="Изображение выглядит как текст, снимок экрана, Шрифт, документ">
            <a:extLst>
              <a:ext uri="{FF2B5EF4-FFF2-40B4-BE49-F238E27FC236}">
                <a16:creationId xmlns:a16="http://schemas.microsoft.com/office/drawing/2014/main" id="{8A268512-9FDF-D6C9-DCDF-6DAE8B18A6B7}"/>
              </a:ext>
            </a:extLst>
          </p:cNvPr>
          <p:cNvPicPr>
            <a:picLocks noChangeAspect="1"/>
          </p:cNvPicPr>
          <p:nvPr/>
        </p:nvPicPr>
        <p:blipFill>
          <a:blip r:embed="rId3"/>
          <a:stretch>
            <a:fillRect/>
          </a:stretch>
        </p:blipFill>
        <p:spPr>
          <a:xfrm>
            <a:off x="5129077" y="2274916"/>
            <a:ext cx="6963046" cy="3182389"/>
          </a:xfrm>
          <a:prstGeom prst="rect">
            <a:avLst/>
          </a:prstGeom>
        </p:spPr>
      </p:pic>
    </p:spTree>
    <p:extLst>
      <p:ext uri="{BB962C8B-B14F-4D97-AF65-F5344CB8AC3E}">
        <p14:creationId xmlns:p14="http://schemas.microsoft.com/office/powerpoint/2010/main" val="2834408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CB26E-D28E-E6F3-BA89-0E0B9ACEC5F5}"/>
            </a:ext>
          </a:extLst>
        </p:cNvPr>
        <p:cNvGrpSpPr/>
        <p:nvPr/>
      </p:nvGrpSpPr>
      <p:grpSpPr>
        <a:xfrm>
          <a:off x="0" y="0"/>
          <a:ext cx="0" cy="0"/>
          <a:chOff x="0" y="0"/>
          <a:chExt cx="0" cy="0"/>
        </a:xfrm>
      </p:grpSpPr>
      <p:sp>
        <p:nvSpPr>
          <p:cNvPr id="20" name="Rectangle 1">
            <a:extLst>
              <a:ext uri="{FF2B5EF4-FFF2-40B4-BE49-F238E27FC236}">
                <a16:creationId xmlns:a16="http://schemas.microsoft.com/office/drawing/2014/main" id="{441CD4D0-47E2-9E06-8161-D5A1B6C53423}"/>
              </a:ext>
            </a:extLst>
          </p:cNvPr>
          <p:cNvSpPr>
            <a:spLocks noChangeArrowheads="1"/>
          </p:cNvSpPr>
          <p:nvPr/>
        </p:nvSpPr>
        <p:spPr bwMode="auto">
          <a:xfrm>
            <a:off x="838200" y="2802623"/>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rPr>
            </a:br>
            <a:endPar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3" name="Номер слайда 2">
            <a:extLst>
              <a:ext uri="{FF2B5EF4-FFF2-40B4-BE49-F238E27FC236}">
                <a16:creationId xmlns:a16="http://schemas.microsoft.com/office/drawing/2014/main" id="{258FE359-E410-0BCF-7738-182AE6548911}"/>
              </a:ext>
            </a:extLst>
          </p:cNvPr>
          <p:cNvSpPr>
            <a:spLocks noGrp="1"/>
          </p:cNvSpPr>
          <p:nvPr>
            <p:ph type="sldNum" sz="quarter" idx="12"/>
          </p:nvPr>
        </p:nvSpPr>
        <p:spPr/>
        <p:txBody>
          <a:bodyPr/>
          <a:lstStyle/>
          <a:p>
            <a:fld id="{818D4B0C-12DF-447C-B791-E379AA958CE7}" type="slidenum">
              <a:rPr lang="ru-RU" smtClean="0"/>
              <a:t>23</a:t>
            </a:fld>
            <a:endParaRPr lang="ru-RU"/>
          </a:p>
        </p:txBody>
      </p:sp>
      <p:sp>
        <p:nvSpPr>
          <p:cNvPr id="7" name="Заголовок 1">
            <a:extLst>
              <a:ext uri="{FF2B5EF4-FFF2-40B4-BE49-F238E27FC236}">
                <a16:creationId xmlns:a16="http://schemas.microsoft.com/office/drawing/2014/main" id="{291AC502-78B5-64AB-1C15-7C6373165435}"/>
              </a:ext>
            </a:extLst>
          </p:cNvPr>
          <p:cNvSpPr>
            <a:spLocks noGrp="1"/>
          </p:cNvSpPr>
          <p:nvPr>
            <p:ph type="title"/>
          </p:nvPr>
        </p:nvSpPr>
        <p:spPr>
          <a:xfrm>
            <a:off x="838200" y="365125"/>
            <a:ext cx="10515600" cy="1325563"/>
          </a:xfrm>
        </p:spPr>
        <p:txBody>
          <a:bodyPr>
            <a:normAutofit/>
          </a:bodyPr>
          <a:lstStyle/>
          <a:p>
            <a:r>
              <a:rPr lang="ru-RU" sz="4000" dirty="0"/>
              <a:t>Процесс нечеткого вывода</a:t>
            </a:r>
          </a:p>
        </p:txBody>
      </p:sp>
      <p:sp>
        <p:nvSpPr>
          <p:cNvPr id="8" name="TextBox 7">
            <a:extLst>
              <a:ext uri="{FF2B5EF4-FFF2-40B4-BE49-F238E27FC236}">
                <a16:creationId xmlns:a16="http://schemas.microsoft.com/office/drawing/2014/main" id="{12B7B90C-76B3-FD30-D8A2-342D78419887}"/>
              </a:ext>
            </a:extLst>
          </p:cNvPr>
          <p:cNvSpPr txBox="1"/>
          <p:nvPr/>
        </p:nvSpPr>
        <p:spPr>
          <a:xfrm>
            <a:off x="838200" y="1278644"/>
            <a:ext cx="8126896"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Алгоритм нечеткого вывода (</a:t>
            </a:r>
            <a:r>
              <a:rPr lang="en-US" sz="2600" dirty="0" err="1">
                <a:latin typeface="Arial" panose="020B0604020202020204" pitchFamily="34" charset="0"/>
                <a:cs typeface="Arial" panose="020B0604020202020204" pitchFamily="34" charset="0"/>
              </a:rPr>
              <a:t>Sugeno</a:t>
            </a:r>
            <a:r>
              <a:rPr lang="ru-RU" sz="2600" dirty="0">
                <a:latin typeface="Arial" panose="020B0604020202020204" pitchFamily="34" charset="0"/>
                <a:cs typeface="Arial" panose="020B0604020202020204" pitchFamily="34" charset="0"/>
              </a:rPr>
              <a:t>)</a:t>
            </a:r>
          </a:p>
        </p:txBody>
      </p:sp>
      <p:sp>
        <p:nvSpPr>
          <p:cNvPr id="24" name="Rectangle 14">
            <a:extLst>
              <a:ext uri="{FF2B5EF4-FFF2-40B4-BE49-F238E27FC236}">
                <a16:creationId xmlns:a16="http://schemas.microsoft.com/office/drawing/2014/main" id="{DF38FE79-16C7-00E3-55C2-913EF6BDE5BD}"/>
              </a:ext>
            </a:extLst>
          </p:cNvPr>
          <p:cNvSpPr>
            <a:spLocks noChangeArrowheads="1"/>
          </p:cNvSpPr>
          <p:nvPr/>
        </p:nvSpPr>
        <p:spPr bwMode="auto">
          <a:xfrm>
            <a:off x="5353879" y="505080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200" b="0" i="0" u="none" strike="noStrike" cap="none" normalizeH="0" baseline="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2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a:t>
            </a:r>
            <a:r>
              <a:rPr kumimoji="0" lang="ru-RU" altLang="ru-RU" sz="600" b="0" i="0" u="none" strike="noStrike" cap="none" normalizeH="0" baseline="0">
                <a:ln>
                  <a:noFill/>
                </a:ln>
                <a:solidFill>
                  <a:schemeClr val="tx1"/>
                </a:solidFill>
                <a:effectLst/>
                <a:latin typeface="Arial" panose="020B0604020202020204" pitchFamily="34" charset="0"/>
              </a:rPr>
              <a:t> </a:t>
            </a:r>
            <a:endParaRPr kumimoji="0" lang="ru-RU" altLang="ru-RU" sz="1800" b="0" i="0" u="none" strike="noStrike" cap="none" normalizeH="0" baseline="0">
              <a:ln>
                <a:noFill/>
              </a:ln>
              <a:solidFill>
                <a:schemeClr val="tx1"/>
              </a:solidFill>
              <a:effectLst/>
              <a:latin typeface="Arial" panose="020B0604020202020204" pitchFamily="34" charset="0"/>
            </a:endParaRPr>
          </a:p>
        </p:txBody>
      </p:sp>
      <p:graphicFrame>
        <p:nvGraphicFramePr>
          <p:cNvPr id="25" name="Object 2">
            <a:extLst>
              <a:ext uri="{FF2B5EF4-FFF2-40B4-BE49-F238E27FC236}">
                <a16:creationId xmlns:a16="http://schemas.microsoft.com/office/drawing/2014/main" id="{61E0E982-2DFF-8EBD-9DEC-54DEEE349226}"/>
              </a:ext>
            </a:extLst>
          </p:cNvPr>
          <p:cNvGraphicFramePr>
            <a:graphicFrameLocks noChangeAspect="1"/>
          </p:cNvGraphicFramePr>
          <p:nvPr>
            <p:extLst>
              <p:ext uri="{D42A27DB-BD31-4B8C-83A1-F6EECF244321}">
                <p14:modId xmlns:p14="http://schemas.microsoft.com/office/powerpoint/2010/main" val="811038294"/>
              </p:ext>
            </p:extLst>
          </p:nvPr>
        </p:nvGraphicFramePr>
        <p:xfrm>
          <a:off x="1419501" y="1970088"/>
          <a:ext cx="9218613" cy="3841750"/>
        </p:xfrm>
        <a:graphic>
          <a:graphicData uri="http://schemas.openxmlformats.org/presentationml/2006/ole">
            <mc:AlternateContent xmlns:mc="http://schemas.openxmlformats.org/markup-compatibility/2006">
              <mc:Choice xmlns:v="urn:schemas-microsoft-com:vml" Requires="v">
                <p:oleObj name="Document" r:id="rId2" imgW="7573232" imgH="3158917" progId="Word.Document.12">
                  <p:embed/>
                </p:oleObj>
              </mc:Choice>
              <mc:Fallback>
                <p:oleObj name="Document" r:id="rId2" imgW="7573232" imgH="3158917" progId="Word.Document.12">
                  <p:embed/>
                  <p:pic>
                    <p:nvPicPr>
                      <p:cNvPr id="54274" name="Object 2"/>
                      <p:cNvPicPr>
                        <a:picLocks noChangeAspect="1" noChangeArrowheads="1"/>
                      </p:cNvPicPr>
                      <p:nvPr/>
                    </p:nvPicPr>
                    <p:blipFill>
                      <a:blip r:embed="rId3"/>
                      <a:srcRect/>
                      <a:stretch>
                        <a:fillRect/>
                      </a:stretch>
                    </p:blipFill>
                    <p:spPr bwMode="auto">
                      <a:xfrm>
                        <a:off x="1419501" y="1970088"/>
                        <a:ext cx="9218613" cy="384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5479842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064D7-95B4-7BD5-60AE-9F8E5F845408}"/>
            </a:ext>
          </a:extLst>
        </p:cNvPr>
        <p:cNvGrpSpPr/>
        <p:nvPr/>
      </p:nvGrpSpPr>
      <p:grpSpPr>
        <a:xfrm>
          <a:off x="0" y="0"/>
          <a:ext cx="0" cy="0"/>
          <a:chOff x="0" y="0"/>
          <a:chExt cx="0" cy="0"/>
        </a:xfrm>
      </p:grpSpPr>
      <p:sp>
        <p:nvSpPr>
          <p:cNvPr id="20" name="Rectangle 1">
            <a:extLst>
              <a:ext uri="{FF2B5EF4-FFF2-40B4-BE49-F238E27FC236}">
                <a16:creationId xmlns:a16="http://schemas.microsoft.com/office/drawing/2014/main" id="{40E11998-AF92-6F4B-6958-C562F1EDECFB}"/>
              </a:ext>
            </a:extLst>
          </p:cNvPr>
          <p:cNvSpPr>
            <a:spLocks noChangeArrowheads="1"/>
          </p:cNvSpPr>
          <p:nvPr/>
        </p:nvSpPr>
        <p:spPr bwMode="auto">
          <a:xfrm>
            <a:off x="838200" y="2802623"/>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rPr>
            </a:br>
            <a:endPar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3" name="Номер слайда 2">
            <a:extLst>
              <a:ext uri="{FF2B5EF4-FFF2-40B4-BE49-F238E27FC236}">
                <a16:creationId xmlns:a16="http://schemas.microsoft.com/office/drawing/2014/main" id="{DAF45E05-8C53-2C5A-E23C-2776D4AC2E5E}"/>
              </a:ext>
            </a:extLst>
          </p:cNvPr>
          <p:cNvSpPr>
            <a:spLocks noGrp="1"/>
          </p:cNvSpPr>
          <p:nvPr>
            <p:ph type="sldNum" sz="quarter" idx="12"/>
          </p:nvPr>
        </p:nvSpPr>
        <p:spPr/>
        <p:txBody>
          <a:bodyPr/>
          <a:lstStyle/>
          <a:p>
            <a:fld id="{818D4B0C-12DF-447C-B791-E379AA958CE7}" type="slidenum">
              <a:rPr lang="ru-RU" smtClean="0"/>
              <a:t>24</a:t>
            </a:fld>
            <a:endParaRPr lang="ru-RU"/>
          </a:p>
        </p:txBody>
      </p:sp>
      <p:pic>
        <p:nvPicPr>
          <p:cNvPr id="22530" name="Picture 2" descr="Sample fuzzy inference diagram for a three-rule Sugeno fuzzy inference system">
            <a:extLst>
              <a:ext uri="{FF2B5EF4-FFF2-40B4-BE49-F238E27FC236}">
                <a16:creationId xmlns:a16="http://schemas.microsoft.com/office/drawing/2014/main" id="{CE7BD57D-2B6B-9103-D06C-F808632671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7174" y="1771087"/>
            <a:ext cx="5737652" cy="5021608"/>
          </a:xfrm>
          <a:prstGeom prst="rect">
            <a:avLst/>
          </a:prstGeom>
          <a:noFill/>
          <a:extLst>
            <a:ext uri="{909E8E84-426E-40DD-AFC4-6F175D3DCCD1}">
              <a14:hiddenFill xmlns:a14="http://schemas.microsoft.com/office/drawing/2010/main">
                <a:solidFill>
                  <a:srgbClr val="FFFFFF"/>
                </a:solidFill>
              </a14:hiddenFill>
            </a:ext>
          </a:extLst>
        </p:spPr>
      </p:pic>
      <p:sp>
        <p:nvSpPr>
          <p:cNvPr id="7" name="Заголовок 1">
            <a:extLst>
              <a:ext uri="{FF2B5EF4-FFF2-40B4-BE49-F238E27FC236}">
                <a16:creationId xmlns:a16="http://schemas.microsoft.com/office/drawing/2014/main" id="{2B584E35-657E-EAF3-C83B-AC2587DCB5D9}"/>
              </a:ext>
            </a:extLst>
          </p:cNvPr>
          <p:cNvSpPr>
            <a:spLocks noGrp="1"/>
          </p:cNvSpPr>
          <p:nvPr>
            <p:ph type="title"/>
          </p:nvPr>
        </p:nvSpPr>
        <p:spPr>
          <a:xfrm>
            <a:off x="838200" y="365125"/>
            <a:ext cx="10515600" cy="1325563"/>
          </a:xfrm>
        </p:spPr>
        <p:txBody>
          <a:bodyPr>
            <a:normAutofit/>
          </a:bodyPr>
          <a:lstStyle/>
          <a:p>
            <a:r>
              <a:rPr lang="ru-RU" sz="4000" dirty="0"/>
              <a:t>Процесс нечеткого вывода</a:t>
            </a:r>
          </a:p>
        </p:txBody>
      </p:sp>
      <p:sp>
        <p:nvSpPr>
          <p:cNvPr id="8" name="TextBox 7">
            <a:extLst>
              <a:ext uri="{FF2B5EF4-FFF2-40B4-BE49-F238E27FC236}">
                <a16:creationId xmlns:a16="http://schemas.microsoft.com/office/drawing/2014/main" id="{355AAAB7-C44E-1B29-E09D-930314263169}"/>
              </a:ext>
            </a:extLst>
          </p:cNvPr>
          <p:cNvSpPr txBox="1"/>
          <p:nvPr/>
        </p:nvSpPr>
        <p:spPr>
          <a:xfrm>
            <a:off x="838200" y="1278644"/>
            <a:ext cx="8126896"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Общая схема нечеткого вывода (</a:t>
            </a:r>
            <a:r>
              <a:rPr lang="en-US" sz="2600" dirty="0" err="1">
                <a:latin typeface="Arial" panose="020B0604020202020204" pitchFamily="34" charset="0"/>
                <a:cs typeface="Arial" panose="020B0604020202020204" pitchFamily="34" charset="0"/>
              </a:rPr>
              <a:t>Sugeno</a:t>
            </a:r>
            <a:r>
              <a:rPr lang="ru-RU" sz="26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7228136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76D50-E0F8-2C3B-13FE-CBA54DB11CF1}"/>
            </a:ext>
          </a:extLst>
        </p:cNvPr>
        <p:cNvGrpSpPr/>
        <p:nvPr/>
      </p:nvGrpSpPr>
      <p:grpSpPr>
        <a:xfrm>
          <a:off x="0" y="0"/>
          <a:ext cx="0" cy="0"/>
          <a:chOff x="0" y="0"/>
          <a:chExt cx="0" cy="0"/>
        </a:xfrm>
      </p:grpSpPr>
      <p:sp>
        <p:nvSpPr>
          <p:cNvPr id="5" name="Заголовок 1">
            <a:extLst>
              <a:ext uri="{FF2B5EF4-FFF2-40B4-BE49-F238E27FC236}">
                <a16:creationId xmlns:a16="http://schemas.microsoft.com/office/drawing/2014/main" id="{D7BBAC62-025E-7063-D972-647824361DB6}"/>
              </a:ext>
            </a:extLst>
          </p:cNvPr>
          <p:cNvSpPr>
            <a:spLocks noGrp="1"/>
          </p:cNvSpPr>
          <p:nvPr>
            <p:ph type="title"/>
          </p:nvPr>
        </p:nvSpPr>
        <p:spPr>
          <a:xfrm>
            <a:off x="838200" y="365125"/>
            <a:ext cx="10515600" cy="1325563"/>
          </a:xfrm>
        </p:spPr>
        <p:txBody>
          <a:bodyPr>
            <a:normAutofit/>
          </a:bodyPr>
          <a:lstStyle/>
          <a:p>
            <a:r>
              <a:rPr lang="ru-RU" sz="4000" dirty="0"/>
              <a:t>Решение типовых задач</a:t>
            </a:r>
          </a:p>
        </p:txBody>
      </p:sp>
      <p:sp>
        <p:nvSpPr>
          <p:cNvPr id="20" name="Rectangle 1">
            <a:extLst>
              <a:ext uri="{FF2B5EF4-FFF2-40B4-BE49-F238E27FC236}">
                <a16:creationId xmlns:a16="http://schemas.microsoft.com/office/drawing/2014/main" id="{13F54394-7109-D0A4-64C4-6984DCD47283}"/>
              </a:ext>
            </a:extLst>
          </p:cNvPr>
          <p:cNvSpPr>
            <a:spLocks noChangeArrowheads="1"/>
          </p:cNvSpPr>
          <p:nvPr/>
        </p:nvSpPr>
        <p:spPr bwMode="auto">
          <a:xfrm>
            <a:off x="838200" y="2802623"/>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rPr>
            </a:br>
            <a:endPar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D554945C-4E61-E389-AC31-FC5E411AF29C}"/>
              </a:ext>
            </a:extLst>
          </p:cNvPr>
          <p:cNvSpPr txBox="1"/>
          <p:nvPr/>
        </p:nvSpPr>
        <p:spPr>
          <a:xfrm>
            <a:off x="838200" y="1278644"/>
            <a:ext cx="6096000"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Пример 1 </a:t>
            </a:r>
          </a:p>
        </p:txBody>
      </p:sp>
      <p:sp>
        <p:nvSpPr>
          <p:cNvPr id="3" name="Номер слайда 2">
            <a:extLst>
              <a:ext uri="{FF2B5EF4-FFF2-40B4-BE49-F238E27FC236}">
                <a16:creationId xmlns:a16="http://schemas.microsoft.com/office/drawing/2014/main" id="{45649110-6564-429F-56DD-848608F1D198}"/>
              </a:ext>
            </a:extLst>
          </p:cNvPr>
          <p:cNvSpPr>
            <a:spLocks noGrp="1"/>
          </p:cNvSpPr>
          <p:nvPr>
            <p:ph type="sldNum" sz="quarter" idx="12"/>
          </p:nvPr>
        </p:nvSpPr>
        <p:spPr/>
        <p:txBody>
          <a:bodyPr/>
          <a:lstStyle/>
          <a:p>
            <a:fld id="{818D4B0C-12DF-447C-B791-E379AA958CE7}" type="slidenum">
              <a:rPr lang="ru-RU" smtClean="0"/>
              <a:t>25</a:t>
            </a:fld>
            <a:endParaRPr lang="ru-RU"/>
          </a:p>
        </p:txBody>
      </p:sp>
      <p:sp>
        <p:nvSpPr>
          <p:cNvPr id="4" name="TextBox 3">
            <a:extLst>
              <a:ext uri="{FF2B5EF4-FFF2-40B4-BE49-F238E27FC236}">
                <a16:creationId xmlns:a16="http://schemas.microsoft.com/office/drawing/2014/main" id="{619A98E3-A166-070A-AE59-7876C64B6CA5}"/>
              </a:ext>
            </a:extLst>
          </p:cNvPr>
          <p:cNvSpPr txBox="1"/>
          <p:nvPr/>
        </p:nvSpPr>
        <p:spPr>
          <a:xfrm>
            <a:off x="838200" y="1771087"/>
            <a:ext cx="10515600" cy="923330"/>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Построить функции принадлежности термов "низкий", "средний", "высокий", используемых для лингвистической оценки переменной "рост мужчины".</a:t>
            </a:r>
          </a:p>
          <a:p>
            <a:r>
              <a:rPr lang="ru-RU" dirty="0">
                <a:latin typeface="Arial" panose="020B0604020202020204" pitchFamily="34" charset="0"/>
                <a:cs typeface="Arial" panose="020B0604020202020204" pitchFamily="34" charset="0"/>
              </a:rPr>
              <a:t>Результаты опроса пяти экспертов приведены в таблице.</a:t>
            </a:r>
          </a:p>
        </p:txBody>
      </p:sp>
      <p:graphicFrame>
        <p:nvGraphicFramePr>
          <p:cNvPr id="10" name="Таблица 9">
            <a:extLst>
              <a:ext uri="{FF2B5EF4-FFF2-40B4-BE49-F238E27FC236}">
                <a16:creationId xmlns:a16="http://schemas.microsoft.com/office/drawing/2014/main" id="{C4455C29-FD3E-2C7D-872C-84E8ED91CA3A}"/>
              </a:ext>
            </a:extLst>
          </p:cNvPr>
          <p:cNvGraphicFramePr>
            <a:graphicFrameLocks noGrp="1"/>
          </p:cNvGraphicFramePr>
          <p:nvPr>
            <p:extLst>
              <p:ext uri="{D42A27DB-BD31-4B8C-83A1-F6EECF244321}">
                <p14:modId xmlns:p14="http://schemas.microsoft.com/office/powerpoint/2010/main" val="2514109123"/>
              </p:ext>
            </p:extLst>
          </p:nvPr>
        </p:nvGraphicFramePr>
        <p:xfrm>
          <a:off x="1846120" y="2771499"/>
          <a:ext cx="8499760" cy="3721376"/>
        </p:xfrm>
        <a:graphic>
          <a:graphicData uri="http://schemas.openxmlformats.org/drawingml/2006/table">
            <a:tbl>
              <a:tblPr/>
              <a:tblGrid>
                <a:gridCol w="894080">
                  <a:extLst>
                    <a:ext uri="{9D8B030D-6E8A-4147-A177-3AD203B41FA5}">
                      <a16:colId xmlns:a16="http://schemas.microsoft.com/office/drawing/2014/main" val="2772897379"/>
                    </a:ext>
                  </a:extLst>
                </a:gridCol>
                <a:gridCol w="805872">
                  <a:extLst>
                    <a:ext uri="{9D8B030D-6E8A-4147-A177-3AD203B41FA5}">
                      <a16:colId xmlns:a16="http://schemas.microsoft.com/office/drawing/2014/main" val="2384439569"/>
                    </a:ext>
                  </a:extLst>
                </a:gridCol>
                <a:gridCol w="849976">
                  <a:extLst>
                    <a:ext uri="{9D8B030D-6E8A-4147-A177-3AD203B41FA5}">
                      <a16:colId xmlns:a16="http://schemas.microsoft.com/office/drawing/2014/main" val="1966547009"/>
                    </a:ext>
                  </a:extLst>
                </a:gridCol>
                <a:gridCol w="849976">
                  <a:extLst>
                    <a:ext uri="{9D8B030D-6E8A-4147-A177-3AD203B41FA5}">
                      <a16:colId xmlns:a16="http://schemas.microsoft.com/office/drawing/2014/main" val="2842194635"/>
                    </a:ext>
                  </a:extLst>
                </a:gridCol>
                <a:gridCol w="849976">
                  <a:extLst>
                    <a:ext uri="{9D8B030D-6E8A-4147-A177-3AD203B41FA5}">
                      <a16:colId xmlns:a16="http://schemas.microsoft.com/office/drawing/2014/main" val="3909278183"/>
                    </a:ext>
                  </a:extLst>
                </a:gridCol>
                <a:gridCol w="849976">
                  <a:extLst>
                    <a:ext uri="{9D8B030D-6E8A-4147-A177-3AD203B41FA5}">
                      <a16:colId xmlns:a16="http://schemas.microsoft.com/office/drawing/2014/main" val="1895911639"/>
                    </a:ext>
                  </a:extLst>
                </a:gridCol>
                <a:gridCol w="849976">
                  <a:extLst>
                    <a:ext uri="{9D8B030D-6E8A-4147-A177-3AD203B41FA5}">
                      <a16:colId xmlns:a16="http://schemas.microsoft.com/office/drawing/2014/main" val="3297072388"/>
                    </a:ext>
                  </a:extLst>
                </a:gridCol>
                <a:gridCol w="849976">
                  <a:extLst>
                    <a:ext uri="{9D8B030D-6E8A-4147-A177-3AD203B41FA5}">
                      <a16:colId xmlns:a16="http://schemas.microsoft.com/office/drawing/2014/main" val="2698546223"/>
                    </a:ext>
                  </a:extLst>
                </a:gridCol>
                <a:gridCol w="849976">
                  <a:extLst>
                    <a:ext uri="{9D8B030D-6E8A-4147-A177-3AD203B41FA5}">
                      <a16:colId xmlns:a16="http://schemas.microsoft.com/office/drawing/2014/main" val="1824946120"/>
                    </a:ext>
                  </a:extLst>
                </a:gridCol>
                <a:gridCol w="849976">
                  <a:extLst>
                    <a:ext uri="{9D8B030D-6E8A-4147-A177-3AD203B41FA5}">
                      <a16:colId xmlns:a16="http://schemas.microsoft.com/office/drawing/2014/main" val="2597574677"/>
                    </a:ext>
                  </a:extLst>
                </a:gridCol>
              </a:tblGrid>
              <a:tr h="152534">
                <a:tc>
                  <a:txBody>
                    <a:bodyPr/>
                    <a:lstStyle/>
                    <a:p>
                      <a:pPr algn="ctr">
                        <a:buNone/>
                      </a:pPr>
                      <a:r>
                        <a:rPr lang="en-US" sz="1100" dirty="0">
                          <a:latin typeface="Arial" panose="020B0604020202020204" pitchFamily="34" charset="0"/>
                          <a:cs typeface="Arial" panose="020B0604020202020204" pitchFamily="34" charset="0"/>
                        </a:rPr>
                        <a:t>k</a:t>
                      </a:r>
                      <a:endParaRPr lang="ru-RU" sz="1100" dirty="0">
                        <a:latin typeface="Arial" panose="020B0604020202020204" pitchFamily="34" charset="0"/>
                        <a:cs typeface="Arial" panose="020B0604020202020204" pitchFamily="34" charset="0"/>
                      </a:endParaRP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ru-RU" sz="1100" dirty="0">
                          <a:latin typeface="Arial" panose="020B0604020202020204" pitchFamily="34" charset="0"/>
                          <a:cs typeface="Arial" panose="020B0604020202020204" pitchFamily="34" charset="0"/>
                        </a:rPr>
                        <a:t>Термы</a:t>
                      </a:r>
                      <a:endParaRPr lang="en-US" sz="1100" dirty="0">
                        <a:latin typeface="Arial" panose="020B0604020202020204" pitchFamily="34" charset="0"/>
                        <a:cs typeface="Arial" panose="020B0604020202020204" pitchFamily="34" charset="0"/>
                      </a:endParaRP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[160,165)</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[165,170)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[170,175)</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[175,180)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[180,185)</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[185,190)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[190,195)</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[195,200)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7783987"/>
                  </a:ext>
                </a:extLst>
              </a:tr>
              <a:tr h="152534">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100" dirty="0">
                          <a:latin typeface="Arial" panose="020B0604020202020204" pitchFamily="34" charset="0"/>
                          <a:cs typeface="Arial" panose="020B0604020202020204" pitchFamily="34" charset="0"/>
                        </a:rPr>
                        <a:t>Эксперт</a:t>
                      </a:r>
                      <a:r>
                        <a:rPr lang="en-US" sz="1100" dirty="0">
                          <a:latin typeface="Arial" panose="020B0604020202020204" pitchFamily="34" charset="0"/>
                          <a:cs typeface="Arial" panose="020B0604020202020204" pitchFamily="34" charset="0"/>
                        </a:rPr>
                        <a:t> </a:t>
                      </a:r>
                      <a:r>
                        <a:rPr lang="ru-RU" sz="1100" dirty="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ru-RU" sz="1100" dirty="0">
                          <a:latin typeface="Arial" panose="020B0604020202020204" pitchFamily="34" charset="0"/>
                          <a:cs typeface="Arial" panose="020B0604020202020204" pitchFamily="34" charset="0"/>
                        </a:rPr>
                        <a:t>низкий</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1990020"/>
                  </a:ext>
                </a:extLst>
              </a:tr>
              <a:tr h="152534">
                <a:tc vMerge="1">
                  <a:txBody>
                    <a:bodyPr/>
                    <a:lstStyle/>
                    <a:p>
                      <a:endParaRP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ru-RU" sz="1100" dirty="0">
                          <a:latin typeface="Arial" panose="020B0604020202020204" pitchFamily="34" charset="0"/>
                          <a:cs typeface="Arial" panose="020B0604020202020204" pitchFamily="34" charset="0"/>
                        </a:rPr>
                        <a:t>средний</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4446408"/>
                  </a:ext>
                </a:extLst>
              </a:tr>
              <a:tr h="152534">
                <a:tc vMerge="1">
                  <a:txBody>
                    <a:bodyPr/>
                    <a:lstStyle/>
                    <a:p>
                      <a:endParaRPr dirty="0"/>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ru-RU" sz="1100">
                          <a:latin typeface="Arial" panose="020B0604020202020204" pitchFamily="34" charset="0"/>
                          <a:cs typeface="Arial" panose="020B0604020202020204" pitchFamily="34" charset="0"/>
                        </a:rPr>
                        <a:t>высокий</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579661"/>
                  </a:ext>
                </a:extLst>
              </a:tr>
              <a:tr h="152534">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100" dirty="0">
                          <a:latin typeface="Arial" panose="020B0604020202020204" pitchFamily="34" charset="0"/>
                          <a:cs typeface="Arial" panose="020B0604020202020204" pitchFamily="34" charset="0"/>
                        </a:rPr>
                        <a:t>Эксперт</a:t>
                      </a:r>
                      <a:r>
                        <a:rPr lang="en-US" sz="1100" dirty="0">
                          <a:latin typeface="Arial" panose="020B0604020202020204" pitchFamily="34" charset="0"/>
                          <a:cs typeface="Arial" panose="020B0604020202020204" pitchFamily="34" charset="0"/>
                        </a:rPr>
                        <a:t> </a:t>
                      </a:r>
                      <a:r>
                        <a:rPr lang="ru-RU" sz="1100" dirty="0">
                          <a:latin typeface="Arial" panose="020B0604020202020204" pitchFamily="34" charset="0"/>
                          <a:cs typeface="Arial" panose="020B0604020202020204" pitchFamily="34" charset="0"/>
                        </a:rPr>
                        <a:t>2</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ru-RU" sz="1100">
                          <a:latin typeface="Arial" panose="020B0604020202020204" pitchFamily="34" charset="0"/>
                          <a:cs typeface="Arial" panose="020B0604020202020204" pitchFamily="34" charset="0"/>
                        </a:rPr>
                        <a:t>низкий</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3786482"/>
                  </a:ext>
                </a:extLst>
              </a:tr>
              <a:tr h="152534">
                <a:tc vMerge="1">
                  <a:txBody>
                    <a:bodyPr/>
                    <a:lstStyle/>
                    <a:p>
                      <a:endParaRP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ru-RU" sz="1100">
                          <a:latin typeface="Arial" panose="020B0604020202020204" pitchFamily="34" charset="0"/>
                          <a:cs typeface="Arial" panose="020B0604020202020204" pitchFamily="34" charset="0"/>
                        </a:rPr>
                        <a:t>средний</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9016607"/>
                  </a:ext>
                </a:extLst>
              </a:tr>
              <a:tr h="152534">
                <a:tc vMerge="1">
                  <a:txBody>
                    <a:bodyPr/>
                    <a:lstStyle/>
                    <a:p>
                      <a:endParaRPr dirty="0"/>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ru-RU" sz="1100">
                          <a:latin typeface="Arial" panose="020B0604020202020204" pitchFamily="34" charset="0"/>
                          <a:cs typeface="Arial" panose="020B0604020202020204" pitchFamily="34" charset="0"/>
                        </a:rPr>
                        <a:t>высокий</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949465"/>
                  </a:ext>
                </a:extLst>
              </a:tr>
              <a:tr h="152534">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100" dirty="0">
                          <a:latin typeface="Arial" panose="020B0604020202020204" pitchFamily="34" charset="0"/>
                          <a:cs typeface="Arial" panose="020B0604020202020204" pitchFamily="34" charset="0"/>
                        </a:rPr>
                        <a:t>Эксперт</a:t>
                      </a:r>
                      <a:r>
                        <a:rPr lang="en-US" sz="1100" dirty="0">
                          <a:latin typeface="Arial" panose="020B0604020202020204" pitchFamily="34" charset="0"/>
                          <a:cs typeface="Arial" panose="020B0604020202020204" pitchFamily="34" charset="0"/>
                        </a:rPr>
                        <a:t> </a:t>
                      </a:r>
                      <a:r>
                        <a:rPr lang="ru-RU" sz="1100" dirty="0">
                          <a:latin typeface="Arial" panose="020B0604020202020204" pitchFamily="34" charset="0"/>
                          <a:cs typeface="Arial" panose="020B0604020202020204" pitchFamily="34" charset="0"/>
                        </a:rPr>
                        <a:t>3</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ru-RU" sz="1100">
                          <a:latin typeface="Arial" panose="020B0604020202020204" pitchFamily="34" charset="0"/>
                          <a:cs typeface="Arial" panose="020B0604020202020204" pitchFamily="34" charset="0"/>
                        </a:rPr>
                        <a:t>низкий</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2567409"/>
                  </a:ext>
                </a:extLst>
              </a:tr>
              <a:tr h="152534">
                <a:tc vMerge="1">
                  <a:txBody>
                    <a:bodyPr/>
                    <a:lstStyle/>
                    <a:p>
                      <a:endParaRP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ru-RU" sz="1100">
                          <a:latin typeface="Arial" panose="020B0604020202020204" pitchFamily="34" charset="0"/>
                          <a:cs typeface="Arial" panose="020B0604020202020204" pitchFamily="34" charset="0"/>
                        </a:rPr>
                        <a:t>средний</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0233943"/>
                  </a:ext>
                </a:extLst>
              </a:tr>
              <a:tr h="152534">
                <a:tc vMerge="1">
                  <a:txBody>
                    <a:bodyPr/>
                    <a:lstStyle/>
                    <a:p>
                      <a:endParaRPr dirty="0"/>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ru-RU" sz="1100">
                          <a:latin typeface="Arial" panose="020B0604020202020204" pitchFamily="34" charset="0"/>
                          <a:cs typeface="Arial" panose="020B0604020202020204" pitchFamily="34" charset="0"/>
                        </a:rPr>
                        <a:t>высокий</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465012"/>
                  </a:ext>
                </a:extLst>
              </a:tr>
              <a:tr h="152534">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100" dirty="0">
                          <a:latin typeface="Arial" panose="020B0604020202020204" pitchFamily="34" charset="0"/>
                          <a:cs typeface="Arial" panose="020B0604020202020204" pitchFamily="34" charset="0"/>
                        </a:rPr>
                        <a:t>Эксперт</a:t>
                      </a:r>
                      <a:r>
                        <a:rPr lang="en-US" sz="1100" dirty="0">
                          <a:latin typeface="Arial" panose="020B0604020202020204" pitchFamily="34" charset="0"/>
                          <a:cs typeface="Arial" panose="020B0604020202020204" pitchFamily="34" charset="0"/>
                        </a:rPr>
                        <a:t> </a:t>
                      </a:r>
                      <a:r>
                        <a:rPr lang="ru-RU" sz="1100" dirty="0">
                          <a:latin typeface="Arial" panose="020B0604020202020204" pitchFamily="34" charset="0"/>
                          <a:cs typeface="Arial" panose="020B0604020202020204" pitchFamily="34" charset="0"/>
                        </a:rPr>
                        <a:t>4</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ru-RU" sz="1100">
                          <a:latin typeface="Arial" panose="020B0604020202020204" pitchFamily="34" charset="0"/>
                          <a:cs typeface="Arial" panose="020B0604020202020204" pitchFamily="34" charset="0"/>
                        </a:rPr>
                        <a:t>низкий</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632455"/>
                  </a:ext>
                </a:extLst>
              </a:tr>
              <a:tr h="152534">
                <a:tc vMerge="1">
                  <a:txBody>
                    <a:bodyPr/>
                    <a:lstStyle/>
                    <a:p>
                      <a:endParaRP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ru-RU" sz="1100">
                          <a:latin typeface="Arial" panose="020B0604020202020204" pitchFamily="34" charset="0"/>
                          <a:cs typeface="Arial" panose="020B0604020202020204" pitchFamily="34" charset="0"/>
                        </a:rPr>
                        <a:t>средний</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9235150"/>
                  </a:ext>
                </a:extLst>
              </a:tr>
              <a:tr h="152534">
                <a:tc vMerge="1">
                  <a:txBody>
                    <a:bodyPr/>
                    <a:lstStyle/>
                    <a:p>
                      <a:endParaRPr dirty="0"/>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ru-RU" sz="1100">
                          <a:latin typeface="Arial" panose="020B0604020202020204" pitchFamily="34" charset="0"/>
                          <a:cs typeface="Arial" panose="020B0604020202020204" pitchFamily="34" charset="0"/>
                        </a:rPr>
                        <a:t>высокий</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0127578"/>
                  </a:ext>
                </a:extLst>
              </a:tr>
              <a:tr h="152534">
                <a:tc rowSpan="3">
                  <a:txBody>
                    <a:bodyPr/>
                    <a:lstStyle/>
                    <a:p>
                      <a:pPr>
                        <a:buNone/>
                      </a:pPr>
                      <a:r>
                        <a:rPr lang="ru-RU" sz="1100" dirty="0">
                          <a:latin typeface="Arial" panose="020B0604020202020204" pitchFamily="34" charset="0"/>
                          <a:cs typeface="Arial" panose="020B0604020202020204" pitchFamily="34" charset="0"/>
                        </a:rPr>
                        <a:t>Эксперт 5</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ru-RU" sz="1100">
                          <a:latin typeface="Arial" panose="020B0604020202020204" pitchFamily="34" charset="0"/>
                          <a:cs typeface="Arial" panose="020B0604020202020204" pitchFamily="34" charset="0"/>
                        </a:rPr>
                        <a:t>низкий</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8782325"/>
                  </a:ext>
                </a:extLst>
              </a:tr>
              <a:tr h="152534">
                <a:tc vMerge="1">
                  <a:txBody>
                    <a:bodyPr/>
                    <a:lstStyle/>
                    <a:p>
                      <a:endParaRP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ru-RU" sz="1100">
                          <a:latin typeface="Arial" panose="020B0604020202020204" pitchFamily="34" charset="0"/>
                          <a:cs typeface="Arial" panose="020B0604020202020204" pitchFamily="34" charset="0"/>
                        </a:rPr>
                        <a:t>средний</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6027621"/>
                  </a:ext>
                </a:extLst>
              </a:tr>
              <a:tr h="152534">
                <a:tc vMerge="1">
                  <a:txBody>
                    <a:bodyPr/>
                    <a:lstStyle/>
                    <a:p>
                      <a:endParaRPr dirty="0"/>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ru-RU" sz="1100" dirty="0">
                          <a:latin typeface="Arial" panose="020B0604020202020204" pitchFamily="34" charset="0"/>
                          <a:cs typeface="Arial" panose="020B0604020202020204" pitchFamily="34" charset="0"/>
                        </a:rPr>
                        <a:t>высокий</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1</a:t>
                      </a:r>
                    </a:p>
                  </a:txBody>
                  <a:tcPr marL="64945" marR="64945" marT="32473" marB="3247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9711234"/>
                  </a:ext>
                </a:extLst>
              </a:tr>
            </a:tbl>
          </a:graphicData>
        </a:graphic>
      </p:graphicFrame>
    </p:spTree>
    <p:extLst>
      <p:ext uri="{BB962C8B-B14F-4D97-AF65-F5344CB8AC3E}">
        <p14:creationId xmlns:p14="http://schemas.microsoft.com/office/powerpoint/2010/main" val="26221772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702C3-289D-A3F8-8789-2983CF4235D4}"/>
            </a:ext>
          </a:extLst>
        </p:cNvPr>
        <p:cNvGrpSpPr/>
        <p:nvPr/>
      </p:nvGrpSpPr>
      <p:grpSpPr>
        <a:xfrm>
          <a:off x="0" y="0"/>
          <a:ext cx="0" cy="0"/>
          <a:chOff x="0" y="0"/>
          <a:chExt cx="0" cy="0"/>
        </a:xfrm>
      </p:grpSpPr>
      <p:sp>
        <p:nvSpPr>
          <p:cNvPr id="5" name="Заголовок 1">
            <a:extLst>
              <a:ext uri="{FF2B5EF4-FFF2-40B4-BE49-F238E27FC236}">
                <a16:creationId xmlns:a16="http://schemas.microsoft.com/office/drawing/2014/main" id="{029C0505-7D28-25CF-1C34-F92DC84F59FA}"/>
              </a:ext>
            </a:extLst>
          </p:cNvPr>
          <p:cNvSpPr>
            <a:spLocks noGrp="1"/>
          </p:cNvSpPr>
          <p:nvPr>
            <p:ph type="title"/>
          </p:nvPr>
        </p:nvSpPr>
        <p:spPr>
          <a:xfrm>
            <a:off x="838200" y="365125"/>
            <a:ext cx="10515600" cy="1325563"/>
          </a:xfrm>
        </p:spPr>
        <p:txBody>
          <a:bodyPr>
            <a:normAutofit/>
          </a:bodyPr>
          <a:lstStyle/>
          <a:p>
            <a:r>
              <a:rPr lang="ru-RU" sz="4000" dirty="0"/>
              <a:t>Решение типовых задач</a:t>
            </a:r>
          </a:p>
        </p:txBody>
      </p:sp>
      <p:sp>
        <p:nvSpPr>
          <p:cNvPr id="3" name="Номер слайда 2">
            <a:extLst>
              <a:ext uri="{FF2B5EF4-FFF2-40B4-BE49-F238E27FC236}">
                <a16:creationId xmlns:a16="http://schemas.microsoft.com/office/drawing/2014/main" id="{609C0162-0597-D4A9-9CE2-C147F94D0C8F}"/>
              </a:ext>
            </a:extLst>
          </p:cNvPr>
          <p:cNvSpPr>
            <a:spLocks noGrp="1"/>
          </p:cNvSpPr>
          <p:nvPr>
            <p:ph type="sldNum" sz="quarter" idx="12"/>
          </p:nvPr>
        </p:nvSpPr>
        <p:spPr/>
        <p:txBody>
          <a:bodyPr/>
          <a:lstStyle/>
          <a:p>
            <a:fld id="{818D4B0C-12DF-447C-B791-E379AA958CE7}" type="slidenum">
              <a:rPr lang="ru-RU" smtClean="0"/>
              <a:t>26</a:t>
            </a:fld>
            <a:endParaRPr lang="ru-RU"/>
          </a:p>
        </p:txBody>
      </p:sp>
      <p:graphicFrame>
        <p:nvGraphicFramePr>
          <p:cNvPr id="9" name="Таблица 8">
            <a:extLst>
              <a:ext uri="{FF2B5EF4-FFF2-40B4-BE49-F238E27FC236}">
                <a16:creationId xmlns:a16="http://schemas.microsoft.com/office/drawing/2014/main" id="{41BD7374-1815-C5A2-4E52-DC563AB14B6D}"/>
              </a:ext>
            </a:extLst>
          </p:cNvPr>
          <p:cNvGraphicFramePr>
            <a:graphicFrameLocks noGrp="1"/>
          </p:cNvGraphicFramePr>
          <p:nvPr>
            <p:extLst>
              <p:ext uri="{D42A27DB-BD31-4B8C-83A1-F6EECF244321}">
                <p14:modId xmlns:p14="http://schemas.microsoft.com/office/powerpoint/2010/main" val="1872291115"/>
              </p:ext>
            </p:extLst>
          </p:nvPr>
        </p:nvGraphicFramePr>
        <p:xfrm>
          <a:off x="646044" y="2531453"/>
          <a:ext cx="6932349" cy="1795094"/>
        </p:xfrm>
        <a:graphic>
          <a:graphicData uri="http://schemas.openxmlformats.org/drawingml/2006/table">
            <a:tbl>
              <a:tblPr/>
              <a:tblGrid>
                <a:gridCol w="770261">
                  <a:extLst>
                    <a:ext uri="{9D8B030D-6E8A-4147-A177-3AD203B41FA5}">
                      <a16:colId xmlns:a16="http://schemas.microsoft.com/office/drawing/2014/main" val="1871230559"/>
                    </a:ext>
                  </a:extLst>
                </a:gridCol>
                <a:gridCol w="770261">
                  <a:extLst>
                    <a:ext uri="{9D8B030D-6E8A-4147-A177-3AD203B41FA5}">
                      <a16:colId xmlns:a16="http://schemas.microsoft.com/office/drawing/2014/main" val="344609204"/>
                    </a:ext>
                  </a:extLst>
                </a:gridCol>
                <a:gridCol w="770261">
                  <a:extLst>
                    <a:ext uri="{9D8B030D-6E8A-4147-A177-3AD203B41FA5}">
                      <a16:colId xmlns:a16="http://schemas.microsoft.com/office/drawing/2014/main" val="3533679160"/>
                    </a:ext>
                  </a:extLst>
                </a:gridCol>
                <a:gridCol w="770261">
                  <a:extLst>
                    <a:ext uri="{9D8B030D-6E8A-4147-A177-3AD203B41FA5}">
                      <a16:colId xmlns:a16="http://schemas.microsoft.com/office/drawing/2014/main" val="1940638010"/>
                    </a:ext>
                  </a:extLst>
                </a:gridCol>
                <a:gridCol w="770261">
                  <a:extLst>
                    <a:ext uri="{9D8B030D-6E8A-4147-A177-3AD203B41FA5}">
                      <a16:colId xmlns:a16="http://schemas.microsoft.com/office/drawing/2014/main" val="636112630"/>
                    </a:ext>
                  </a:extLst>
                </a:gridCol>
                <a:gridCol w="770261">
                  <a:extLst>
                    <a:ext uri="{9D8B030D-6E8A-4147-A177-3AD203B41FA5}">
                      <a16:colId xmlns:a16="http://schemas.microsoft.com/office/drawing/2014/main" val="1120937083"/>
                    </a:ext>
                  </a:extLst>
                </a:gridCol>
                <a:gridCol w="770261">
                  <a:extLst>
                    <a:ext uri="{9D8B030D-6E8A-4147-A177-3AD203B41FA5}">
                      <a16:colId xmlns:a16="http://schemas.microsoft.com/office/drawing/2014/main" val="3838997969"/>
                    </a:ext>
                  </a:extLst>
                </a:gridCol>
                <a:gridCol w="770261">
                  <a:extLst>
                    <a:ext uri="{9D8B030D-6E8A-4147-A177-3AD203B41FA5}">
                      <a16:colId xmlns:a16="http://schemas.microsoft.com/office/drawing/2014/main" val="1048617243"/>
                    </a:ext>
                  </a:extLst>
                </a:gridCol>
                <a:gridCol w="770261">
                  <a:extLst>
                    <a:ext uri="{9D8B030D-6E8A-4147-A177-3AD203B41FA5}">
                      <a16:colId xmlns:a16="http://schemas.microsoft.com/office/drawing/2014/main" val="31456491"/>
                    </a:ext>
                  </a:extLst>
                </a:gridCol>
              </a:tblGrid>
              <a:tr h="214846">
                <a:tc>
                  <a:txBody>
                    <a:bodyPr/>
                    <a:lstStyle/>
                    <a:p>
                      <a:pPr>
                        <a:buNone/>
                      </a:pPr>
                      <a:r>
                        <a:rPr lang="ru-RU" sz="1100" dirty="0">
                          <a:latin typeface="Arial" panose="020B0604020202020204" pitchFamily="34" charset="0"/>
                          <a:cs typeface="Arial" panose="020B0604020202020204" pitchFamily="34" charset="0"/>
                        </a:rPr>
                        <a:t>Термы</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[160,165)</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[165,170)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[170,175)</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[175,180)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[180,185)</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[185,190)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[190,195)</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[195,200)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5955440"/>
                  </a:ext>
                </a:extLst>
              </a:tr>
              <a:tr h="214846">
                <a:tc rowSpan="2">
                  <a:txBody>
                    <a:bodyPr/>
                    <a:lstStyle/>
                    <a:p>
                      <a:pPr>
                        <a:buNone/>
                      </a:pPr>
                      <a:r>
                        <a:rPr lang="ru-RU" sz="1100" dirty="0">
                          <a:latin typeface="Arial" panose="020B0604020202020204" pitchFamily="34" charset="0"/>
                          <a:cs typeface="Arial" panose="020B0604020202020204" pitchFamily="34" charset="0"/>
                        </a:rPr>
                        <a:t>низкий</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5</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4</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3</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08858608"/>
                  </a:ext>
                </a:extLst>
              </a:tr>
              <a:tr h="214846">
                <a:tc vMerge="1">
                  <a:txBody>
                    <a:bodyPr/>
                    <a:lstStyle/>
                    <a:p>
                      <a:endParaRPr dirty="0"/>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r>
                        <a:rPr lang="en-US" sz="1100" dirty="0">
                          <a:latin typeface="Arial" panose="020B0604020202020204" pitchFamily="34" charset="0"/>
                          <a:cs typeface="Arial" panose="020B0604020202020204" pitchFamily="34" charset="0"/>
                        </a:rPr>
                        <a:t>,</a:t>
                      </a:r>
                      <a:r>
                        <a:rPr lang="ru-RU" sz="1100" dirty="0">
                          <a:latin typeface="Arial" panose="020B0604020202020204" pitchFamily="34" charset="0"/>
                          <a:cs typeface="Arial" panose="020B0604020202020204" pitchFamily="34" charset="0"/>
                        </a:rPr>
                        <a:t>8</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r>
                        <a:rPr lang="en-US" sz="1100" dirty="0">
                          <a:latin typeface="Arial" panose="020B0604020202020204" pitchFamily="34" charset="0"/>
                          <a:cs typeface="Arial" panose="020B0604020202020204" pitchFamily="34" charset="0"/>
                        </a:rPr>
                        <a:t>,</a:t>
                      </a:r>
                      <a:r>
                        <a:rPr lang="ru-RU" sz="1100" dirty="0">
                          <a:latin typeface="Arial" panose="020B0604020202020204" pitchFamily="34" charset="0"/>
                          <a:cs typeface="Arial" panose="020B0604020202020204" pitchFamily="34" charset="0"/>
                        </a:rPr>
                        <a:t>6</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0184705"/>
                  </a:ext>
                </a:extLst>
              </a:tr>
              <a:tr h="214846">
                <a:tc rowSpan="2">
                  <a:txBody>
                    <a:bodyPr/>
                    <a:lstStyle/>
                    <a:p>
                      <a:pPr>
                        <a:buNone/>
                      </a:pPr>
                      <a:r>
                        <a:rPr lang="ru-RU" sz="1100" dirty="0">
                          <a:latin typeface="Arial" panose="020B0604020202020204" pitchFamily="34" charset="0"/>
                          <a:cs typeface="Arial" panose="020B0604020202020204" pitchFamily="34" charset="0"/>
                        </a:rPr>
                        <a:t>средний</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2</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4</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5</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3</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2</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0031133"/>
                  </a:ext>
                </a:extLst>
              </a:tr>
              <a:tr h="214846">
                <a:tc vMerge="1">
                  <a:txBody>
                    <a:bodyPr/>
                    <a:lstStyle/>
                    <a:p>
                      <a:endParaRPr dirty="0"/>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r>
                        <a:rPr lang="en-US" sz="1100" dirty="0">
                          <a:latin typeface="Arial" panose="020B0604020202020204" pitchFamily="34" charset="0"/>
                          <a:cs typeface="Arial" panose="020B0604020202020204" pitchFamily="34" charset="0"/>
                        </a:rPr>
                        <a:t>,</a:t>
                      </a:r>
                      <a:r>
                        <a:rPr lang="ru-RU" sz="1100" dirty="0">
                          <a:latin typeface="Arial" panose="020B0604020202020204" pitchFamily="34" charset="0"/>
                          <a:cs typeface="Arial" panose="020B0604020202020204" pitchFamily="34" charset="0"/>
                        </a:rPr>
                        <a:t>4</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r>
                        <a:rPr lang="en-US" sz="1100" dirty="0">
                          <a:latin typeface="Arial" panose="020B0604020202020204" pitchFamily="34" charset="0"/>
                          <a:cs typeface="Arial" panose="020B0604020202020204" pitchFamily="34" charset="0"/>
                        </a:rPr>
                        <a:t>,</a:t>
                      </a:r>
                      <a:r>
                        <a:rPr lang="ru-RU" sz="1100" dirty="0">
                          <a:latin typeface="Arial" panose="020B0604020202020204" pitchFamily="34" charset="0"/>
                          <a:cs typeface="Arial" panose="020B0604020202020204" pitchFamily="34" charset="0"/>
                        </a:rPr>
                        <a:t>8</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1</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r>
                        <a:rPr lang="en-US" sz="1100" dirty="0">
                          <a:latin typeface="Arial" panose="020B0604020202020204" pitchFamily="34" charset="0"/>
                          <a:cs typeface="Arial" panose="020B0604020202020204" pitchFamily="34" charset="0"/>
                        </a:rPr>
                        <a:t>,</a:t>
                      </a:r>
                      <a:r>
                        <a:rPr lang="ru-RU" sz="1100" dirty="0">
                          <a:latin typeface="Arial" panose="020B0604020202020204" pitchFamily="34" charset="0"/>
                          <a:cs typeface="Arial" panose="020B0604020202020204" pitchFamily="34" charset="0"/>
                        </a:rPr>
                        <a:t>6</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r>
                        <a:rPr lang="en-US" sz="1100" dirty="0">
                          <a:latin typeface="Arial" panose="020B0604020202020204" pitchFamily="34" charset="0"/>
                          <a:cs typeface="Arial" panose="020B0604020202020204" pitchFamily="34" charset="0"/>
                        </a:rPr>
                        <a:t>,</a:t>
                      </a:r>
                      <a:r>
                        <a:rPr lang="ru-RU" sz="1100" dirty="0">
                          <a:latin typeface="Arial" panose="020B0604020202020204" pitchFamily="34" charset="0"/>
                          <a:cs typeface="Arial" panose="020B0604020202020204" pitchFamily="34" charset="0"/>
                        </a:rPr>
                        <a:t>4</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2552764"/>
                  </a:ext>
                </a:extLst>
              </a:tr>
              <a:tr h="214846">
                <a:tc rowSpan="2">
                  <a:txBody>
                    <a:bodyPr/>
                    <a:lstStyle/>
                    <a:p>
                      <a:pPr>
                        <a:buNone/>
                      </a:pPr>
                      <a:r>
                        <a:rPr lang="ru-RU" sz="1100" dirty="0">
                          <a:latin typeface="Arial" panose="020B0604020202020204" pitchFamily="34" charset="0"/>
                          <a:cs typeface="Arial" panose="020B0604020202020204" pitchFamily="34" charset="0"/>
                        </a:rPr>
                        <a:t>высокий</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1</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2</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4</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5</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5</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06183131"/>
                  </a:ext>
                </a:extLst>
              </a:tr>
              <a:tr h="214846">
                <a:tc vMerge="1">
                  <a:txBody>
                    <a:bodyPr/>
                    <a:lstStyle/>
                    <a:p>
                      <a:endParaRPr dirty="0"/>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0</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r>
                        <a:rPr lang="en-US" sz="1100" dirty="0">
                          <a:latin typeface="Arial" panose="020B0604020202020204" pitchFamily="34" charset="0"/>
                          <a:cs typeface="Arial" panose="020B0604020202020204" pitchFamily="34" charset="0"/>
                        </a:rPr>
                        <a:t>,</a:t>
                      </a:r>
                      <a:r>
                        <a:rPr lang="ru-RU" sz="1100" dirty="0">
                          <a:latin typeface="Arial" panose="020B0604020202020204" pitchFamily="34" charset="0"/>
                          <a:cs typeface="Arial" panose="020B0604020202020204" pitchFamily="34" charset="0"/>
                        </a:rPr>
                        <a:t>2</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r>
                        <a:rPr lang="en-US" sz="1100" dirty="0">
                          <a:latin typeface="Arial" panose="020B0604020202020204" pitchFamily="34" charset="0"/>
                          <a:cs typeface="Arial" panose="020B0604020202020204" pitchFamily="34" charset="0"/>
                        </a:rPr>
                        <a:t>,</a:t>
                      </a:r>
                      <a:r>
                        <a:rPr lang="ru-RU" sz="1100" dirty="0">
                          <a:latin typeface="Arial" panose="020B0604020202020204" pitchFamily="34" charset="0"/>
                          <a:cs typeface="Arial" panose="020B0604020202020204" pitchFamily="34" charset="0"/>
                        </a:rPr>
                        <a:t>4</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0</a:t>
                      </a:r>
                      <a:r>
                        <a:rPr lang="en-US" sz="1100" dirty="0">
                          <a:latin typeface="Arial" panose="020B0604020202020204" pitchFamily="34" charset="0"/>
                          <a:cs typeface="Arial" panose="020B0604020202020204" pitchFamily="34" charset="0"/>
                        </a:rPr>
                        <a:t>,</a:t>
                      </a:r>
                      <a:r>
                        <a:rPr lang="ru-RU" sz="1100" dirty="0">
                          <a:latin typeface="Arial" panose="020B0604020202020204" pitchFamily="34" charset="0"/>
                          <a:cs typeface="Arial" panose="020B0604020202020204" pitchFamily="34" charset="0"/>
                        </a:rPr>
                        <a:t>8</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a:latin typeface="Arial" panose="020B0604020202020204" pitchFamily="34" charset="0"/>
                          <a:cs typeface="Arial" panose="020B0604020202020204" pitchFamily="34" charset="0"/>
                        </a:rPr>
                        <a:t>1</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100" dirty="0">
                          <a:latin typeface="Arial" panose="020B0604020202020204" pitchFamily="34" charset="0"/>
                          <a:cs typeface="Arial" panose="020B0604020202020204" pitchFamily="34" charset="0"/>
                        </a:rPr>
                        <a:t>1</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3431702"/>
                  </a:ext>
                </a:extLst>
              </a:tr>
            </a:tbl>
          </a:graphicData>
        </a:graphic>
      </p:graphicFrame>
      <p:pic>
        <p:nvPicPr>
          <p:cNvPr id="12" name="Рисунок 11">
            <a:extLst>
              <a:ext uri="{FF2B5EF4-FFF2-40B4-BE49-F238E27FC236}">
                <a16:creationId xmlns:a16="http://schemas.microsoft.com/office/drawing/2014/main" id="{7DA2B7AF-E8A5-AC31-093E-63B656DEA5FA}"/>
              </a:ext>
            </a:extLst>
          </p:cNvPr>
          <p:cNvPicPr>
            <a:picLocks noChangeAspect="1"/>
          </p:cNvPicPr>
          <p:nvPr/>
        </p:nvPicPr>
        <p:blipFill>
          <a:blip r:embed="rId2"/>
          <a:stretch>
            <a:fillRect/>
          </a:stretch>
        </p:blipFill>
        <p:spPr>
          <a:xfrm>
            <a:off x="7578393" y="2085165"/>
            <a:ext cx="4436142" cy="3061562"/>
          </a:xfrm>
          <a:prstGeom prst="rect">
            <a:avLst/>
          </a:prstGeom>
        </p:spPr>
      </p:pic>
      <p:sp>
        <p:nvSpPr>
          <p:cNvPr id="6" name="TextBox 5">
            <a:extLst>
              <a:ext uri="{FF2B5EF4-FFF2-40B4-BE49-F238E27FC236}">
                <a16:creationId xmlns:a16="http://schemas.microsoft.com/office/drawing/2014/main" id="{69AEE71E-C986-5577-6A94-187ED6913AC0}"/>
              </a:ext>
            </a:extLst>
          </p:cNvPr>
          <p:cNvSpPr txBox="1"/>
          <p:nvPr/>
        </p:nvSpPr>
        <p:spPr>
          <a:xfrm>
            <a:off x="838200" y="1278644"/>
            <a:ext cx="6096000"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Пример 1 </a:t>
            </a:r>
          </a:p>
        </p:txBody>
      </p:sp>
    </p:spTree>
    <p:extLst>
      <p:ext uri="{BB962C8B-B14F-4D97-AF65-F5344CB8AC3E}">
        <p14:creationId xmlns:p14="http://schemas.microsoft.com/office/powerpoint/2010/main" val="23858957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F68C4-EBD3-74AE-95C5-A53818650B9A}"/>
            </a:ext>
          </a:extLst>
        </p:cNvPr>
        <p:cNvGrpSpPr/>
        <p:nvPr/>
      </p:nvGrpSpPr>
      <p:grpSpPr>
        <a:xfrm>
          <a:off x="0" y="0"/>
          <a:ext cx="0" cy="0"/>
          <a:chOff x="0" y="0"/>
          <a:chExt cx="0" cy="0"/>
        </a:xfrm>
      </p:grpSpPr>
      <p:sp>
        <p:nvSpPr>
          <p:cNvPr id="5" name="Заголовок 1">
            <a:extLst>
              <a:ext uri="{FF2B5EF4-FFF2-40B4-BE49-F238E27FC236}">
                <a16:creationId xmlns:a16="http://schemas.microsoft.com/office/drawing/2014/main" id="{FBA847D4-5953-C8AC-94D7-CAE6233699C3}"/>
              </a:ext>
            </a:extLst>
          </p:cNvPr>
          <p:cNvSpPr>
            <a:spLocks noGrp="1"/>
          </p:cNvSpPr>
          <p:nvPr>
            <p:ph type="title"/>
          </p:nvPr>
        </p:nvSpPr>
        <p:spPr>
          <a:xfrm>
            <a:off x="838200" y="365125"/>
            <a:ext cx="10515600" cy="1325563"/>
          </a:xfrm>
        </p:spPr>
        <p:txBody>
          <a:bodyPr>
            <a:normAutofit/>
          </a:bodyPr>
          <a:lstStyle/>
          <a:p>
            <a:r>
              <a:rPr lang="ru-RU" sz="4000" dirty="0"/>
              <a:t>Решение типовых задач</a:t>
            </a:r>
          </a:p>
        </p:txBody>
      </p:sp>
      <p:sp>
        <p:nvSpPr>
          <p:cNvPr id="20" name="Rectangle 1">
            <a:extLst>
              <a:ext uri="{FF2B5EF4-FFF2-40B4-BE49-F238E27FC236}">
                <a16:creationId xmlns:a16="http://schemas.microsoft.com/office/drawing/2014/main" id="{7C430FBA-FB11-01E4-959D-1A2B3A0C78B1}"/>
              </a:ext>
            </a:extLst>
          </p:cNvPr>
          <p:cNvSpPr>
            <a:spLocks noChangeArrowheads="1"/>
          </p:cNvSpPr>
          <p:nvPr/>
        </p:nvSpPr>
        <p:spPr bwMode="auto">
          <a:xfrm>
            <a:off x="838200" y="2802623"/>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rPr>
            </a:br>
            <a:endPar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D1518612-8B40-D5CB-F864-CFC3DEC57231}"/>
              </a:ext>
            </a:extLst>
          </p:cNvPr>
          <p:cNvSpPr txBox="1"/>
          <p:nvPr/>
        </p:nvSpPr>
        <p:spPr>
          <a:xfrm>
            <a:off x="838200" y="1278644"/>
            <a:ext cx="6096000"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Пример 2</a:t>
            </a:r>
          </a:p>
        </p:txBody>
      </p:sp>
      <p:sp>
        <p:nvSpPr>
          <p:cNvPr id="3" name="Номер слайда 2">
            <a:extLst>
              <a:ext uri="{FF2B5EF4-FFF2-40B4-BE49-F238E27FC236}">
                <a16:creationId xmlns:a16="http://schemas.microsoft.com/office/drawing/2014/main" id="{5707F9CD-582A-246A-2FE5-03A280DA0FC7}"/>
              </a:ext>
            </a:extLst>
          </p:cNvPr>
          <p:cNvSpPr>
            <a:spLocks noGrp="1"/>
          </p:cNvSpPr>
          <p:nvPr>
            <p:ph type="sldNum" sz="quarter" idx="12"/>
          </p:nvPr>
        </p:nvSpPr>
        <p:spPr/>
        <p:txBody>
          <a:bodyPr/>
          <a:lstStyle/>
          <a:p>
            <a:fld id="{818D4B0C-12DF-447C-B791-E379AA958CE7}" type="slidenum">
              <a:rPr lang="ru-RU" smtClean="0"/>
              <a:t>27</a:t>
            </a:fld>
            <a:endParaRPr lang="ru-RU"/>
          </a:p>
        </p:txBody>
      </p:sp>
      <p:sp>
        <p:nvSpPr>
          <p:cNvPr id="4" name="TextBox 3">
            <a:extLst>
              <a:ext uri="{FF2B5EF4-FFF2-40B4-BE49-F238E27FC236}">
                <a16:creationId xmlns:a16="http://schemas.microsoft.com/office/drawing/2014/main" id="{43A4CDD8-96D6-B21D-61E6-177CE83FFE51}"/>
              </a:ext>
            </a:extLst>
          </p:cNvPr>
          <p:cNvSpPr txBox="1"/>
          <p:nvPr/>
        </p:nvSpPr>
        <p:spPr>
          <a:xfrm>
            <a:off x="838200" y="1771200"/>
            <a:ext cx="10515600" cy="923330"/>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Построить функции принадлежности термов "низкий", "средний", "высокий", используемых для лингвистической оценки переменной "рост мужчины".</a:t>
            </a:r>
          </a:p>
          <a:p>
            <a:r>
              <a:rPr lang="ru-RU" dirty="0">
                <a:latin typeface="Arial" panose="020B0604020202020204" pitchFamily="34" charset="0"/>
                <a:cs typeface="Arial" panose="020B0604020202020204" pitchFamily="34" charset="0"/>
              </a:rPr>
              <a:t>Результаты опроса пяти экспертов приведены в таблице.</a:t>
            </a:r>
          </a:p>
        </p:txBody>
      </p:sp>
      <p:pic>
        <p:nvPicPr>
          <p:cNvPr id="7" name="Рисунок 6">
            <a:extLst>
              <a:ext uri="{FF2B5EF4-FFF2-40B4-BE49-F238E27FC236}">
                <a16:creationId xmlns:a16="http://schemas.microsoft.com/office/drawing/2014/main" id="{ED34D125-D532-418C-E0D9-F546A7FF2A62}"/>
              </a:ext>
            </a:extLst>
          </p:cNvPr>
          <p:cNvPicPr>
            <a:picLocks noChangeAspect="1"/>
          </p:cNvPicPr>
          <p:nvPr/>
        </p:nvPicPr>
        <p:blipFill>
          <a:blip r:embed="rId2"/>
          <a:stretch>
            <a:fillRect/>
          </a:stretch>
        </p:blipFill>
        <p:spPr>
          <a:xfrm>
            <a:off x="1424567" y="3229908"/>
            <a:ext cx="2114026" cy="1149292"/>
          </a:xfrm>
          <a:prstGeom prst="rect">
            <a:avLst/>
          </a:prstGeom>
        </p:spPr>
      </p:pic>
      <p:sp>
        <p:nvSpPr>
          <p:cNvPr id="12" name="TextBox 11">
            <a:extLst>
              <a:ext uri="{FF2B5EF4-FFF2-40B4-BE49-F238E27FC236}">
                <a16:creationId xmlns:a16="http://schemas.microsoft.com/office/drawing/2014/main" id="{8C59013E-7430-2D2C-77D1-912E64B7C309}"/>
              </a:ext>
            </a:extLst>
          </p:cNvPr>
          <p:cNvSpPr txBox="1"/>
          <p:nvPr/>
        </p:nvSpPr>
        <p:spPr>
          <a:xfrm>
            <a:off x="838200" y="2710460"/>
            <a:ext cx="3286760" cy="369332"/>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Матрица парных сравнений</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629930E-EF44-202C-DA83-BA785F42A1E7}"/>
                  </a:ext>
                </a:extLst>
              </p:cNvPr>
              <p:cNvSpPr txBox="1"/>
              <p:nvPr/>
            </p:nvSpPr>
            <p:spPr>
              <a:xfrm>
                <a:off x="4023676" y="2710460"/>
                <a:ext cx="7909560" cy="2142894"/>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Девятибалльная шкала </a:t>
                </a:r>
                <a:r>
                  <a:rPr lang="ru-RU" dirty="0" err="1">
                    <a:latin typeface="Arial" panose="020B0604020202020204" pitchFamily="34" charset="0"/>
                    <a:cs typeface="Arial" panose="020B0604020202020204" pitchFamily="34" charset="0"/>
                  </a:rPr>
                  <a:t>Саати</a:t>
                </a:r>
                <a:r>
                  <a:rPr lang="ru-RU" dirty="0">
                    <a:latin typeface="Arial" panose="020B0604020202020204" pitchFamily="34" charset="0"/>
                    <a:cs typeface="Arial" panose="020B0604020202020204" pitchFamily="34" charset="0"/>
                  </a:rPr>
                  <a:t>:</a:t>
                </a:r>
              </a:p>
              <a:p>
                <a:r>
                  <a:rPr lang="ru-RU" dirty="0">
                    <a:latin typeface="Arial" panose="020B0604020202020204" pitchFamily="34" charset="0"/>
                    <a:cs typeface="Arial" panose="020B0604020202020204" pitchFamily="34" charset="0"/>
                  </a:rPr>
                  <a:t>1 – если </a:t>
                </a:r>
                <a:r>
                  <a:rPr lang="ru-RU" i="1" dirty="0">
                    <a:latin typeface="Arial" panose="020B0604020202020204" pitchFamily="34" charset="0"/>
                    <a:cs typeface="Arial" panose="020B0604020202020204" pitchFamily="34" charset="0"/>
                  </a:rPr>
                  <a:t>отсутствует преимущество</a:t>
                </a:r>
                <a:r>
                  <a:rPr lang="ru-RU" dirty="0">
                    <a:latin typeface="Arial" panose="020B0604020202020204" pitchFamily="34" charset="0"/>
                    <a:cs typeface="Arial" panose="020B0604020202020204" pitchFamily="34" charset="0"/>
                  </a:rPr>
                  <a:t> элемента </a:t>
                </a:r>
                <a14:m>
                  <m:oMath xmlns:m="http://schemas.openxmlformats.org/officeDocument/2006/math">
                    <m:sSub>
                      <m:sSubPr>
                        <m:ctrlPr>
                          <a:rPr lang="ru-RU"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𝑖</m:t>
                        </m:r>
                      </m:sub>
                    </m:sSub>
                  </m:oMath>
                </a14:m>
                <a:r>
                  <a:rPr lang="ru-RU" dirty="0">
                    <a:latin typeface="Arial" panose="020B0604020202020204" pitchFamily="34" charset="0"/>
                    <a:cs typeface="Arial" panose="020B0604020202020204" pitchFamily="34" charset="0"/>
                  </a:rPr>
                  <a:t> над элементом </a:t>
                </a:r>
                <a14:m>
                  <m:oMath xmlns:m="http://schemas.openxmlformats.org/officeDocument/2006/math">
                    <m:sSub>
                      <m:sSubPr>
                        <m:ctrlPr>
                          <a:rPr lang="ru-RU" i="1">
                            <a:latin typeface="Cambria Math" panose="02040503050406030204" pitchFamily="18" charset="0"/>
                          </a:rPr>
                        </m:ctrlPr>
                      </m:sSubPr>
                      <m:e>
                        <m:r>
                          <a:rPr lang="en-US" i="1">
                            <a:latin typeface="Cambria Math" panose="02040503050406030204" pitchFamily="18" charset="0"/>
                          </a:rPr>
                          <m:t>𝑢</m:t>
                        </m:r>
                      </m:e>
                      <m:sub>
                        <m:r>
                          <a:rPr lang="en-US" b="0" i="1" smtClean="0">
                            <a:latin typeface="Cambria Math" panose="02040503050406030204" pitchFamily="18" charset="0"/>
                          </a:rPr>
                          <m:t>𝑗</m:t>
                        </m:r>
                      </m:sub>
                    </m:sSub>
                  </m:oMath>
                </a14:m>
                <a:r>
                  <a:rPr lang="ru-RU" dirty="0">
                    <a:latin typeface="Arial" panose="020B0604020202020204" pitchFamily="34" charset="0"/>
                    <a:cs typeface="Arial" panose="020B0604020202020204" pitchFamily="34" charset="0"/>
                  </a:rPr>
                  <a:t>;</a:t>
                </a:r>
              </a:p>
              <a:p>
                <a:r>
                  <a:rPr lang="ru-RU" dirty="0">
                    <a:latin typeface="Arial" panose="020B0604020202020204" pitchFamily="34" charset="0"/>
                    <a:cs typeface="Arial" panose="020B0604020202020204" pitchFamily="34" charset="0"/>
                  </a:rPr>
                  <a:t>3 – если имеется </a:t>
                </a:r>
                <a:r>
                  <a:rPr lang="ru-RU" i="1" dirty="0">
                    <a:latin typeface="Arial" panose="020B0604020202020204" pitchFamily="34" charset="0"/>
                    <a:cs typeface="Arial" panose="020B0604020202020204" pitchFamily="34" charset="0"/>
                  </a:rPr>
                  <a:t>слабое преимущество</a:t>
                </a:r>
                <a:r>
                  <a:rPr lang="ru-RU" dirty="0">
                    <a:latin typeface="Arial" panose="020B0604020202020204" pitchFamily="34" charset="0"/>
                    <a:cs typeface="Arial" panose="020B0604020202020204" pitchFamily="34" charset="0"/>
                  </a:rPr>
                  <a:t> </a:t>
                </a:r>
                <a14:m>
                  <m:oMath xmlns:m="http://schemas.openxmlformats.org/officeDocument/2006/math">
                    <m:sSub>
                      <m:sSubPr>
                        <m:ctrlPr>
                          <a:rPr lang="ru-RU"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𝑖</m:t>
                        </m:r>
                      </m:sub>
                    </m:sSub>
                  </m:oMath>
                </a14:m>
                <a:r>
                  <a:rPr lang="ru-RU" dirty="0">
                    <a:latin typeface="Arial" panose="020B0604020202020204" pitchFamily="34" charset="0"/>
                    <a:cs typeface="Arial" panose="020B0604020202020204" pitchFamily="34" charset="0"/>
                  </a:rPr>
                  <a:t> над </a:t>
                </a:r>
                <a14:m>
                  <m:oMath xmlns:m="http://schemas.openxmlformats.org/officeDocument/2006/math">
                    <m:sSub>
                      <m:sSubPr>
                        <m:ctrlPr>
                          <a:rPr lang="ru-RU"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𝑗</m:t>
                        </m:r>
                      </m:sub>
                    </m:sSub>
                  </m:oMath>
                </a14:m>
                <a:r>
                  <a:rPr lang="ru-RU" dirty="0">
                    <a:latin typeface="Arial" panose="020B0604020202020204" pitchFamily="34" charset="0"/>
                    <a:cs typeface="Arial" panose="020B0604020202020204" pitchFamily="34" charset="0"/>
                  </a:rPr>
                  <a:t>;</a:t>
                </a:r>
              </a:p>
              <a:p>
                <a:r>
                  <a:rPr lang="ru-RU" dirty="0">
                    <a:latin typeface="Arial" panose="020B0604020202020204" pitchFamily="34" charset="0"/>
                    <a:cs typeface="Arial" panose="020B0604020202020204" pitchFamily="34" charset="0"/>
                  </a:rPr>
                  <a:t>5 – если имеется существенное преимущество </a:t>
                </a:r>
                <a14:m>
                  <m:oMath xmlns:m="http://schemas.openxmlformats.org/officeDocument/2006/math">
                    <m:sSub>
                      <m:sSubPr>
                        <m:ctrlPr>
                          <a:rPr lang="ru-RU"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𝑖</m:t>
                        </m:r>
                      </m:sub>
                    </m:sSub>
                  </m:oMath>
                </a14:m>
                <a:r>
                  <a:rPr lang="ru-RU" dirty="0">
                    <a:latin typeface="Arial" panose="020B0604020202020204" pitchFamily="34" charset="0"/>
                    <a:cs typeface="Arial" panose="020B0604020202020204" pitchFamily="34" charset="0"/>
                  </a:rPr>
                  <a:t> над </a:t>
                </a:r>
                <a14:m>
                  <m:oMath xmlns:m="http://schemas.openxmlformats.org/officeDocument/2006/math">
                    <m:sSub>
                      <m:sSubPr>
                        <m:ctrlPr>
                          <a:rPr lang="ru-RU"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𝑗</m:t>
                        </m:r>
                      </m:sub>
                    </m:sSub>
                  </m:oMath>
                </a14:m>
                <a:r>
                  <a:rPr lang="ru-RU" dirty="0">
                    <a:latin typeface="Arial" panose="020B0604020202020204" pitchFamily="34" charset="0"/>
                    <a:cs typeface="Arial" panose="020B0604020202020204" pitchFamily="34" charset="0"/>
                  </a:rPr>
                  <a:t>;</a:t>
                </a:r>
              </a:p>
              <a:p>
                <a:r>
                  <a:rPr lang="ru-RU" dirty="0">
                    <a:latin typeface="Arial" panose="020B0604020202020204" pitchFamily="34" charset="0"/>
                    <a:cs typeface="Arial" panose="020B0604020202020204" pitchFamily="34" charset="0"/>
                  </a:rPr>
                  <a:t>7 – если имеется явное преимущество </a:t>
                </a:r>
                <a14:m>
                  <m:oMath xmlns:m="http://schemas.openxmlformats.org/officeDocument/2006/math">
                    <m:sSub>
                      <m:sSubPr>
                        <m:ctrlPr>
                          <a:rPr lang="ru-RU"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𝑖</m:t>
                        </m:r>
                      </m:sub>
                    </m:sSub>
                  </m:oMath>
                </a14:m>
                <a:r>
                  <a:rPr lang="ru-RU" dirty="0">
                    <a:latin typeface="Arial" panose="020B0604020202020204" pitchFamily="34" charset="0"/>
                    <a:cs typeface="Arial" panose="020B0604020202020204" pitchFamily="34" charset="0"/>
                  </a:rPr>
                  <a:t> над </a:t>
                </a:r>
                <a14:m>
                  <m:oMath xmlns:m="http://schemas.openxmlformats.org/officeDocument/2006/math">
                    <m:sSub>
                      <m:sSubPr>
                        <m:ctrlPr>
                          <a:rPr lang="ru-RU"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𝑗</m:t>
                        </m:r>
                      </m:sub>
                    </m:sSub>
                  </m:oMath>
                </a14:m>
                <a:r>
                  <a:rPr lang="ru-RU" dirty="0">
                    <a:latin typeface="Arial" panose="020B0604020202020204" pitchFamily="34" charset="0"/>
                    <a:cs typeface="Arial" panose="020B0604020202020204" pitchFamily="34" charset="0"/>
                  </a:rPr>
                  <a:t>;</a:t>
                </a:r>
              </a:p>
              <a:p>
                <a:r>
                  <a:rPr lang="ru-RU" dirty="0">
                    <a:latin typeface="Arial" panose="020B0604020202020204" pitchFamily="34" charset="0"/>
                    <a:cs typeface="Arial" panose="020B0604020202020204" pitchFamily="34" charset="0"/>
                  </a:rPr>
                  <a:t>9 – если имеется абсолютное преимущество </a:t>
                </a:r>
                <a14:m>
                  <m:oMath xmlns:m="http://schemas.openxmlformats.org/officeDocument/2006/math">
                    <m:sSub>
                      <m:sSubPr>
                        <m:ctrlPr>
                          <a:rPr lang="ru-RU"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𝑖</m:t>
                        </m:r>
                      </m:sub>
                    </m:sSub>
                  </m:oMath>
                </a14:m>
                <a:r>
                  <a:rPr lang="ru-RU" dirty="0">
                    <a:latin typeface="Arial" panose="020B0604020202020204" pitchFamily="34" charset="0"/>
                    <a:cs typeface="Arial" panose="020B0604020202020204" pitchFamily="34" charset="0"/>
                  </a:rPr>
                  <a:t> над </a:t>
                </a:r>
                <a14:m>
                  <m:oMath xmlns:m="http://schemas.openxmlformats.org/officeDocument/2006/math">
                    <m:sSub>
                      <m:sSubPr>
                        <m:ctrlPr>
                          <a:rPr lang="ru-RU"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𝑗</m:t>
                        </m:r>
                      </m:sub>
                    </m:sSub>
                  </m:oMath>
                </a14:m>
                <a:r>
                  <a:rPr lang="ru-RU" dirty="0">
                    <a:latin typeface="Arial" panose="020B0604020202020204" pitchFamily="34" charset="0"/>
                    <a:cs typeface="Arial" panose="020B0604020202020204" pitchFamily="34" charset="0"/>
                  </a:rPr>
                  <a:t>;</a:t>
                </a:r>
              </a:p>
              <a:p>
                <a:r>
                  <a:rPr lang="ru-RU" dirty="0">
                    <a:latin typeface="Arial" panose="020B0604020202020204" pitchFamily="34" charset="0"/>
                    <a:cs typeface="Arial" panose="020B0604020202020204" pitchFamily="34" charset="0"/>
                  </a:rPr>
                  <a:t>2,4,6,8 – промежуточные сравнительные оценки. </a:t>
                </a:r>
              </a:p>
            </p:txBody>
          </p:sp>
        </mc:Choice>
        <mc:Fallback xmlns="">
          <p:sp>
            <p:nvSpPr>
              <p:cNvPr id="18" name="TextBox 17">
                <a:extLst>
                  <a:ext uri="{FF2B5EF4-FFF2-40B4-BE49-F238E27FC236}">
                    <a16:creationId xmlns:a16="http://schemas.microsoft.com/office/drawing/2014/main" id="{6629930E-EF44-202C-DA83-BA785F42A1E7}"/>
                  </a:ext>
                </a:extLst>
              </p:cNvPr>
              <p:cNvSpPr txBox="1">
                <a:spLocks noRot="1" noChangeAspect="1" noMove="1" noResize="1" noEditPoints="1" noAdjustHandles="1" noChangeArrowheads="1" noChangeShapeType="1" noTextEdit="1"/>
              </p:cNvSpPr>
              <p:nvPr/>
            </p:nvSpPr>
            <p:spPr>
              <a:xfrm>
                <a:off x="4023676" y="2710460"/>
                <a:ext cx="7909560" cy="2142894"/>
              </a:xfrm>
              <a:prstGeom prst="rect">
                <a:avLst/>
              </a:prstGeom>
              <a:blipFill>
                <a:blip r:embed="rId3"/>
                <a:stretch>
                  <a:fillRect l="-616" t="-1709" b="-3989"/>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716F763-8832-9FC9-6C4F-BA0861E7EFBD}"/>
                  </a:ext>
                </a:extLst>
              </p:cNvPr>
              <p:cNvSpPr txBox="1"/>
              <p:nvPr/>
            </p:nvSpPr>
            <p:spPr>
              <a:xfrm>
                <a:off x="930565" y="4907775"/>
                <a:ext cx="10042235" cy="646331"/>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Степени принадлежности принимаются равными соответствующим</a:t>
                </a:r>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координатам собственного вектора </a:t>
                </a:r>
                <a14:m>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m:t>
                            </m:r>
                            <m:r>
                              <a:rPr lang="en-US" i="1">
                                <a:latin typeface="Cambria Math" panose="02040503050406030204" pitchFamily="18" charset="0"/>
                              </a:rPr>
                              <m:t>𝑤</m:t>
                            </m:r>
                          </m:e>
                          <m:sub>
                            <m:r>
                              <a:rPr lang="en-US" b="0" i="1" smtClean="0">
                                <a:latin typeface="Cambria Math" panose="02040503050406030204" pitchFamily="18" charset="0"/>
                              </a:rPr>
                              <m:t>𝑛</m:t>
                            </m:r>
                          </m:sub>
                        </m:sSub>
                      </m:e>
                    </m:d>
                  </m:oMath>
                </a14:m>
                <a:r>
                  <a:rPr lang="ru-RU" dirty="0">
                    <a:latin typeface="Arial" panose="020B0604020202020204" pitchFamily="34" charset="0"/>
                    <a:cs typeface="Arial" panose="020B0604020202020204" pitchFamily="34" charset="0"/>
                  </a:rPr>
                  <a:t> матрицы парных сравнений:</a:t>
                </a:r>
              </a:p>
            </p:txBody>
          </p:sp>
        </mc:Choice>
        <mc:Fallback xmlns="">
          <p:sp>
            <p:nvSpPr>
              <p:cNvPr id="23" name="TextBox 22">
                <a:extLst>
                  <a:ext uri="{FF2B5EF4-FFF2-40B4-BE49-F238E27FC236}">
                    <a16:creationId xmlns:a16="http://schemas.microsoft.com/office/drawing/2014/main" id="{2716F763-8832-9FC9-6C4F-BA0861E7EFBD}"/>
                  </a:ext>
                </a:extLst>
              </p:cNvPr>
              <p:cNvSpPr txBox="1">
                <a:spLocks noRot="1" noChangeAspect="1" noMove="1" noResize="1" noEditPoints="1" noAdjustHandles="1" noChangeArrowheads="1" noChangeShapeType="1" noTextEdit="1"/>
              </p:cNvSpPr>
              <p:nvPr/>
            </p:nvSpPr>
            <p:spPr>
              <a:xfrm>
                <a:off x="930565" y="4907775"/>
                <a:ext cx="10042235" cy="646331"/>
              </a:xfrm>
              <a:prstGeom prst="rect">
                <a:avLst/>
              </a:prstGeom>
              <a:blipFill>
                <a:blip r:embed="rId4"/>
                <a:stretch>
                  <a:fillRect l="-546" t="-4717" b="-14151"/>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6D82514-B23E-C640-59EE-D17CD2675A8D}"/>
                  </a:ext>
                </a:extLst>
              </p:cNvPr>
              <p:cNvSpPr txBox="1"/>
              <p:nvPr/>
            </p:nvSpPr>
            <p:spPr>
              <a:xfrm>
                <a:off x="2617083" y="5625542"/>
                <a:ext cx="2367251" cy="27757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ru-RU" i="1" smtClean="0">
                          <a:latin typeface="Cambria Math" panose="02040503050406030204" pitchFamily="18" charset="0"/>
                          <a:ea typeface="Cambria Math" panose="02040503050406030204" pitchFamily="18" charset="0"/>
                        </a:rPr>
                        <m:t>𝜇</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𝑢</m:t>
                              </m:r>
                            </m:e>
                            <m:sub>
                              <m:r>
                                <a:rPr lang="en-US" b="0" i="1" smtClean="0">
                                  <a:latin typeface="Cambria Math" panose="02040503050406030204" pitchFamily="18" charset="0"/>
                                  <a:ea typeface="Cambria Math" panose="02040503050406030204" pitchFamily="18" charset="0"/>
                                </a:rPr>
                                <m:t>𝑖</m:t>
                              </m:r>
                            </m:sub>
                          </m:sSub>
                        </m:e>
                      </m:d>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𝑛</m:t>
                          </m:r>
                        </m:e>
                      </m:acc>
                    </m:oMath>
                  </m:oMathPara>
                </a14:m>
                <a:endParaRPr lang="ru-RU" dirty="0">
                  <a:latin typeface="Arial" panose="020B0604020202020204" pitchFamily="34" charset="0"/>
                  <a:cs typeface="Arial" panose="020B0604020202020204" pitchFamily="34" charset="0"/>
                </a:endParaRPr>
              </a:p>
            </p:txBody>
          </p:sp>
        </mc:Choice>
        <mc:Fallback xmlns="">
          <p:sp>
            <p:nvSpPr>
              <p:cNvPr id="24" name="TextBox 23">
                <a:extLst>
                  <a:ext uri="{FF2B5EF4-FFF2-40B4-BE49-F238E27FC236}">
                    <a16:creationId xmlns:a16="http://schemas.microsoft.com/office/drawing/2014/main" id="{06D82514-B23E-C640-59EE-D17CD2675A8D}"/>
                  </a:ext>
                </a:extLst>
              </p:cNvPr>
              <p:cNvSpPr txBox="1">
                <a:spLocks noRot="1" noChangeAspect="1" noMove="1" noResize="1" noEditPoints="1" noAdjustHandles="1" noChangeArrowheads="1" noChangeShapeType="1" noTextEdit="1"/>
              </p:cNvSpPr>
              <p:nvPr/>
            </p:nvSpPr>
            <p:spPr>
              <a:xfrm>
                <a:off x="2617083" y="5625542"/>
                <a:ext cx="2367251" cy="277576"/>
              </a:xfrm>
              <a:prstGeom prst="rect">
                <a:avLst/>
              </a:prstGeom>
              <a:blipFill>
                <a:blip r:embed="rId5"/>
                <a:stretch>
                  <a:fillRect l="-1799" r="-771" b="-26667"/>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43268F0-F5EE-D60D-4269-9E6A288663DC}"/>
                  </a:ext>
                </a:extLst>
              </p:cNvPr>
              <p:cNvSpPr txBox="1"/>
              <p:nvPr/>
            </p:nvSpPr>
            <p:spPr>
              <a:xfrm>
                <a:off x="5971464" y="5567536"/>
                <a:ext cx="2472407" cy="6178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ru-RU" i="1" smtClean="0">
                              <a:latin typeface="Cambria Math" panose="02040503050406030204" pitchFamily="18" charset="0"/>
                            </a:rPr>
                          </m:ctrlPr>
                        </m:dPr>
                        <m:e>
                          <m:eqArr>
                            <m:eqArrPr>
                              <m:ctrlPr>
                                <a:rPr lang="ru-RU" i="1" smtClean="0">
                                  <a:latin typeface="Cambria Math" panose="02040503050406030204" pitchFamily="18" charset="0"/>
                                </a:rPr>
                              </m:ctrlPr>
                            </m:eqArrPr>
                            <m:e>
                              <m:r>
                                <a:rPr lang="en-US" b="0" i="1" smtClean="0">
                                  <a:latin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𝑊</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ea typeface="Cambria Math" panose="02040503050406030204" pitchFamily="18" charset="0"/>
                                    </a:rPr>
                                    <m:t>𝑚𝑎𝑥</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𝑊</m:t>
                              </m:r>
                            </m:e>
                            <m:e>
                              <m:sSub>
                                <m:sSubPr>
                                  <m:ctrlPr>
                                    <a:rPr lang="ru-RU"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ru-RU" i="1">
                                      <a:latin typeface="Cambria Math" panose="02040503050406030204" pitchFamily="18" charset="0"/>
                                    </a:rPr>
                                  </m:ctrlPr>
                                </m:sSubPr>
                                <m:e>
                                  <m:r>
                                    <a:rPr lang="en-US" i="1">
                                      <a:latin typeface="Cambria Math" panose="02040503050406030204" pitchFamily="18" charset="0"/>
                                    </a:rPr>
                                    <m:t>𝑤</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ru-RU" i="1">
                                      <a:latin typeface="Cambria Math" panose="02040503050406030204" pitchFamily="18" charset="0"/>
                                    </a:rPr>
                                  </m:ctrlPr>
                                </m:sSubPr>
                                <m:e>
                                  <m:r>
                                    <a:rPr lang="en-US" i="1">
                                      <a:latin typeface="Cambria Math" panose="02040503050406030204" pitchFamily="18" charset="0"/>
                                    </a:rPr>
                                    <m:t>𝑤</m:t>
                                  </m:r>
                                </m:e>
                                <m:sub>
                                  <m:r>
                                    <a:rPr lang="en-US" b="0" i="1" smtClean="0">
                                      <a:latin typeface="Cambria Math" panose="02040503050406030204" pitchFamily="18" charset="0"/>
                                    </a:rPr>
                                    <m:t>𝑛</m:t>
                                  </m:r>
                                </m:sub>
                              </m:sSub>
                              <m:r>
                                <a:rPr lang="en-US" b="0" i="1" smtClean="0">
                                  <a:latin typeface="Cambria Math" panose="02040503050406030204" pitchFamily="18" charset="0"/>
                                </a:rPr>
                                <m:t>=1</m:t>
                              </m:r>
                            </m:e>
                          </m:eqArr>
                        </m:e>
                      </m:d>
                    </m:oMath>
                  </m:oMathPara>
                </a14:m>
                <a:endParaRPr lang="ru-RU" dirty="0">
                  <a:latin typeface="Arial" panose="020B0604020202020204" pitchFamily="34" charset="0"/>
                  <a:cs typeface="Arial" panose="020B0604020202020204" pitchFamily="34" charset="0"/>
                </a:endParaRPr>
              </a:p>
            </p:txBody>
          </p:sp>
        </mc:Choice>
        <mc:Fallback xmlns="">
          <p:sp>
            <p:nvSpPr>
              <p:cNvPr id="25" name="TextBox 24">
                <a:extLst>
                  <a:ext uri="{FF2B5EF4-FFF2-40B4-BE49-F238E27FC236}">
                    <a16:creationId xmlns:a16="http://schemas.microsoft.com/office/drawing/2014/main" id="{143268F0-F5EE-D60D-4269-9E6A288663DC}"/>
                  </a:ext>
                </a:extLst>
              </p:cNvPr>
              <p:cNvSpPr txBox="1">
                <a:spLocks noRot="1" noChangeAspect="1" noMove="1" noResize="1" noEditPoints="1" noAdjustHandles="1" noChangeArrowheads="1" noChangeShapeType="1" noTextEdit="1"/>
              </p:cNvSpPr>
              <p:nvPr/>
            </p:nvSpPr>
            <p:spPr>
              <a:xfrm>
                <a:off x="5971464" y="5567536"/>
                <a:ext cx="2472407" cy="617861"/>
              </a:xfrm>
              <a:prstGeom prst="rect">
                <a:avLst/>
              </a:prstGeom>
              <a:blipFill>
                <a:blip r:embed="rId6"/>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D1D2EB1-7A9A-0ECA-2CB6-5EC666DC11E3}"/>
                  </a:ext>
                </a:extLst>
              </p:cNvPr>
              <p:cNvSpPr txBox="1"/>
              <p:nvPr/>
            </p:nvSpPr>
            <p:spPr>
              <a:xfrm>
                <a:off x="2313940" y="6249409"/>
                <a:ext cx="7348220" cy="369332"/>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где </a:t>
                </a:r>
                <a14:m>
                  <m:oMath xmlns:m="http://schemas.openxmlformats.org/officeDocument/2006/math">
                    <m:sSub>
                      <m:sSubPr>
                        <m:ctrlPr>
                          <a:rPr lang="ru-RU" i="1" smtClean="0">
                            <a:latin typeface="Cambria Math" panose="02040503050406030204" pitchFamily="18" charset="0"/>
                          </a:rPr>
                        </m:ctrlPr>
                      </m:sSubPr>
                      <m:e>
                        <m:r>
                          <a:rPr lang="ru-RU" i="1" smtClean="0">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rPr>
                          <m:t>𝑚𝑎𝑥</m:t>
                        </m:r>
                      </m:sub>
                    </m:sSub>
                  </m:oMath>
                </a14:m>
                <a:r>
                  <a:rPr lang="en-US" dirty="0">
                    <a:latin typeface="Arial" panose="020B0604020202020204" pitchFamily="34" charset="0"/>
                    <a:cs typeface="Arial" panose="020B0604020202020204" pitchFamily="34" charset="0"/>
                  </a:rPr>
                  <a:t> – </a:t>
                </a:r>
                <a:r>
                  <a:rPr lang="ru-RU" dirty="0">
                    <a:latin typeface="Arial" panose="020B0604020202020204" pitchFamily="34" charset="0"/>
                    <a:cs typeface="Arial" panose="020B0604020202020204" pitchFamily="34" charset="0"/>
                  </a:rPr>
                  <a:t>максимальное собственное значение матрицы </a:t>
                </a:r>
                <a14:m>
                  <m:oMath xmlns:m="http://schemas.openxmlformats.org/officeDocument/2006/math">
                    <m:r>
                      <a:rPr lang="en-US" b="0" i="1" smtClean="0">
                        <a:latin typeface="Cambria Math" panose="02040503050406030204" pitchFamily="18" charset="0"/>
                      </a:rPr>
                      <m:t>𝐴</m:t>
                    </m:r>
                  </m:oMath>
                </a14:m>
                <a:endParaRPr lang="ru-RU" dirty="0">
                  <a:latin typeface="Arial" panose="020B0604020202020204" pitchFamily="34" charset="0"/>
                  <a:cs typeface="Arial" panose="020B0604020202020204" pitchFamily="34" charset="0"/>
                </a:endParaRPr>
              </a:p>
            </p:txBody>
          </p:sp>
        </mc:Choice>
        <mc:Fallback xmlns="">
          <p:sp>
            <p:nvSpPr>
              <p:cNvPr id="27" name="TextBox 26">
                <a:extLst>
                  <a:ext uri="{FF2B5EF4-FFF2-40B4-BE49-F238E27FC236}">
                    <a16:creationId xmlns:a16="http://schemas.microsoft.com/office/drawing/2014/main" id="{2D1D2EB1-7A9A-0ECA-2CB6-5EC666DC11E3}"/>
                  </a:ext>
                </a:extLst>
              </p:cNvPr>
              <p:cNvSpPr txBox="1">
                <a:spLocks noRot="1" noChangeAspect="1" noMove="1" noResize="1" noEditPoints="1" noAdjustHandles="1" noChangeArrowheads="1" noChangeShapeType="1" noTextEdit="1"/>
              </p:cNvSpPr>
              <p:nvPr/>
            </p:nvSpPr>
            <p:spPr>
              <a:xfrm>
                <a:off x="2313940" y="6249409"/>
                <a:ext cx="7348220" cy="369332"/>
              </a:xfrm>
              <a:prstGeom prst="rect">
                <a:avLst/>
              </a:prstGeom>
              <a:blipFill>
                <a:blip r:embed="rId7"/>
                <a:stretch>
                  <a:fillRect l="-747" t="-8197" b="-24590"/>
                </a:stretch>
              </a:blipFill>
            </p:spPr>
            <p:txBody>
              <a:bodyPr/>
              <a:lstStyle/>
              <a:p>
                <a:r>
                  <a:rPr lang="ru-RU">
                    <a:noFill/>
                  </a:rPr>
                  <a:t> </a:t>
                </a:r>
              </a:p>
            </p:txBody>
          </p:sp>
        </mc:Fallback>
      </mc:AlternateContent>
    </p:spTree>
    <p:extLst>
      <p:ext uri="{BB962C8B-B14F-4D97-AF65-F5344CB8AC3E}">
        <p14:creationId xmlns:p14="http://schemas.microsoft.com/office/powerpoint/2010/main" val="40376461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50520-27F3-E9F6-D330-ABCAD98802F1}"/>
            </a:ext>
          </a:extLst>
        </p:cNvPr>
        <p:cNvGrpSpPr/>
        <p:nvPr/>
      </p:nvGrpSpPr>
      <p:grpSpPr>
        <a:xfrm>
          <a:off x="0" y="0"/>
          <a:ext cx="0" cy="0"/>
          <a:chOff x="0" y="0"/>
          <a:chExt cx="0" cy="0"/>
        </a:xfrm>
      </p:grpSpPr>
      <p:sp>
        <p:nvSpPr>
          <p:cNvPr id="5" name="Заголовок 1">
            <a:extLst>
              <a:ext uri="{FF2B5EF4-FFF2-40B4-BE49-F238E27FC236}">
                <a16:creationId xmlns:a16="http://schemas.microsoft.com/office/drawing/2014/main" id="{DEADBBEF-8351-A8B4-DCE4-894DCB2D1201}"/>
              </a:ext>
            </a:extLst>
          </p:cNvPr>
          <p:cNvSpPr>
            <a:spLocks noGrp="1"/>
          </p:cNvSpPr>
          <p:nvPr>
            <p:ph type="title"/>
          </p:nvPr>
        </p:nvSpPr>
        <p:spPr>
          <a:xfrm>
            <a:off x="838200" y="365125"/>
            <a:ext cx="10515600" cy="1325563"/>
          </a:xfrm>
        </p:spPr>
        <p:txBody>
          <a:bodyPr>
            <a:normAutofit/>
          </a:bodyPr>
          <a:lstStyle/>
          <a:p>
            <a:r>
              <a:rPr lang="ru-RU" sz="4000" dirty="0"/>
              <a:t>Решение типовых задач</a:t>
            </a:r>
          </a:p>
        </p:txBody>
      </p:sp>
      <p:sp>
        <p:nvSpPr>
          <p:cNvPr id="20" name="Rectangle 1">
            <a:extLst>
              <a:ext uri="{FF2B5EF4-FFF2-40B4-BE49-F238E27FC236}">
                <a16:creationId xmlns:a16="http://schemas.microsoft.com/office/drawing/2014/main" id="{74DFFA76-69F3-B007-29D4-E571C24AD4B7}"/>
              </a:ext>
            </a:extLst>
          </p:cNvPr>
          <p:cNvSpPr>
            <a:spLocks noChangeArrowheads="1"/>
          </p:cNvSpPr>
          <p:nvPr/>
        </p:nvSpPr>
        <p:spPr bwMode="auto">
          <a:xfrm>
            <a:off x="838200" y="2802623"/>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rPr>
            </a:br>
            <a:endPar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3" name="Номер слайда 2">
            <a:extLst>
              <a:ext uri="{FF2B5EF4-FFF2-40B4-BE49-F238E27FC236}">
                <a16:creationId xmlns:a16="http://schemas.microsoft.com/office/drawing/2014/main" id="{52EB65B9-34A8-6D91-9055-FC6258409824}"/>
              </a:ext>
            </a:extLst>
          </p:cNvPr>
          <p:cNvSpPr>
            <a:spLocks noGrp="1"/>
          </p:cNvSpPr>
          <p:nvPr>
            <p:ph type="sldNum" sz="quarter" idx="12"/>
          </p:nvPr>
        </p:nvSpPr>
        <p:spPr/>
        <p:txBody>
          <a:bodyPr/>
          <a:lstStyle/>
          <a:p>
            <a:fld id="{818D4B0C-12DF-447C-B791-E379AA958CE7}" type="slidenum">
              <a:rPr lang="ru-RU" smtClean="0"/>
              <a:t>28</a:t>
            </a:fld>
            <a:endParaRPr lang="ru-RU"/>
          </a:p>
        </p:txBody>
      </p:sp>
      <p:sp>
        <p:nvSpPr>
          <p:cNvPr id="10" name="TextBox 9">
            <a:extLst>
              <a:ext uri="{FF2B5EF4-FFF2-40B4-BE49-F238E27FC236}">
                <a16:creationId xmlns:a16="http://schemas.microsoft.com/office/drawing/2014/main" id="{C6C878FF-6AE3-80D9-DDBA-60DB83CBE9EF}"/>
              </a:ext>
            </a:extLst>
          </p:cNvPr>
          <p:cNvSpPr txBox="1"/>
          <p:nvPr/>
        </p:nvSpPr>
        <p:spPr>
          <a:xfrm>
            <a:off x="838200" y="1771087"/>
            <a:ext cx="6847840" cy="1754326"/>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Собственные значения этой матрицы парных сравнений равны:</a:t>
            </a:r>
            <a:endParaRPr lang="en-US" dirty="0">
              <a:latin typeface="Arial" panose="020B0604020202020204" pitchFamily="34" charset="0"/>
              <a:cs typeface="Arial" panose="020B0604020202020204" pitchFamily="34" charset="0"/>
            </a:endParaRPr>
          </a:p>
          <a:p>
            <a:pPr algn="ctr"/>
            <a:r>
              <a:rPr lang="nn-NO" sz="1200" dirty="0">
                <a:latin typeface="Arial" panose="020B0604020202020204" pitchFamily="34" charset="0"/>
                <a:cs typeface="Arial" panose="020B0604020202020204" pitchFamily="34" charset="0"/>
              </a:rPr>
              <a:t>6</a:t>
            </a:r>
            <a:r>
              <a:rPr lang="en-US" sz="1200" dirty="0">
                <a:latin typeface="Arial" panose="020B0604020202020204" pitchFamily="34" charset="0"/>
                <a:cs typeface="Arial" panose="020B0604020202020204" pitchFamily="34" charset="0"/>
              </a:rPr>
              <a:t>,</a:t>
            </a:r>
            <a:r>
              <a:rPr lang="nn-NO" sz="1200" dirty="0">
                <a:latin typeface="Arial" panose="020B0604020202020204" pitchFamily="34" charset="0"/>
                <a:cs typeface="Arial" panose="020B0604020202020204" pitchFamily="34" charset="0"/>
              </a:rPr>
              <a:t>2494;</a:t>
            </a:r>
          </a:p>
          <a:p>
            <a:pPr algn="ctr"/>
            <a:r>
              <a:rPr lang="nn-NO" sz="1200" dirty="0">
                <a:latin typeface="Arial" panose="020B0604020202020204" pitchFamily="34" charset="0"/>
                <a:cs typeface="Arial" panose="020B0604020202020204" pitchFamily="34" charset="0"/>
              </a:rPr>
              <a:t>0,0318 + 1,2230i;</a:t>
            </a:r>
          </a:p>
          <a:p>
            <a:pPr algn="ctr"/>
            <a:r>
              <a:rPr lang="nn-NO" sz="1200" dirty="0">
                <a:latin typeface="Arial" panose="020B0604020202020204" pitchFamily="34" charset="0"/>
                <a:cs typeface="Arial" panose="020B0604020202020204" pitchFamily="34" charset="0"/>
              </a:rPr>
              <a:t>0,0318 – 1,2230i;</a:t>
            </a:r>
          </a:p>
          <a:p>
            <a:pPr algn="ctr"/>
            <a:r>
              <a:rPr lang="nn-NO" sz="1200" dirty="0">
                <a:latin typeface="Arial" panose="020B0604020202020204" pitchFamily="34" charset="0"/>
                <a:cs typeface="Arial" panose="020B0604020202020204" pitchFamily="34" charset="0"/>
              </a:rPr>
              <a:t>0,1567 + 0,2392i;</a:t>
            </a:r>
          </a:p>
          <a:p>
            <a:pPr algn="ctr"/>
            <a:r>
              <a:rPr lang="nn-NO" sz="1200" dirty="0">
                <a:latin typeface="Arial" panose="020B0604020202020204" pitchFamily="34" charset="0"/>
                <a:cs typeface="Arial" panose="020B0604020202020204" pitchFamily="34" charset="0"/>
              </a:rPr>
              <a:t>- 0,1567 – 0,2392i;</a:t>
            </a:r>
          </a:p>
          <a:p>
            <a:pPr algn="ctr"/>
            <a:r>
              <a:rPr lang="ru-RU" sz="1200" dirty="0">
                <a:latin typeface="Arial" panose="020B0604020202020204" pitchFamily="34" charset="0"/>
                <a:cs typeface="Arial" panose="020B0604020202020204" pitchFamily="34" charset="0"/>
              </a:rPr>
              <a:t>0</a:t>
            </a:r>
            <a:r>
              <a:rPr lang="en-US" sz="1200" dirty="0">
                <a:latin typeface="Arial" panose="020B0604020202020204" pitchFamily="34" charset="0"/>
                <a:cs typeface="Arial" panose="020B0604020202020204" pitchFamily="34" charset="0"/>
              </a:rPr>
              <a:t>,</a:t>
            </a:r>
            <a:r>
              <a:rPr lang="ru-RU" sz="1200" dirty="0">
                <a:latin typeface="Arial" panose="020B0604020202020204" pitchFamily="34" charset="0"/>
                <a:cs typeface="Arial" panose="020B0604020202020204" pitchFamily="34" charset="0"/>
              </a:rPr>
              <a:t>0004.</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8F51506-4559-D7AA-C797-FE2C9F8E9B3D}"/>
                  </a:ext>
                </a:extLst>
              </p:cNvPr>
              <p:cNvSpPr txBox="1"/>
              <p:nvPr/>
            </p:nvSpPr>
            <p:spPr>
              <a:xfrm>
                <a:off x="6417440" y="2764834"/>
                <a:ext cx="6096000" cy="276999"/>
              </a:xfrm>
              <a:prstGeom prst="rect">
                <a:avLst/>
              </a:prstGeom>
              <a:noFill/>
            </p:spPr>
            <p:txBody>
              <a:bodyPr wrap="square">
                <a:spAutoFit/>
              </a:bodyPr>
              <a:lstStyle/>
              <a:p>
                <a14:m>
                  <m:oMath xmlns:m="http://schemas.openxmlformats.org/officeDocument/2006/math">
                    <m:sSub>
                      <m:sSubPr>
                        <m:ctrlPr>
                          <a:rPr lang="ru-RU" sz="1200" i="1" smtClean="0">
                            <a:latin typeface="Cambria Math" panose="02040503050406030204" pitchFamily="18" charset="0"/>
                          </a:rPr>
                        </m:ctrlPr>
                      </m:sSubPr>
                      <m:e>
                        <m:r>
                          <a:rPr lang="ru-RU" sz="1200" i="1" smtClean="0">
                            <a:latin typeface="Cambria Math" panose="02040503050406030204" pitchFamily="18" charset="0"/>
                            <a:ea typeface="Cambria Math" panose="02040503050406030204" pitchFamily="18" charset="0"/>
                          </a:rPr>
                          <m:t>𝜆</m:t>
                        </m:r>
                      </m:e>
                      <m:sub>
                        <m:r>
                          <a:rPr lang="en-US" sz="1200" b="0" i="1" smtClean="0">
                            <a:latin typeface="Cambria Math" panose="02040503050406030204" pitchFamily="18" charset="0"/>
                          </a:rPr>
                          <m:t>𝑚𝑎𝑥</m:t>
                        </m:r>
                      </m:sub>
                    </m:sSub>
                    <m:r>
                      <a:rPr lang="en-US" sz="1200" b="0" i="1" smtClean="0">
                        <a:latin typeface="Cambria Math" panose="02040503050406030204" pitchFamily="18" charset="0"/>
                      </a:rPr>
                      <m:t>=</m:t>
                    </m:r>
                  </m:oMath>
                </a14:m>
                <a:r>
                  <a:rPr lang="en-US" sz="1200" dirty="0">
                    <a:latin typeface="Arial" panose="020B0604020202020204" pitchFamily="34" charset="0"/>
                    <a:cs typeface="Arial" panose="020B0604020202020204" pitchFamily="34" charset="0"/>
                  </a:rPr>
                  <a:t> 6,2494</a:t>
                </a:r>
                <a:endParaRPr lang="ru-RU" sz="1200" dirty="0">
                  <a:latin typeface="Arial" panose="020B0604020202020204" pitchFamily="34" charset="0"/>
                  <a:cs typeface="Arial" panose="020B0604020202020204" pitchFamily="34" charset="0"/>
                </a:endParaRPr>
              </a:p>
            </p:txBody>
          </p:sp>
        </mc:Choice>
        <mc:Fallback xmlns="">
          <p:sp>
            <p:nvSpPr>
              <p:cNvPr id="13" name="TextBox 12">
                <a:extLst>
                  <a:ext uri="{FF2B5EF4-FFF2-40B4-BE49-F238E27FC236}">
                    <a16:creationId xmlns:a16="http://schemas.microsoft.com/office/drawing/2014/main" id="{B8F51506-4559-D7AA-C797-FE2C9F8E9B3D}"/>
                  </a:ext>
                </a:extLst>
              </p:cNvPr>
              <p:cNvSpPr txBox="1">
                <a:spLocks noRot="1" noChangeAspect="1" noMove="1" noResize="1" noEditPoints="1" noAdjustHandles="1" noChangeArrowheads="1" noChangeShapeType="1" noTextEdit="1"/>
              </p:cNvSpPr>
              <p:nvPr/>
            </p:nvSpPr>
            <p:spPr>
              <a:xfrm>
                <a:off x="6417440" y="2764834"/>
                <a:ext cx="6096000" cy="276999"/>
              </a:xfrm>
              <a:prstGeom prst="rect">
                <a:avLst/>
              </a:prstGeom>
              <a:blipFill>
                <a:blip r:embed="rId2"/>
                <a:stretch>
                  <a:fillRect t="-4444" b="-15556"/>
                </a:stretch>
              </a:blipFill>
            </p:spPr>
            <p:txBody>
              <a:bodyPr/>
              <a:lstStyle/>
              <a:p>
                <a:r>
                  <a:rPr lang="ru-RU">
                    <a:noFill/>
                  </a:rPr>
                  <a:t> </a:t>
                </a:r>
              </a:p>
            </p:txBody>
          </p:sp>
        </mc:Fallback>
      </mc:AlternateContent>
      <p:pic>
        <p:nvPicPr>
          <p:cNvPr id="15" name="Рисунок 14">
            <a:extLst>
              <a:ext uri="{FF2B5EF4-FFF2-40B4-BE49-F238E27FC236}">
                <a16:creationId xmlns:a16="http://schemas.microsoft.com/office/drawing/2014/main" id="{CA6AF911-BD14-D112-DEBD-0F5C2EE23C12}"/>
              </a:ext>
            </a:extLst>
          </p:cNvPr>
          <p:cNvPicPr>
            <a:picLocks noChangeAspect="1"/>
          </p:cNvPicPr>
          <p:nvPr/>
        </p:nvPicPr>
        <p:blipFill>
          <a:blip r:embed="rId3"/>
          <a:stretch>
            <a:fillRect/>
          </a:stretch>
        </p:blipFill>
        <p:spPr>
          <a:xfrm>
            <a:off x="7858203" y="538741"/>
            <a:ext cx="3885035" cy="2664024"/>
          </a:xfrm>
          <a:prstGeom prst="rect">
            <a:avLst/>
          </a:prstGeom>
        </p:spPr>
      </p:pic>
      <mc:AlternateContent xmlns:mc="http://schemas.openxmlformats.org/markup-compatibility/2006">
        <mc:Choice xmlns:a14="http://schemas.microsoft.com/office/drawing/2010/main" Requires="a14">
          <p:graphicFrame>
            <p:nvGraphicFramePr>
              <p:cNvPr id="19" name="Таблица 18">
                <a:extLst>
                  <a:ext uri="{FF2B5EF4-FFF2-40B4-BE49-F238E27FC236}">
                    <a16:creationId xmlns:a16="http://schemas.microsoft.com/office/drawing/2014/main" id="{9CE9C845-B678-5942-CE99-69F36CAC3A0C}"/>
                  </a:ext>
                </a:extLst>
              </p:cNvPr>
              <p:cNvGraphicFramePr>
                <a:graphicFrameLocks noGrp="1"/>
              </p:cNvGraphicFramePr>
              <p:nvPr>
                <p:extLst>
                  <p:ext uri="{D42A27DB-BD31-4B8C-83A1-F6EECF244321}">
                    <p14:modId xmlns:p14="http://schemas.microsoft.com/office/powerpoint/2010/main" val="3159134938"/>
                  </p:ext>
                </p:extLst>
              </p:nvPr>
            </p:nvGraphicFramePr>
            <p:xfrm>
              <a:off x="838199" y="3605812"/>
              <a:ext cx="10515603" cy="1707874"/>
            </p:xfrm>
            <a:graphic>
              <a:graphicData uri="http://schemas.openxmlformats.org/drawingml/2006/table">
                <a:tbl>
                  <a:tblPr/>
                  <a:tblGrid>
                    <a:gridCol w="2143313">
                      <a:extLst>
                        <a:ext uri="{9D8B030D-6E8A-4147-A177-3AD203B41FA5}">
                          <a16:colId xmlns:a16="http://schemas.microsoft.com/office/drawing/2014/main" val="1578667934"/>
                        </a:ext>
                      </a:extLst>
                    </a:gridCol>
                    <a:gridCol w="861145">
                      <a:extLst>
                        <a:ext uri="{9D8B030D-6E8A-4147-A177-3AD203B41FA5}">
                          <a16:colId xmlns:a16="http://schemas.microsoft.com/office/drawing/2014/main" val="4034343531"/>
                        </a:ext>
                      </a:extLst>
                    </a:gridCol>
                    <a:gridCol w="1502229">
                      <a:extLst>
                        <a:ext uri="{9D8B030D-6E8A-4147-A177-3AD203B41FA5}">
                          <a16:colId xmlns:a16="http://schemas.microsoft.com/office/drawing/2014/main" val="1203005568"/>
                        </a:ext>
                      </a:extLst>
                    </a:gridCol>
                    <a:gridCol w="1502229">
                      <a:extLst>
                        <a:ext uri="{9D8B030D-6E8A-4147-A177-3AD203B41FA5}">
                          <a16:colId xmlns:a16="http://schemas.microsoft.com/office/drawing/2014/main" val="6595636"/>
                        </a:ext>
                      </a:extLst>
                    </a:gridCol>
                    <a:gridCol w="1502229">
                      <a:extLst>
                        <a:ext uri="{9D8B030D-6E8A-4147-A177-3AD203B41FA5}">
                          <a16:colId xmlns:a16="http://schemas.microsoft.com/office/drawing/2014/main" val="813484799"/>
                        </a:ext>
                      </a:extLst>
                    </a:gridCol>
                    <a:gridCol w="1502229">
                      <a:extLst>
                        <a:ext uri="{9D8B030D-6E8A-4147-A177-3AD203B41FA5}">
                          <a16:colId xmlns:a16="http://schemas.microsoft.com/office/drawing/2014/main" val="2240788632"/>
                        </a:ext>
                      </a:extLst>
                    </a:gridCol>
                    <a:gridCol w="1502229">
                      <a:extLst>
                        <a:ext uri="{9D8B030D-6E8A-4147-A177-3AD203B41FA5}">
                          <a16:colId xmlns:a16="http://schemas.microsoft.com/office/drawing/2014/main" val="2010390402"/>
                        </a:ext>
                      </a:extLst>
                    </a:gridCol>
                  </a:tblGrid>
                  <a:tr h="284646">
                    <a:tc>
                      <a:txBody>
                        <a:bodyPr/>
                        <a:lstStyle/>
                        <a:p>
                          <a:pPr>
                            <a:buNone/>
                          </a:pPr>
                          <a14:m>
                            <m:oMathPara xmlns:m="http://schemas.openxmlformats.org/officeDocument/2006/math">
                              <m:oMathParaPr>
                                <m:jc m:val="centerGroup"/>
                              </m:oMathParaPr>
                              <m:oMath xmlns:m="http://schemas.openxmlformats.org/officeDocument/2006/math">
                                <m:sSub>
                                  <m:sSubPr>
                                    <m:ctrlPr>
                                      <a:rPr lang="ru-RU" sz="1200" i="1" smtClean="0">
                                        <a:latin typeface="Cambria Math" panose="02040503050406030204" pitchFamily="18" charset="0"/>
                                        <a:cs typeface="Arial" panose="020B0604020202020204" pitchFamily="34" charset="0"/>
                                      </a:rPr>
                                    </m:ctrlPr>
                                  </m:sSubPr>
                                  <m:e>
                                    <m:r>
                                      <a:rPr lang="en-US" sz="1200" b="0" i="1" smtClean="0">
                                        <a:latin typeface="Cambria Math" panose="02040503050406030204" pitchFamily="18" charset="0"/>
                                        <a:cs typeface="Arial" panose="020B0604020202020204" pitchFamily="34" charset="0"/>
                                      </a:rPr>
                                      <m:t>𝑢</m:t>
                                    </m:r>
                                  </m:e>
                                  <m:sub>
                                    <m:r>
                                      <a:rPr lang="en-US" sz="1200" b="0" i="1" smtClean="0">
                                        <a:latin typeface="Cambria Math" panose="02040503050406030204" pitchFamily="18" charset="0"/>
                                        <a:cs typeface="Arial" panose="020B0604020202020204" pitchFamily="34" charset="0"/>
                                      </a:rPr>
                                      <m:t>𝑖</m:t>
                                    </m:r>
                                  </m:sub>
                                </m:sSub>
                              </m:oMath>
                            </m:oMathPara>
                          </a14:m>
                          <a:endParaRPr lang="ru-RU" sz="12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dirty="0">
                              <a:latin typeface="Arial" panose="020B0604020202020204" pitchFamily="34" charset="0"/>
                              <a:cs typeface="Arial" panose="020B0604020202020204" pitchFamily="34" charset="0"/>
                            </a:rPr>
                            <a:t>170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dirty="0">
                              <a:latin typeface="Arial" panose="020B0604020202020204" pitchFamily="34" charset="0"/>
                              <a:cs typeface="Arial" panose="020B0604020202020204" pitchFamily="34" charset="0"/>
                            </a:rPr>
                            <a:t>175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a:latin typeface="Arial" panose="020B0604020202020204" pitchFamily="34" charset="0"/>
                              <a:cs typeface="Arial" panose="020B0604020202020204" pitchFamily="34" charset="0"/>
                            </a:rPr>
                            <a:t>180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a:latin typeface="Arial" panose="020B0604020202020204" pitchFamily="34" charset="0"/>
                              <a:cs typeface="Arial" panose="020B0604020202020204" pitchFamily="34" charset="0"/>
                            </a:rPr>
                            <a:t>185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a:latin typeface="Arial" panose="020B0604020202020204" pitchFamily="34" charset="0"/>
                              <a:cs typeface="Arial" panose="020B0604020202020204" pitchFamily="34" charset="0"/>
                            </a:rPr>
                            <a:t>190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a:latin typeface="Arial" panose="020B0604020202020204" pitchFamily="34" charset="0"/>
                              <a:cs typeface="Arial" panose="020B0604020202020204" pitchFamily="34" charset="0"/>
                            </a:rPr>
                            <a:t>195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1134533"/>
                      </a:ext>
                    </a:extLst>
                  </a:tr>
                  <a:tr h="711614">
                    <a:tc>
                      <a:txBody>
                        <a:bodyPr/>
                        <a:lstStyle/>
                        <a:p>
                          <a:pPr>
                            <a:buNone/>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cs typeface="Arial" panose="020B0604020202020204" pitchFamily="34" charset="0"/>
                                      </a:rPr>
                                    </m:ctrlPr>
                                  </m:sSubPr>
                                  <m:e>
                                    <m:r>
                                      <a:rPr lang="en-US" sz="1200" i="1" smtClean="0">
                                        <a:latin typeface="Cambria Math" panose="02040503050406030204" pitchFamily="18" charset="0"/>
                                        <a:ea typeface="Cambria Math" panose="02040503050406030204" pitchFamily="18" charset="0"/>
                                        <a:cs typeface="Arial" panose="020B0604020202020204" pitchFamily="34" charset="0"/>
                                      </a:rPr>
                                      <m:t>𝜇</m:t>
                                    </m:r>
                                  </m:e>
                                  <m:sub>
                                    <m:r>
                                      <a:rPr lang="ru-RU" sz="1200" b="0" i="1" smtClean="0">
                                        <a:latin typeface="Cambria Math" panose="02040503050406030204" pitchFamily="18" charset="0"/>
                                        <a:cs typeface="Arial" panose="020B0604020202020204" pitchFamily="34" charset="0"/>
                                      </a:rPr>
                                      <m:t>высокий мужчина</m:t>
                                    </m:r>
                                  </m:sub>
                                </m:sSub>
                                <m:d>
                                  <m:dPr>
                                    <m:ctrlPr>
                                      <a:rPr lang="en-US" sz="1200" i="1" smtClean="0">
                                        <a:latin typeface="Cambria Math" panose="02040503050406030204" pitchFamily="18" charset="0"/>
                                        <a:cs typeface="Arial" panose="020B0604020202020204" pitchFamily="34" charset="0"/>
                                      </a:rPr>
                                    </m:ctrlPr>
                                  </m:dPr>
                                  <m:e>
                                    <m:sSub>
                                      <m:sSubPr>
                                        <m:ctrlPr>
                                          <a:rPr lang="en-US" sz="1200" i="1" smtClean="0">
                                            <a:latin typeface="Cambria Math" panose="02040503050406030204" pitchFamily="18" charset="0"/>
                                            <a:cs typeface="Arial" panose="020B0604020202020204" pitchFamily="34" charset="0"/>
                                          </a:rPr>
                                        </m:ctrlPr>
                                      </m:sSubPr>
                                      <m:e>
                                        <m:r>
                                          <a:rPr lang="en-US" sz="1200" b="0" i="1" smtClean="0">
                                            <a:latin typeface="Cambria Math" panose="02040503050406030204" pitchFamily="18" charset="0"/>
                                            <a:cs typeface="Arial" panose="020B0604020202020204" pitchFamily="34" charset="0"/>
                                          </a:rPr>
                                          <m:t>𝑢</m:t>
                                        </m:r>
                                      </m:e>
                                      <m:sub>
                                        <m:r>
                                          <a:rPr lang="en-US" sz="1200" b="0" i="1" smtClean="0">
                                            <a:latin typeface="Cambria Math" panose="02040503050406030204" pitchFamily="18" charset="0"/>
                                            <a:cs typeface="Arial" panose="020B0604020202020204" pitchFamily="34" charset="0"/>
                                          </a:rPr>
                                          <m:t>𝑖</m:t>
                                        </m:r>
                                      </m:sub>
                                    </m:sSub>
                                  </m:e>
                                </m:d>
                              </m:oMath>
                            </m:oMathPara>
                          </a14:m>
                          <a:endParaRPr lang="en-US" sz="1200" dirty="0">
                            <a:latin typeface="Arial" panose="020B0604020202020204" pitchFamily="34" charset="0"/>
                            <a:cs typeface="Arial" panose="020B0604020202020204" pitchFamily="34" charset="0"/>
                          </a:endParaRPr>
                        </a:p>
                        <a:p>
                          <a:pPr algn="ctr">
                            <a:buNone/>
                          </a:pPr>
                          <a:r>
                            <a:rPr lang="ru-RU" sz="1200" dirty="0">
                              <a:latin typeface="Arial" panose="020B0604020202020204" pitchFamily="34" charset="0"/>
                              <a:cs typeface="Arial" panose="020B0604020202020204" pitchFamily="34" charset="0"/>
                            </a:rPr>
                            <a:t>Субнормальное нечеткое множество</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dirty="0">
                              <a:latin typeface="Arial" panose="020B0604020202020204" pitchFamily="34" charset="0"/>
                              <a:cs typeface="Arial" panose="020B0604020202020204" pitchFamily="34" charset="0"/>
                            </a:rPr>
                            <a:t>0</a:t>
                          </a:r>
                          <a:r>
                            <a:rPr lang="en-US" sz="1200" dirty="0">
                              <a:latin typeface="Arial" panose="020B0604020202020204" pitchFamily="34" charset="0"/>
                              <a:cs typeface="Arial" panose="020B0604020202020204" pitchFamily="34" charset="0"/>
                            </a:rPr>
                            <a:t>,</a:t>
                          </a:r>
                          <a:r>
                            <a:rPr lang="ru-RU" sz="1200" dirty="0">
                              <a:latin typeface="Arial" panose="020B0604020202020204" pitchFamily="34" charset="0"/>
                              <a:cs typeface="Arial" panose="020B0604020202020204" pitchFamily="34" charset="0"/>
                            </a:rPr>
                            <a:t>0284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dirty="0">
                              <a:latin typeface="Arial" panose="020B0604020202020204" pitchFamily="34" charset="0"/>
                              <a:cs typeface="Arial" panose="020B0604020202020204" pitchFamily="34" charset="0"/>
                            </a:rPr>
                            <a:t>0</a:t>
                          </a:r>
                          <a:r>
                            <a:rPr lang="en-US" sz="1200" dirty="0">
                              <a:latin typeface="Arial" panose="020B0604020202020204" pitchFamily="34" charset="0"/>
                              <a:cs typeface="Arial" panose="020B0604020202020204" pitchFamily="34" charset="0"/>
                            </a:rPr>
                            <a:t>,</a:t>
                          </a:r>
                          <a:r>
                            <a:rPr lang="ru-RU" sz="1200" dirty="0">
                              <a:latin typeface="Arial" panose="020B0604020202020204" pitchFamily="34" charset="0"/>
                              <a:cs typeface="Arial" panose="020B0604020202020204" pitchFamily="34" charset="0"/>
                            </a:rPr>
                            <a:t>0399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dirty="0">
                              <a:latin typeface="Arial" panose="020B0604020202020204" pitchFamily="34" charset="0"/>
                              <a:cs typeface="Arial" panose="020B0604020202020204" pitchFamily="34" charset="0"/>
                            </a:rPr>
                            <a:t>0</a:t>
                          </a:r>
                          <a:r>
                            <a:rPr lang="en-US" sz="1200" dirty="0">
                              <a:latin typeface="Arial" panose="020B0604020202020204" pitchFamily="34" charset="0"/>
                              <a:cs typeface="Arial" panose="020B0604020202020204" pitchFamily="34" charset="0"/>
                            </a:rPr>
                            <a:t>,</a:t>
                          </a:r>
                          <a:r>
                            <a:rPr lang="ru-RU" sz="1200" dirty="0">
                              <a:latin typeface="Arial" panose="020B0604020202020204" pitchFamily="34" charset="0"/>
                              <a:cs typeface="Arial" panose="020B0604020202020204" pitchFamily="34" charset="0"/>
                            </a:rPr>
                            <a:t>0816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dirty="0">
                              <a:latin typeface="Arial" panose="020B0604020202020204" pitchFamily="34" charset="0"/>
                              <a:cs typeface="Arial" panose="020B0604020202020204" pitchFamily="34" charset="0"/>
                            </a:rPr>
                            <a:t>0</a:t>
                          </a:r>
                          <a:r>
                            <a:rPr lang="en-US" sz="1200" dirty="0">
                              <a:latin typeface="Arial" panose="020B0604020202020204" pitchFamily="34" charset="0"/>
                              <a:cs typeface="Arial" panose="020B0604020202020204" pitchFamily="34" charset="0"/>
                            </a:rPr>
                            <a:t>,</a:t>
                          </a:r>
                          <a:r>
                            <a:rPr lang="ru-RU" sz="1200" dirty="0">
                              <a:latin typeface="Arial" panose="020B0604020202020204" pitchFamily="34" charset="0"/>
                              <a:cs typeface="Arial" panose="020B0604020202020204" pitchFamily="34" charset="0"/>
                            </a:rPr>
                            <a:t>1754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dirty="0">
                              <a:latin typeface="Arial" panose="020B0604020202020204" pitchFamily="34" charset="0"/>
                              <a:cs typeface="Arial" panose="020B0604020202020204" pitchFamily="34" charset="0"/>
                            </a:rPr>
                            <a:t>0</a:t>
                          </a:r>
                          <a:r>
                            <a:rPr lang="en-US" sz="1200" dirty="0">
                              <a:latin typeface="Arial" panose="020B0604020202020204" pitchFamily="34" charset="0"/>
                              <a:cs typeface="Arial" panose="020B0604020202020204" pitchFamily="34" charset="0"/>
                            </a:rPr>
                            <a:t>,</a:t>
                          </a:r>
                          <a:r>
                            <a:rPr lang="ru-RU" sz="1200" dirty="0">
                              <a:latin typeface="Arial" panose="020B0604020202020204" pitchFamily="34" charset="0"/>
                              <a:cs typeface="Arial" panose="020B0604020202020204" pitchFamily="34" charset="0"/>
                            </a:rPr>
                            <a:t>3254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dirty="0">
                              <a:latin typeface="Arial" panose="020B0604020202020204" pitchFamily="34" charset="0"/>
                              <a:cs typeface="Arial" panose="020B0604020202020204" pitchFamily="34" charset="0"/>
                            </a:rPr>
                            <a:t>0</a:t>
                          </a:r>
                          <a:r>
                            <a:rPr lang="en-US" sz="1200" dirty="0">
                              <a:latin typeface="Arial" panose="020B0604020202020204" pitchFamily="34" charset="0"/>
                              <a:cs typeface="Arial" panose="020B0604020202020204" pitchFamily="34" charset="0"/>
                            </a:rPr>
                            <a:t>,</a:t>
                          </a:r>
                          <a:r>
                            <a:rPr lang="ru-RU" sz="1200" dirty="0">
                              <a:latin typeface="Arial" panose="020B0604020202020204" pitchFamily="34" charset="0"/>
                              <a:cs typeface="Arial" panose="020B0604020202020204" pitchFamily="34" charset="0"/>
                            </a:rPr>
                            <a:t>3494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6523163"/>
                      </a:ext>
                    </a:extLst>
                  </a:tr>
                  <a:tr h="711614">
                    <a:tc>
                      <a:txBody>
                        <a:bodyPr/>
                        <a:lstStyle/>
                        <a:p>
                          <a:pPr>
                            <a:buNone/>
                          </a:pPr>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cs typeface="Arial" panose="020B0604020202020204" pitchFamily="34" charset="0"/>
                                      </a:rPr>
                                    </m:ctrlPr>
                                  </m:sSubPr>
                                  <m:e>
                                    <m:r>
                                      <a:rPr lang="en-US" sz="1200" i="1" smtClean="0">
                                        <a:latin typeface="Cambria Math" panose="02040503050406030204" pitchFamily="18" charset="0"/>
                                        <a:ea typeface="Cambria Math" panose="02040503050406030204" pitchFamily="18" charset="0"/>
                                        <a:cs typeface="Arial" panose="020B0604020202020204" pitchFamily="34" charset="0"/>
                                      </a:rPr>
                                      <m:t>𝜇</m:t>
                                    </m:r>
                                  </m:e>
                                  <m:sub>
                                    <m:r>
                                      <a:rPr lang="ru-RU" sz="1200" b="0" i="1" smtClean="0">
                                        <a:latin typeface="Cambria Math" panose="02040503050406030204" pitchFamily="18" charset="0"/>
                                        <a:cs typeface="Arial" panose="020B0604020202020204" pitchFamily="34" charset="0"/>
                                      </a:rPr>
                                      <m:t>высокий мужчина</m:t>
                                    </m:r>
                                  </m:sub>
                                </m:sSub>
                                <m:d>
                                  <m:dPr>
                                    <m:ctrlPr>
                                      <a:rPr lang="en-US" sz="1200" i="1" smtClean="0">
                                        <a:latin typeface="Cambria Math" panose="02040503050406030204" pitchFamily="18" charset="0"/>
                                        <a:cs typeface="Arial" panose="020B0604020202020204" pitchFamily="34" charset="0"/>
                                      </a:rPr>
                                    </m:ctrlPr>
                                  </m:dPr>
                                  <m:e>
                                    <m:sSub>
                                      <m:sSubPr>
                                        <m:ctrlPr>
                                          <a:rPr lang="en-US" sz="1200" i="1" smtClean="0">
                                            <a:latin typeface="Cambria Math" panose="02040503050406030204" pitchFamily="18" charset="0"/>
                                            <a:cs typeface="Arial" panose="020B0604020202020204" pitchFamily="34" charset="0"/>
                                          </a:rPr>
                                        </m:ctrlPr>
                                      </m:sSubPr>
                                      <m:e>
                                        <m:r>
                                          <a:rPr lang="en-US" sz="1200" b="0" i="1" smtClean="0">
                                            <a:latin typeface="Cambria Math" panose="02040503050406030204" pitchFamily="18" charset="0"/>
                                            <a:cs typeface="Arial" panose="020B0604020202020204" pitchFamily="34" charset="0"/>
                                          </a:rPr>
                                          <m:t>𝑢</m:t>
                                        </m:r>
                                      </m:e>
                                      <m:sub>
                                        <m:r>
                                          <a:rPr lang="en-US" sz="1200" b="0" i="1" smtClean="0">
                                            <a:latin typeface="Cambria Math" panose="02040503050406030204" pitchFamily="18" charset="0"/>
                                            <a:cs typeface="Arial" panose="020B0604020202020204" pitchFamily="34" charset="0"/>
                                          </a:rPr>
                                          <m:t>𝑖</m:t>
                                        </m:r>
                                      </m:sub>
                                    </m:sSub>
                                  </m:e>
                                </m:d>
                              </m:oMath>
                            </m:oMathPara>
                          </a14:m>
                          <a:endParaRPr lang="en-US" sz="1200" dirty="0">
                            <a:latin typeface="Arial" panose="020B0604020202020204" pitchFamily="34" charset="0"/>
                            <a:cs typeface="Arial" panose="020B0604020202020204" pitchFamily="34" charset="0"/>
                          </a:endParaRPr>
                        </a:p>
                        <a:p>
                          <a:pPr algn="ctr">
                            <a:buNone/>
                          </a:pPr>
                          <a:r>
                            <a:rPr lang="ru-RU" sz="1200" dirty="0">
                              <a:latin typeface="Arial" panose="020B0604020202020204" pitchFamily="34" charset="0"/>
                              <a:cs typeface="Arial" panose="020B0604020202020204" pitchFamily="34" charset="0"/>
                            </a:rPr>
                            <a:t>Нормальное нечеткое множество</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dirty="0">
                              <a:latin typeface="Arial" panose="020B0604020202020204" pitchFamily="34" charset="0"/>
                              <a:cs typeface="Arial" panose="020B0604020202020204" pitchFamily="34" charset="0"/>
                            </a:rPr>
                            <a:t>0</a:t>
                          </a:r>
                          <a:r>
                            <a:rPr lang="en-US" sz="1200" dirty="0">
                              <a:latin typeface="Arial" panose="020B0604020202020204" pitchFamily="34" charset="0"/>
                              <a:cs typeface="Arial" panose="020B0604020202020204" pitchFamily="34" charset="0"/>
                            </a:rPr>
                            <a:t>,</a:t>
                          </a:r>
                          <a:r>
                            <a:rPr lang="ru-RU" sz="1200" dirty="0">
                              <a:latin typeface="Arial" panose="020B0604020202020204" pitchFamily="34" charset="0"/>
                              <a:cs typeface="Arial" panose="020B0604020202020204" pitchFamily="34" charset="0"/>
                            </a:rPr>
                            <a:t>0813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dirty="0">
                              <a:latin typeface="Arial" panose="020B0604020202020204" pitchFamily="34" charset="0"/>
                              <a:cs typeface="Arial" panose="020B0604020202020204" pitchFamily="34" charset="0"/>
                            </a:rPr>
                            <a:t>0</a:t>
                          </a:r>
                          <a:r>
                            <a:rPr lang="en-US" sz="1200" dirty="0">
                              <a:latin typeface="Arial" panose="020B0604020202020204" pitchFamily="34" charset="0"/>
                              <a:cs typeface="Arial" panose="020B0604020202020204" pitchFamily="34" charset="0"/>
                            </a:rPr>
                            <a:t>,</a:t>
                          </a:r>
                          <a:r>
                            <a:rPr lang="ru-RU" sz="1200" dirty="0">
                              <a:latin typeface="Arial" panose="020B0604020202020204" pitchFamily="34" charset="0"/>
                              <a:cs typeface="Arial" panose="020B0604020202020204" pitchFamily="34" charset="0"/>
                            </a:rPr>
                            <a:t>1141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dirty="0">
                              <a:latin typeface="Arial" panose="020B0604020202020204" pitchFamily="34" charset="0"/>
                              <a:cs typeface="Arial" panose="020B0604020202020204" pitchFamily="34" charset="0"/>
                            </a:rPr>
                            <a:t>0</a:t>
                          </a:r>
                          <a:r>
                            <a:rPr lang="en-US" sz="1200" dirty="0">
                              <a:latin typeface="Arial" panose="020B0604020202020204" pitchFamily="34" charset="0"/>
                              <a:cs typeface="Arial" panose="020B0604020202020204" pitchFamily="34" charset="0"/>
                            </a:rPr>
                            <a:t>,</a:t>
                          </a:r>
                          <a:r>
                            <a:rPr lang="ru-RU" sz="1200" dirty="0">
                              <a:latin typeface="Arial" panose="020B0604020202020204" pitchFamily="34" charset="0"/>
                              <a:cs typeface="Arial" panose="020B0604020202020204" pitchFamily="34" charset="0"/>
                            </a:rPr>
                            <a:t>2335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dirty="0">
                              <a:latin typeface="Arial" panose="020B0604020202020204" pitchFamily="34" charset="0"/>
                              <a:cs typeface="Arial" panose="020B0604020202020204" pitchFamily="34" charset="0"/>
                            </a:rPr>
                            <a:t>0</a:t>
                          </a:r>
                          <a:r>
                            <a:rPr lang="en-US" sz="1200" dirty="0">
                              <a:latin typeface="Arial" panose="020B0604020202020204" pitchFamily="34" charset="0"/>
                              <a:cs typeface="Arial" panose="020B0604020202020204" pitchFamily="34" charset="0"/>
                            </a:rPr>
                            <a:t>,</a:t>
                          </a:r>
                          <a:r>
                            <a:rPr lang="ru-RU" sz="1200" dirty="0">
                              <a:latin typeface="Arial" panose="020B0604020202020204" pitchFamily="34" charset="0"/>
                              <a:cs typeface="Arial" panose="020B0604020202020204" pitchFamily="34" charset="0"/>
                            </a:rPr>
                            <a:t>5021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dirty="0">
                              <a:latin typeface="Arial" panose="020B0604020202020204" pitchFamily="34" charset="0"/>
                              <a:cs typeface="Arial" panose="020B0604020202020204" pitchFamily="34" charset="0"/>
                            </a:rPr>
                            <a:t>0</a:t>
                          </a:r>
                          <a:r>
                            <a:rPr lang="en-US" sz="1200" dirty="0">
                              <a:latin typeface="Arial" panose="020B0604020202020204" pitchFamily="34" charset="0"/>
                              <a:cs typeface="Arial" panose="020B0604020202020204" pitchFamily="34" charset="0"/>
                            </a:rPr>
                            <a:t>,</a:t>
                          </a:r>
                          <a:r>
                            <a:rPr lang="ru-RU" sz="1200" dirty="0">
                              <a:latin typeface="Arial" panose="020B0604020202020204" pitchFamily="34" charset="0"/>
                              <a:cs typeface="Arial" panose="020B0604020202020204" pitchFamily="34" charset="0"/>
                            </a:rPr>
                            <a:t>9314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dirty="0">
                              <a:latin typeface="Arial" panose="020B0604020202020204" pitchFamily="34" charset="0"/>
                              <a:cs typeface="Arial" panose="020B0604020202020204" pitchFamily="34" charset="0"/>
                            </a:rPr>
                            <a:t>1</a:t>
                          </a:r>
                          <a:r>
                            <a:rPr lang="en-US" sz="1200" dirty="0">
                              <a:latin typeface="Arial" panose="020B0604020202020204" pitchFamily="34" charset="0"/>
                              <a:cs typeface="Arial" panose="020B0604020202020204" pitchFamily="34" charset="0"/>
                            </a:rPr>
                            <a:t>,</a:t>
                          </a:r>
                          <a:r>
                            <a:rPr lang="ru-RU" sz="1200" dirty="0">
                              <a:latin typeface="Arial" panose="020B0604020202020204" pitchFamily="34" charset="0"/>
                              <a:cs typeface="Arial" panose="020B0604020202020204" pitchFamily="34" charset="0"/>
                            </a:rPr>
                            <a:t>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5688714"/>
                      </a:ext>
                    </a:extLst>
                  </a:tr>
                </a:tbl>
              </a:graphicData>
            </a:graphic>
          </p:graphicFrame>
        </mc:Choice>
        <mc:Fallback>
          <p:graphicFrame>
            <p:nvGraphicFramePr>
              <p:cNvPr id="19" name="Таблица 18">
                <a:extLst>
                  <a:ext uri="{FF2B5EF4-FFF2-40B4-BE49-F238E27FC236}">
                    <a16:creationId xmlns:a16="http://schemas.microsoft.com/office/drawing/2014/main" id="{9CE9C845-B678-5942-CE99-69F36CAC3A0C}"/>
                  </a:ext>
                </a:extLst>
              </p:cNvPr>
              <p:cNvGraphicFramePr>
                <a:graphicFrameLocks noGrp="1"/>
              </p:cNvGraphicFramePr>
              <p:nvPr>
                <p:extLst>
                  <p:ext uri="{D42A27DB-BD31-4B8C-83A1-F6EECF244321}">
                    <p14:modId xmlns:p14="http://schemas.microsoft.com/office/powerpoint/2010/main" val="3159134938"/>
                  </p:ext>
                </p:extLst>
              </p:nvPr>
            </p:nvGraphicFramePr>
            <p:xfrm>
              <a:off x="838199" y="3605812"/>
              <a:ext cx="10515603" cy="1707874"/>
            </p:xfrm>
            <a:graphic>
              <a:graphicData uri="http://schemas.openxmlformats.org/drawingml/2006/table">
                <a:tbl>
                  <a:tblPr/>
                  <a:tblGrid>
                    <a:gridCol w="2143313">
                      <a:extLst>
                        <a:ext uri="{9D8B030D-6E8A-4147-A177-3AD203B41FA5}">
                          <a16:colId xmlns:a16="http://schemas.microsoft.com/office/drawing/2014/main" val="1578667934"/>
                        </a:ext>
                      </a:extLst>
                    </a:gridCol>
                    <a:gridCol w="861145">
                      <a:extLst>
                        <a:ext uri="{9D8B030D-6E8A-4147-A177-3AD203B41FA5}">
                          <a16:colId xmlns:a16="http://schemas.microsoft.com/office/drawing/2014/main" val="4034343531"/>
                        </a:ext>
                      </a:extLst>
                    </a:gridCol>
                    <a:gridCol w="1502229">
                      <a:extLst>
                        <a:ext uri="{9D8B030D-6E8A-4147-A177-3AD203B41FA5}">
                          <a16:colId xmlns:a16="http://schemas.microsoft.com/office/drawing/2014/main" val="1203005568"/>
                        </a:ext>
                      </a:extLst>
                    </a:gridCol>
                    <a:gridCol w="1502229">
                      <a:extLst>
                        <a:ext uri="{9D8B030D-6E8A-4147-A177-3AD203B41FA5}">
                          <a16:colId xmlns:a16="http://schemas.microsoft.com/office/drawing/2014/main" val="6595636"/>
                        </a:ext>
                      </a:extLst>
                    </a:gridCol>
                    <a:gridCol w="1502229">
                      <a:extLst>
                        <a:ext uri="{9D8B030D-6E8A-4147-A177-3AD203B41FA5}">
                          <a16:colId xmlns:a16="http://schemas.microsoft.com/office/drawing/2014/main" val="813484799"/>
                        </a:ext>
                      </a:extLst>
                    </a:gridCol>
                    <a:gridCol w="1502229">
                      <a:extLst>
                        <a:ext uri="{9D8B030D-6E8A-4147-A177-3AD203B41FA5}">
                          <a16:colId xmlns:a16="http://schemas.microsoft.com/office/drawing/2014/main" val="2240788632"/>
                        </a:ext>
                      </a:extLst>
                    </a:gridCol>
                    <a:gridCol w="1502229">
                      <a:extLst>
                        <a:ext uri="{9D8B030D-6E8A-4147-A177-3AD203B41FA5}">
                          <a16:colId xmlns:a16="http://schemas.microsoft.com/office/drawing/2014/main" val="2010390402"/>
                        </a:ext>
                      </a:extLst>
                    </a:gridCol>
                  </a:tblGrid>
                  <a:tr h="284646">
                    <a:tc>
                      <a:txBody>
                        <a:bodyPr/>
                        <a:lstStyle/>
                        <a:p>
                          <a:endParaRPr lang="ru-RU"/>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84" t="-2128" r="-390909" b="-502128"/>
                          </a:stretch>
                        </a:blipFill>
                      </a:tcPr>
                    </a:tc>
                    <a:tc>
                      <a:txBody>
                        <a:bodyPr/>
                        <a:lstStyle/>
                        <a:p>
                          <a:pPr algn="r">
                            <a:buNone/>
                          </a:pPr>
                          <a:r>
                            <a:rPr lang="ru-RU" sz="1200" dirty="0">
                              <a:latin typeface="Arial" panose="020B0604020202020204" pitchFamily="34" charset="0"/>
                              <a:cs typeface="Arial" panose="020B0604020202020204" pitchFamily="34" charset="0"/>
                            </a:rPr>
                            <a:t>170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dirty="0">
                              <a:latin typeface="Arial" panose="020B0604020202020204" pitchFamily="34" charset="0"/>
                              <a:cs typeface="Arial" panose="020B0604020202020204" pitchFamily="34" charset="0"/>
                            </a:rPr>
                            <a:t>175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a:latin typeface="Arial" panose="020B0604020202020204" pitchFamily="34" charset="0"/>
                              <a:cs typeface="Arial" panose="020B0604020202020204" pitchFamily="34" charset="0"/>
                            </a:rPr>
                            <a:t>180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a:latin typeface="Arial" panose="020B0604020202020204" pitchFamily="34" charset="0"/>
                              <a:cs typeface="Arial" panose="020B0604020202020204" pitchFamily="34" charset="0"/>
                            </a:rPr>
                            <a:t>185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a:latin typeface="Arial" panose="020B0604020202020204" pitchFamily="34" charset="0"/>
                              <a:cs typeface="Arial" panose="020B0604020202020204" pitchFamily="34" charset="0"/>
                            </a:rPr>
                            <a:t>190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a:latin typeface="Arial" panose="020B0604020202020204" pitchFamily="34" charset="0"/>
                              <a:cs typeface="Arial" panose="020B0604020202020204" pitchFamily="34" charset="0"/>
                            </a:rPr>
                            <a:t>195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1134533"/>
                      </a:ext>
                    </a:extLst>
                  </a:tr>
                  <a:tr h="711614">
                    <a:tc>
                      <a:txBody>
                        <a:bodyPr/>
                        <a:lstStyle/>
                        <a:p>
                          <a:endParaRPr lang="ru-RU"/>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84" t="-41026" r="-390909" b="-101709"/>
                          </a:stretch>
                        </a:blipFill>
                      </a:tcPr>
                    </a:tc>
                    <a:tc>
                      <a:txBody>
                        <a:bodyPr/>
                        <a:lstStyle/>
                        <a:p>
                          <a:pPr algn="r">
                            <a:buNone/>
                          </a:pPr>
                          <a:r>
                            <a:rPr lang="ru-RU" sz="1200" dirty="0">
                              <a:latin typeface="Arial" panose="020B0604020202020204" pitchFamily="34" charset="0"/>
                              <a:cs typeface="Arial" panose="020B0604020202020204" pitchFamily="34" charset="0"/>
                            </a:rPr>
                            <a:t>0</a:t>
                          </a:r>
                          <a:r>
                            <a:rPr lang="en-US" sz="1200" dirty="0">
                              <a:latin typeface="Arial" panose="020B0604020202020204" pitchFamily="34" charset="0"/>
                              <a:cs typeface="Arial" panose="020B0604020202020204" pitchFamily="34" charset="0"/>
                            </a:rPr>
                            <a:t>,</a:t>
                          </a:r>
                          <a:r>
                            <a:rPr lang="ru-RU" sz="1200" dirty="0">
                              <a:latin typeface="Arial" panose="020B0604020202020204" pitchFamily="34" charset="0"/>
                              <a:cs typeface="Arial" panose="020B0604020202020204" pitchFamily="34" charset="0"/>
                            </a:rPr>
                            <a:t>0284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dirty="0">
                              <a:latin typeface="Arial" panose="020B0604020202020204" pitchFamily="34" charset="0"/>
                              <a:cs typeface="Arial" panose="020B0604020202020204" pitchFamily="34" charset="0"/>
                            </a:rPr>
                            <a:t>0</a:t>
                          </a:r>
                          <a:r>
                            <a:rPr lang="en-US" sz="1200" dirty="0">
                              <a:latin typeface="Arial" panose="020B0604020202020204" pitchFamily="34" charset="0"/>
                              <a:cs typeface="Arial" panose="020B0604020202020204" pitchFamily="34" charset="0"/>
                            </a:rPr>
                            <a:t>,</a:t>
                          </a:r>
                          <a:r>
                            <a:rPr lang="ru-RU" sz="1200" dirty="0">
                              <a:latin typeface="Arial" panose="020B0604020202020204" pitchFamily="34" charset="0"/>
                              <a:cs typeface="Arial" panose="020B0604020202020204" pitchFamily="34" charset="0"/>
                            </a:rPr>
                            <a:t>0399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dirty="0">
                              <a:latin typeface="Arial" panose="020B0604020202020204" pitchFamily="34" charset="0"/>
                              <a:cs typeface="Arial" panose="020B0604020202020204" pitchFamily="34" charset="0"/>
                            </a:rPr>
                            <a:t>0</a:t>
                          </a:r>
                          <a:r>
                            <a:rPr lang="en-US" sz="1200" dirty="0">
                              <a:latin typeface="Arial" panose="020B0604020202020204" pitchFamily="34" charset="0"/>
                              <a:cs typeface="Arial" panose="020B0604020202020204" pitchFamily="34" charset="0"/>
                            </a:rPr>
                            <a:t>,</a:t>
                          </a:r>
                          <a:r>
                            <a:rPr lang="ru-RU" sz="1200" dirty="0">
                              <a:latin typeface="Arial" panose="020B0604020202020204" pitchFamily="34" charset="0"/>
                              <a:cs typeface="Arial" panose="020B0604020202020204" pitchFamily="34" charset="0"/>
                            </a:rPr>
                            <a:t>0816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dirty="0">
                              <a:latin typeface="Arial" panose="020B0604020202020204" pitchFamily="34" charset="0"/>
                              <a:cs typeface="Arial" panose="020B0604020202020204" pitchFamily="34" charset="0"/>
                            </a:rPr>
                            <a:t>0</a:t>
                          </a:r>
                          <a:r>
                            <a:rPr lang="en-US" sz="1200" dirty="0">
                              <a:latin typeface="Arial" panose="020B0604020202020204" pitchFamily="34" charset="0"/>
                              <a:cs typeface="Arial" panose="020B0604020202020204" pitchFamily="34" charset="0"/>
                            </a:rPr>
                            <a:t>,</a:t>
                          </a:r>
                          <a:r>
                            <a:rPr lang="ru-RU" sz="1200" dirty="0">
                              <a:latin typeface="Arial" panose="020B0604020202020204" pitchFamily="34" charset="0"/>
                              <a:cs typeface="Arial" panose="020B0604020202020204" pitchFamily="34" charset="0"/>
                            </a:rPr>
                            <a:t>1754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dirty="0">
                              <a:latin typeface="Arial" panose="020B0604020202020204" pitchFamily="34" charset="0"/>
                              <a:cs typeface="Arial" panose="020B0604020202020204" pitchFamily="34" charset="0"/>
                            </a:rPr>
                            <a:t>0</a:t>
                          </a:r>
                          <a:r>
                            <a:rPr lang="en-US" sz="1200" dirty="0">
                              <a:latin typeface="Arial" panose="020B0604020202020204" pitchFamily="34" charset="0"/>
                              <a:cs typeface="Arial" panose="020B0604020202020204" pitchFamily="34" charset="0"/>
                            </a:rPr>
                            <a:t>,</a:t>
                          </a:r>
                          <a:r>
                            <a:rPr lang="ru-RU" sz="1200" dirty="0">
                              <a:latin typeface="Arial" panose="020B0604020202020204" pitchFamily="34" charset="0"/>
                              <a:cs typeface="Arial" panose="020B0604020202020204" pitchFamily="34" charset="0"/>
                            </a:rPr>
                            <a:t>3254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dirty="0">
                              <a:latin typeface="Arial" panose="020B0604020202020204" pitchFamily="34" charset="0"/>
                              <a:cs typeface="Arial" panose="020B0604020202020204" pitchFamily="34" charset="0"/>
                            </a:rPr>
                            <a:t>0</a:t>
                          </a:r>
                          <a:r>
                            <a:rPr lang="en-US" sz="1200" dirty="0">
                              <a:latin typeface="Arial" panose="020B0604020202020204" pitchFamily="34" charset="0"/>
                              <a:cs typeface="Arial" panose="020B0604020202020204" pitchFamily="34" charset="0"/>
                            </a:rPr>
                            <a:t>,</a:t>
                          </a:r>
                          <a:r>
                            <a:rPr lang="ru-RU" sz="1200" dirty="0">
                              <a:latin typeface="Arial" panose="020B0604020202020204" pitchFamily="34" charset="0"/>
                              <a:cs typeface="Arial" panose="020B0604020202020204" pitchFamily="34" charset="0"/>
                            </a:rPr>
                            <a:t>3494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6523163"/>
                      </a:ext>
                    </a:extLst>
                  </a:tr>
                  <a:tr h="711614">
                    <a:tc>
                      <a:txBody>
                        <a:bodyPr/>
                        <a:lstStyle/>
                        <a:p>
                          <a:endParaRPr lang="ru-RU"/>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84" t="-141026" r="-390909" b="-1709"/>
                          </a:stretch>
                        </a:blipFill>
                      </a:tcPr>
                    </a:tc>
                    <a:tc>
                      <a:txBody>
                        <a:bodyPr/>
                        <a:lstStyle/>
                        <a:p>
                          <a:pPr algn="r">
                            <a:buNone/>
                          </a:pPr>
                          <a:r>
                            <a:rPr lang="ru-RU" sz="1200" dirty="0">
                              <a:latin typeface="Arial" panose="020B0604020202020204" pitchFamily="34" charset="0"/>
                              <a:cs typeface="Arial" panose="020B0604020202020204" pitchFamily="34" charset="0"/>
                            </a:rPr>
                            <a:t>0</a:t>
                          </a:r>
                          <a:r>
                            <a:rPr lang="en-US" sz="1200" dirty="0">
                              <a:latin typeface="Arial" panose="020B0604020202020204" pitchFamily="34" charset="0"/>
                              <a:cs typeface="Arial" panose="020B0604020202020204" pitchFamily="34" charset="0"/>
                            </a:rPr>
                            <a:t>,</a:t>
                          </a:r>
                          <a:r>
                            <a:rPr lang="ru-RU" sz="1200" dirty="0">
                              <a:latin typeface="Arial" panose="020B0604020202020204" pitchFamily="34" charset="0"/>
                              <a:cs typeface="Arial" panose="020B0604020202020204" pitchFamily="34" charset="0"/>
                            </a:rPr>
                            <a:t>0813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dirty="0">
                              <a:latin typeface="Arial" panose="020B0604020202020204" pitchFamily="34" charset="0"/>
                              <a:cs typeface="Arial" panose="020B0604020202020204" pitchFamily="34" charset="0"/>
                            </a:rPr>
                            <a:t>0</a:t>
                          </a:r>
                          <a:r>
                            <a:rPr lang="en-US" sz="1200" dirty="0">
                              <a:latin typeface="Arial" panose="020B0604020202020204" pitchFamily="34" charset="0"/>
                              <a:cs typeface="Arial" panose="020B0604020202020204" pitchFamily="34" charset="0"/>
                            </a:rPr>
                            <a:t>,</a:t>
                          </a:r>
                          <a:r>
                            <a:rPr lang="ru-RU" sz="1200" dirty="0">
                              <a:latin typeface="Arial" panose="020B0604020202020204" pitchFamily="34" charset="0"/>
                              <a:cs typeface="Arial" panose="020B0604020202020204" pitchFamily="34" charset="0"/>
                            </a:rPr>
                            <a:t>1141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dirty="0">
                              <a:latin typeface="Arial" panose="020B0604020202020204" pitchFamily="34" charset="0"/>
                              <a:cs typeface="Arial" panose="020B0604020202020204" pitchFamily="34" charset="0"/>
                            </a:rPr>
                            <a:t>0</a:t>
                          </a:r>
                          <a:r>
                            <a:rPr lang="en-US" sz="1200" dirty="0">
                              <a:latin typeface="Arial" panose="020B0604020202020204" pitchFamily="34" charset="0"/>
                              <a:cs typeface="Arial" panose="020B0604020202020204" pitchFamily="34" charset="0"/>
                            </a:rPr>
                            <a:t>,</a:t>
                          </a:r>
                          <a:r>
                            <a:rPr lang="ru-RU" sz="1200" dirty="0">
                              <a:latin typeface="Arial" panose="020B0604020202020204" pitchFamily="34" charset="0"/>
                              <a:cs typeface="Arial" panose="020B0604020202020204" pitchFamily="34" charset="0"/>
                            </a:rPr>
                            <a:t>2335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dirty="0">
                              <a:latin typeface="Arial" panose="020B0604020202020204" pitchFamily="34" charset="0"/>
                              <a:cs typeface="Arial" panose="020B0604020202020204" pitchFamily="34" charset="0"/>
                            </a:rPr>
                            <a:t>0</a:t>
                          </a:r>
                          <a:r>
                            <a:rPr lang="en-US" sz="1200" dirty="0">
                              <a:latin typeface="Arial" panose="020B0604020202020204" pitchFamily="34" charset="0"/>
                              <a:cs typeface="Arial" panose="020B0604020202020204" pitchFamily="34" charset="0"/>
                            </a:rPr>
                            <a:t>,</a:t>
                          </a:r>
                          <a:r>
                            <a:rPr lang="ru-RU" sz="1200" dirty="0">
                              <a:latin typeface="Arial" panose="020B0604020202020204" pitchFamily="34" charset="0"/>
                              <a:cs typeface="Arial" panose="020B0604020202020204" pitchFamily="34" charset="0"/>
                            </a:rPr>
                            <a:t>5021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dirty="0">
                              <a:latin typeface="Arial" panose="020B0604020202020204" pitchFamily="34" charset="0"/>
                              <a:cs typeface="Arial" panose="020B0604020202020204" pitchFamily="34" charset="0"/>
                            </a:rPr>
                            <a:t>0</a:t>
                          </a:r>
                          <a:r>
                            <a:rPr lang="en-US" sz="1200" dirty="0">
                              <a:latin typeface="Arial" panose="020B0604020202020204" pitchFamily="34" charset="0"/>
                              <a:cs typeface="Arial" panose="020B0604020202020204" pitchFamily="34" charset="0"/>
                            </a:rPr>
                            <a:t>,</a:t>
                          </a:r>
                          <a:r>
                            <a:rPr lang="ru-RU" sz="1200" dirty="0">
                              <a:latin typeface="Arial" panose="020B0604020202020204" pitchFamily="34" charset="0"/>
                              <a:cs typeface="Arial" panose="020B0604020202020204" pitchFamily="34" charset="0"/>
                            </a:rPr>
                            <a:t>9314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ru-RU" sz="1200" dirty="0">
                              <a:latin typeface="Arial" panose="020B0604020202020204" pitchFamily="34" charset="0"/>
                              <a:cs typeface="Arial" panose="020B0604020202020204" pitchFamily="34" charset="0"/>
                            </a:rPr>
                            <a:t>1</a:t>
                          </a:r>
                          <a:r>
                            <a:rPr lang="en-US" sz="1200" dirty="0">
                              <a:latin typeface="Arial" panose="020B0604020202020204" pitchFamily="34" charset="0"/>
                              <a:cs typeface="Arial" panose="020B0604020202020204" pitchFamily="34" charset="0"/>
                            </a:rPr>
                            <a:t>,</a:t>
                          </a:r>
                          <a:r>
                            <a:rPr lang="ru-RU" sz="1200" dirty="0">
                              <a:latin typeface="Arial" panose="020B0604020202020204" pitchFamily="34" charset="0"/>
                              <a:cs typeface="Arial" panose="020B0604020202020204" pitchFamily="34" charset="0"/>
                            </a:rPr>
                            <a:t>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5688714"/>
                      </a:ext>
                    </a:extLst>
                  </a:tr>
                </a:tbl>
              </a:graphicData>
            </a:graphic>
          </p:graphicFrame>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AC0ACDA8-BC23-BA3B-CA29-70698374EFDE}"/>
                  </a:ext>
                </a:extLst>
              </p:cNvPr>
              <p:cNvSpPr txBox="1"/>
              <p:nvPr/>
            </p:nvSpPr>
            <p:spPr>
              <a:xfrm>
                <a:off x="838200" y="5508212"/>
                <a:ext cx="9992359" cy="1200329"/>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Отклонение </a:t>
                </a:r>
                <a14:m>
                  <m:oMath xmlns:m="http://schemas.openxmlformats.org/officeDocument/2006/math">
                    <m:sSub>
                      <m:sSubPr>
                        <m:ctrlPr>
                          <a:rPr lang="ru-RU" i="1">
                            <a:latin typeface="Cambria Math" panose="02040503050406030204" pitchFamily="18" charset="0"/>
                          </a:rPr>
                        </m:ctrlPr>
                      </m:sSubPr>
                      <m:e>
                        <m:r>
                          <a:rPr lang="ru-RU" i="1">
                            <a:latin typeface="Cambria Math" panose="02040503050406030204" pitchFamily="18" charset="0"/>
                            <a:ea typeface="Cambria Math" panose="02040503050406030204" pitchFamily="18" charset="0"/>
                          </a:rPr>
                          <m:t>𝜆</m:t>
                        </m:r>
                      </m:e>
                      <m:sub>
                        <m:r>
                          <a:rPr lang="en-US" i="1">
                            <a:latin typeface="Cambria Math" panose="02040503050406030204" pitchFamily="18" charset="0"/>
                          </a:rPr>
                          <m:t>𝑚𝑎𝑥</m:t>
                        </m:r>
                      </m:sub>
                    </m:sSub>
                    <m:r>
                      <a:rPr lang="en-US" i="1">
                        <a:latin typeface="Cambria Math" panose="02040503050406030204" pitchFamily="18" charset="0"/>
                      </a:rPr>
                      <m:t> </m:t>
                    </m:r>
                  </m:oMath>
                </a14:m>
                <a:r>
                  <a:rPr lang="ru-RU" dirty="0">
                    <a:latin typeface="Arial" panose="020B0604020202020204" pitchFamily="34" charset="0"/>
                    <a:cs typeface="Arial" panose="020B0604020202020204" pitchFamily="34" charset="0"/>
                  </a:rPr>
                  <a:t>от n может служить мерой несогласованности парных</a:t>
                </a:r>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сравнений эксперта. В примере </a:t>
                </a:r>
                <a:r>
                  <a:rPr lang="en-US" dirty="0">
                    <a:latin typeface="Arial" panose="020B0604020202020204" pitchFamily="34" charset="0"/>
                    <a:cs typeface="Arial" panose="020B0604020202020204" pitchFamily="34" charset="0"/>
                  </a:rPr>
                  <a:t>2 </a:t>
                </a:r>
                <a14:m>
                  <m:oMath xmlns:m="http://schemas.openxmlformats.org/officeDocument/2006/math">
                    <m:sSub>
                      <m:sSubPr>
                        <m:ctrlPr>
                          <a:rPr lang="ru-RU" i="1">
                            <a:latin typeface="Cambria Math" panose="02040503050406030204" pitchFamily="18" charset="0"/>
                          </a:rPr>
                        </m:ctrlPr>
                      </m:sSubPr>
                      <m:e>
                        <m:r>
                          <a:rPr lang="ru-RU" i="1">
                            <a:latin typeface="Cambria Math" panose="02040503050406030204" pitchFamily="18" charset="0"/>
                            <a:ea typeface="Cambria Math" panose="02040503050406030204" pitchFamily="18" charset="0"/>
                          </a:rPr>
                          <m:t>𝜆</m:t>
                        </m:r>
                      </m:e>
                      <m:sub>
                        <m:r>
                          <a:rPr lang="en-US" i="1">
                            <a:latin typeface="Cambria Math" panose="02040503050406030204" pitchFamily="18" charset="0"/>
                          </a:rPr>
                          <m:t>𝑚𝑎𝑥</m:t>
                        </m:r>
                      </m:sub>
                    </m:sSub>
                    <m:r>
                      <a:rPr lang="en-US" b="0" i="1" smtClean="0">
                        <a:latin typeface="Cambria Math" panose="02040503050406030204" pitchFamily="18" charset="0"/>
                      </a:rPr>
                      <m:t>=6,2494</m:t>
                    </m:r>
                  </m:oMath>
                </a14:m>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а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=6</m:t>
                    </m:r>
                  </m:oMath>
                </a14:m>
                <a:r>
                  <a:rPr lang="ru-RU" dirty="0">
                    <a:latin typeface="Arial" panose="020B0604020202020204" pitchFamily="34" charset="0"/>
                    <a:cs typeface="Arial" panose="020B0604020202020204" pitchFamily="34" charset="0"/>
                  </a:rPr>
                  <a:t>. Следовательно, мера</a:t>
                </a:r>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несогласованности равна </a:t>
                </a:r>
                <a14:m>
                  <m:oMath xmlns:m="http://schemas.openxmlformats.org/officeDocument/2006/math">
                    <m:r>
                      <a:rPr lang="en-US" i="1" dirty="0" smtClean="0">
                        <a:latin typeface="Cambria Math" panose="02040503050406030204" pitchFamily="18" charset="0"/>
                      </a:rPr>
                      <m:t>0</m:t>
                    </m:r>
                    <m:r>
                      <a:rPr lang="en-US" i="1">
                        <a:latin typeface="Cambria Math" panose="02040503050406030204" pitchFamily="18" charset="0"/>
                      </a:rPr>
                      <m:t>,2494</m:t>
                    </m:r>
                  </m:oMath>
                </a14:m>
                <a:r>
                  <a:rPr lang="ru-RU" dirty="0">
                    <a:latin typeface="Arial" panose="020B0604020202020204" pitchFamily="34" charset="0"/>
                    <a:cs typeface="Arial" panose="020B0604020202020204" pitchFamily="34" charset="0"/>
                  </a:rPr>
                  <a:t>. При согласованных парных сравнениях</a:t>
                </a:r>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процедура построения функций</a:t>
                </a:r>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принадлежности значительно упрощается</a:t>
                </a:r>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hlinkClick r:id="rId5"/>
                  </a:rPr>
                  <a:t>ссылка на пособие</a:t>
                </a:r>
                <a:r>
                  <a:rPr lang="en-US" dirty="0">
                    <a:latin typeface="Arial" panose="020B0604020202020204" pitchFamily="34" charset="0"/>
                    <a:cs typeface="Arial" panose="020B0604020202020204" pitchFamily="34" charset="0"/>
                  </a:rPr>
                  <a:t>]</a:t>
                </a:r>
                <a:r>
                  <a:rPr lang="ru-RU" dirty="0">
                    <a:latin typeface="Arial" panose="020B0604020202020204" pitchFamily="34" charset="0"/>
                    <a:cs typeface="Arial" panose="020B0604020202020204" pitchFamily="34" charset="0"/>
                  </a:rPr>
                  <a:t>.</a:t>
                </a:r>
              </a:p>
            </p:txBody>
          </p:sp>
        </mc:Choice>
        <mc:Fallback xmlns="">
          <p:sp>
            <p:nvSpPr>
              <p:cNvPr id="28" name="TextBox 27">
                <a:extLst>
                  <a:ext uri="{FF2B5EF4-FFF2-40B4-BE49-F238E27FC236}">
                    <a16:creationId xmlns:a16="http://schemas.microsoft.com/office/drawing/2014/main" id="{AC0ACDA8-BC23-BA3B-CA29-70698374EFDE}"/>
                  </a:ext>
                </a:extLst>
              </p:cNvPr>
              <p:cNvSpPr txBox="1">
                <a:spLocks noRot="1" noChangeAspect="1" noMove="1" noResize="1" noEditPoints="1" noAdjustHandles="1" noChangeArrowheads="1" noChangeShapeType="1" noTextEdit="1"/>
              </p:cNvSpPr>
              <p:nvPr/>
            </p:nvSpPr>
            <p:spPr>
              <a:xfrm>
                <a:off x="838200" y="5508212"/>
                <a:ext cx="9992359" cy="1200329"/>
              </a:xfrm>
              <a:prstGeom prst="rect">
                <a:avLst/>
              </a:prstGeom>
              <a:blipFill>
                <a:blip r:embed="rId6"/>
                <a:stretch>
                  <a:fillRect l="-549" t="-3061" b="-7653"/>
                </a:stretch>
              </a:blipFill>
            </p:spPr>
            <p:txBody>
              <a:bodyPr/>
              <a:lstStyle/>
              <a:p>
                <a:r>
                  <a:rPr lang="ru-RU">
                    <a:noFill/>
                  </a:rPr>
                  <a:t> </a:t>
                </a:r>
              </a:p>
            </p:txBody>
          </p:sp>
        </mc:Fallback>
      </mc:AlternateContent>
      <p:sp>
        <p:nvSpPr>
          <p:cNvPr id="6" name="TextBox 5">
            <a:extLst>
              <a:ext uri="{FF2B5EF4-FFF2-40B4-BE49-F238E27FC236}">
                <a16:creationId xmlns:a16="http://schemas.microsoft.com/office/drawing/2014/main" id="{C5420AAB-A25F-9400-2F4F-42D18A97BBD6}"/>
              </a:ext>
            </a:extLst>
          </p:cNvPr>
          <p:cNvSpPr txBox="1"/>
          <p:nvPr/>
        </p:nvSpPr>
        <p:spPr>
          <a:xfrm>
            <a:off x="838200" y="1278644"/>
            <a:ext cx="6096000"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Пример 2</a:t>
            </a:r>
          </a:p>
        </p:txBody>
      </p:sp>
    </p:spTree>
    <p:extLst>
      <p:ext uri="{BB962C8B-B14F-4D97-AF65-F5344CB8AC3E}">
        <p14:creationId xmlns:p14="http://schemas.microsoft.com/office/powerpoint/2010/main" val="39621745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ED5DB-8DC8-5E2F-FC21-A1301E9BF756}"/>
            </a:ext>
          </a:extLst>
        </p:cNvPr>
        <p:cNvGrpSpPr/>
        <p:nvPr/>
      </p:nvGrpSpPr>
      <p:grpSpPr>
        <a:xfrm>
          <a:off x="0" y="0"/>
          <a:ext cx="0" cy="0"/>
          <a:chOff x="0" y="0"/>
          <a:chExt cx="0" cy="0"/>
        </a:xfrm>
      </p:grpSpPr>
      <p:sp>
        <p:nvSpPr>
          <p:cNvPr id="5" name="Заголовок 1">
            <a:extLst>
              <a:ext uri="{FF2B5EF4-FFF2-40B4-BE49-F238E27FC236}">
                <a16:creationId xmlns:a16="http://schemas.microsoft.com/office/drawing/2014/main" id="{BDA251AC-EDFB-147D-DBE8-CA10D74DA9BE}"/>
              </a:ext>
            </a:extLst>
          </p:cNvPr>
          <p:cNvSpPr>
            <a:spLocks noGrp="1"/>
          </p:cNvSpPr>
          <p:nvPr>
            <p:ph type="title"/>
          </p:nvPr>
        </p:nvSpPr>
        <p:spPr>
          <a:xfrm>
            <a:off x="838200" y="365125"/>
            <a:ext cx="10515600" cy="1325563"/>
          </a:xfrm>
        </p:spPr>
        <p:txBody>
          <a:bodyPr>
            <a:normAutofit/>
          </a:bodyPr>
          <a:lstStyle/>
          <a:p>
            <a:r>
              <a:rPr lang="ru-RU" sz="4000" dirty="0"/>
              <a:t>Решение типовых задач</a:t>
            </a:r>
          </a:p>
        </p:txBody>
      </p:sp>
      <p:sp>
        <p:nvSpPr>
          <p:cNvPr id="20" name="Rectangle 1">
            <a:extLst>
              <a:ext uri="{FF2B5EF4-FFF2-40B4-BE49-F238E27FC236}">
                <a16:creationId xmlns:a16="http://schemas.microsoft.com/office/drawing/2014/main" id="{D73D2B7C-5E09-BE7D-619E-4FFA75D34263}"/>
              </a:ext>
            </a:extLst>
          </p:cNvPr>
          <p:cNvSpPr>
            <a:spLocks noChangeArrowheads="1"/>
          </p:cNvSpPr>
          <p:nvPr/>
        </p:nvSpPr>
        <p:spPr bwMode="auto">
          <a:xfrm>
            <a:off x="838200" y="2802623"/>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rPr>
            </a:br>
            <a:endPar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621BCF04-3EB3-3007-F49B-00208907CC57}"/>
              </a:ext>
            </a:extLst>
          </p:cNvPr>
          <p:cNvSpPr txBox="1"/>
          <p:nvPr/>
        </p:nvSpPr>
        <p:spPr>
          <a:xfrm>
            <a:off x="838200" y="1278644"/>
            <a:ext cx="6096000"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Пример 3</a:t>
            </a:r>
          </a:p>
        </p:txBody>
      </p:sp>
      <p:sp>
        <p:nvSpPr>
          <p:cNvPr id="3" name="Номер слайда 2">
            <a:extLst>
              <a:ext uri="{FF2B5EF4-FFF2-40B4-BE49-F238E27FC236}">
                <a16:creationId xmlns:a16="http://schemas.microsoft.com/office/drawing/2014/main" id="{556D8C82-1451-F39F-3505-673522A8C429}"/>
              </a:ext>
            </a:extLst>
          </p:cNvPr>
          <p:cNvSpPr>
            <a:spLocks noGrp="1"/>
          </p:cNvSpPr>
          <p:nvPr>
            <p:ph type="sldNum" sz="quarter" idx="12"/>
          </p:nvPr>
        </p:nvSpPr>
        <p:spPr/>
        <p:txBody>
          <a:bodyPr/>
          <a:lstStyle/>
          <a:p>
            <a:fld id="{818D4B0C-12DF-447C-B791-E379AA958CE7}" type="slidenum">
              <a:rPr lang="ru-RU" smtClean="0"/>
              <a:t>29</a:t>
            </a:fld>
            <a:endParaRPr lang="ru-RU"/>
          </a:p>
        </p:txBody>
      </p:sp>
      <p:sp>
        <p:nvSpPr>
          <p:cNvPr id="4" name="TextBox 3">
            <a:extLst>
              <a:ext uri="{FF2B5EF4-FFF2-40B4-BE49-F238E27FC236}">
                <a16:creationId xmlns:a16="http://schemas.microsoft.com/office/drawing/2014/main" id="{855F61B9-A081-B996-8650-8B55D37F9ED0}"/>
              </a:ext>
            </a:extLst>
          </p:cNvPr>
          <p:cNvSpPr txBox="1"/>
          <p:nvPr/>
        </p:nvSpPr>
        <p:spPr>
          <a:xfrm>
            <a:off x="838200" y="2019600"/>
            <a:ext cx="10662920" cy="2862322"/>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Определить четкое значение выходной переменной z</a:t>
            </a:r>
            <a:r>
              <a:rPr lang="ru-RU" sz="1200" dirty="0">
                <a:latin typeface="Arial" panose="020B0604020202020204" pitchFamily="34" charset="0"/>
                <a:cs typeface="Arial" panose="020B0604020202020204" pitchFamily="34" charset="0"/>
              </a:rPr>
              <a:t>0</a:t>
            </a:r>
            <a:r>
              <a:rPr lang="ru-RU" dirty="0">
                <a:latin typeface="Arial" panose="020B0604020202020204" pitchFamily="34" charset="0"/>
                <a:cs typeface="Arial" panose="020B0604020202020204" pitchFamily="34" charset="0"/>
              </a:rPr>
              <a:t>, соответствующее подаче на вход системы принятия решений х</a:t>
            </a:r>
            <a:r>
              <a:rPr lang="ru-RU" sz="1200" dirty="0">
                <a:latin typeface="Arial" panose="020B0604020202020204" pitchFamily="34" charset="0"/>
                <a:cs typeface="Arial" panose="020B0604020202020204" pitchFamily="34" charset="0"/>
              </a:rPr>
              <a:t>0</a:t>
            </a:r>
            <a:r>
              <a:rPr lang="ru-RU" dirty="0">
                <a:latin typeface="Arial" panose="020B0604020202020204" pitchFamily="34" charset="0"/>
                <a:cs typeface="Arial" panose="020B0604020202020204" pitchFamily="34" charset="0"/>
              </a:rPr>
              <a:t>=3 и у</a:t>
            </a:r>
            <a:r>
              <a:rPr lang="ru-RU" sz="1200" dirty="0">
                <a:latin typeface="Arial" panose="020B0604020202020204" pitchFamily="34" charset="0"/>
                <a:cs typeface="Arial" panose="020B0604020202020204" pitchFamily="34" charset="0"/>
              </a:rPr>
              <a:t>0</a:t>
            </a:r>
            <a:r>
              <a:rPr lang="ru-RU" dirty="0">
                <a:latin typeface="Arial" panose="020B0604020202020204" pitchFamily="34" charset="0"/>
                <a:cs typeface="Arial" panose="020B0604020202020204" pitchFamily="34" charset="0"/>
              </a:rPr>
              <a:t>=2, если нечеткий вывод осуществляется по правилам</a:t>
            </a:r>
          </a:p>
          <a:p>
            <a:endParaRPr lang="ru-RU" dirty="0">
              <a:latin typeface="Arial" panose="020B0604020202020204" pitchFamily="34" charset="0"/>
              <a:cs typeface="Arial" panose="020B0604020202020204" pitchFamily="34" charset="0"/>
            </a:endParaRPr>
          </a:p>
          <a:p>
            <a:pPr algn="ctr"/>
            <a:r>
              <a:rPr lang="ru-RU" dirty="0">
                <a:latin typeface="Arial" panose="020B0604020202020204" pitchFamily="34" charset="0"/>
                <a:cs typeface="Arial" panose="020B0604020202020204" pitchFamily="34" charset="0"/>
              </a:rPr>
              <a:t>П1: если х есть А1 и у есть В1	 то z есть С1;</a:t>
            </a:r>
          </a:p>
          <a:p>
            <a:pPr algn="ctr"/>
            <a:r>
              <a:rPr lang="ru-RU" dirty="0">
                <a:latin typeface="Arial" panose="020B0604020202020204" pitchFamily="34" charset="0"/>
                <a:cs typeface="Arial" panose="020B0604020202020204" pitchFamily="34" charset="0"/>
              </a:rPr>
              <a:t>П2: если х есть А2 и у есть В2	 то z есть С2;</a:t>
            </a:r>
          </a:p>
          <a:p>
            <a:pPr algn="ctr"/>
            <a:endParaRPr lang="ru-RU" dirty="0">
              <a:latin typeface="Arial" panose="020B0604020202020204" pitchFamily="34" charset="0"/>
              <a:cs typeface="Arial" panose="020B0604020202020204" pitchFamily="34" charset="0"/>
            </a:endParaRPr>
          </a:p>
          <a:p>
            <a:r>
              <a:rPr lang="ru-RU" dirty="0">
                <a:latin typeface="Arial" panose="020B0604020202020204" pitchFamily="34" charset="0"/>
                <a:cs typeface="Arial" panose="020B0604020202020204" pitchFamily="34" charset="0"/>
              </a:rPr>
              <a:t>с использованием логического вывода по МИНИМУМУ и композиции с МАКСИМУМОМ, если А1</a:t>
            </a:r>
            <a:r>
              <a:rPr lang="ru-RU" sz="1200" dirty="0">
                <a:latin typeface="Arial" panose="020B0604020202020204" pitchFamily="34" charset="0"/>
                <a:cs typeface="Arial" panose="020B0604020202020204" pitchFamily="34" charset="0"/>
              </a:rPr>
              <a:t>LR</a:t>
            </a:r>
            <a:r>
              <a:rPr lang="ru-RU" dirty="0">
                <a:latin typeface="Arial" panose="020B0604020202020204" pitchFamily="34" charset="0"/>
                <a:cs typeface="Arial" panose="020B0604020202020204" pitchFamily="34" charset="0"/>
              </a:rPr>
              <a:t>=(4, 3, 2), B1</a:t>
            </a:r>
            <a:r>
              <a:rPr lang="ru-RU" sz="1200" dirty="0">
                <a:latin typeface="Arial" panose="020B0604020202020204" pitchFamily="34" charset="0"/>
                <a:cs typeface="Arial" panose="020B0604020202020204" pitchFamily="34" charset="0"/>
              </a:rPr>
              <a:t>LR</a:t>
            </a:r>
            <a:r>
              <a:rPr lang="ru-RU" dirty="0">
                <a:latin typeface="Arial" panose="020B0604020202020204" pitchFamily="34" charset="0"/>
                <a:cs typeface="Arial" panose="020B0604020202020204" pitchFamily="34" charset="0"/>
              </a:rPr>
              <a:t>=(4, 2, 3), А2</a:t>
            </a:r>
            <a:r>
              <a:rPr lang="ru-RU" sz="1200" dirty="0">
                <a:latin typeface="Arial" panose="020B0604020202020204" pitchFamily="34" charset="0"/>
                <a:cs typeface="Arial" panose="020B0604020202020204" pitchFamily="34" charset="0"/>
              </a:rPr>
              <a:t>LR</a:t>
            </a:r>
            <a:r>
              <a:rPr lang="ru-RU" dirty="0">
                <a:latin typeface="Arial" panose="020B0604020202020204" pitchFamily="34" charset="0"/>
                <a:cs typeface="Arial" panose="020B0604020202020204" pitchFamily="34" charset="0"/>
              </a:rPr>
              <a:t>=(2, 2, 4), B2</a:t>
            </a:r>
            <a:r>
              <a:rPr lang="ru-RU" sz="1200" dirty="0">
                <a:latin typeface="Arial" panose="020B0604020202020204" pitchFamily="34" charset="0"/>
                <a:cs typeface="Arial" panose="020B0604020202020204" pitchFamily="34" charset="0"/>
              </a:rPr>
              <a:t>LR</a:t>
            </a:r>
            <a:r>
              <a:rPr lang="ru-RU" dirty="0">
                <a:latin typeface="Arial" panose="020B0604020202020204" pitchFamily="34" charset="0"/>
                <a:cs typeface="Arial" panose="020B0604020202020204" pitchFamily="34" charset="0"/>
              </a:rPr>
              <a:t>=(3, 2, 1), С1</a:t>
            </a:r>
            <a:r>
              <a:rPr lang="ru-RU" sz="1200" dirty="0">
                <a:latin typeface="Arial" panose="020B0604020202020204" pitchFamily="34" charset="0"/>
                <a:cs typeface="Arial" panose="020B0604020202020204" pitchFamily="34" charset="0"/>
              </a:rPr>
              <a:t>LR</a:t>
            </a:r>
            <a:r>
              <a:rPr lang="ru-RU" dirty="0">
                <a:latin typeface="Arial" panose="020B0604020202020204" pitchFamily="34" charset="0"/>
                <a:cs typeface="Arial" panose="020B0604020202020204" pitchFamily="34" charset="0"/>
              </a:rPr>
              <a:t>=(2, 2, 2), С2</a:t>
            </a:r>
            <a:r>
              <a:rPr lang="ru-RU" sz="1200" dirty="0">
                <a:latin typeface="Arial" panose="020B0604020202020204" pitchFamily="34" charset="0"/>
                <a:cs typeface="Arial" panose="020B0604020202020204" pitchFamily="34" charset="0"/>
              </a:rPr>
              <a:t>LR</a:t>
            </a:r>
            <a:r>
              <a:rPr lang="ru-RU" dirty="0">
                <a:latin typeface="Arial" panose="020B0604020202020204" pitchFamily="34" charset="0"/>
                <a:cs typeface="Arial" panose="020B0604020202020204" pitchFamily="34" charset="0"/>
              </a:rPr>
              <a:t>=(3, 3, 3). </a:t>
            </a:r>
          </a:p>
          <a:p>
            <a:endParaRPr lang="ru-RU" dirty="0">
              <a:latin typeface="Arial" panose="020B0604020202020204" pitchFamily="34" charset="0"/>
              <a:cs typeface="Arial" panose="020B0604020202020204" pitchFamily="34" charset="0"/>
            </a:endParaRPr>
          </a:p>
          <a:p>
            <a:r>
              <a:rPr lang="ru-RU" dirty="0">
                <a:latin typeface="Arial" panose="020B0604020202020204" pitchFamily="34" charset="0"/>
                <a:cs typeface="Arial" panose="020B0604020202020204" pitchFamily="34" charset="0"/>
              </a:rPr>
              <a:t>Приведение к четкости осуществляется по </a:t>
            </a:r>
            <a:r>
              <a:rPr lang="ru-RU" dirty="0" err="1">
                <a:latin typeface="Arial" panose="020B0604020202020204" pitchFamily="34" charset="0"/>
                <a:cs typeface="Arial" panose="020B0604020202020204" pitchFamily="34" charset="0"/>
              </a:rPr>
              <a:t>центроидному</a:t>
            </a:r>
            <a:r>
              <a:rPr lang="ru-RU" dirty="0">
                <a:latin typeface="Arial" panose="020B0604020202020204" pitchFamily="34" charset="0"/>
                <a:cs typeface="Arial" panose="020B0604020202020204" pitchFamily="34" charset="0"/>
              </a:rPr>
              <a:t> методу.</a:t>
            </a:r>
          </a:p>
        </p:txBody>
      </p:sp>
    </p:spTree>
    <p:extLst>
      <p:ext uri="{BB962C8B-B14F-4D97-AF65-F5344CB8AC3E}">
        <p14:creationId xmlns:p14="http://schemas.microsoft.com/office/powerpoint/2010/main" val="38774315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10C57-0446-E21C-6533-5192180B6E62}"/>
            </a:ext>
          </a:extLst>
        </p:cNvPr>
        <p:cNvGrpSpPr/>
        <p:nvPr/>
      </p:nvGrpSpPr>
      <p:grpSpPr>
        <a:xfrm>
          <a:off x="0" y="0"/>
          <a:ext cx="0" cy="0"/>
          <a:chOff x="0" y="0"/>
          <a:chExt cx="0" cy="0"/>
        </a:xfrm>
      </p:grpSpPr>
      <p:sp>
        <p:nvSpPr>
          <p:cNvPr id="5" name="Заголовок 1">
            <a:extLst>
              <a:ext uri="{FF2B5EF4-FFF2-40B4-BE49-F238E27FC236}">
                <a16:creationId xmlns:a16="http://schemas.microsoft.com/office/drawing/2014/main" id="{C25C2660-E014-F32C-8990-BE316536816F}"/>
              </a:ext>
            </a:extLst>
          </p:cNvPr>
          <p:cNvSpPr>
            <a:spLocks noGrp="1"/>
          </p:cNvSpPr>
          <p:nvPr>
            <p:ph type="title"/>
          </p:nvPr>
        </p:nvSpPr>
        <p:spPr>
          <a:xfrm>
            <a:off x="838200" y="365125"/>
            <a:ext cx="10515600" cy="1325563"/>
          </a:xfrm>
        </p:spPr>
        <p:txBody>
          <a:bodyPr>
            <a:normAutofit/>
          </a:bodyPr>
          <a:lstStyle/>
          <a:p>
            <a:r>
              <a:rPr lang="ru-RU" sz="4000" dirty="0"/>
              <a:t>Решение типовых задач</a:t>
            </a:r>
          </a:p>
        </p:txBody>
      </p:sp>
      <p:sp>
        <p:nvSpPr>
          <p:cNvPr id="20" name="Rectangle 1">
            <a:extLst>
              <a:ext uri="{FF2B5EF4-FFF2-40B4-BE49-F238E27FC236}">
                <a16:creationId xmlns:a16="http://schemas.microsoft.com/office/drawing/2014/main" id="{389A0CC6-4B63-748F-6D82-49F7141E6F40}"/>
              </a:ext>
            </a:extLst>
          </p:cNvPr>
          <p:cNvSpPr>
            <a:spLocks noChangeArrowheads="1"/>
          </p:cNvSpPr>
          <p:nvPr/>
        </p:nvSpPr>
        <p:spPr bwMode="auto">
          <a:xfrm>
            <a:off x="838200" y="2802623"/>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rPr>
            </a:br>
            <a:endPar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3" name="Номер слайда 2">
            <a:extLst>
              <a:ext uri="{FF2B5EF4-FFF2-40B4-BE49-F238E27FC236}">
                <a16:creationId xmlns:a16="http://schemas.microsoft.com/office/drawing/2014/main" id="{D76666D0-1FA3-09F3-E0B7-D7246E71601E}"/>
              </a:ext>
            </a:extLst>
          </p:cNvPr>
          <p:cNvSpPr>
            <a:spLocks noGrp="1"/>
          </p:cNvSpPr>
          <p:nvPr>
            <p:ph type="sldNum" sz="quarter" idx="12"/>
          </p:nvPr>
        </p:nvSpPr>
        <p:spPr/>
        <p:txBody>
          <a:bodyPr/>
          <a:lstStyle/>
          <a:p>
            <a:fld id="{818D4B0C-12DF-447C-B791-E379AA958CE7}" type="slidenum">
              <a:rPr lang="ru-RU" smtClean="0"/>
              <a:t>30</a:t>
            </a:fld>
            <a:endParaRPr lang="ru-RU"/>
          </a:p>
        </p:txBody>
      </p:sp>
      <p:pic>
        <p:nvPicPr>
          <p:cNvPr id="9" name="Рисунок 8">
            <a:extLst>
              <a:ext uri="{FF2B5EF4-FFF2-40B4-BE49-F238E27FC236}">
                <a16:creationId xmlns:a16="http://schemas.microsoft.com/office/drawing/2014/main" id="{84BD467D-15EF-7E22-898F-17251AD1DC6F}"/>
              </a:ext>
            </a:extLst>
          </p:cNvPr>
          <p:cNvPicPr>
            <a:picLocks noChangeAspect="1"/>
          </p:cNvPicPr>
          <p:nvPr/>
        </p:nvPicPr>
        <p:blipFill>
          <a:blip r:embed="rId2"/>
          <a:stretch>
            <a:fillRect/>
          </a:stretch>
        </p:blipFill>
        <p:spPr>
          <a:xfrm>
            <a:off x="248231" y="2431732"/>
            <a:ext cx="5942076" cy="2167128"/>
          </a:xfrm>
          <a:prstGeom prst="rect">
            <a:avLst/>
          </a:prstGeom>
        </p:spPr>
      </p:pic>
      <p:pic>
        <p:nvPicPr>
          <p:cNvPr id="13" name="Рисунок 12">
            <a:extLst>
              <a:ext uri="{FF2B5EF4-FFF2-40B4-BE49-F238E27FC236}">
                <a16:creationId xmlns:a16="http://schemas.microsoft.com/office/drawing/2014/main" id="{D84179E7-1D76-7C05-5ED0-6D8678CE7E3F}"/>
              </a:ext>
            </a:extLst>
          </p:cNvPr>
          <p:cNvPicPr>
            <a:picLocks noChangeAspect="1"/>
          </p:cNvPicPr>
          <p:nvPr/>
        </p:nvPicPr>
        <p:blipFill>
          <a:blip r:embed="rId3"/>
          <a:stretch>
            <a:fillRect/>
          </a:stretch>
        </p:blipFill>
        <p:spPr>
          <a:xfrm>
            <a:off x="3241294" y="1243012"/>
            <a:ext cx="5942076" cy="4887468"/>
          </a:xfrm>
          <a:prstGeom prst="rect">
            <a:avLst/>
          </a:prstGeom>
        </p:spPr>
      </p:pic>
      <p:pic>
        <p:nvPicPr>
          <p:cNvPr id="19" name="Рисунок 18">
            <a:extLst>
              <a:ext uri="{FF2B5EF4-FFF2-40B4-BE49-F238E27FC236}">
                <a16:creationId xmlns:a16="http://schemas.microsoft.com/office/drawing/2014/main" id="{D9830BEB-7153-7CD0-5B49-ADFC047B319F}"/>
              </a:ext>
            </a:extLst>
          </p:cNvPr>
          <p:cNvPicPr>
            <a:picLocks noChangeAspect="1"/>
          </p:cNvPicPr>
          <p:nvPr/>
        </p:nvPicPr>
        <p:blipFill>
          <a:blip r:embed="rId4"/>
          <a:stretch>
            <a:fillRect/>
          </a:stretch>
        </p:blipFill>
        <p:spPr>
          <a:xfrm>
            <a:off x="7020687" y="1243012"/>
            <a:ext cx="5942076" cy="5699760"/>
          </a:xfrm>
          <a:prstGeom prst="rect">
            <a:avLst/>
          </a:prstGeom>
        </p:spPr>
      </p:pic>
      <p:sp>
        <p:nvSpPr>
          <p:cNvPr id="2" name="TextBox 1">
            <a:extLst>
              <a:ext uri="{FF2B5EF4-FFF2-40B4-BE49-F238E27FC236}">
                <a16:creationId xmlns:a16="http://schemas.microsoft.com/office/drawing/2014/main" id="{08CAC6E0-7429-C04D-DCE9-AC432F0F2290}"/>
              </a:ext>
            </a:extLst>
          </p:cNvPr>
          <p:cNvSpPr txBox="1"/>
          <p:nvPr/>
        </p:nvSpPr>
        <p:spPr>
          <a:xfrm>
            <a:off x="838200" y="1278644"/>
            <a:ext cx="6096000"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Пример 3</a:t>
            </a:r>
          </a:p>
        </p:txBody>
      </p:sp>
    </p:spTree>
    <p:extLst>
      <p:ext uri="{BB962C8B-B14F-4D97-AF65-F5344CB8AC3E}">
        <p14:creationId xmlns:p14="http://schemas.microsoft.com/office/powerpoint/2010/main" val="19743268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F9F75-FA74-2867-AC96-B2C5579940F1}"/>
            </a:ext>
          </a:extLst>
        </p:cNvPr>
        <p:cNvGrpSpPr/>
        <p:nvPr/>
      </p:nvGrpSpPr>
      <p:grpSpPr>
        <a:xfrm>
          <a:off x="0" y="0"/>
          <a:ext cx="0" cy="0"/>
          <a:chOff x="0" y="0"/>
          <a:chExt cx="0" cy="0"/>
        </a:xfrm>
      </p:grpSpPr>
      <p:sp>
        <p:nvSpPr>
          <p:cNvPr id="5" name="Заголовок 1">
            <a:extLst>
              <a:ext uri="{FF2B5EF4-FFF2-40B4-BE49-F238E27FC236}">
                <a16:creationId xmlns:a16="http://schemas.microsoft.com/office/drawing/2014/main" id="{CB7F18E8-7FC6-8070-264C-368D35CCB580}"/>
              </a:ext>
            </a:extLst>
          </p:cNvPr>
          <p:cNvSpPr>
            <a:spLocks noGrp="1"/>
          </p:cNvSpPr>
          <p:nvPr>
            <p:ph type="title"/>
          </p:nvPr>
        </p:nvSpPr>
        <p:spPr>
          <a:xfrm>
            <a:off x="838200" y="365125"/>
            <a:ext cx="10515600" cy="1325563"/>
          </a:xfrm>
        </p:spPr>
        <p:txBody>
          <a:bodyPr>
            <a:normAutofit/>
          </a:bodyPr>
          <a:lstStyle/>
          <a:p>
            <a:r>
              <a:rPr lang="ru-RU" sz="4000" dirty="0"/>
              <a:t>Решение типовых задач</a:t>
            </a:r>
          </a:p>
        </p:txBody>
      </p:sp>
      <p:sp>
        <p:nvSpPr>
          <p:cNvPr id="20" name="Rectangle 1">
            <a:extLst>
              <a:ext uri="{FF2B5EF4-FFF2-40B4-BE49-F238E27FC236}">
                <a16:creationId xmlns:a16="http://schemas.microsoft.com/office/drawing/2014/main" id="{A4388EB9-92F7-440B-15F9-29B93B512FEB}"/>
              </a:ext>
            </a:extLst>
          </p:cNvPr>
          <p:cNvSpPr>
            <a:spLocks noChangeArrowheads="1"/>
          </p:cNvSpPr>
          <p:nvPr/>
        </p:nvSpPr>
        <p:spPr bwMode="auto">
          <a:xfrm>
            <a:off x="838200" y="2802623"/>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rPr>
            </a:br>
            <a:endPar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13112F4-ED94-3AA3-CEDD-02B18E5AD812}"/>
              </a:ext>
            </a:extLst>
          </p:cNvPr>
          <p:cNvSpPr txBox="1"/>
          <p:nvPr/>
        </p:nvSpPr>
        <p:spPr>
          <a:xfrm>
            <a:off x="838200" y="1278644"/>
            <a:ext cx="6096000" cy="492443"/>
          </a:xfrm>
          <a:prstGeom prst="rect">
            <a:avLst/>
          </a:prstGeom>
          <a:noFill/>
        </p:spPr>
        <p:txBody>
          <a:bodyPr wrap="square">
            <a:spAutoFit/>
          </a:bodyPr>
          <a:lstStyle/>
          <a:p>
            <a:r>
              <a:rPr lang="ru-RU" sz="2600" dirty="0">
                <a:latin typeface="Arial" panose="020B0604020202020204" pitchFamily="34" charset="0"/>
                <a:cs typeface="Arial" panose="020B0604020202020204" pitchFamily="34" charset="0"/>
              </a:rPr>
              <a:t>Пример 4</a:t>
            </a:r>
          </a:p>
        </p:txBody>
      </p:sp>
      <p:sp>
        <p:nvSpPr>
          <p:cNvPr id="3" name="Номер слайда 2">
            <a:extLst>
              <a:ext uri="{FF2B5EF4-FFF2-40B4-BE49-F238E27FC236}">
                <a16:creationId xmlns:a16="http://schemas.microsoft.com/office/drawing/2014/main" id="{8175A252-4E18-4CEF-BF11-34EBCF41D6F8}"/>
              </a:ext>
            </a:extLst>
          </p:cNvPr>
          <p:cNvSpPr>
            <a:spLocks noGrp="1"/>
          </p:cNvSpPr>
          <p:nvPr>
            <p:ph type="sldNum" sz="quarter" idx="12"/>
          </p:nvPr>
        </p:nvSpPr>
        <p:spPr/>
        <p:txBody>
          <a:bodyPr/>
          <a:lstStyle/>
          <a:p>
            <a:fld id="{818D4B0C-12DF-447C-B791-E379AA958CE7}" type="slidenum">
              <a:rPr lang="ru-RU" smtClean="0"/>
              <a:t>31</a:t>
            </a:fld>
            <a:endParaRPr lang="ru-RU"/>
          </a:p>
        </p:txBody>
      </p:sp>
      <p:sp>
        <p:nvSpPr>
          <p:cNvPr id="4" name="TextBox 3">
            <a:extLst>
              <a:ext uri="{FF2B5EF4-FFF2-40B4-BE49-F238E27FC236}">
                <a16:creationId xmlns:a16="http://schemas.microsoft.com/office/drawing/2014/main" id="{CC1EB5F9-8147-02D8-FC0B-EA6AB1556DE3}"/>
              </a:ext>
            </a:extLst>
          </p:cNvPr>
          <p:cNvSpPr txBox="1"/>
          <p:nvPr/>
        </p:nvSpPr>
        <p:spPr>
          <a:xfrm>
            <a:off x="838200" y="2019600"/>
            <a:ext cx="10662920" cy="1477328"/>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rPr>
              <a:t>Для заданных нечетких множеств определить:</a:t>
            </a:r>
            <a:endParaRPr lang="en-US" dirty="0">
              <a:latin typeface="Arial" panose="020B0604020202020204" pitchFamily="34" charset="0"/>
              <a:cs typeface="Arial" panose="020B0604020202020204" pitchFamily="34" charset="0"/>
            </a:endParaRPr>
          </a:p>
          <a:p>
            <a:r>
              <a:rPr lang="ru-RU" dirty="0">
                <a:latin typeface="Arial" panose="020B0604020202020204" pitchFamily="34" charset="0"/>
                <a:cs typeface="Arial" panose="020B0604020202020204" pitchFamily="34" charset="0"/>
              </a:rPr>
              <a:t>степень их нечеткого включения,</a:t>
            </a:r>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объединение и разность</a:t>
            </a:r>
          </a:p>
          <a:p>
            <a:r>
              <a:rPr lang="ru-RU" dirty="0">
                <a:latin typeface="Arial" panose="020B0604020202020204" pitchFamily="34" charset="0"/>
                <a:cs typeface="Arial" panose="020B0604020202020204" pitchFamily="34" charset="0"/>
              </a:rPr>
              <a:t>F={&lt; 0,5 / x1&gt;,&lt; 0,7 / x2&gt;,&lt; 0,8 / x3&gt;,&lt; 0,3 / x4&gt;,&lt; 0,3 / x5&gt;}</a:t>
            </a:r>
          </a:p>
          <a:p>
            <a:r>
              <a:rPr lang="ru-RU" dirty="0">
                <a:latin typeface="Arial" panose="020B0604020202020204" pitchFamily="34" charset="0"/>
                <a:cs typeface="Arial" panose="020B0604020202020204" pitchFamily="34" charset="0"/>
              </a:rPr>
              <a:t>B={&lt; 0,9 / x1&gt;,&lt; 0,9 / x2&gt;,&lt; 0,3 / x4&gt;,&lt; 0,4 / x5&gt;,&lt; 0,9 / x6&gt;} </a:t>
            </a:r>
          </a:p>
          <a:p>
            <a:endParaRPr lang="ru-RU"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7BF443E7-DB95-2F08-1AFF-100AD8E82A08}"/>
              </a:ext>
            </a:extLst>
          </p:cNvPr>
          <p:cNvSpPr txBox="1"/>
          <p:nvPr/>
        </p:nvSpPr>
        <p:spPr>
          <a:xfrm>
            <a:off x="348907" y="3399405"/>
            <a:ext cx="3501734" cy="2862322"/>
          </a:xfrm>
          <a:prstGeom prst="rect">
            <a:avLst/>
          </a:prstGeom>
          <a:noFill/>
        </p:spPr>
        <p:txBody>
          <a:bodyPr wrap="square">
            <a:spAutoFit/>
          </a:bodyPr>
          <a:lstStyle/>
          <a:p>
            <a:r>
              <a:rPr lang="ru-RU" sz="1200" dirty="0">
                <a:latin typeface="Arial" panose="020B0604020202020204" pitchFamily="34" charset="0"/>
                <a:cs typeface="Arial" panose="020B0604020202020204" pitchFamily="34" charset="0"/>
              </a:rPr>
              <a:t>1. Степень нечеткого включения F ⊆ B</a:t>
            </a:r>
          </a:p>
          <a:p>
            <a:r>
              <a:rPr lang="ru-RU" sz="1200" dirty="0">
                <a:latin typeface="Arial" panose="020B0604020202020204" pitchFamily="34" charset="0"/>
                <a:cs typeface="Arial" panose="020B0604020202020204" pitchFamily="34" charset="0"/>
              </a:rPr>
              <a:t>Степень включения определяется как:</a:t>
            </a:r>
          </a:p>
          <a:p>
            <a:r>
              <a:rPr lang="ru-RU" sz="1200" dirty="0">
                <a:latin typeface="Arial" panose="020B0604020202020204" pitchFamily="34" charset="0"/>
                <a:cs typeface="Arial" panose="020B0604020202020204" pitchFamily="34" charset="0"/>
              </a:rPr>
              <a:t>S(F ⊆ B) = </a:t>
            </a:r>
            <a:r>
              <a:rPr lang="ru-RU" sz="1200" dirty="0" err="1">
                <a:latin typeface="Arial" panose="020B0604020202020204" pitchFamily="34" charset="0"/>
                <a:cs typeface="Arial" panose="020B0604020202020204" pitchFamily="34" charset="0"/>
              </a:rPr>
              <a:t>min</a:t>
            </a:r>
            <a:r>
              <a:rPr lang="ru-RU" sz="1200" dirty="0">
                <a:latin typeface="Arial" panose="020B0604020202020204" pitchFamily="34" charset="0"/>
                <a:cs typeface="Arial" panose="020B0604020202020204" pitchFamily="34" charset="0"/>
              </a:rPr>
              <a:t>(</a:t>
            </a:r>
            <a:r>
              <a:rPr lang="ru-RU" sz="1200" dirty="0" err="1">
                <a:latin typeface="Arial" panose="020B0604020202020204" pitchFamily="34" charset="0"/>
                <a:cs typeface="Arial" panose="020B0604020202020204" pitchFamily="34" charset="0"/>
              </a:rPr>
              <a:t>max</a:t>
            </a:r>
            <a:r>
              <a:rPr lang="ru-RU" sz="1200" dirty="0">
                <a:latin typeface="Arial" panose="020B0604020202020204" pitchFamily="34" charset="0"/>
                <a:cs typeface="Arial" panose="020B0604020202020204" pitchFamily="34" charset="0"/>
              </a:rPr>
              <a:t>(1 - </a:t>
            </a:r>
            <a:r>
              <a:rPr lang="ru-RU" sz="1200" dirty="0" err="1">
                <a:latin typeface="Arial" panose="020B0604020202020204" pitchFamily="34" charset="0"/>
                <a:cs typeface="Arial" panose="020B0604020202020204" pitchFamily="34" charset="0"/>
              </a:rPr>
              <a:t>μF</a:t>
            </a:r>
            <a:r>
              <a:rPr lang="ru-RU" sz="1200" dirty="0">
                <a:latin typeface="Arial" panose="020B0604020202020204" pitchFamily="34" charset="0"/>
                <a:cs typeface="Arial" panose="020B0604020202020204" pitchFamily="34" charset="0"/>
              </a:rPr>
              <a:t>(x), </a:t>
            </a:r>
            <a:r>
              <a:rPr lang="ru-RU" sz="1200" dirty="0" err="1">
                <a:latin typeface="Arial" panose="020B0604020202020204" pitchFamily="34" charset="0"/>
                <a:cs typeface="Arial" panose="020B0604020202020204" pitchFamily="34" charset="0"/>
              </a:rPr>
              <a:t>μB</a:t>
            </a:r>
            <a:r>
              <a:rPr lang="ru-RU" sz="1200" dirty="0">
                <a:latin typeface="Arial" panose="020B0604020202020204" pitchFamily="34" charset="0"/>
                <a:cs typeface="Arial" panose="020B0604020202020204" pitchFamily="34" charset="0"/>
              </a:rPr>
              <a:t>(x)))</a:t>
            </a:r>
          </a:p>
          <a:p>
            <a:r>
              <a:rPr lang="ru-RU" sz="1200" dirty="0">
                <a:latin typeface="Arial" panose="020B0604020202020204" pitchFamily="34" charset="0"/>
                <a:cs typeface="Arial" panose="020B0604020202020204" pitchFamily="34" charset="0"/>
              </a:rPr>
              <a:t>Для каждого элемента универсума:</a:t>
            </a:r>
          </a:p>
          <a:p>
            <a:endParaRPr lang="ru-RU" sz="1200" dirty="0">
              <a:latin typeface="Arial" panose="020B0604020202020204" pitchFamily="34" charset="0"/>
              <a:cs typeface="Arial" panose="020B0604020202020204" pitchFamily="34" charset="0"/>
            </a:endParaRPr>
          </a:p>
          <a:p>
            <a:r>
              <a:rPr lang="ru-RU" sz="1200" dirty="0">
                <a:latin typeface="Arial" panose="020B0604020202020204" pitchFamily="34" charset="0"/>
                <a:cs typeface="Arial" panose="020B0604020202020204" pitchFamily="34" charset="0"/>
              </a:rPr>
              <a:t>x₁: </a:t>
            </a:r>
            <a:r>
              <a:rPr lang="ru-RU" sz="1200" dirty="0" err="1">
                <a:latin typeface="Arial" panose="020B0604020202020204" pitchFamily="34" charset="0"/>
                <a:cs typeface="Arial" panose="020B0604020202020204" pitchFamily="34" charset="0"/>
              </a:rPr>
              <a:t>max</a:t>
            </a:r>
            <a:r>
              <a:rPr lang="ru-RU" sz="1200" dirty="0">
                <a:latin typeface="Arial" panose="020B0604020202020204" pitchFamily="34" charset="0"/>
                <a:cs typeface="Arial" panose="020B0604020202020204" pitchFamily="34" charset="0"/>
              </a:rPr>
              <a:t>(1 - 0,5; 0,9) = </a:t>
            </a:r>
            <a:r>
              <a:rPr lang="ru-RU" sz="1200" dirty="0" err="1">
                <a:latin typeface="Arial" panose="020B0604020202020204" pitchFamily="34" charset="0"/>
                <a:cs typeface="Arial" panose="020B0604020202020204" pitchFamily="34" charset="0"/>
              </a:rPr>
              <a:t>max</a:t>
            </a:r>
            <a:r>
              <a:rPr lang="ru-RU" sz="1200" dirty="0">
                <a:latin typeface="Arial" panose="020B0604020202020204" pitchFamily="34" charset="0"/>
                <a:cs typeface="Arial" panose="020B0604020202020204" pitchFamily="34" charset="0"/>
              </a:rPr>
              <a:t>(0,5; 0,9) = 0,9</a:t>
            </a:r>
          </a:p>
          <a:p>
            <a:r>
              <a:rPr lang="ru-RU" sz="1200" dirty="0">
                <a:latin typeface="Arial" panose="020B0604020202020204" pitchFamily="34" charset="0"/>
                <a:cs typeface="Arial" panose="020B0604020202020204" pitchFamily="34" charset="0"/>
              </a:rPr>
              <a:t>x₂: </a:t>
            </a:r>
            <a:r>
              <a:rPr lang="ru-RU" sz="1200" dirty="0" err="1">
                <a:latin typeface="Arial" panose="020B0604020202020204" pitchFamily="34" charset="0"/>
                <a:cs typeface="Arial" panose="020B0604020202020204" pitchFamily="34" charset="0"/>
              </a:rPr>
              <a:t>max</a:t>
            </a:r>
            <a:r>
              <a:rPr lang="ru-RU" sz="1200" dirty="0">
                <a:latin typeface="Arial" panose="020B0604020202020204" pitchFamily="34" charset="0"/>
                <a:cs typeface="Arial" panose="020B0604020202020204" pitchFamily="34" charset="0"/>
              </a:rPr>
              <a:t>(1 - 0,7; 0,9) = </a:t>
            </a:r>
            <a:r>
              <a:rPr lang="ru-RU" sz="1200" dirty="0" err="1">
                <a:latin typeface="Arial" panose="020B0604020202020204" pitchFamily="34" charset="0"/>
                <a:cs typeface="Arial" panose="020B0604020202020204" pitchFamily="34" charset="0"/>
              </a:rPr>
              <a:t>max</a:t>
            </a:r>
            <a:r>
              <a:rPr lang="ru-RU" sz="1200" dirty="0">
                <a:latin typeface="Arial" panose="020B0604020202020204" pitchFamily="34" charset="0"/>
                <a:cs typeface="Arial" panose="020B0604020202020204" pitchFamily="34" charset="0"/>
              </a:rPr>
              <a:t>(0,3; 0,9) = 0,9</a:t>
            </a:r>
          </a:p>
          <a:p>
            <a:r>
              <a:rPr lang="ru-RU" sz="1200" dirty="0">
                <a:latin typeface="Arial" panose="020B0604020202020204" pitchFamily="34" charset="0"/>
                <a:cs typeface="Arial" panose="020B0604020202020204" pitchFamily="34" charset="0"/>
              </a:rPr>
              <a:t>x₃: </a:t>
            </a:r>
            <a:r>
              <a:rPr lang="ru-RU" sz="1200" dirty="0" err="1">
                <a:latin typeface="Arial" panose="020B0604020202020204" pitchFamily="34" charset="0"/>
                <a:cs typeface="Arial" panose="020B0604020202020204" pitchFamily="34" charset="0"/>
              </a:rPr>
              <a:t>max</a:t>
            </a:r>
            <a:r>
              <a:rPr lang="ru-RU" sz="1200" dirty="0">
                <a:latin typeface="Arial" panose="020B0604020202020204" pitchFamily="34" charset="0"/>
                <a:cs typeface="Arial" panose="020B0604020202020204" pitchFamily="34" charset="0"/>
              </a:rPr>
              <a:t>(1 - 0,8; 0) = </a:t>
            </a:r>
            <a:r>
              <a:rPr lang="ru-RU" sz="1200" dirty="0" err="1">
                <a:latin typeface="Arial" panose="020B0604020202020204" pitchFamily="34" charset="0"/>
                <a:cs typeface="Arial" panose="020B0604020202020204" pitchFamily="34" charset="0"/>
              </a:rPr>
              <a:t>max</a:t>
            </a:r>
            <a:r>
              <a:rPr lang="ru-RU" sz="1200" dirty="0">
                <a:latin typeface="Arial" panose="020B0604020202020204" pitchFamily="34" charset="0"/>
                <a:cs typeface="Arial" panose="020B0604020202020204" pitchFamily="34" charset="0"/>
              </a:rPr>
              <a:t>(0,2; 0) = 0,2</a:t>
            </a:r>
          </a:p>
          <a:p>
            <a:r>
              <a:rPr lang="ru-RU" sz="1200" dirty="0">
                <a:latin typeface="Arial" panose="020B0604020202020204" pitchFamily="34" charset="0"/>
                <a:cs typeface="Arial" panose="020B0604020202020204" pitchFamily="34" charset="0"/>
              </a:rPr>
              <a:t>x₄: </a:t>
            </a:r>
            <a:r>
              <a:rPr lang="ru-RU" sz="1200" dirty="0" err="1">
                <a:latin typeface="Arial" panose="020B0604020202020204" pitchFamily="34" charset="0"/>
                <a:cs typeface="Arial" panose="020B0604020202020204" pitchFamily="34" charset="0"/>
              </a:rPr>
              <a:t>max</a:t>
            </a:r>
            <a:r>
              <a:rPr lang="ru-RU" sz="1200" dirty="0">
                <a:latin typeface="Arial" panose="020B0604020202020204" pitchFamily="34" charset="0"/>
                <a:cs typeface="Arial" panose="020B0604020202020204" pitchFamily="34" charset="0"/>
              </a:rPr>
              <a:t>(1 - 0,3; 0,3) = </a:t>
            </a:r>
            <a:r>
              <a:rPr lang="ru-RU" sz="1200" dirty="0" err="1">
                <a:latin typeface="Arial" panose="020B0604020202020204" pitchFamily="34" charset="0"/>
                <a:cs typeface="Arial" panose="020B0604020202020204" pitchFamily="34" charset="0"/>
              </a:rPr>
              <a:t>max</a:t>
            </a:r>
            <a:r>
              <a:rPr lang="ru-RU" sz="1200" dirty="0">
                <a:latin typeface="Arial" panose="020B0604020202020204" pitchFamily="34" charset="0"/>
                <a:cs typeface="Arial" panose="020B0604020202020204" pitchFamily="34" charset="0"/>
              </a:rPr>
              <a:t>(0,7; 0,3) = 0,7</a:t>
            </a:r>
          </a:p>
          <a:p>
            <a:r>
              <a:rPr lang="ru-RU" sz="1200" dirty="0">
                <a:latin typeface="Arial" panose="020B0604020202020204" pitchFamily="34" charset="0"/>
                <a:cs typeface="Arial" panose="020B0604020202020204" pitchFamily="34" charset="0"/>
              </a:rPr>
              <a:t>x₅: </a:t>
            </a:r>
            <a:r>
              <a:rPr lang="ru-RU" sz="1200" dirty="0" err="1">
                <a:latin typeface="Arial" panose="020B0604020202020204" pitchFamily="34" charset="0"/>
                <a:cs typeface="Arial" panose="020B0604020202020204" pitchFamily="34" charset="0"/>
              </a:rPr>
              <a:t>max</a:t>
            </a:r>
            <a:r>
              <a:rPr lang="ru-RU" sz="1200" dirty="0">
                <a:latin typeface="Arial" panose="020B0604020202020204" pitchFamily="34" charset="0"/>
                <a:cs typeface="Arial" panose="020B0604020202020204" pitchFamily="34" charset="0"/>
              </a:rPr>
              <a:t>(1 - 0,3; 0,4) = </a:t>
            </a:r>
            <a:r>
              <a:rPr lang="ru-RU" sz="1200" dirty="0" err="1">
                <a:latin typeface="Arial" panose="020B0604020202020204" pitchFamily="34" charset="0"/>
                <a:cs typeface="Arial" panose="020B0604020202020204" pitchFamily="34" charset="0"/>
              </a:rPr>
              <a:t>max</a:t>
            </a:r>
            <a:r>
              <a:rPr lang="ru-RU" sz="1200" dirty="0">
                <a:latin typeface="Arial" panose="020B0604020202020204" pitchFamily="34" charset="0"/>
                <a:cs typeface="Arial" panose="020B0604020202020204" pitchFamily="34" charset="0"/>
              </a:rPr>
              <a:t>(0,7; 0,4) = 0,7</a:t>
            </a:r>
          </a:p>
          <a:p>
            <a:r>
              <a:rPr lang="ru-RU" sz="1200" dirty="0">
                <a:latin typeface="Arial" panose="020B0604020202020204" pitchFamily="34" charset="0"/>
                <a:cs typeface="Arial" panose="020B0604020202020204" pitchFamily="34" charset="0"/>
              </a:rPr>
              <a:t>x₆: </a:t>
            </a:r>
            <a:r>
              <a:rPr lang="ru-RU" sz="1200" dirty="0" err="1">
                <a:latin typeface="Arial" panose="020B0604020202020204" pitchFamily="34" charset="0"/>
                <a:cs typeface="Arial" panose="020B0604020202020204" pitchFamily="34" charset="0"/>
              </a:rPr>
              <a:t>max</a:t>
            </a:r>
            <a:r>
              <a:rPr lang="ru-RU" sz="1200" dirty="0">
                <a:latin typeface="Arial" panose="020B0604020202020204" pitchFamily="34" charset="0"/>
                <a:cs typeface="Arial" panose="020B0604020202020204" pitchFamily="34" charset="0"/>
              </a:rPr>
              <a:t>(1 - 0; 0,9) = </a:t>
            </a:r>
            <a:r>
              <a:rPr lang="ru-RU" sz="1200" dirty="0" err="1">
                <a:latin typeface="Arial" panose="020B0604020202020204" pitchFamily="34" charset="0"/>
                <a:cs typeface="Arial" panose="020B0604020202020204" pitchFamily="34" charset="0"/>
              </a:rPr>
              <a:t>max</a:t>
            </a:r>
            <a:r>
              <a:rPr lang="ru-RU" sz="1200" dirty="0">
                <a:latin typeface="Arial" panose="020B0604020202020204" pitchFamily="34" charset="0"/>
                <a:cs typeface="Arial" panose="020B0604020202020204" pitchFamily="34" charset="0"/>
              </a:rPr>
              <a:t>(1; 0,9) = 1</a:t>
            </a:r>
          </a:p>
          <a:p>
            <a:endParaRPr lang="ru-RU" sz="1200" dirty="0">
              <a:latin typeface="Arial" panose="020B0604020202020204" pitchFamily="34" charset="0"/>
              <a:cs typeface="Arial" panose="020B0604020202020204" pitchFamily="34" charset="0"/>
            </a:endParaRPr>
          </a:p>
          <a:p>
            <a:r>
              <a:rPr lang="ru-RU" sz="1200" dirty="0">
                <a:latin typeface="Arial" panose="020B0604020202020204" pitchFamily="34" charset="0"/>
                <a:cs typeface="Arial" panose="020B0604020202020204" pitchFamily="34" charset="0"/>
              </a:rPr>
              <a:t>S(F ⊆ B) = </a:t>
            </a:r>
            <a:r>
              <a:rPr lang="ru-RU" sz="1200" dirty="0" err="1">
                <a:latin typeface="Arial" panose="020B0604020202020204" pitchFamily="34" charset="0"/>
                <a:cs typeface="Arial" panose="020B0604020202020204" pitchFamily="34" charset="0"/>
              </a:rPr>
              <a:t>min</a:t>
            </a:r>
            <a:r>
              <a:rPr lang="ru-RU" sz="1200" dirty="0">
                <a:latin typeface="Arial" panose="020B0604020202020204" pitchFamily="34" charset="0"/>
                <a:cs typeface="Arial" panose="020B0604020202020204" pitchFamily="34" charset="0"/>
              </a:rPr>
              <a:t>(0,9; 0,9; 0,2; 0,7; 0,7; 1) = 0,2</a:t>
            </a:r>
          </a:p>
          <a:p>
            <a:endParaRPr lang="ru-RU" sz="1200" dirty="0">
              <a:latin typeface="Arial" panose="020B0604020202020204" pitchFamily="34" charset="0"/>
              <a:cs typeface="Arial" panose="020B0604020202020204" pitchFamily="34" charset="0"/>
            </a:endParaRPr>
          </a:p>
          <a:p>
            <a:endParaRPr lang="ru-RU" sz="12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F7489123-49E8-8127-03AA-4C7CA653AA76}"/>
              </a:ext>
            </a:extLst>
          </p:cNvPr>
          <p:cNvSpPr txBox="1"/>
          <p:nvPr/>
        </p:nvSpPr>
        <p:spPr>
          <a:xfrm>
            <a:off x="3693160" y="3399405"/>
            <a:ext cx="4363719" cy="2123658"/>
          </a:xfrm>
          <a:prstGeom prst="rect">
            <a:avLst/>
          </a:prstGeom>
          <a:noFill/>
        </p:spPr>
        <p:txBody>
          <a:bodyPr wrap="square">
            <a:spAutoFit/>
          </a:bodyPr>
          <a:lstStyle/>
          <a:p>
            <a:r>
              <a:rPr lang="ru-RU" sz="1200" dirty="0">
                <a:latin typeface="Arial" panose="020B0604020202020204" pitchFamily="34" charset="0"/>
                <a:cs typeface="Arial" panose="020B0604020202020204" pitchFamily="34" charset="0"/>
              </a:rPr>
              <a:t>2. Объединение F ∪ B</a:t>
            </a:r>
          </a:p>
          <a:p>
            <a:r>
              <a:rPr lang="ru-RU" sz="1200" dirty="0">
                <a:latin typeface="Arial" panose="020B0604020202020204" pitchFamily="34" charset="0"/>
                <a:cs typeface="Arial" panose="020B0604020202020204" pitchFamily="34" charset="0"/>
              </a:rPr>
              <a:t>Функция принадлежности: </a:t>
            </a:r>
            <a:r>
              <a:rPr lang="ru-RU" sz="1200" dirty="0" err="1">
                <a:latin typeface="Arial" panose="020B0604020202020204" pitchFamily="34" charset="0"/>
                <a:cs typeface="Arial" panose="020B0604020202020204" pitchFamily="34" charset="0"/>
              </a:rPr>
              <a:t>μF∪B</a:t>
            </a:r>
            <a:r>
              <a:rPr lang="ru-RU" sz="1200" dirty="0">
                <a:latin typeface="Arial" panose="020B0604020202020204" pitchFamily="34" charset="0"/>
                <a:cs typeface="Arial" panose="020B0604020202020204" pitchFamily="34" charset="0"/>
              </a:rPr>
              <a:t>(x) = </a:t>
            </a:r>
            <a:r>
              <a:rPr lang="ru-RU" sz="1200" dirty="0" err="1">
                <a:latin typeface="Arial" panose="020B0604020202020204" pitchFamily="34" charset="0"/>
                <a:cs typeface="Arial" panose="020B0604020202020204" pitchFamily="34" charset="0"/>
              </a:rPr>
              <a:t>max</a:t>
            </a:r>
            <a:r>
              <a:rPr lang="ru-RU" sz="1200" dirty="0">
                <a:latin typeface="Arial" panose="020B0604020202020204" pitchFamily="34" charset="0"/>
                <a:cs typeface="Arial" panose="020B0604020202020204" pitchFamily="34" charset="0"/>
              </a:rPr>
              <a:t>(</a:t>
            </a:r>
            <a:r>
              <a:rPr lang="ru-RU" sz="1200" dirty="0" err="1">
                <a:latin typeface="Arial" panose="020B0604020202020204" pitchFamily="34" charset="0"/>
                <a:cs typeface="Arial" panose="020B0604020202020204" pitchFamily="34" charset="0"/>
              </a:rPr>
              <a:t>μF</a:t>
            </a:r>
            <a:r>
              <a:rPr lang="ru-RU" sz="1200" dirty="0">
                <a:latin typeface="Arial" panose="020B0604020202020204" pitchFamily="34" charset="0"/>
                <a:cs typeface="Arial" panose="020B0604020202020204" pitchFamily="34" charset="0"/>
              </a:rPr>
              <a:t>(x), </a:t>
            </a:r>
            <a:r>
              <a:rPr lang="ru-RU" sz="1200" dirty="0" err="1">
                <a:latin typeface="Arial" panose="020B0604020202020204" pitchFamily="34" charset="0"/>
                <a:cs typeface="Arial" panose="020B0604020202020204" pitchFamily="34" charset="0"/>
              </a:rPr>
              <a:t>μB</a:t>
            </a:r>
            <a:r>
              <a:rPr lang="ru-RU" sz="1200" dirty="0">
                <a:latin typeface="Arial" panose="020B0604020202020204" pitchFamily="34" charset="0"/>
                <a:cs typeface="Arial" panose="020B0604020202020204" pitchFamily="34" charset="0"/>
              </a:rPr>
              <a:t>(x))</a:t>
            </a:r>
          </a:p>
          <a:p>
            <a:endParaRPr lang="ru-RU" sz="1200" dirty="0">
              <a:latin typeface="Arial" panose="020B0604020202020204" pitchFamily="34" charset="0"/>
              <a:cs typeface="Arial" panose="020B0604020202020204" pitchFamily="34" charset="0"/>
            </a:endParaRPr>
          </a:p>
          <a:p>
            <a:r>
              <a:rPr lang="ru-RU" sz="1200" dirty="0">
                <a:latin typeface="Arial" panose="020B0604020202020204" pitchFamily="34" charset="0"/>
                <a:cs typeface="Arial" panose="020B0604020202020204" pitchFamily="34" charset="0"/>
              </a:rPr>
              <a:t>x₁: </a:t>
            </a:r>
            <a:r>
              <a:rPr lang="ru-RU" sz="1200" dirty="0" err="1">
                <a:latin typeface="Arial" panose="020B0604020202020204" pitchFamily="34" charset="0"/>
                <a:cs typeface="Arial" panose="020B0604020202020204" pitchFamily="34" charset="0"/>
              </a:rPr>
              <a:t>max</a:t>
            </a:r>
            <a:r>
              <a:rPr lang="ru-RU" sz="1200" dirty="0">
                <a:latin typeface="Arial" panose="020B0604020202020204" pitchFamily="34" charset="0"/>
                <a:cs typeface="Arial" panose="020B0604020202020204" pitchFamily="34" charset="0"/>
              </a:rPr>
              <a:t>(0,5; 0,9) = 0,9</a:t>
            </a:r>
          </a:p>
          <a:p>
            <a:r>
              <a:rPr lang="ru-RU" sz="1200" dirty="0">
                <a:latin typeface="Arial" panose="020B0604020202020204" pitchFamily="34" charset="0"/>
                <a:cs typeface="Arial" panose="020B0604020202020204" pitchFamily="34" charset="0"/>
              </a:rPr>
              <a:t>x₂: </a:t>
            </a:r>
            <a:r>
              <a:rPr lang="ru-RU" sz="1200" dirty="0" err="1">
                <a:latin typeface="Arial" panose="020B0604020202020204" pitchFamily="34" charset="0"/>
                <a:cs typeface="Arial" panose="020B0604020202020204" pitchFamily="34" charset="0"/>
              </a:rPr>
              <a:t>max</a:t>
            </a:r>
            <a:r>
              <a:rPr lang="ru-RU" sz="1200" dirty="0">
                <a:latin typeface="Arial" panose="020B0604020202020204" pitchFamily="34" charset="0"/>
                <a:cs typeface="Arial" panose="020B0604020202020204" pitchFamily="34" charset="0"/>
              </a:rPr>
              <a:t>(0,7; 0,9) = 0,9</a:t>
            </a:r>
          </a:p>
          <a:p>
            <a:r>
              <a:rPr lang="ru-RU" sz="1200" dirty="0">
                <a:latin typeface="Arial" panose="020B0604020202020204" pitchFamily="34" charset="0"/>
                <a:cs typeface="Arial" panose="020B0604020202020204" pitchFamily="34" charset="0"/>
              </a:rPr>
              <a:t>x₃: </a:t>
            </a:r>
            <a:r>
              <a:rPr lang="ru-RU" sz="1200" dirty="0" err="1">
                <a:latin typeface="Arial" panose="020B0604020202020204" pitchFamily="34" charset="0"/>
                <a:cs typeface="Arial" panose="020B0604020202020204" pitchFamily="34" charset="0"/>
              </a:rPr>
              <a:t>max</a:t>
            </a:r>
            <a:r>
              <a:rPr lang="ru-RU" sz="1200" dirty="0">
                <a:latin typeface="Arial" panose="020B0604020202020204" pitchFamily="34" charset="0"/>
                <a:cs typeface="Arial" panose="020B0604020202020204" pitchFamily="34" charset="0"/>
              </a:rPr>
              <a:t>(0,8; 0) = 0,8</a:t>
            </a:r>
          </a:p>
          <a:p>
            <a:r>
              <a:rPr lang="ru-RU" sz="1200" dirty="0">
                <a:latin typeface="Arial" panose="020B0604020202020204" pitchFamily="34" charset="0"/>
                <a:cs typeface="Arial" panose="020B0604020202020204" pitchFamily="34" charset="0"/>
              </a:rPr>
              <a:t>x₄: </a:t>
            </a:r>
            <a:r>
              <a:rPr lang="ru-RU" sz="1200" dirty="0" err="1">
                <a:latin typeface="Arial" panose="020B0604020202020204" pitchFamily="34" charset="0"/>
                <a:cs typeface="Arial" panose="020B0604020202020204" pitchFamily="34" charset="0"/>
              </a:rPr>
              <a:t>max</a:t>
            </a:r>
            <a:r>
              <a:rPr lang="ru-RU" sz="1200" dirty="0">
                <a:latin typeface="Arial" panose="020B0604020202020204" pitchFamily="34" charset="0"/>
                <a:cs typeface="Arial" panose="020B0604020202020204" pitchFamily="34" charset="0"/>
              </a:rPr>
              <a:t>(0,3; 0,3) = 0,3</a:t>
            </a:r>
          </a:p>
          <a:p>
            <a:r>
              <a:rPr lang="ru-RU" sz="1200" dirty="0">
                <a:latin typeface="Arial" panose="020B0604020202020204" pitchFamily="34" charset="0"/>
                <a:cs typeface="Arial" panose="020B0604020202020204" pitchFamily="34" charset="0"/>
              </a:rPr>
              <a:t>x₅: </a:t>
            </a:r>
            <a:r>
              <a:rPr lang="ru-RU" sz="1200" dirty="0" err="1">
                <a:latin typeface="Arial" panose="020B0604020202020204" pitchFamily="34" charset="0"/>
                <a:cs typeface="Arial" panose="020B0604020202020204" pitchFamily="34" charset="0"/>
              </a:rPr>
              <a:t>max</a:t>
            </a:r>
            <a:r>
              <a:rPr lang="ru-RU" sz="1200" dirty="0">
                <a:latin typeface="Arial" panose="020B0604020202020204" pitchFamily="34" charset="0"/>
                <a:cs typeface="Arial" panose="020B0604020202020204" pitchFamily="34" charset="0"/>
              </a:rPr>
              <a:t>(0,3; 0,4) = 0,4</a:t>
            </a:r>
          </a:p>
          <a:p>
            <a:r>
              <a:rPr lang="ru-RU" sz="1200" dirty="0">
                <a:latin typeface="Arial" panose="020B0604020202020204" pitchFamily="34" charset="0"/>
                <a:cs typeface="Arial" panose="020B0604020202020204" pitchFamily="34" charset="0"/>
              </a:rPr>
              <a:t>x₆: </a:t>
            </a:r>
            <a:r>
              <a:rPr lang="ru-RU" sz="1200" dirty="0" err="1">
                <a:latin typeface="Arial" panose="020B0604020202020204" pitchFamily="34" charset="0"/>
                <a:cs typeface="Arial" panose="020B0604020202020204" pitchFamily="34" charset="0"/>
              </a:rPr>
              <a:t>max</a:t>
            </a:r>
            <a:r>
              <a:rPr lang="ru-RU" sz="1200" dirty="0">
                <a:latin typeface="Arial" panose="020B0604020202020204" pitchFamily="34" charset="0"/>
                <a:cs typeface="Arial" panose="020B0604020202020204" pitchFamily="34" charset="0"/>
              </a:rPr>
              <a:t>(0; 0,9) = 0,9</a:t>
            </a:r>
          </a:p>
          <a:p>
            <a:endParaRPr lang="ru-RU" sz="1200" dirty="0">
              <a:latin typeface="Arial" panose="020B0604020202020204" pitchFamily="34" charset="0"/>
              <a:cs typeface="Arial" panose="020B0604020202020204" pitchFamily="34" charset="0"/>
            </a:endParaRPr>
          </a:p>
          <a:p>
            <a:r>
              <a:rPr lang="ru-RU" sz="1200" dirty="0">
                <a:latin typeface="Arial" panose="020B0604020202020204" pitchFamily="34" charset="0"/>
                <a:cs typeface="Arial" panose="020B0604020202020204" pitchFamily="34" charset="0"/>
              </a:rPr>
              <a:t>F ∪ B = {⟨0,9/x₁⟩, ⟨0,9/x₂⟩, ⟨0,8/x₃⟩, ⟨0,3/x₄⟩, ⟨0,4/x₅⟩, ⟨0,9/x₆⟩}</a:t>
            </a:r>
          </a:p>
        </p:txBody>
      </p:sp>
      <p:sp>
        <p:nvSpPr>
          <p:cNvPr id="8" name="TextBox 7">
            <a:extLst>
              <a:ext uri="{FF2B5EF4-FFF2-40B4-BE49-F238E27FC236}">
                <a16:creationId xmlns:a16="http://schemas.microsoft.com/office/drawing/2014/main" id="{39D03833-1108-D97F-8694-FFB7DB7DA4CF}"/>
              </a:ext>
            </a:extLst>
          </p:cNvPr>
          <p:cNvSpPr txBox="1"/>
          <p:nvPr/>
        </p:nvSpPr>
        <p:spPr>
          <a:xfrm>
            <a:off x="7965439" y="3399405"/>
            <a:ext cx="4267201" cy="2492990"/>
          </a:xfrm>
          <a:prstGeom prst="rect">
            <a:avLst/>
          </a:prstGeom>
          <a:noFill/>
        </p:spPr>
        <p:txBody>
          <a:bodyPr wrap="square">
            <a:spAutoFit/>
          </a:bodyPr>
          <a:lstStyle/>
          <a:p>
            <a:r>
              <a:rPr lang="ru-RU" sz="1200" dirty="0">
                <a:latin typeface="Arial" panose="020B0604020202020204" pitchFamily="34" charset="0"/>
                <a:cs typeface="Arial" panose="020B0604020202020204" pitchFamily="34" charset="0"/>
              </a:rPr>
              <a:t>3. Разность F \ B</a:t>
            </a:r>
          </a:p>
          <a:p>
            <a:r>
              <a:rPr lang="ru-RU" sz="1200" dirty="0">
                <a:latin typeface="Arial" panose="020B0604020202020204" pitchFamily="34" charset="0"/>
                <a:cs typeface="Arial" panose="020B0604020202020204" pitchFamily="34" charset="0"/>
              </a:rPr>
              <a:t>Функция принадлежности: </a:t>
            </a:r>
            <a:r>
              <a:rPr lang="ru-RU" sz="1200" dirty="0" err="1">
                <a:latin typeface="Arial" panose="020B0604020202020204" pitchFamily="34" charset="0"/>
                <a:cs typeface="Arial" panose="020B0604020202020204" pitchFamily="34" charset="0"/>
              </a:rPr>
              <a:t>μF</a:t>
            </a:r>
            <a:r>
              <a:rPr lang="ru-RU" sz="1200" dirty="0">
                <a:latin typeface="Arial" panose="020B0604020202020204" pitchFamily="34" charset="0"/>
                <a:cs typeface="Arial" panose="020B0604020202020204" pitchFamily="34" charset="0"/>
              </a:rPr>
              <a:t>\B(x) = </a:t>
            </a:r>
            <a:r>
              <a:rPr lang="ru-RU" sz="1200" dirty="0" err="1">
                <a:latin typeface="Arial" panose="020B0604020202020204" pitchFamily="34" charset="0"/>
                <a:cs typeface="Arial" panose="020B0604020202020204" pitchFamily="34" charset="0"/>
              </a:rPr>
              <a:t>min</a:t>
            </a:r>
            <a:r>
              <a:rPr lang="ru-RU" sz="1200" dirty="0">
                <a:latin typeface="Arial" panose="020B0604020202020204" pitchFamily="34" charset="0"/>
                <a:cs typeface="Arial" panose="020B0604020202020204" pitchFamily="34" charset="0"/>
              </a:rPr>
              <a:t>(</a:t>
            </a:r>
            <a:r>
              <a:rPr lang="ru-RU" sz="1200" dirty="0" err="1">
                <a:latin typeface="Arial" panose="020B0604020202020204" pitchFamily="34" charset="0"/>
                <a:cs typeface="Arial" panose="020B0604020202020204" pitchFamily="34" charset="0"/>
              </a:rPr>
              <a:t>μF</a:t>
            </a:r>
            <a:r>
              <a:rPr lang="ru-RU" sz="1200" dirty="0">
                <a:latin typeface="Arial" panose="020B0604020202020204" pitchFamily="34" charset="0"/>
                <a:cs typeface="Arial" panose="020B0604020202020204" pitchFamily="34" charset="0"/>
              </a:rPr>
              <a:t>(x), 1 - </a:t>
            </a:r>
            <a:r>
              <a:rPr lang="ru-RU" sz="1200" dirty="0" err="1">
                <a:latin typeface="Arial" panose="020B0604020202020204" pitchFamily="34" charset="0"/>
                <a:cs typeface="Arial" panose="020B0604020202020204" pitchFamily="34" charset="0"/>
              </a:rPr>
              <a:t>μB</a:t>
            </a:r>
            <a:r>
              <a:rPr lang="ru-RU" sz="1200" dirty="0">
                <a:latin typeface="Arial" panose="020B0604020202020204" pitchFamily="34" charset="0"/>
                <a:cs typeface="Arial" panose="020B0604020202020204" pitchFamily="34" charset="0"/>
              </a:rPr>
              <a:t>(x))</a:t>
            </a:r>
          </a:p>
          <a:p>
            <a:endParaRPr lang="ru-RU" sz="1200" dirty="0">
              <a:latin typeface="Arial" panose="020B0604020202020204" pitchFamily="34" charset="0"/>
              <a:cs typeface="Arial" panose="020B0604020202020204" pitchFamily="34" charset="0"/>
            </a:endParaRPr>
          </a:p>
          <a:p>
            <a:r>
              <a:rPr lang="ru-RU" sz="1200" dirty="0">
                <a:latin typeface="Arial" panose="020B0604020202020204" pitchFamily="34" charset="0"/>
                <a:cs typeface="Arial" panose="020B0604020202020204" pitchFamily="34" charset="0"/>
              </a:rPr>
              <a:t>x₁: </a:t>
            </a:r>
            <a:r>
              <a:rPr lang="ru-RU" sz="1200" dirty="0" err="1">
                <a:latin typeface="Arial" panose="020B0604020202020204" pitchFamily="34" charset="0"/>
                <a:cs typeface="Arial" panose="020B0604020202020204" pitchFamily="34" charset="0"/>
              </a:rPr>
              <a:t>min</a:t>
            </a:r>
            <a:r>
              <a:rPr lang="ru-RU" sz="1200" dirty="0">
                <a:latin typeface="Arial" panose="020B0604020202020204" pitchFamily="34" charset="0"/>
                <a:cs typeface="Arial" panose="020B0604020202020204" pitchFamily="34" charset="0"/>
              </a:rPr>
              <a:t>(0,5; 1-0,9) = </a:t>
            </a:r>
            <a:r>
              <a:rPr lang="ru-RU" sz="1200" dirty="0" err="1">
                <a:latin typeface="Arial" panose="020B0604020202020204" pitchFamily="34" charset="0"/>
                <a:cs typeface="Arial" panose="020B0604020202020204" pitchFamily="34" charset="0"/>
              </a:rPr>
              <a:t>min</a:t>
            </a:r>
            <a:r>
              <a:rPr lang="ru-RU" sz="1200" dirty="0">
                <a:latin typeface="Arial" panose="020B0604020202020204" pitchFamily="34" charset="0"/>
                <a:cs typeface="Arial" panose="020B0604020202020204" pitchFamily="34" charset="0"/>
              </a:rPr>
              <a:t>(0,5; 0,1) = 0,1</a:t>
            </a:r>
          </a:p>
          <a:p>
            <a:r>
              <a:rPr lang="ru-RU" sz="1200" dirty="0">
                <a:latin typeface="Arial" panose="020B0604020202020204" pitchFamily="34" charset="0"/>
                <a:cs typeface="Arial" panose="020B0604020202020204" pitchFamily="34" charset="0"/>
              </a:rPr>
              <a:t>x₂: </a:t>
            </a:r>
            <a:r>
              <a:rPr lang="ru-RU" sz="1200" dirty="0" err="1">
                <a:latin typeface="Arial" panose="020B0604020202020204" pitchFamily="34" charset="0"/>
                <a:cs typeface="Arial" panose="020B0604020202020204" pitchFamily="34" charset="0"/>
              </a:rPr>
              <a:t>min</a:t>
            </a:r>
            <a:r>
              <a:rPr lang="ru-RU" sz="1200" dirty="0">
                <a:latin typeface="Arial" panose="020B0604020202020204" pitchFamily="34" charset="0"/>
                <a:cs typeface="Arial" panose="020B0604020202020204" pitchFamily="34" charset="0"/>
              </a:rPr>
              <a:t>(0,7; 1-0,9) = </a:t>
            </a:r>
            <a:r>
              <a:rPr lang="ru-RU" sz="1200" dirty="0" err="1">
                <a:latin typeface="Arial" panose="020B0604020202020204" pitchFamily="34" charset="0"/>
                <a:cs typeface="Arial" panose="020B0604020202020204" pitchFamily="34" charset="0"/>
              </a:rPr>
              <a:t>min</a:t>
            </a:r>
            <a:r>
              <a:rPr lang="ru-RU" sz="1200" dirty="0">
                <a:latin typeface="Arial" panose="020B0604020202020204" pitchFamily="34" charset="0"/>
                <a:cs typeface="Arial" panose="020B0604020202020204" pitchFamily="34" charset="0"/>
              </a:rPr>
              <a:t>(0,7; 0,1) = 0,1</a:t>
            </a:r>
          </a:p>
          <a:p>
            <a:r>
              <a:rPr lang="ru-RU" sz="1200" dirty="0">
                <a:latin typeface="Arial" panose="020B0604020202020204" pitchFamily="34" charset="0"/>
                <a:cs typeface="Arial" panose="020B0604020202020204" pitchFamily="34" charset="0"/>
              </a:rPr>
              <a:t>x₃: </a:t>
            </a:r>
            <a:r>
              <a:rPr lang="ru-RU" sz="1200" dirty="0" err="1">
                <a:latin typeface="Arial" panose="020B0604020202020204" pitchFamily="34" charset="0"/>
                <a:cs typeface="Arial" panose="020B0604020202020204" pitchFamily="34" charset="0"/>
              </a:rPr>
              <a:t>min</a:t>
            </a:r>
            <a:r>
              <a:rPr lang="ru-RU" sz="1200" dirty="0">
                <a:latin typeface="Arial" panose="020B0604020202020204" pitchFamily="34" charset="0"/>
                <a:cs typeface="Arial" panose="020B0604020202020204" pitchFamily="34" charset="0"/>
              </a:rPr>
              <a:t>(0,8; 1-0) = </a:t>
            </a:r>
            <a:r>
              <a:rPr lang="ru-RU" sz="1200" dirty="0" err="1">
                <a:latin typeface="Arial" panose="020B0604020202020204" pitchFamily="34" charset="0"/>
                <a:cs typeface="Arial" panose="020B0604020202020204" pitchFamily="34" charset="0"/>
              </a:rPr>
              <a:t>min</a:t>
            </a:r>
            <a:r>
              <a:rPr lang="ru-RU" sz="1200" dirty="0">
                <a:latin typeface="Arial" panose="020B0604020202020204" pitchFamily="34" charset="0"/>
                <a:cs typeface="Arial" panose="020B0604020202020204" pitchFamily="34" charset="0"/>
              </a:rPr>
              <a:t>(0,8; 1) = 0,8</a:t>
            </a:r>
          </a:p>
          <a:p>
            <a:r>
              <a:rPr lang="ru-RU" sz="1200" dirty="0">
                <a:latin typeface="Arial" panose="020B0604020202020204" pitchFamily="34" charset="0"/>
                <a:cs typeface="Arial" panose="020B0604020202020204" pitchFamily="34" charset="0"/>
              </a:rPr>
              <a:t>x₄: </a:t>
            </a:r>
            <a:r>
              <a:rPr lang="ru-RU" sz="1200" dirty="0" err="1">
                <a:latin typeface="Arial" panose="020B0604020202020204" pitchFamily="34" charset="0"/>
                <a:cs typeface="Arial" panose="020B0604020202020204" pitchFamily="34" charset="0"/>
              </a:rPr>
              <a:t>min</a:t>
            </a:r>
            <a:r>
              <a:rPr lang="ru-RU" sz="1200" dirty="0">
                <a:latin typeface="Arial" panose="020B0604020202020204" pitchFamily="34" charset="0"/>
                <a:cs typeface="Arial" panose="020B0604020202020204" pitchFamily="34" charset="0"/>
              </a:rPr>
              <a:t>(0,3; 1-0,3) = </a:t>
            </a:r>
            <a:r>
              <a:rPr lang="ru-RU" sz="1200" dirty="0" err="1">
                <a:latin typeface="Arial" panose="020B0604020202020204" pitchFamily="34" charset="0"/>
                <a:cs typeface="Arial" panose="020B0604020202020204" pitchFamily="34" charset="0"/>
              </a:rPr>
              <a:t>min</a:t>
            </a:r>
            <a:r>
              <a:rPr lang="ru-RU" sz="1200" dirty="0">
                <a:latin typeface="Arial" panose="020B0604020202020204" pitchFamily="34" charset="0"/>
                <a:cs typeface="Arial" panose="020B0604020202020204" pitchFamily="34" charset="0"/>
              </a:rPr>
              <a:t>(0,3; 0,7) = 0,3</a:t>
            </a:r>
          </a:p>
          <a:p>
            <a:r>
              <a:rPr lang="ru-RU" sz="1200" dirty="0">
                <a:latin typeface="Arial" panose="020B0604020202020204" pitchFamily="34" charset="0"/>
                <a:cs typeface="Arial" panose="020B0604020202020204" pitchFamily="34" charset="0"/>
              </a:rPr>
              <a:t>x₅: </a:t>
            </a:r>
            <a:r>
              <a:rPr lang="ru-RU" sz="1200" dirty="0" err="1">
                <a:latin typeface="Arial" panose="020B0604020202020204" pitchFamily="34" charset="0"/>
                <a:cs typeface="Arial" panose="020B0604020202020204" pitchFamily="34" charset="0"/>
              </a:rPr>
              <a:t>min</a:t>
            </a:r>
            <a:r>
              <a:rPr lang="ru-RU" sz="1200" dirty="0">
                <a:latin typeface="Arial" panose="020B0604020202020204" pitchFamily="34" charset="0"/>
                <a:cs typeface="Arial" panose="020B0604020202020204" pitchFamily="34" charset="0"/>
              </a:rPr>
              <a:t>(0,3; 1-0,4) = </a:t>
            </a:r>
            <a:r>
              <a:rPr lang="ru-RU" sz="1200" dirty="0" err="1">
                <a:latin typeface="Arial" panose="020B0604020202020204" pitchFamily="34" charset="0"/>
                <a:cs typeface="Arial" panose="020B0604020202020204" pitchFamily="34" charset="0"/>
              </a:rPr>
              <a:t>min</a:t>
            </a:r>
            <a:r>
              <a:rPr lang="ru-RU" sz="1200" dirty="0">
                <a:latin typeface="Arial" panose="020B0604020202020204" pitchFamily="34" charset="0"/>
                <a:cs typeface="Arial" panose="020B0604020202020204" pitchFamily="34" charset="0"/>
              </a:rPr>
              <a:t>(0,3; 0,6) = 0,3</a:t>
            </a:r>
          </a:p>
          <a:p>
            <a:r>
              <a:rPr lang="ru-RU" sz="1200" dirty="0">
                <a:latin typeface="Arial" panose="020B0604020202020204" pitchFamily="34" charset="0"/>
                <a:cs typeface="Arial" panose="020B0604020202020204" pitchFamily="34" charset="0"/>
              </a:rPr>
              <a:t>x₆: </a:t>
            </a:r>
            <a:r>
              <a:rPr lang="ru-RU" sz="1200" dirty="0" err="1">
                <a:latin typeface="Arial" panose="020B0604020202020204" pitchFamily="34" charset="0"/>
                <a:cs typeface="Arial" panose="020B0604020202020204" pitchFamily="34" charset="0"/>
              </a:rPr>
              <a:t>min</a:t>
            </a:r>
            <a:r>
              <a:rPr lang="ru-RU" sz="1200" dirty="0">
                <a:latin typeface="Arial" panose="020B0604020202020204" pitchFamily="34" charset="0"/>
                <a:cs typeface="Arial" panose="020B0604020202020204" pitchFamily="34" charset="0"/>
              </a:rPr>
              <a:t>(0; 1-0,9) = </a:t>
            </a:r>
            <a:r>
              <a:rPr lang="ru-RU" sz="1200" dirty="0" err="1">
                <a:latin typeface="Arial" panose="020B0604020202020204" pitchFamily="34" charset="0"/>
                <a:cs typeface="Arial" panose="020B0604020202020204" pitchFamily="34" charset="0"/>
              </a:rPr>
              <a:t>min</a:t>
            </a:r>
            <a:r>
              <a:rPr lang="ru-RU" sz="1200" dirty="0">
                <a:latin typeface="Arial" panose="020B0604020202020204" pitchFamily="34" charset="0"/>
                <a:cs typeface="Arial" panose="020B0604020202020204" pitchFamily="34" charset="0"/>
              </a:rPr>
              <a:t>(0; 0,1) = 0</a:t>
            </a:r>
          </a:p>
          <a:p>
            <a:endParaRPr lang="ru-RU" sz="1200" dirty="0">
              <a:latin typeface="Arial" panose="020B0604020202020204" pitchFamily="34" charset="0"/>
              <a:cs typeface="Arial" panose="020B0604020202020204" pitchFamily="34" charset="0"/>
            </a:endParaRPr>
          </a:p>
          <a:p>
            <a:r>
              <a:rPr lang="ru-RU" sz="1200" dirty="0">
                <a:latin typeface="Arial" panose="020B0604020202020204" pitchFamily="34" charset="0"/>
                <a:cs typeface="Arial" panose="020B0604020202020204" pitchFamily="34" charset="0"/>
              </a:rPr>
              <a:t>F \ B = {⟨0,1/x₁⟩, ⟨0,1/x₂⟩, ⟨0,8/x₃⟩, ⟨0,3/x₄⟩, ⟨0,3/x₅⟩}</a:t>
            </a:r>
          </a:p>
          <a:p>
            <a:r>
              <a:rPr lang="ru-RU" sz="1200" dirty="0">
                <a:latin typeface="Arial" panose="020B0604020202020204" pitchFamily="34" charset="0"/>
                <a:cs typeface="Arial" panose="020B0604020202020204" pitchFamily="34" charset="0"/>
              </a:rPr>
              <a:t>(элемент x₆ можно опустить,</a:t>
            </a:r>
          </a:p>
          <a:p>
            <a:r>
              <a:rPr lang="ru-RU" sz="1200" dirty="0">
                <a:latin typeface="Arial" panose="020B0604020202020204" pitchFamily="34" charset="0"/>
                <a:cs typeface="Arial" panose="020B0604020202020204" pitchFamily="34" charset="0"/>
              </a:rPr>
              <a:t>так как его степень принадлежности равна 0)</a:t>
            </a:r>
          </a:p>
        </p:txBody>
      </p:sp>
    </p:spTree>
    <p:extLst>
      <p:ext uri="{BB962C8B-B14F-4D97-AF65-F5344CB8AC3E}">
        <p14:creationId xmlns:p14="http://schemas.microsoft.com/office/powerpoint/2010/main" val="24165529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1D451-92EF-0574-4E4E-23A45A7B73F5}"/>
            </a:ext>
          </a:extLst>
        </p:cNvPr>
        <p:cNvGrpSpPr/>
        <p:nvPr/>
      </p:nvGrpSpPr>
      <p:grpSpPr>
        <a:xfrm>
          <a:off x="0" y="0"/>
          <a:ext cx="0" cy="0"/>
          <a:chOff x="0" y="0"/>
          <a:chExt cx="0" cy="0"/>
        </a:xfrm>
      </p:grpSpPr>
      <p:sp>
        <p:nvSpPr>
          <p:cNvPr id="5" name="Заголовок 1">
            <a:extLst>
              <a:ext uri="{FF2B5EF4-FFF2-40B4-BE49-F238E27FC236}">
                <a16:creationId xmlns:a16="http://schemas.microsoft.com/office/drawing/2014/main" id="{9B48C9F9-BCE8-9511-D516-B13D024A3BA6}"/>
              </a:ext>
            </a:extLst>
          </p:cNvPr>
          <p:cNvSpPr>
            <a:spLocks noGrp="1"/>
          </p:cNvSpPr>
          <p:nvPr>
            <p:ph type="title"/>
          </p:nvPr>
        </p:nvSpPr>
        <p:spPr>
          <a:xfrm>
            <a:off x="838200" y="365125"/>
            <a:ext cx="10515600" cy="1325563"/>
          </a:xfrm>
        </p:spPr>
        <p:txBody>
          <a:bodyPr>
            <a:normAutofit/>
          </a:bodyPr>
          <a:lstStyle/>
          <a:p>
            <a:r>
              <a:rPr lang="ru-RU" sz="4000" dirty="0"/>
              <a:t>Материалы</a:t>
            </a:r>
          </a:p>
        </p:txBody>
      </p:sp>
      <p:sp>
        <p:nvSpPr>
          <p:cNvPr id="20" name="Rectangle 1">
            <a:extLst>
              <a:ext uri="{FF2B5EF4-FFF2-40B4-BE49-F238E27FC236}">
                <a16:creationId xmlns:a16="http://schemas.microsoft.com/office/drawing/2014/main" id="{F29A9A74-5E48-EA06-03A9-FA76EC500E2E}"/>
              </a:ext>
            </a:extLst>
          </p:cNvPr>
          <p:cNvSpPr>
            <a:spLocks noChangeArrowheads="1"/>
          </p:cNvSpPr>
          <p:nvPr/>
        </p:nvSpPr>
        <p:spPr bwMode="auto">
          <a:xfrm>
            <a:off x="838200" y="2802623"/>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rPr>
            </a:br>
            <a:endParaRPr kumimoji="0" lang="ru-RU" altLang="ru-RU" sz="1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p:txBody>
      </p:sp>
      <p:sp>
        <p:nvSpPr>
          <p:cNvPr id="3" name="Номер слайда 2">
            <a:extLst>
              <a:ext uri="{FF2B5EF4-FFF2-40B4-BE49-F238E27FC236}">
                <a16:creationId xmlns:a16="http://schemas.microsoft.com/office/drawing/2014/main" id="{9AB618DC-B985-C02C-8FFF-AADD54128051}"/>
              </a:ext>
            </a:extLst>
          </p:cNvPr>
          <p:cNvSpPr>
            <a:spLocks noGrp="1"/>
          </p:cNvSpPr>
          <p:nvPr>
            <p:ph type="sldNum" sz="quarter" idx="12"/>
          </p:nvPr>
        </p:nvSpPr>
        <p:spPr/>
        <p:txBody>
          <a:bodyPr/>
          <a:lstStyle/>
          <a:p>
            <a:fld id="{818D4B0C-12DF-447C-B791-E379AA958CE7}" type="slidenum">
              <a:rPr lang="ru-RU" smtClean="0"/>
              <a:t>32</a:t>
            </a:fld>
            <a:endParaRPr lang="ru-RU"/>
          </a:p>
        </p:txBody>
      </p:sp>
      <p:sp>
        <p:nvSpPr>
          <p:cNvPr id="9" name="Google Shape;328;p43">
            <a:extLst>
              <a:ext uri="{FF2B5EF4-FFF2-40B4-BE49-F238E27FC236}">
                <a16:creationId xmlns:a16="http://schemas.microsoft.com/office/drawing/2014/main" id="{E2FDE12E-CD64-1E53-948E-A7B0E9D1A9C2}"/>
              </a:ext>
            </a:extLst>
          </p:cNvPr>
          <p:cNvSpPr txBox="1"/>
          <p:nvPr/>
        </p:nvSpPr>
        <p:spPr>
          <a:xfrm>
            <a:off x="838201" y="1690688"/>
            <a:ext cx="8396386"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u="sng" dirty="0">
                <a:solidFill>
                  <a:schemeClr val="hlink"/>
                </a:solidFill>
                <a:latin typeface="Arial" panose="020B0604020202020204" pitchFamily="34" charset="0"/>
                <a:cs typeface="Arial" panose="020B0604020202020204" pitchFamily="34" charset="0"/>
                <a:hlinkClick r:id="rId2"/>
              </a:rPr>
              <a:t>https://www.mathworks.com/help/fuzzy/foundations-of-fuzzy-logic.html</a:t>
            </a:r>
            <a:endParaRPr dirty="0">
              <a:latin typeface="Arial" panose="020B0604020202020204" pitchFamily="34" charset="0"/>
              <a:cs typeface="Arial" panose="020B0604020202020204" pitchFamily="34" charset="0"/>
            </a:endParaRPr>
          </a:p>
        </p:txBody>
      </p:sp>
      <p:sp>
        <p:nvSpPr>
          <p:cNvPr id="10" name="Google Shape;329;p43">
            <a:extLst>
              <a:ext uri="{FF2B5EF4-FFF2-40B4-BE49-F238E27FC236}">
                <a16:creationId xmlns:a16="http://schemas.microsoft.com/office/drawing/2014/main" id="{47928CED-5EB4-9738-906D-A59E7CBC6B3F}"/>
              </a:ext>
            </a:extLst>
          </p:cNvPr>
          <p:cNvSpPr txBox="1"/>
          <p:nvPr/>
        </p:nvSpPr>
        <p:spPr>
          <a:xfrm>
            <a:off x="838200" y="2090888"/>
            <a:ext cx="8597049"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u="sng" dirty="0">
                <a:solidFill>
                  <a:schemeClr val="hlink"/>
                </a:solidFill>
                <a:latin typeface="Arial" panose="020B0604020202020204" pitchFamily="34" charset="0"/>
                <a:cs typeface="Arial" panose="020B0604020202020204" pitchFamily="34" charset="0"/>
                <a:hlinkClick r:id="rId3"/>
              </a:rPr>
              <a:t>https://www.mathworks.com/help/fuzzy/fuzzy-inference-process.html</a:t>
            </a:r>
            <a:endParaRPr dirty="0">
              <a:latin typeface="Arial" panose="020B0604020202020204" pitchFamily="34" charset="0"/>
              <a:cs typeface="Arial" panose="020B0604020202020204" pitchFamily="34" charset="0"/>
            </a:endParaRPr>
          </a:p>
        </p:txBody>
      </p:sp>
      <p:sp>
        <p:nvSpPr>
          <p:cNvPr id="11" name="Google Shape;330;p43">
            <a:extLst>
              <a:ext uri="{FF2B5EF4-FFF2-40B4-BE49-F238E27FC236}">
                <a16:creationId xmlns:a16="http://schemas.microsoft.com/office/drawing/2014/main" id="{C8686921-8F6A-AA0A-8809-058535661004}"/>
              </a:ext>
            </a:extLst>
          </p:cNvPr>
          <p:cNvSpPr txBox="1"/>
          <p:nvPr/>
        </p:nvSpPr>
        <p:spPr>
          <a:xfrm>
            <a:off x="838200" y="2501313"/>
            <a:ext cx="9308263"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ru" u="sng" dirty="0">
                <a:solidFill>
                  <a:schemeClr val="hlink"/>
                </a:solidFill>
                <a:latin typeface="Arial" panose="020B0604020202020204" pitchFamily="34" charset="0"/>
                <a:cs typeface="Arial" panose="020B0604020202020204" pitchFamily="34" charset="0"/>
                <a:hlinkClick r:id="rId4"/>
              </a:rPr>
              <a:t>https://www.mathworks.com/help/fuzzy/types-of-fuzzy-inference-systems.html</a:t>
            </a:r>
            <a:endParaRPr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B5C6029E-7B2E-3A5E-2C30-191EBD4A4104}"/>
              </a:ext>
            </a:extLst>
          </p:cNvPr>
          <p:cNvSpPr txBox="1"/>
          <p:nvPr/>
        </p:nvSpPr>
        <p:spPr>
          <a:xfrm>
            <a:off x="838200" y="2952723"/>
            <a:ext cx="7288696" cy="369332"/>
          </a:xfrm>
          <a:prstGeom prst="rect">
            <a:avLst/>
          </a:prstGeom>
          <a:noFill/>
        </p:spPr>
        <p:txBody>
          <a:bodyPr wrap="square">
            <a:spAutoFit/>
          </a:bodyPr>
          <a:lstStyle/>
          <a:p>
            <a:r>
              <a:rPr lang="ru-RU" dirty="0">
                <a:latin typeface="Arial" panose="020B0604020202020204" pitchFamily="34" charset="0"/>
                <a:cs typeface="Arial" panose="020B0604020202020204" pitchFamily="34" charset="0"/>
                <a:hlinkClick r:id="rId5"/>
              </a:rPr>
              <a:t>https://kpfu.ru/staff_files/F850320868/Osnovy_nechetkoj_logiki.pdf</a:t>
            </a:r>
            <a:endParaRPr lang="ru-R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8025626"/>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10207</TotalTime>
  <Words>1987</Words>
  <Application>Microsoft Office PowerPoint</Application>
  <PresentationFormat>Широкоэкранный</PresentationFormat>
  <Paragraphs>454</Paragraphs>
  <Slides>32</Slides>
  <Notes>0</Notes>
  <HiddenSlides>0</HiddenSlides>
  <MMClips>0</MMClips>
  <ScaleCrop>false</ScaleCrop>
  <HeadingPairs>
    <vt:vector size="8" baseType="variant">
      <vt:variant>
        <vt:lpstr>Использованные шрифты</vt:lpstr>
      </vt:variant>
      <vt:variant>
        <vt:i4>4</vt:i4>
      </vt:variant>
      <vt:variant>
        <vt:lpstr>Тема</vt:lpstr>
      </vt:variant>
      <vt:variant>
        <vt:i4>1</vt:i4>
      </vt:variant>
      <vt:variant>
        <vt:lpstr>Внедренные серверы OLE</vt:lpstr>
      </vt:variant>
      <vt:variant>
        <vt:i4>1</vt:i4>
      </vt:variant>
      <vt:variant>
        <vt:lpstr>Заголовки слайдов</vt:lpstr>
      </vt:variant>
      <vt:variant>
        <vt:i4>32</vt:i4>
      </vt:variant>
    </vt:vector>
  </HeadingPairs>
  <TitlesOfParts>
    <vt:vector size="38" baseType="lpstr">
      <vt:lpstr>Aptos</vt:lpstr>
      <vt:lpstr>Arial</vt:lpstr>
      <vt:lpstr>Cambria Math</vt:lpstr>
      <vt:lpstr>Roboto</vt:lpstr>
      <vt:lpstr>Тема Office</vt:lpstr>
      <vt:lpstr>Document</vt:lpstr>
      <vt:lpstr>Методы нечеткого вывода</vt:lpstr>
      <vt:lpstr>Основы нечеткой логики</vt:lpstr>
      <vt:lpstr>Основы нечеткой логики</vt:lpstr>
      <vt:lpstr>Основы нечеткой логики</vt:lpstr>
      <vt:lpstr>Основы нечеткой логики</vt:lpstr>
      <vt:lpstr>Основы нечеткой логики</vt:lpstr>
      <vt:lpstr>Основы нечеткой логики</vt:lpstr>
      <vt:lpstr>Основы нечеткой логики</vt:lpstr>
      <vt:lpstr>Основы нечеткой логики</vt:lpstr>
      <vt:lpstr>Основы нечеткой логики</vt:lpstr>
      <vt:lpstr>Основы нечеткой логики</vt:lpstr>
      <vt:lpstr>Основы нечеткой логики</vt:lpstr>
      <vt:lpstr>Процесс нечеткого вывода</vt:lpstr>
      <vt:lpstr>Процесс нечеткого вывода</vt:lpstr>
      <vt:lpstr>Процесс нечеткого вывода</vt:lpstr>
      <vt:lpstr>Процесс нечеткого вывода</vt:lpstr>
      <vt:lpstr>Процесс нечеткого вывода</vt:lpstr>
      <vt:lpstr>Процесс нечеткого вывода</vt:lpstr>
      <vt:lpstr>Процесс нечеткого вывода</vt:lpstr>
      <vt:lpstr>Процесс нечеткого вывода</vt:lpstr>
      <vt:lpstr>Процесс нечеткого вывода</vt:lpstr>
      <vt:lpstr>Процесс нечеткого вывода</vt:lpstr>
      <vt:lpstr>Процесс нечеткого вывода</vt:lpstr>
      <vt:lpstr>Процесс нечеткого вывода</vt:lpstr>
      <vt:lpstr>Решение типовых задач</vt:lpstr>
      <vt:lpstr>Решение типовых задач</vt:lpstr>
      <vt:lpstr>Решение типовых задач</vt:lpstr>
      <vt:lpstr>Решение типовых задач</vt:lpstr>
      <vt:lpstr>Решение типовых задач</vt:lpstr>
      <vt:lpstr>Решение типовых задач</vt:lpstr>
      <vt:lpstr>Решение типовых задач</vt:lpstr>
      <vt:lpstr>Материалы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Кумов Вячеслав Сергеевич</dc:creator>
  <cp:lastModifiedBy>a165</cp:lastModifiedBy>
  <cp:revision>206</cp:revision>
  <dcterms:created xsi:type="dcterms:W3CDTF">2024-11-06T14:38:58Z</dcterms:created>
  <dcterms:modified xsi:type="dcterms:W3CDTF">2026-02-14T02:27:09Z</dcterms:modified>
</cp:coreProperties>
</file>