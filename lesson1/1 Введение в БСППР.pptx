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89" r:id="rId4"/>
    <p:sldId id="29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92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8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ED9BBA-799F-42E1-96BF-F19626035672}">
  <a:tblStyle styleId="{FFED9BBA-799F-42E1-96BF-F196260356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7a80754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7a80754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02851A34-027E-994A-DF95-4A74E356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7a8075410_0_0:notes">
            <a:extLst>
              <a:ext uri="{FF2B5EF4-FFF2-40B4-BE49-F238E27FC236}">
                <a16:creationId xmlns:a16="http://schemas.microsoft.com/office/drawing/2014/main" id="{41004520-E6E6-BE90-EF00-677DB7195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7a8075410_0_0:notes">
            <a:extLst>
              <a:ext uri="{FF2B5EF4-FFF2-40B4-BE49-F238E27FC236}">
                <a16:creationId xmlns:a16="http://schemas.microsoft.com/office/drawing/2014/main" id="{39AA8E8E-E0E3-BB6B-4569-F8C37A015C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0135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4957B659-EA31-C9B8-FFD0-526A84D1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7a8075410_0_0:notes">
            <a:extLst>
              <a:ext uri="{FF2B5EF4-FFF2-40B4-BE49-F238E27FC236}">
                <a16:creationId xmlns:a16="http://schemas.microsoft.com/office/drawing/2014/main" id="{9006AD7C-0C11-B689-0A4F-126CE6F06D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7a8075410_0_0:notes">
            <a:extLst>
              <a:ext uri="{FF2B5EF4-FFF2-40B4-BE49-F238E27FC236}">
                <a16:creationId xmlns:a16="http://schemas.microsoft.com/office/drawing/2014/main" id="{7F0689B3-6922-5F8E-BCBF-12CDAC1A8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6327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74e6d64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74e6d64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74e6d64a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74e6d64a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7f0943f8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7f0943f8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7f0943f8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7f0943f8c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7f0943f8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7f0943f8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74e6d64a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74e6d64a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7f0943f8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7f0943f8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74e6d64a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74e6d64a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74e6d64a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74e6d64a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7f0943f8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47f0943f8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7f0943f8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7f0943f8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7f0943f8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7f0943f8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74e6d64a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74e6d64a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A11EC4C2-7F0F-3504-A40F-1B250236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74e6d64ac_0_35:notes">
            <a:extLst>
              <a:ext uri="{FF2B5EF4-FFF2-40B4-BE49-F238E27FC236}">
                <a16:creationId xmlns:a16="http://schemas.microsoft.com/office/drawing/2014/main" id="{367C7923-E313-D7BD-5B4F-A038919CF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74e6d64ac_0_35:notes">
            <a:extLst>
              <a:ext uri="{FF2B5EF4-FFF2-40B4-BE49-F238E27FC236}">
                <a16:creationId xmlns:a16="http://schemas.microsoft.com/office/drawing/2014/main" id="{CBF7645A-6147-BC75-4F74-1582D305B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3567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74e6d64ac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74e6d64ac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c2f47693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c2f47693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c2f47693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4c2f47693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74e6d64a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74e6d64a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7a807541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7a807541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7a807541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7a807541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7a807541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47a807541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7a807541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47a807541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7a807541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47a807541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7a807541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47a807541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7a8075410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47a8075410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7a807541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47a807541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74e6d64a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474e6d64a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7a8075410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47a8075410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474e6d64a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474e6d64a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857d4592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857d4592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4857d4592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4857d4592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ntd.ru/document/130995885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Precision_and_recall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fuzzy/foundations-of-fuzzy-logic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mathworks.com/help/fuzzy/types-of-fuzzy-inference-systems.html" TargetMode="External"/><Relationship Id="rId4" Type="http://schemas.openxmlformats.org/officeDocument/2006/relationships/hyperlink" Target="https://www.mathworks.com/help/fuzzy/fuzzy-inference-process.htm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s.bmstu.ru/catalog/item/2627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/>
              <a:t>Введение в БСППР</a:t>
            </a:r>
            <a:endParaRPr sz="32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 dirty="0"/>
              <a:t>Терминология</a:t>
            </a:r>
            <a:endParaRPr sz="2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-RU" sz="1400" dirty="0">
                <a:solidFill>
                  <a:schemeClr val="dk1"/>
                </a:solidFill>
              </a:rPr>
              <a:t>Биомедицинская система поддержки принятия решений (БСППР)</a:t>
            </a:r>
            <a:endParaRPr lang="ru"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dirty="0">
                <a:solidFill>
                  <a:schemeClr val="dk1"/>
                </a:solidFill>
              </a:rPr>
              <a:t>Система поддержки принятия врачебных решений (СППВР)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sz="1400" dirty="0">
                <a:solidFill>
                  <a:schemeClr val="dk1"/>
                </a:solidFill>
              </a:rPr>
              <a:t>Clinical Decision Support System (CDSS)</a:t>
            </a:r>
            <a:endParaRPr lang="ru-RU"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dirty="0">
                <a:solidFill>
                  <a:schemeClr val="dk1"/>
                </a:solidFill>
              </a:rPr>
              <a:t>Clinical decision support systems (CDSS) are computer systems designed to impact clinician decision making about individual patients at the point in time that these decisions are made.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>
                <a:solidFill>
                  <a:schemeClr val="dk1"/>
                </a:solidFill>
              </a:rPr>
              <a:t>Система поддержки принятия врачебных решений; СППВР: Программное обеспечение, позволяющее путем обработки и интерпретации собираемой информации на основе алгоритмов поддерживать принятие врачом решения на всех этапах лечебно-диагностического процесса с целью снижения ошибок и повышения качества оказываемой медицинской помощи.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>
                <a:solidFill>
                  <a:schemeClr val="dk1"/>
                </a:solidFill>
              </a:rPr>
              <a:t>Алгоритм системы поддержки принятия врачебных решений; алгоритм СППВР: Конечно-упорядоченное множество точно определенных правил для решения конкретной задачи в системе поддержки принятия врачебных решений. Алгоритм СППВР может быть представлен моделью машинного обучения, математической моделью (формулой), последовательностью инструкций по обработке входных данных или иной программной реализацией.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DF2C4FB-0E6F-A88E-5409-B8B6FC65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A4CE2FE7-884D-5AFE-0A8E-5299F3F036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 dirty="0"/>
              <a:t>Актуальность</a:t>
            </a:r>
            <a:endParaRPr sz="2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5B55C0A-DEA0-9D54-498B-A2B4539D0B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6CF4CC46-0744-2256-CF4F-BDCF4472A0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ГОСТ «СППВР с применением искусственного интеллекта. Основные положения»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>
                <a:solidFill>
                  <a:schemeClr val="dk1"/>
                </a:solidFill>
              </a:rPr>
              <a:t>Дата введения 2025-01-01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18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9D4B2B5A-EC5C-5E94-B11F-E590424C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089484B9-AD17-2A03-401E-04CB0FDC7A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 dirty="0"/>
              <a:t>Методы принятия решений</a:t>
            </a:r>
            <a:endParaRPr sz="2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72F620DC-6B7A-5C14-6E95-6C7CFAAF1B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9A152-1970-4128-0577-A06A97C93924}"/>
              </a:ext>
            </a:extLst>
          </p:cNvPr>
          <p:cNvSpPr txBox="1"/>
          <p:nvPr/>
        </p:nvSpPr>
        <p:spPr>
          <a:xfrm>
            <a:off x="422243" y="4574322"/>
            <a:ext cx="82995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Tx/>
              <a:buFontTx/>
              <a:buNone/>
            </a:pPr>
            <a:r>
              <a:rPr lang="ru-RU" sz="10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Иногда объединяют эвристические и экспертные методы в единую группу неформализованных</a:t>
            </a:r>
            <a:r>
              <a:rPr lang="en-US" sz="10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</a:t>
            </a:r>
            <a:r>
              <a:rPr lang="ru-RU" sz="10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эвристических методов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207E08-8FD4-EA66-1D1E-A737835E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698" y="964138"/>
            <a:ext cx="5826605" cy="352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23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100"/>
              <a:t>1 СППВР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10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1.1 Типы СППВР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 dirty="0">
                <a:solidFill>
                  <a:schemeClr val="dk1"/>
                </a:solidFill>
              </a:rPr>
              <a:t>1.1.1 Knowledge-Based Clinical Decision Support Systems (</a:t>
            </a:r>
            <a:r>
              <a:rPr lang="ru" sz="1500" dirty="0">
                <a:solidFill>
                  <a:schemeClr val="dk1"/>
                </a:solidFill>
                <a:highlight>
                  <a:srgbClr val="FFFFFF"/>
                </a:highlight>
              </a:rPr>
              <a:t>СППВР</a:t>
            </a:r>
            <a:r>
              <a:rPr lang="ru" sz="1500" dirty="0">
                <a:solidFill>
                  <a:schemeClr val="dk1"/>
                </a:solidFill>
              </a:rPr>
              <a:t>, основанная на знаниях; </a:t>
            </a:r>
            <a:r>
              <a:rPr lang="ru" sz="1500" dirty="0">
                <a:solidFill>
                  <a:schemeClr val="dk1"/>
                </a:solidFill>
                <a:highlight>
                  <a:srgbClr val="FFFFFF"/>
                </a:highlight>
              </a:rPr>
              <a:t>«знаниевые» СППВР</a:t>
            </a:r>
            <a:r>
              <a:rPr lang="ru" sz="1500" dirty="0">
                <a:solidFill>
                  <a:schemeClr val="dk1"/>
                </a:solidFill>
              </a:rPr>
              <a:t>)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 dirty="0">
                <a:solidFill>
                  <a:schemeClr val="dk1"/>
                </a:solidFill>
              </a:rPr>
              <a:t>Правила, экспертные знания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 dirty="0">
                <a:solidFill>
                  <a:schemeClr val="dk1"/>
                </a:solidFill>
              </a:rPr>
              <a:t>1.1.2 Nonknowledge-Based Clinical Decision Support Systems (</a:t>
            </a:r>
            <a:r>
              <a:rPr lang="ru" sz="1500" dirty="0">
                <a:solidFill>
                  <a:schemeClr val="dk1"/>
                </a:solidFill>
                <a:highlight>
                  <a:srgbClr val="FFFFFF"/>
                </a:highlight>
              </a:rPr>
              <a:t>«незнаниевые» СППВР</a:t>
            </a:r>
            <a:r>
              <a:rPr lang="ru" sz="1500" dirty="0">
                <a:solidFill>
                  <a:schemeClr val="dk1"/>
                </a:solidFill>
              </a:rPr>
              <a:t>)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 dirty="0">
                <a:solidFill>
                  <a:schemeClr val="dk1"/>
                </a:solidFill>
              </a:rPr>
              <a:t>Машинное обучение, большие данные</a:t>
            </a: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2.1.1 Теория множеств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00" y="2379650"/>
            <a:ext cx="3925649" cy="66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500" y="3201025"/>
            <a:ext cx="4866223" cy="43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500" y="3882022"/>
            <a:ext cx="4866225" cy="43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2425" y="2204725"/>
            <a:ext cx="4320674" cy="2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34363" y="2473077"/>
            <a:ext cx="2897198" cy="2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4375" y="2684450"/>
            <a:ext cx="2361575" cy="4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55973" y="3343021"/>
            <a:ext cx="3672136" cy="9014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325" y="2625950"/>
            <a:ext cx="3718024" cy="17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6325" y="3026175"/>
            <a:ext cx="3883901" cy="6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2.1.1 Теория множеств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2.1.1 Теория множеств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504025"/>
            <a:ext cx="4302601" cy="798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474576"/>
            <a:ext cx="4450273" cy="153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8"/>
          <p:cNvCxnSpPr/>
          <p:nvPr/>
        </p:nvCxnSpPr>
        <p:spPr>
          <a:xfrm>
            <a:off x="4455000" y="1809475"/>
            <a:ext cx="0" cy="254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2.1.1 Теория множеств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</p:txBody>
      </p:sp>
      <p:sp>
        <p:nvSpPr>
          <p:cNvPr id="109" name="Google Shape;109;p19"/>
          <p:cNvSpPr txBox="1"/>
          <p:nvPr/>
        </p:nvSpPr>
        <p:spPr>
          <a:xfrm>
            <a:off x="4895625" y="3997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Set Covering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50" y="2446474"/>
            <a:ext cx="2607225" cy="2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250" y="2874475"/>
            <a:ext cx="5733825" cy="22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8923" y="1691103"/>
            <a:ext cx="1593591" cy="163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2.1.2 Булева логика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775" y="2497212"/>
            <a:ext cx="3787501" cy="7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75" y="3566849"/>
            <a:ext cx="4631471" cy="6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</p:txBody>
      </p:sp>
      <p:sp>
        <p:nvSpPr>
          <p:cNvPr id="128" name="Google Shape;12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2.1 Обзор подходов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2.1.2 Булева логика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dirty="0">
                <a:solidFill>
                  <a:schemeClr val="dk1"/>
                </a:solidFill>
              </a:rPr>
              <a:t>Forward-chaining deduction system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dirty="0">
                <a:solidFill>
                  <a:schemeClr val="dk1"/>
                </a:solidFill>
              </a:rPr>
              <a:t>Backward-chaining deduction system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155850" y="3234900"/>
            <a:ext cx="8832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The question a clinician might ask is not “Does this patient have asthma? If so, I should give a flu shot,” but more likely the question would be simply “Does this patient need a flu shot?” We start with the “then” portion of this set of flu shot rules. A backward-chaining deduction system does this — it starts with the “then” end of a set of rules and works backwards to answer questions based on its rule set. In the flu shot example, a backward-chaining system would start with the “Does this patient need a flu shot” question and immediately learn that the diagnosis of asthma would cause this rule to be satisfied.</a:t>
            </a:r>
            <a:endParaRPr dirty="0"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38" name="Google Shape;13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2.1.3 Вероятность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50" y="2245225"/>
            <a:ext cx="194987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75" y="3571463"/>
            <a:ext cx="4614654" cy="52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975" y="4093413"/>
            <a:ext cx="4139244" cy="34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975" y="3112025"/>
            <a:ext cx="2451200" cy="2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3375" y="3112025"/>
            <a:ext cx="1172493" cy="2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63175" y="3112025"/>
            <a:ext cx="140194" cy="2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2.1 Обзор подходов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2.1.4 Теорема Байеса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25" y="2445910"/>
            <a:ext cx="1809900" cy="21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323" y="2698614"/>
            <a:ext cx="1809900" cy="21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8800" y="2448638"/>
            <a:ext cx="4902444" cy="46611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61" name="Google Shape;16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2.1.4 Теорема Байеса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975" y="3050191"/>
            <a:ext cx="4042275" cy="5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774" y="2461813"/>
            <a:ext cx="4902246" cy="4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2.1.4 Теорема Байеса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25" y="2404875"/>
            <a:ext cx="2677424" cy="25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25" y="2808375"/>
            <a:ext cx="5057524" cy="44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625" y="3352200"/>
            <a:ext cx="5460062" cy="51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2.1.4 Теорема Байеса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rcRect t="1" r="10346" b="1"/>
          <a:stretch>
            <a:fillRect/>
          </a:stretch>
        </p:blipFill>
        <p:spPr>
          <a:xfrm>
            <a:off x="311688" y="2335850"/>
            <a:ext cx="2658223" cy="4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388" y="2989113"/>
            <a:ext cx="2853556" cy="2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052" y="3283875"/>
            <a:ext cx="2243065" cy="4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90" name="Google Shape;19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 Обзор подходов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2.1.5 Неформальная логика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highlight>
                  <a:schemeClr val="lt1"/>
                </a:highlight>
              </a:rPr>
              <a:t>MYCIN (1970s at Stanford University)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highlight>
                  <a:schemeClr val="lt1"/>
                </a:highlight>
              </a:rPr>
              <a:t>early backward chaining expert system that used artificial intelligence to identify bacteria causing severe infections, such as bacteremia and meningitis, and to recommend antibiotics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own logic system (heuristic) that made intuitive sense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“certainty factors” which ranged from −1 (false) to +1 (true)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A51C4812-2D7E-8928-B25D-970C98F5E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>
            <a:extLst>
              <a:ext uri="{FF2B5EF4-FFF2-40B4-BE49-F238E27FC236}">
                <a16:creationId xmlns:a16="http://schemas.microsoft.com/office/drawing/2014/main" id="{F8960D3A-18F9-DED9-F902-F88B209278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2 Математические основы систем поддержки принятия решений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90" name="Google Shape;190;p27">
            <a:extLst>
              <a:ext uri="{FF2B5EF4-FFF2-40B4-BE49-F238E27FC236}">
                <a16:creationId xmlns:a16="http://schemas.microsoft.com/office/drawing/2014/main" id="{CE6E4A28-5E98-76DF-DDC5-5204AB928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2.1 Обзор подходов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2.1.5 Неформальная логика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chemeClr val="dk1"/>
                </a:solidFill>
                <a:highlight>
                  <a:schemeClr val="lt1"/>
                </a:highlight>
              </a:rPr>
              <a:t>MYCIN (1970s at Stanford University)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chemeClr val="dk1"/>
                </a:solidFill>
                <a:highlight>
                  <a:schemeClr val="lt1"/>
                </a:highlight>
              </a:rPr>
              <a:t>early backward chaining expert system that used artificial intelligence to identify bacteria causing severe infections, such as bacteremia and meningitis, and to recommend antibiotics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own logic system (heuristic) that made intuitive sense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“certainty factors” which ranged from −1 (false) to +1 (true)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91" name="Google Shape;191;p27">
            <a:extLst>
              <a:ext uri="{FF2B5EF4-FFF2-40B4-BE49-F238E27FC236}">
                <a16:creationId xmlns:a16="http://schemas.microsoft.com/office/drawing/2014/main" id="{83FDD4CD-96B1-C5FC-D903-C87E43CD79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8070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3 </a:t>
            </a:r>
            <a:r>
              <a:rPr lang="en-US" dirty="0"/>
              <a:t>Knowledge-Based Clinical Decision Support Systems (СППВР, </a:t>
            </a:r>
            <a:r>
              <a:rPr lang="en-US" dirty="0" err="1"/>
              <a:t>основанная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знаниях</a:t>
            </a:r>
            <a:r>
              <a:rPr lang="en-US" dirty="0"/>
              <a:t>; «</a:t>
            </a:r>
            <a:r>
              <a:rPr lang="en-US" dirty="0" err="1"/>
              <a:t>знаниевые</a:t>
            </a:r>
            <a:r>
              <a:rPr lang="en-US" dirty="0"/>
              <a:t>» СППВР)</a:t>
            </a:r>
            <a:br>
              <a:rPr lang="en-US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8" name="Google Shape;19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19</a:t>
            </a:fld>
            <a:endParaRPr/>
          </a:p>
        </p:txBody>
      </p:sp>
      <p:pic>
        <p:nvPicPr>
          <p:cNvPr id="5" name="Рисунок 4" descr="Изображение выглядит как диаграмма, снимок экрана, текст, линия">
            <a:extLst>
              <a:ext uri="{FF2B5EF4-FFF2-40B4-BE49-F238E27FC236}">
                <a16:creationId xmlns:a16="http://schemas.microsoft.com/office/drawing/2014/main" id="{FBCA09EE-6A2B-31B2-59C9-AC2E588A7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56" y="1910575"/>
            <a:ext cx="4243731" cy="2167195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FF25B9-F876-AF53-62B3-429CB5A99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51547"/>
            <a:ext cx="4174078" cy="34084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Обучение с учителем (Supervised Learning)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Обучение без учителя (Unsupervised Learning)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Обучение с частичным привлечением учителя (Semi-supervised Learning)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204" name="Google Shape;204;p29"/>
          <p:cNvPicPr preferRelativeResize="0"/>
          <p:nvPr/>
        </p:nvPicPr>
        <p:blipFill rotWithShape="1">
          <a:blip r:embed="rId3">
            <a:alphaModFix/>
          </a:blip>
          <a:srcRect b="5078"/>
          <a:stretch/>
        </p:blipFill>
        <p:spPr>
          <a:xfrm>
            <a:off x="2426575" y="2316255"/>
            <a:ext cx="4290851" cy="264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 – </a:t>
            </a:r>
            <a:r>
              <a:rPr lang="en-US" dirty="0"/>
              <a:t>Nonknowledge-Based Clinical Decision Support Systems («</a:t>
            </a:r>
            <a:r>
              <a:rPr lang="en-US" dirty="0" err="1"/>
              <a:t>незнаниевые</a:t>
            </a:r>
            <a:r>
              <a:rPr lang="en-US" dirty="0"/>
              <a:t>» СППВР)</a:t>
            </a:r>
            <a:br>
              <a:rPr lang="en-US" dirty="0"/>
            </a:br>
            <a:endParaRPr dirty="0"/>
          </a:p>
        </p:txBody>
      </p:sp>
      <p:sp>
        <p:nvSpPr>
          <p:cNvPr id="206" name="Google Shape;20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4.1 Обучение с учителем (Supervised Learning)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                                    Классификация          Регрессия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3">
            <a:alphaModFix/>
          </a:blip>
          <a:srcRect t="52881" r="50119"/>
          <a:stretch/>
        </p:blipFill>
        <p:spPr>
          <a:xfrm>
            <a:off x="2291425" y="2410313"/>
            <a:ext cx="4561126" cy="184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4.1.1 Классификаторы для обучения с учителем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chemeClr val="dk1"/>
                </a:solidFill>
              </a:rPr>
              <a:t>                         Дерево решений                                         Метод случайного леса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chemeClr val="dk1"/>
                </a:solidFill>
              </a:rPr>
              <a:t>                          (Decision Trees)                                            (Random Forests, RF)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220" name="Google Shape;2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425" y="2315850"/>
            <a:ext cx="4701849" cy="248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5300" y="2251900"/>
            <a:ext cx="3453684" cy="289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4.1.1 Классификаторы для обучения с учителем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Метод k-ближайших соседей (k-Nearest Neighbor Classifier)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229" name="Google Shape;2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8925" y="2140675"/>
            <a:ext cx="5565451" cy="2848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231" name="Google Shape;231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4.1.1 Классификаторы для обучения с учителем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Логистическая регрессия (Logistic Regression)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558" y="2227650"/>
            <a:ext cx="233255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6575" y="2750025"/>
            <a:ext cx="5236525" cy="219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240" name="Google Shape;24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4.1.1 Классификаторы для обучения с учителем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Метод опорных векторов (Support Vector Machines, SVMs)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300" y="2078775"/>
            <a:ext cx="6594349" cy="28238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248" name="Google Shape;24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4.1.1 Классификаторы для обучения с учителем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Нейронные сети (Neural Networks)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254" name="Google Shape;25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50" y="2462475"/>
            <a:ext cx="4137250" cy="21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025" y="2036800"/>
            <a:ext cx="3753849" cy="287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257" name="Google Shape;25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pic>
        <p:nvPicPr>
          <p:cNvPr id="263" name="Google Shape;26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675" y="1924250"/>
            <a:ext cx="2185254" cy="5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3375" y="2496950"/>
            <a:ext cx="2185209" cy="5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8100" y="3068450"/>
            <a:ext cx="1761325" cy="78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3375" y="4554322"/>
            <a:ext cx="2828679" cy="522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7" name="Google Shape;267;p36"/>
          <p:cNvGraphicFramePr/>
          <p:nvPr/>
        </p:nvGraphicFramePr>
        <p:xfrm>
          <a:off x="562500" y="1847563"/>
          <a:ext cx="7839200" cy="3230730"/>
        </p:xfrm>
        <a:graphic>
          <a:graphicData uri="http://schemas.openxmlformats.org/drawingml/2006/table">
            <a:tbl>
              <a:tblPr>
                <a:noFill/>
                <a:tableStyleId>{FFED9BBA-799F-42E1-96BF-F19626035672}</a:tableStyleId>
              </a:tblPr>
              <a:tblGrid>
                <a:gridCol w="39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Средняя квадратичная ошибка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(англ. Mean Squared Error, MSE)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Средняя абсолютная ошибка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(англ. Mean Absolute Error, MAE)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Коэффициент детерминации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Корень из средней квадратичной ошибки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(англ. Root Mean Squared Error, RMSE)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Средняя абсолютная процентная ошибка</a:t>
                      </a:r>
                      <a:endParaRPr sz="1200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(англ. Mean Absolute Percentage Error, MAPE)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68" name="Google Shape;268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3675" y="3884075"/>
            <a:ext cx="228370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4.1.2 Оценка качества работы модели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Оценка качества регрессии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70" name="Google Shape;27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276" y="1914375"/>
            <a:ext cx="5543449" cy="209764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277" name="Google Shape;277;p37"/>
          <p:cNvSpPr txBox="1"/>
          <p:nvPr/>
        </p:nvSpPr>
        <p:spPr>
          <a:xfrm>
            <a:off x="1041075" y="4168675"/>
            <a:ext cx="690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https://en.wikipedia.org/wiki/Precision_and_recall</a:t>
            </a:r>
            <a:endParaRPr/>
          </a:p>
        </p:txBody>
      </p:sp>
      <p:sp>
        <p:nvSpPr>
          <p:cNvPr id="278" name="Google Shape;278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4.1.2 Оценка качества работы модели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Матрица ошибок (Confusion Matrix)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79" name="Google Shape;279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285" name="Google Shape;285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4.1.2 Оценка качества работы модели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6" name="Google Shape;286;p38"/>
          <p:cNvSpPr txBox="1"/>
          <p:nvPr/>
        </p:nvSpPr>
        <p:spPr>
          <a:xfrm>
            <a:off x="311700" y="1652400"/>
            <a:ext cx="7596600" cy="3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Accuracy = (TN + TP) / (TN + TP + FP + FN)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PPV (Positive Predictive Value, precision) = TP / (TP + FP)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NPV (Negative Predictive Value) = TN / (TN + FN)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TPR (True Positive Rate, recall, sensitivity) = TP / (TP + FN)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TNR (True Negative Rate, specificity) = TN / (TN + FP)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FPR (False Positive Rate) = 1 - TPR = 1 - sensitivity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FNR (False Negative Rate ) = 1 - TNR = 1 - specificity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F1-score = 2 · (PPV · TPR) / (PPV + TPR)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7" name="Google Shape;28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4.1.2 Оценка качества работы модели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ROC (Receiver Operating Characteristic) кривая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93" name="Google Shape;29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48450"/>
            <a:ext cx="2725200" cy="3048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675" y="2062750"/>
            <a:ext cx="2694568" cy="30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2229" y="1748688"/>
            <a:ext cx="3601283" cy="32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297" name="Google Shape;297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4.2 Обучение без учителя (Unsupervised Learning)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4.2.1 Кластерный анализ (Cluster Analysis)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303" name="Google Shape;30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975" y="2385048"/>
            <a:ext cx="6098551" cy="190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305" name="Google Shape;30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4.2 Обучение без учителя (Unsupervised Learning)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4.2.1 Кластерный анализ (Cluster Analysis)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                   </a:t>
            </a:r>
            <a:r>
              <a:rPr lang="ru" sz="1200" dirty="0">
                <a:solidFill>
                  <a:schemeClr val="dk1"/>
                </a:solidFill>
              </a:rPr>
              <a:t>K-means                                                 Иерархическая кластеризация (Hierarchical Clustering)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solidFill>
                  <a:schemeClr val="dk1"/>
                </a:solidFill>
              </a:rPr>
              <a:t>                          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800" y="2485325"/>
            <a:ext cx="2902774" cy="251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pic>
        <p:nvPicPr>
          <p:cNvPr id="313" name="Google Shape;31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350" y="2561400"/>
            <a:ext cx="3698030" cy="236537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4.3 Другие методы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4.3.1 Генетические алгоритмы (Genetic Algorithms)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4.3.2 Биологические вычисления (Biological Computing)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4.3.3 Квантовые вычисления (Quantum Computing)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4.3.4 Внедрение нечеткой логики и других гибридных методов (Incorporating Fuzzy Logic and Other Hybrid Methods)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4.3.5 Аналитика больших данных (Big Data Analytics)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 Data Mining и СППВР</a:t>
            </a:r>
            <a:endParaRPr dirty="0"/>
          </a:p>
        </p:txBody>
      </p:sp>
      <p:sp>
        <p:nvSpPr>
          <p:cNvPr id="321" name="Google Shape;321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4 Нечеткая логика (Fuzzy Logic)</a:t>
            </a:r>
            <a:endParaRPr/>
          </a:p>
        </p:txBody>
      </p:sp>
      <p:sp>
        <p:nvSpPr>
          <p:cNvPr id="327" name="Google Shape;327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34</a:t>
            </a:fld>
            <a:endParaRPr/>
          </a:p>
        </p:txBody>
      </p:sp>
      <p:sp>
        <p:nvSpPr>
          <p:cNvPr id="328" name="Google Shape;328;p43"/>
          <p:cNvSpPr txBox="1"/>
          <p:nvPr/>
        </p:nvSpPr>
        <p:spPr>
          <a:xfrm>
            <a:off x="661475" y="1561025"/>
            <a:ext cx="608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https://www.mathworks.com/help/fuzzy/foundations-of-fuzzy-logic.html</a:t>
            </a:r>
            <a:endParaRPr/>
          </a:p>
        </p:txBody>
      </p:sp>
      <p:sp>
        <p:nvSpPr>
          <p:cNvPr id="329" name="Google Shape;329;p43"/>
          <p:cNvSpPr txBox="1"/>
          <p:nvPr/>
        </p:nvSpPr>
        <p:spPr>
          <a:xfrm>
            <a:off x="661475" y="1961225"/>
            <a:ext cx="623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https://www.mathworks.com/help/fuzzy/fuzzy-inference-process.html</a:t>
            </a:r>
            <a:endParaRPr/>
          </a:p>
        </p:txBody>
      </p:sp>
      <p:sp>
        <p:nvSpPr>
          <p:cNvPr id="330" name="Google Shape;330;p43"/>
          <p:cNvSpPr txBox="1"/>
          <p:nvPr/>
        </p:nvSpPr>
        <p:spPr>
          <a:xfrm>
            <a:off x="661475" y="2371650"/>
            <a:ext cx="674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5"/>
              </a:rPr>
              <a:t>https://www.mathworks.com/help/fuzzy/types-of-fuzzy-inference-systems.html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Материалы</a:t>
            </a:r>
            <a:endParaRPr/>
          </a:p>
        </p:txBody>
      </p:sp>
      <p:sp>
        <p:nvSpPr>
          <p:cNvPr id="343" name="Google Shape;343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35</a:t>
            </a:fld>
            <a:endParaRPr/>
          </a:p>
        </p:txBody>
      </p:sp>
      <p:sp>
        <p:nvSpPr>
          <p:cNvPr id="344" name="Google Shape;344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 dirty="0">
                <a:solidFill>
                  <a:schemeClr val="dk1"/>
                </a:solidFill>
              </a:rPr>
              <a:t>Спиридонов И.Н., А. В. Самородов А.В. Методы и алгоритмы вычислительной диагностики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 u="sng" dirty="0">
                <a:solidFill>
                  <a:schemeClr val="hlink"/>
                </a:solidFill>
                <a:hlinkClick r:id="rId3"/>
              </a:rPr>
              <a:t>https://press.bmstu.ru/catalog/item/2627/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1301</Words>
  <Application>Microsoft Office PowerPoint</Application>
  <PresentationFormat>Экран (16:9)</PresentationFormat>
  <Paragraphs>208</Paragraphs>
  <Slides>35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7" baseType="lpstr">
      <vt:lpstr>Arial</vt:lpstr>
      <vt:lpstr>Simple Light</vt:lpstr>
      <vt:lpstr>Введение в БСППР</vt:lpstr>
      <vt:lpstr>Терминология </vt:lpstr>
      <vt:lpstr>Актуальность </vt:lpstr>
      <vt:lpstr>Методы принятия решений </vt:lpstr>
      <vt:lpstr>1 СППВР </vt:lpstr>
      <vt:lpstr>2 Математические основы систем поддержки принятия решений</vt:lpstr>
      <vt:lpstr>2 Математические основы систем поддержки принятия решений</vt:lpstr>
      <vt:lpstr>2 Математические основы систем поддержки принятия решений</vt:lpstr>
      <vt:lpstr>2 Математические основы систем поддержки принятия решений</vt:lpstr>
      <vt:lpstr>2 Математические основы систем поддержки принятия решений</vt:lpstr>
      <vt:lpstr>2 Математические основы систем поддержки принятия решений</vt:lpstr>
      <vt:lpstr>2 Математические основы систем поддержки принятия решений </vt:lpstr>
      <vt:lpstr>2 Математические основы систем поддержки принятия решений </vt:lpstr>
      <vt:lpstr>2 Математические основы систем поддержки принятия решений </vt:lpstr>
      <vt:lpstr>2 Математические основы систем поддержки принятия решений </vt:lpstr>
      <vt:lpstr>2 Математические основы систем поддержки принятия решений </vt:lpstr>
      <vt:lpstr>2 Математические основы систем поддержки принятия решений </vt:lpstr>
      <vt:lpstr>2 Математические основы систем поддержки принятия решений </vt:lpstr>
      <vt:lpstr>3 Knowledge-Based Clinical Decision Support Systems (СППВР, основанная на знаниях; «знаниевые» СППВР)  </vt:lpstr>
      <vt:lpstr>4 Data Mining и СППВР – Nonknowledge-Based Clinical Decision Support Systems («незнаниевые» СППВР) </vt:lpstr>
      <vt:lpstr>4 Data Mining и СППВР </vt:lpstr>
      <vt:lpstr>4 Data Mining и СППВР</vt:lpstr>
      <vt:lpstr>4 Data Mining и СППВР</vt:lpstr>
      <vt:lpstr>4 Data Mining и СППВР</vt:lpstr>
      <vt:lpstr>4 Data Mining и СППВР</vt:lpstr>
      <vt:lpstr>4 Data Mining и СППВР</vt:lpstr>
      <vt:lpstr>4 Data Mining и СППВР</vt:lpstr>
      <vt:lpstr>4 Data Mining и СППВР</vt:lpstr>
      <vt:lpstr>4 Data Mining и СППВР</vt:lpstr>
      <vt:lpstr>4 Data Mining и СППВР</vt:lpstr>
      <vt:lpstr>4 Data Mining и СППВР</vt:lpstr>
      <vt:lpstr>4 Data Mining и СППВР</vt:lpstr>
      <vt:lpstr>4 Data Mining и СППВР</vt:lpstr>
      <vt:lpstr>4 Нечеткая логика (Fuzzy Logic)</vt:lpstr>
      <vt:lpstr>Материалы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a165</cp:lastModifiedBy>
  <cp:revision>11</cp:revision>
  <dcterms:modified xsi:type="dcterms:W3CDTF">2026-02-14T02:23:38Z</dcterms:modified>
</cp:coreProperties>
</file>