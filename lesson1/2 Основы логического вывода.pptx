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433" r:id="rId3"/>
    <p:sldId id="434" r:id="rId4"/>
    <p:sldId id="435" r:id="rId5"/>
    <p:sldId id="436" r:id="rId6"/>
    <p:sldId id="437" r:id="rId7"/>
    <p:sldId id="445" r:id="rId8"/>
    <p:sldId id="446" r:id="rId9"/>
    <p:sldId id="447" r:id="rId10"/>
    <p:sldId id="438" r:id="rId11"/>
    <p:sldId id="439" r:id="rId12"/>
    <p:sldId id="440" r:id="rId13"/>
    <p:sldId id="448" r:id="rId14"/>
    <p:sldId id="449" r:id="rId15"/>
    <p:sldId id="450" r:id="rId16"/>
    <p:sldId id="451" r:id="rId17"/>
    <p:sldId id="452" r:id="rId18"/>
    <p:sldId id="453" r:id="rId19"/>
    <p:sldId id="454" r:id="rId20"/>
    <p:sldId id="45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ADCA2-25A3-4BBB-85F2-B020AF830912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CF49C-3C76-4248-B9A5-9A29CA2BA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410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BD17F-B6F7-D2D0-3630-012BD3FEF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DA831-5D8D-D37F-C5AD-F9F1A98ED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320724-1352-C3A9-F2AA-0F161DCC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BA0A1-B326-4860-83E0-6E244AFCF3D2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937268-0EAB-1169-A8B2-06180A88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B2750-F058-A380-3743-696059B9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51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CEE73-FF5F-D062-8CC5-8CDD5A4F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92C3B-FF04-3CDD-F8D3-D96870E61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D8B3E-0C15-3BBB-10E9-73474C9B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607E-D3BA-408D-A363-63D2006109D7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90C292-299E-289C-C4C5-DF4A73B1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A3FBA-4315-3B13-6AD9-EF20822B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87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8B0F8-9531-246A-350F-18F57DB9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4ED5CA-A6A8-F8A8-EAF2-C5D7EDAE2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1835A-4701-4541-B51C-AB65AF88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3B39-6243-4058-9473-2682C660205A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8A0C0A-E49C-3701-3F1D-A16AE4FE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F2EFE-1316-9937-893C-AEF3ACE9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4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3FD90-3A06-6EDD-09AA-67A7D6A56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63343F-1856-3FC0-2FE5-224687A8A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2304A2-A8AB-49EA-813E-B899E3E3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8E7F94-673A-5908-F2A7-B5A0A4C0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FDC28-7AF4-42B7-B36A-E3245B53B015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9D10C7-CCB7-074E-BBF1-62FDCE58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DC28F4-3DD1-0930-418F-9261A917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6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7DCA2-93E3-4A8F-E375-B2635130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50B223-5A46-1B7F-2518-B1695E29B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6FDC1E-0D03-43F8-3BE8-791DAEFCE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752D2D-049E-6875-C4A0-78DF105A0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F88B04-52FC-A4C7-222E-5E445B22F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B40C4A-AD29-81C2-4B4C-A34A3EEA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7DC2-5BDC-4324-AA93-1088A9C7BE09}" type="datetime1">
              <a:rPr lang="ru-RU" smtClean="0"/>
              <a:t>14.02.2026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8F5526-7555-0A36-D599-DB2C9397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DECF9A-0E2A-8864-A192-91025021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63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5DB98-A5B5-3438-3616-DF66F3DA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70717A-616B-3B17-373F-3F866473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0ACAE-6741-4A51-914D-5A71E1F0BD68}" type="datetime1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9C2CB1-2633-0F01-61F4-D821EB2E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34473C-F1C2-7452-CA68-4B736EC2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37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B7CACC-DF26-B62A-AD80-9CF8CDD9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20D48-7342-4077-A13D-9386383C728B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C42A-449A-823F-419D-3907F1F0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BA030-F1E0-FE9F-D717-74821A54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6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A86C9-5C65-B65D-425F-DE3113E1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084B0-1F47-AAE3-0198-4E63A45CC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160BF8-1A7A-B36F-50A5-3998B09E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8F8D2F-7724-1061-E98D-9E231407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2733-AE3E-42EF-86D9-BE9D4F27462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2CD5AB-4E05-098A-0C4E-32CF1BDD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355C40-5D02-2C51-A75F-95A78409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19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56929-FD75-C0AE-7C5C-C6456727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5B8921-5168-4761-240F-1F2D4296D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AE9BF-D85D-484B-3084-2BB43B9DF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30992-2BD0-C25C-D77B-DDDD95DF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5276-9BB3-4ACE-9F64-F4E954D67518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71DED5-75B2-472E-7970-EEBC35C4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CE7235-A1FA-507C-BDA3-FF60840C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2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22671-5997-B3F0-1CF5-FE693B6F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C58ABE-0AA1-5035-CC95-C31EA7DEC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6E4E59-08D4-3F97-A481-26A03B8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99C77-79D7-4EF0-9B35-EE074040BB10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12C97-AD20-9B74-1D9E-20E6D0AF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DBA50A-CF5D-F52F-ADFD-E27A8EC0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2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28371-BBF1-C052-5C83-60B90C189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90CBDC-54AC-0F04-BFCF-D191D5AE2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78DCFD-149E-564A-688C-62291B73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4674-2FDA-4F3A-A3A1-E4F080484048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F0560-6883-F96E-16B1-C6C143DD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259203-947D-2A0B-2F17-691028A5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25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3F10A-1CBC-F46A-8ACA-52DEEE23C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2AAE10-3298-EBED-1AAB-4FC59567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2D3DF7-F658-A4E6-AC36-CFE634372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5E8D009-A248-483D-975C-5A28A056285B}" type="datetime1">
              <a:rPr lang="ru-RU" smtClean="0"/>
              <a:t>14.02.2026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D00B84-0413-2BF8-AAE6-2D3092BE5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D3A335-BD73-C78E-0328-9E641CD68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18D4B0C-12DF-447C-B791-E379AA958C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36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AE178-3CA4-4E38-452D-6CA5374C3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Основы логического вывода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8AF3-615E-B7DF-7C9B-83CF96D8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185CC0E-BBE9-FEF5-53DA-7BEF6FB7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Основы логического вывода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A9B84-53D3-E9D3-0DD2-88B4E9D76181}"/>
              </a:ext>
            </a:extLst>
          </p:cNvPr>
          <p:cNvSpPr txBox="1"/>
          <p:nvPr/>
        </p:nvSpPr>
        <p:spPr>
          <a:xfrm>
            <a:off x="838200" y="2018348"/>
            <a:ext cx="10195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Логический вывод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процесс получения новых утверждений (заключений) из имеющихся утверждений (посылок) на основе правил логики.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B3512-147C-662C-15F7-4D3DA651B6BD}"/>
              </a:ext>
            </a:extLst>
          </p:cNvPr>
          <p:cNvSpPr txBox="1"/>
          <p:nvPr/>
        </p:nvSpPr>
        <p:spPr>
          <a:xfrm>
            <a:off x="838200" y="31948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Посылки (предпосылки) </a:t>
            </a:r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– исходные утверждения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Правила вывода </a:t>
            </a:r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– логические правила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 – выводимое утверждение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FF09D-B546-9989-27DC-ED9B62E84236}"/>
              </a:ext>
            </a:extLst>
          </p:cNvPr>
          <p:cNvSpPr txBox="1"/>
          <p:nvPr/>
        </p:nvSpPr>
        <p:spPr>
          <a:xfrm>
            <a:off x="838200" y="28254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Компоненты логического вывода: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B5031-1077-0739-30D6-C7F633790C28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Понятие логического вывода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00313C3-5A49-96A4-93E2-0F4A60A2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058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634A-6366-E7B3-D3DD-03E5728C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B67E953-0ADC-CB30-91B4-FA3568E0FCD0}"/>
              </a:ext>
            </a:extLst>
          </p:cNvPr>
          <p:cNvSpPr txBox="1"/>
          <p:nvPr/>
        </p:nvSpPr>
        <p:spPr>
          <a:xfrm>
            <a:off x="838200" y="2019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Прямой вывод (дедукция)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A39081-B33E-A112-E612-CAACEC339285}"/>
              </a:ext>
            </a:extLst>
          </p:cNvPr>
          <p:cNvSpPr txBox="1"/>
          <p:nvPr/>
        </p:nvSpPr>
        <p:spPr>
          <a:xfrm>
            <a:off x="838200" y="2340285"/>
            <a:ext cx="944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Вывод от общего к частному, от посылок к заключению.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255329-2783-4DAD-E77C-071A20220972}"/>
              </a:ext>
            </a:extLst>
          </p:cNvPr>
          <p:cNvSpPr txBox="1"/>
          <p:nvPr/>
        </p:nvSpPr>
        <p:spPr>
          <a:xfrm>
            <a:off x="838200" y="51279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7ECD22-8C11-8108-DC90-316621E95F6C}"/>
              </a:ext>
            </a:extLst>
          </p:cNvPr>
          <p:cNvSpPr txBox="1"/>
          <p:nvPr/>
        </p:nvSpPr>
        <p:spPr>
          <a:xfrm>
            <a:off x="838200" y="31251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Посылка 1: Все люди смертны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Посылка 2: Сократ – человек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Заключение: Сократ смертен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E03C06-EE25-93EA-517B-CFE0F15AC397}"/>
              </a:ext>
            </a:extLst>
          </p:cNvPr>
          <p:cNvSpPr txBox="1"/>
          <p:nvPr/>
        </p:nvSpPr>
        <p:spPr>
          <a:xfrm>
            <a:off x="838200" y="4402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Обратный вывод (абдукция)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4D92E8-1F40-8E90-3ADB-228568490BA2}"/>
              </a:ext>
            </a:extLst>
          </p:cNvPr>
          <p:cNvSpPr txBox="1"/>
          <p:nvPr/>
        </p:nvSpPr>
        <p:spPr>
          <a:xfrm>
            <a:off x="838200" y="4707981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Вывод наиболее вероятного объяснения наблюдаемых фактов.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E71ECB-5F5C-25CC-8A94-F7EB72830884}"/>
              </a:ext>
            </a:extLst>
          </p:cNvPr>
          <p:cNvSpPr txBox="1"/>
          <p:nvPr/>
        </p:nvSpPr>
        <p:spPr>
          <a:xfrm>
            <a:off x="838200" y="27912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E2D244-01DC-CBF4-310C-32DA04BC75A3}"/>
              </a:ext>
            </a:extLst>
          </p:cNvPr>
          <p:cNvSpPr txBox="1"/>
          <p:nvPr/>
        </p:nvSpPr>
        <p:spPr>
          <a:xfrm>
            <a:off x="838200" y="5497263"/>
            <a:ext cx="7940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Наблюдение: У пациента высокая температура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Объяснение: Пациент болен инфекционным заболеванием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A16F01-9875-2564-3AAB-D0A9231FFBAC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Типы логического вывода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D21188E-1A7C-86A7-3609-1D155FB9A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Основы логического вывода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EFAB94-E34E-5C58-5905-95DCF15B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01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B3B1-4D0C-9C43-5F06-508814E30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87E8B07-21D6-05FA-B470-CADF939E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1BE96E-8085-2371-735F-72A47C933CCC}"/>
              </a:ext>
            </a:extLst>
          </p:cNvPr>
          <p:cNvSpPr txBox="1"/>
          <p:nvPr/>
        </p:nvSpPr>
        <p:spPr>
          <a:xfrm>
            <a:off x="838200" y="2019600"/>
            <a:ext cx="11475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Пропозиция (высказывание)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утверждение, которое может быть истинным или ложным.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E3B694-CBC0-FC85-4256-8C0F8DEFF8BD}"/>
              </a:ext>
            </a:extLst>
          </p:cNvPr>
          <p:cNvSpPr txBox="1"/>
          <p:nvPr/>
        </p:nvSpPr>
        <p:spPr>
          <a:xfrm>
            <a:off x="838200" y="2395974"/>
            <a:ext cx="615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Примеры пропозиций: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3659C2-7934-3B5A-83BA-4DE0DA824195}"/>
              </a:ext>
            </a:extLst>
          </p:cNvPr>
          <p:cNvSpPr txBox="1"/>
          <p:nvPr/>
        </p:nvSpPr>
        <p:spPr>
          <a:xfrm>
            <a:off x="838200" y="2853691"/>
            <a:ext cx="6156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"У пациента температура выше 38°C"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"Пациент принимает антибиотики"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"Симптомы указывают на пневмонию"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D81FF9-9C0D-D1E5-D58B-E5F2B28DA1AC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Основные понятия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A490E6-6ADA-E5B4-2070-BB5C636A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32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E26E-1E04-4F02-94CB-B1852D71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1A4042B-C50D-4D72-7EA5-27722F33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D5E43-37E0-F6DC-9F73-CB366CCB4EC8}"/>
              </a:ext>
            </a:extLst>
          </p:cNvPr>
          <p:cNvSpPr txBox="1"/>
          <p:nvPr/>
        </p:nvSpPr>
        <p:spPr>
          <a:xfrm>
            <a:off x="838200" y="2019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Конъюнкция (И,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AND, ∧)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C58285-F43C-1E34-9C67-F489E4FA1588}"/>
              </a:ext>
            </a:extLst>
          </p:cNvPr>
          <p:cNvSpPr txBox="1"/>
          <p:nvPr/>
        </p:nvSpPr>
        <p:spPr>
          <a:xfrm>
            <a:off x="838200" y="24058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 ∧ B – истинно, когда оба высказывания истинны</a:t>
            </a:r>
          </a:p>
        </p:txBody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074AC007-FF66-5F02-9F3E-66F229015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098719"/>
              </p:ext>
            </p:extLst>
          </p:nvPr>
        </p:nvGraphicFramePr>
        <p:xfrm>
          <a:off x="838200" y="3124994"/>
          <a:ext cx="10515600" cy="1752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472372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74604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43347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∧ 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746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24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691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188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55844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4C6641A-0301-8B96-2952-25E1167D591B}"/>
              </a:ext>
            </a:extLst>
          </p:cNvPr>
          <p:cNvSpPr txBox="1"/>
          <p:nvPr/>
        </p:nvSpPr>
        <p:spPr>
          <a:xfrm>
            <a:off x="835480" y="527996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"У пациента кашель И температура"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06476-9F46-9208-D4DE-402BEE1B0130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Логические связки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A53FB2-31DD-405C-D88C-B6433315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71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ACEE-E780-E764-832C-C86ED43F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DC3EDC3-1354-B3A4-3EBA-A87AAE06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BC75F-68CB-4FF3-EAF3-CFD2C055866F}"/>
              </a:ext>
            </a:extLst>
          </p:cNvPr>
          <p:cNvSpPr txBox="1"/>
          <p:nvPr/>
        </p:nvSpPr>
        <p:spPr>
          <a:xfrm>
            <a:off x="8382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Дизъюнкция (ИЛИ,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OR, ∨)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4FF1AE-C012-C03A-716F-F89B0026B4BD}"/>
              </a:ext>
            </a:extLst>
          </p:cNvPr>
          <p:cNvSpPr txBox="1"/>
          <p:nvPr/>
        </p:nvSpPr>
        <p:spPr>
          <a:xfrm>
            <a:off x="838200" y="2404800"/>
            <a:ext cx="73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 ∨ B – истинно, когда хотя бы одно высказывание истинно</a:t>
            </a:r>
          </a:p>
        </p:txBody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33509337-FC9E-245D-18D7-9278ED51D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347537"/>
              </p:ext>
            </p:extLst>
          </p:nvPr>
        </p:nvGraphicFramePr>
        <p:xfrm>
          <a:off x="835480" y="3124800"/>
          <a:ext cx="10515600" cy="1752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512601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78680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09103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∨ 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377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74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61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792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625093"/>
                  </a:ext>
                </a:extLst>
              </a:tr>
            </a:tbl>
          </a:graphicData>
        </a:graphic>
      </p:graphicFrame>
      <p:sp>
        <p:nvSpPr>
          <p:cNvPr id="20" name="Rectangle 1">
            <a:extLst>
              <a:ext uri="{FF2B5EF4-FFF2-40B4-BE49-F238E27FC236}">
                <a16:creationId xmlns:a16="http://schemas.microsoft.com/office/drawing/2014/main" id="{43E13FB1-BB95-E913-FF82-AF14D28AA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0262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2ABB5A-95D2-5785-AC8B-0E4813B94FF4}"/>
              </a:ext>
            </a:extLst>
          </p:cNvPr>
          <p:cNvSpPr txBox="1"/>
          <p:nvPr/>
        </p:nvSpPr>
        <p:spPr>
          <a:xfrm>
            <a:off x="835480" y="5281200"/>
            <a:ext cx="10251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"Пациент принимает антибиотики ИЛИ противовирусные препараты"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CEE65F-0193-2482-40AB-F9B57C21F641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Логические связки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0EDF798-3EA0-9557-AD31-DACA8594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277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923E-A2BF-EE11-3947-53876A4D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1D5CA10-72CD-101E-5AB9-F4013496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F259C394-8FBA-C300-7CBC-271706E70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0262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348F8-478B-E19C-F039-187E6D1E9317}"/>
              </a:ext>
            </a:extLst>
          </p:cNvPr>
          <p:cNvSpPr txBox="1"/>
          <p:nvPr/>
        </p:nvSpPr>
        <p:spPr>
          <a:xfrm>
            <a:off x="8382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Отрицание (НЕ,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NOT, ¬)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0ADF0-CDEF-8C94-ACD3-114AFF439D38}"/>
              </a:ext>
            </a:extLst>
          </p:cNvPr>
          <p:cNvSpPr txBox="1"/>
          <p:nvPr/>
        </p:nvSpPr>
        <p:spPr>
          <a:xfrm>
            <a:off x="838200" y="24048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¬A – истинно, когда A ложно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490AA75C-A840-E1C0-EA0C-C37DB8871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176657"/>
              </p:ext>
            </p:extLst>
          </p:nvPr>
        </p:nvGraphicFramePr>
        <p:xfrm>
          <a:off x="838200" y="3124800"/>
          <a:ext cx="10515600" cy="1051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780831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74037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¬A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3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207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64341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BA61D37-3A09-9D6C-C3B4-E75BF0B6B736}"/>
              </a:ext>
            </a:extLst>
          </p:cNvPr>
          <p:cNvSpPr txBox="1"/>
          <p:nvPr/>
        </p:nvSpPr>
        <p:spPr>
          <a:xfrm>
            <a:off x="835480" y="52812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"НЕ (у пациента аллергия на пенициллин)"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12A46-8316-2F0C-B0BB-76A544A0E756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Логические связки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3C8B36-C108-1F82-900E-B0DEB174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27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134C-0233-FCCD-000E-E5E0034E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BDAB352-CA89-AE0A-60EE-2607663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A0B4F006-7500-8A6D-349F-8A49023FD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0262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D6B86-D66D-5ACB-7A49-1A465FCE39AF}"/>
              </a:ext>
            </a:extLst>
          </p:cNvPr>
          <p:cNvSpPr txBox="1"/>
          <p:nvPr/>
        </p:nvSpPr>
        <p:spPr>
          <a:xfrm>
            <a:off x="8382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Импликация (ЕСЛИ...ТО, →)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1F975-44A7-79FA-1C9E-B49A8F95C1FB}"/>
              </a:ext>
            </a:extLst>
          </p:cNvPr>
          <p:cNvSpPr txBox="1"/>
          <p:nvPr/>
        </p:nvSpPr>
        <p:spPr>
          <a:xfrm>
            <a:off x="838200" y="2404800"/>
            <a:ext cx="8184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 → B – истинно, когда из истинности A следует истинность B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20B32FBE-F9FE-22D9-6D57-C5B7DAE53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066862"/>
              </p:ext>
            </p:extLst>
          </p:nvPr>
        </p:nvGraphicFramePr>
        <p:xfrm>
          <a:off x="838200" y="3124800"/>
          <a:ext cx="10515600" cy="1752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274649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302433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56283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→ 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4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900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533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408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26929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B8FA15E-C3E1-B227-14F0-06E84D26135E}"/>
              </a:ext>
            </a:extLst>
          </p:cNvPr>
          <p:cNvSpPr txBox="1"/>
          <p:nvPr/>
        </p:nvSpPr>
        <p:spPr>
          <a:xfrm>
            <a:off x="838200" y="5281200"/>
            <a:ext cx="982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"ЕСЛИ у пациента пневмония, ТО у него кашель"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4D8BF-B364-929D-E707-ACDCB42C342A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Логические связки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6FE201C-7373-FE06-39B0-500E48BA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466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0C9FD-324F-F692-E9F8-7B2CAD42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4ECA9F3-3DF2-8F19-FD7B-C0932CCB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2D301D6E-0A51-9E30-4272-66651DB5F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0262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920F1-71A2-4754-1AAA-AE3BDFB471E8}"/>
              </a:ext>
            </a:extLst>
          </p:cNvPr>
          <p:cNvSpPr txBox="1"/>
          <p:nvPr/>
        </p:nvSpPr>
        <p:spPr>
          <a:xfrm>
            <a:off x="838200" y="2019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Эквивалентность (ТОГДА И ТОЛЬКО ТОГДА, ↔)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ACE2E-6BCC-CE73-1F8E-B0789CEFAAF3}"/>
              </a:ext>
            </a:extLst>
          </p:cNvPr>
          <p:cNvSpPr txBox="1"/>
          <p:nvPr/>
        </p:nvSpPr>
        <p:spPr>
          <a:xfrm>
            <a:off x="838200" y="2404800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 ↔ B – истинно, когда A и B имеют одинаковое значение истинности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5B374BBA-1EA2-2204-9805-DE55B9927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624775"/>
              </p:ext>
            </p:extLst>
          </p:nvPr>
        </p:nvGraphicFramePr>
        <p:xfrm>
          <a:off x="838200" y="3124800"/>
          <a:ext cx="10515600" cy="1752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349462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637410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5678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↔ 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955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15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20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79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386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8BC98D-DE76-4254-B992-174D873BB1AB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Логические связки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9AC6BE6-BD7A-503C-0927-73856D1C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44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41254-2F32-4927-1EF4-950F2B6E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6D2E416-77C4-71E6-9E04-5E16FDAA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066921-1B07-32CD-98C7-31A59C9018A8}"/>
              </a:ext>
            </a:extLst>
          </p:cNvPr>
          <p:cNvSpPr txBox="1"/>
          <p:nvPr/>
        </p:nvSpPr>
        <p:spPr>
          <a:xfrm>
            <a:off x="8388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Правило модус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поненс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(утверждающий модус)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E94791-96B6-8179-F71B-815B010911BE}"/>
              </a:ext>
            </a:extLst>
          </p:cNvPr>
          <p:cNvSpPr txBox="1"/>
          <p:nvPr/>
        </p:nvSpPr>
        <p:spPr>
          <a:xfrm>
            <a:off x="872217" y="2809479"/>
            <a:ext cx="276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Форма: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6D3A0E-2740-E119-06AB-34101AEF9021}"/>
              </a:ext>
            </a:extLst>
          </p:cNvPr>
          <p:cNvSpPr txBox="1"/>
          <p:nvPr/>
        </p:nvSpPr>
        <p:spPr>
          <a:xfrm>
            <a:off x="838200" y="3241584"/>
            <a:ext cx="3002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A, то B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Следовательно, 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4AEC5C-4F76-B22E-FC79-F60DEDF24CA2}"/>
              </a:ext>
            </a:extLst>
          </p:cNvPr>
          <p:cNvSpPr txBox="1"/>
          <p:nvPr/>
        </p:nvSpPr>
        <p:spPr>
          <a:xfrm>
            <a:off x="6757305" y="2809479"/>
            <a:ext cx="4987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FDB40D-3835-14F7-47C8-7A82A4CC9AF1}"/>
              </a:ext>
            </a:extLst>
          </p:cNvPr>
          <p:cNvSpPr txBox="1"/>
          <p:nvPr/>
        </p:nvSpPr>
        <p:spPr>
          <a:xfrm>
            <a:off x="6757305" y="3241585"/>
            <a:ext cx="51298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у пациента пневмония, то у него кашель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 пациента пневмония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Следовательно, у пациента кашель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B6AB5C-5EB3-9EB7-E784-5B62F7EAF785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Правила логического вывода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F58927-EF19-BEAC-7AF5-E2449C79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96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2057-C8C0-F10F-915E-0DF29EBB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B53D4A8-20F4-4FA3-85A7-647B3E8FB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13F381-A1C9-F74E-2A2F-07BDB593B8AB}"/>
              </a:ext>
            </a:extLst>
          </p:cNvPr>
          <p:cNvSpPr txBox="1"/>
          <p:nvPr/>
        </p:nvSpPr>
        <p:spPr>
          <a:xfrm>
            <a:off x="8382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Правило модус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толленс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(отрицающий модус)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A67472-6E44-96F2-2924-90E06EC2A59B}"/>
              </a:ext>
            </a:extLst>
          </p:cNvPr>
          <p:cNvSpPr txBox="1"/>
          <p:nvPr/>
        </p:nvSpPr>
        <p:spPr>
          <a:xfrm>
            <a:off x="838800" y="3240000"/>
            <a:ext cx="2947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A, то B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 B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Следовательно, не 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1D229B-7025-0BF5-C4F3-AB72BDAEA8E0}"/>
              </a:ext>
            </a:extLst>
          </p:cNvPr>
          <p:cNvSpPr txBox="1"/>
          <p:nvPr/>
        </p:nvSpPr>
        <p:spPr>
          <a:xfrm>
            <a:off x="6757305" y="3240000"/>
            <a:ext cx="5203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у пациента пневмония, то у него кашель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 пациента нет кашля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Следовательно, у пациента нет пневмонии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EC59B5-D5D4-F23B-FABA-A3224FCD2B02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Правила логического вывода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EDF86-4FBC-512B-C23E-E6132C0334FA}"/>
              </a:ext>
            </a:extLst>
          </p:cNvPr>
          <p:cNvSpPr txBox="1"/>
          <p:nvPr/>
        </p:nvSpPr>
        <p:spPr>
          <a:xfrm>
            <a:off x="872217" y="2809479"/>
            <a:ext cx="276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Форма: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F8A0E-2955-9CA7-C24F-83FC582AB4B5}"/>
              </a:ext>
            </a:extLst>
          </p:cNvPr>
          <p:cNvSpPr txBox="1"/>
          <p:nvPr/>
        </p:nvSpPr>
        <p:spPr>
          <a:xfrm>
            <a:off x="6757305" y="2809479"/>
            <a:ext cx="4987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75F2C-BC14-30B4-87AC-54162D16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498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8F07-8F3B-E589-89A1-7ACF34CC6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327F8F8-0731-D242-A9DE-B55AE8B4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854153-298C-D212-6F32-C48B9E987483}"/>
              </a:ext>
            </a:extLst>
          </p:cNvPr>
          <p:cNvSpPr txBox="1"/>
          <p:nvPr/>
        </p:nvSpPr>
        <p:spPr>
          <a:xfrm>
            <a:off x="8382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Цепное правило (силлогизм)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C967E0-3AF3-050D-91FC-D4C8981D4E63}"/>
              </a:ext>
            </a:extLst>
          </p:cNvPr>
          <p:cNvSpPr txBox="1"/>
          <p:nvPr/>
        </p:nvSpPr>
        <p:spPr>
          <a:xfrm>
            <a:off x="838800" y="3240000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A, то B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B, то C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Следовательно, если A, то 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2E402D-1EFB-4441-8101-7B0C6247768F}"/>
              </a:ext>
            </a:extLst>
          </p:cNvPr>
          <p:cNvSpPr txBox="1"/>
          <p:nvPr/>
        </p:nvSpPr>
        <p:spPr>
          <a:xfrm>
            <a:off x="6757200" y="3240000"/>
            <a:ext cx="5098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у пациента инфекция, то повышается температура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повышается температура, то назначают жаропонижающие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Следовательно, если у пациента инфекция, то назначают жаропонижающие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6776E-72AD-44A0-781B-BFA12BD04C23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Правила логического вывода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E69A1-7680-4160-C569-04DC4843776B}"/>
              </a:ext>
            </a:extLst>
          </p:cNvPr>
          <p:cNvSpPr txBox="1"/>
          <p:nvPr/>
        </p:nvSpPr>
        <p:spPr>
          <a:xfrm>
            <a:off x="872217" y="2809479"/>
            <a:ext cx="276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Форма: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E4E2C-BCE6-6FAB-BD67-37D90C9CF0FC}"/>
              </a:ext>
            </a:extLst>
          </p:cNvPr>
          <p:cNvSpPr txBox="1"/>
          <p:nvPr/>
        </p:nvSpPr>
        <p:spPr>
          <a:xfrm>
            <a:off x="6757305" y="2809479"/>
            <a:ext cx="4987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7C7BCE-27FD-3356-5E9C-6B779E1A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454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B8C8-E0AD-410C-3B13-1191B495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3784E0-6A31-EB5B-E1DB-AADD1D01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3C2D9-32A4-2742-CC4B-B9F306E2C931}"/>
              </a:ext>
            </a:extLst>
          </p:cNvPr>
          <p:cNvSpPr txBox="1"/>
          <p:nvPr/>
        </p:nvSpPr>
        <p:spPr>
          <a:xfrm>
            <a:off x="8382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Закон тождества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650939-5EB2-6323-C107-7BF5AC9C75A7}"/>
              </a:ext>
            </a:extLst>
          </p:cNvPr>
          <p:cNvSpPr txBox="1"/>
          <p:nvPr/>
        </p:nvSpPr>
        <p:spPr>
          <a:xfrm>
            <a:off x="838200" y="238934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 → A – любое высказывание следует из самого себя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82A66-FB6D-51D2-48FA-BEC3E2A18B84}"/>
              </a:ext>
            </a:extLst>
          </p:cNvPr>
          <p:cNvSpPr txBox="1"/>
          <p:nvPr/>
        </p:nvSpPr>
        <p:spPr>
          <a:xfrm>
            <a:off x="838200" y="301451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Закон непротиворечия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CFC682-4E27-D5C6-28F4-FE23CDF60192}"/>
              </a:ext>
            </a:extLst>
          </p:cNvPr>
          <p:cNvSpPr txBox="1"/>
          <p:nvPr/>
        </p:nvSpPr>
        <p:spPr>
          <a:xfrm>
            <a:off x="838200" y="3386044"/>
            <a:ext cx="1024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¬(A ∧ ¬A) – высказывание не может быть одновременно истинным и ложным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4BA4BF-A917-3745-583F-C1030B64EB66}"/>
              </a:ext>
            </a:extLst>
          </p:cNvPr>
          <p:cNvSpPr txBox="1"/>
          <p:nvPr/>
        </p:nvSpPr>
        <p:spPr>
          <a:xfrm>
            <a:off x="838200" y="400970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Закон исключенного третьего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8413FB-B4D8-CDFA-F251-360166370E10}"/>
              </a:ext>
            </a:extLst>
          </p:cNvPr>
          <p:cNvSpPr txBox="1"/>
          <p:nvPr/>
        </p:nvSpPr>
        <p:spPr>
          <a:xfrm>
            <a:off x="838200" y="431483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 ∨ ¬A – высказывание либо истинно, либо ложно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95E317-77A1-C160-A5EC-070460FDB3CF}"/>
              </a:ext>
            </a:extLst>
          </p:cNvPr>
          <p:cNvSpPr txBox="1"/>
          <p:nvPr/>
        </p:nvSpPr>
        <p:spPr>
          <a:xfrm>
            <a:off x="838200" y="49453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Закон контрапозиции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7AF926-5E0F-AA09-7190-99D912ABC283}"/>
              </a:ext>
            </a:extLst>
          </p:cNvPr>
          <p:cNvSpPr txBox="1"/>
          <p:nvPr/>
        </p:nvSpPr>
        <p:spPr>
          <a:xfrm>
            <a:off x="838200" y="5223640"/>
            <a:ext cx="772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(A → B) ↔ (¬B → ¬A) – импликация эквивалентна контрапозиции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F970A9-E1BD-97F1-C88D-86EAB906D887}"/>
              </a:ext>
            </a:extLst>
          </p:cNvPr>
          <p:cNvSpPr txBox="1"/>
          <p:nvPr/>
        </p:nvSpPr>
        <p:spPr>
          <a:xfrm>
            <a:off x="838200" y="559151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36C9EC-328F-B573-0CA1-BD6BDC98E63C}"/>
              </a:ext>
            </a:extLst>
          </p:cNvPr>
          <p:cNvSpPr txBox="1"/>
          <p:nvPr/>
        </p:nvSpPr>
        <p:spPr>
          <a:xfrm>
            <a:off x="838200" y="5950685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"Если пневмония, то кашель" эквивалентно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"Если нет кашля, то нет пневмонии"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13EB6-B66A-36CB-F488-0E982129A202}"/>
              </a:ext>
            </a:extLst>
          </p:cNvPr>
          <p:cNvSpPr txBox="1"/>
          <p:nvPr/>
        </p:nvSpPr>
        <p:spPr>
          <a:xfrm>
            <a:off x="838200" y="127864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Законы логического вывода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6D1153-4E0F-6EAD-864C-3866F9C8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85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9034-C14B-F717-BAD6-ED8C7B27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1C58278-2883-768D-288E-CEE384B4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Пропозициональная логика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3FECE-82B3-CF4C-828F-096AF8AC1133}"/>
              </a:ext>
            </a:extLst>
          </p:cNvPr>
          <p:cNvSpPr txBox="1"/>
          <p:nvPr/>
        </p:nvSpPr>
        <p:spPr>
          <a:xfrm>
            <a:off x="838200" y="2019600"/>
            <a:ext cx="6098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Недостаточная выразительность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Нельзя выразить количественные отношения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Нельзя работать с переменными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Отсутствие структуры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Нельзя выразить отношения между объектами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Нельзя работать с предикатами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DD8B8F-80E9-8752-E77E-E4FDCD95C078}"/>
              </a:ext>
            </a:extLst>
          </p:cNvPr>
          <p:cNvSpPr txBox="1"/>
          <p:nvPr/>
        </p:nvSpPr>
        <p:spPr>
          <a:xfrm>
            <a:off x="838200" y="424398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 проблемы: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D9D1D-B496-451B-E554-8D6CCEDC5CD3}"/>
              </a:ext>
            </a:extLst>
          </p:cNvPr>
          <p:cNvSpPr txBox="1"/>
          <p:nvPr/>
        </p:nvSpPr>
        <p:spPr>
          <a:xfrm>
            <a:off x="838199" y="457413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пропозициональной логике: "Пациент1 болен" и "Пациент2 болен" – разные пропозиции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Нужна логика предикатов: "Болен(Пациент1)" и "Болен(Пациент2)"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2C757-8AB4-1E63-AFA0-F1ABF715140C}"/>
              </a:ext>
            </a:extLst>
          </p:cNvPr>
          <p:cNvSpPr txBox="1"/>
          <p:nvPr/>
        </p:nvSpPr>
        <p:spPr>
          <a:xfrm>
            <a:off x="838199" y="1278644"/>
            <a:ext cx="74724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Ограничения пропозициональной логики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8ADA6DD-EA68-669D-007A-8F6881C2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32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80D8-E91A-9B1B-A21A-57FB925D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366419E-D842-3A6B-5B70-039D751C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Логика предикатов первого порядка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AC4FD-C4F7-CF7D-DD5B-5BACAA7415A9}"/>
              </a:ext>
            </a:extLst>
          </p:cNvPr>
          <p:cNvSpPr txBox="1"/>
          <p:nvPr/>
        </p:nvSpPr>
        <p:spPr>
          <a:xfrm>
            <a:off x="838200" y="201960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Предикат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функция, которая принимает аргументы и возвращает истинность или ложность.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C3973-BA4E-AE6A-423F-1EC13D11E4CA}"/>
              </a:ext>
            </a:extLst>
          </p:cNvPr>
          <p:cNvSpPr txBox="1"/>
          <p:nvPr/>
        </p:nvSpPr>
        <p:spPr>
          <a:xfrm>
            <a:off x="838200" y="259409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Примеры предикатов: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60E8ED-7D08-3408-2771-72562651E51C}"/>
              </a:ext>
            </a:extLst>
          </p:cNvPr>
          <p:cNvSpPr txBox="1"/>
          <p:nvPr/>
        </p:nvSpPr>
        <p:spPr>
          <a:xfrm>
            <a:off x="838200" y="3071028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Болен(x) – "x болен"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Выше(x, y) – "x выше y"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Принимает(x, y) – "x принимает лекарство y"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BA94E-3548-9AF9-E8AD-9E3622A3AB2D}"/>
              </a:ext>
            </a:extLst>
          </p:cNvPr>
          <p:cNvSpPr txBox="1"/>
          <p:nvPr/>
        </p:nvSpPr>
        <p:spPr>
          <a:xfrm>
            <a:off x="838199" y="1278644"/>
            <a:ext cx="74724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Основные понятия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80EAEA-9989-F346-3F7D-6623ECE1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510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BF1A-EBFA-AD64-0074-10984EB6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EC3D41E-7E3F-CC4D-BD82-A8B14996E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431741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Логика предикатов первого порядка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47B87-480B-4DA8-ADFD-9EC208D7928B}"/>
              </a:ext>
            </a:extLst>
          </p:cNvPr>
          <p:cNvSpPr txBox="1"/>
          <p:nvPr/>
        </p:nvSpPr>
        <p:spPr>
          <a:xfrm>
            <a:off x="838800" y="2019600"/>
            <a:ext cx="8246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Квантор всеобщности (∀)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69AD18-8430-881E-E02E-8E388A1B4659}"/>
              </a:ext>
            </a:extLst>
          </p:cNvPr>
          <p:cNvSpPr txBox="1"/>
          <p:nvPr/>
        </p:nvSpPr>
        <p:spPr>
          <a:xfrm>
            <a:off x="838800" y="2427969"/>
            <a:ext cx="8246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∀x P(x) – "для всех x выполняется P(x)"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0C3B9C-22C1-24A2-ECE0-F009F2CD69BE}"/>
              </a:ext>
            </a:extLst>
          </p:cNvPr>
          <p:cNvSpPr txBox="1"/>
          <p:nvPr/>
        </p:nvSpPr>
        <p:spPr>
          <a:xfrm>
            <a:off x="838800" y="2870200"/>
            <a:ext cx="8246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∀x (Человек(x) → Смертен(x)) "Все люди смертны"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F2BE94-50A9-0955-8792-ACBD3FF0B13D}"/>
              </a:ext>
            </a:extLst>
          </p:cNvPr>
          <p:cNvSpPr txBox="1"/>
          <p:nvPr/>
        </p:nvSpPr>
        <p:spPr>
          <a:xfrm>
            <a:off x="838800" y="3825694"/>
            <a:ext cx="8246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Квантор существования (∃)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EE7B1D-6853-50C9-E784-F3F3ED10CD61}"/>
              </a:ext>
            </a:extLst>
          </p:cNvPr>
          <p:cNvSpPr txBox="1"/>
          <p:nvPr/>
        </p:nvSpPr>
        <p:spPr>
          <a:xfrm>
            <a:off x="838800" y="4195026"/>
            <a:ext cx="8246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∃x P(x) – "существует x, для которого выполняется P(x)"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57F26C-A69F-BF27-9B1E-134BA02B5824}"/>
              </a:ext>
            </a:extLst>
          </p:cNvPr>
          <p:cNvSpPr txBox="1"/>
          <p:nvPr/>
        </p:nvSpPr>
        <p:spPr>
          <a:xfrm>
            <a:off x="838800" y="4633364"/>
            <a:ext cx="10348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∃x (Пациент(x) ∧ Болен(x)) "Существует пациент, который болен"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975DC0-059C-B2C9-723B-9A42AAC689E1}"/>
              </a:ext>
            </a:extLst>
          </p:cNvPr>
          <p:cNvSpPr txBox="1"/>
          <p:nvPr/>
        </p:nvSpPr>
        <p:spPr>
          <a:xfrm>
            <a:off x="838199" y="1278644"/>
            <a:ext cx="74724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Кванторы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8542814-C733-B155-5524-80C8581A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35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B6C1C-5D35-A7D3-A066-7B0C4922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3461063-82ED-F001-A00D-E245843D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Логика предикатов первого порядка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AF2D7-0595-7482-F2D4-F9C3BF95FC07}"/>
              </a:ext>
            </a:extLst>
          </p:cNvPr>
          <p:cNvSpPr txBox="1"/>
          <p:nvPr/>
        </p:nvSpPr>
        <p:spPr>
          <a:xfrm>
            <a:off x="838200" y="20196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 1: Правило диагностики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089EDB-62E6-BFCC-746C-8DA2B41BC585}"/>
              </a:ext>
            </a:extLst>
          </p:cNvPr>
          <p:cNvSpPr txBox="1"/>
          <p:nvPr/>
        </p:nvSpPr>
        <p:spPr>
          <a:xfrm>
            <a:off x="838200" y="2435805"/>
            <a:ext cx="7580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∀x (Пациент(x) ∧ Температура(x, высокая) ∧ Кашель(x) → 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Возможна_пневмония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(x))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A08C9E-3399-E95F-F0F8-EF7C62981501}"/>
              </a:ext>
            </a:extLst>
          </p:cNvPr>
          <p:cNvSpPr txBox="1"/>
          <p:nvPr/>
        </p:nvSpPr>
        <p:spPr>
          <a:xfrm>
            <a:off x="838200" y="359663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 2: Правило лечения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2D1FAA-0320-E074-3DD4-36063FE9982D}"/>
              </a:ext>
            </a:extLst>
          </p:cNvPr>
          <p:cNvSpPr txBox="1"/>
          <p:nvPr/>
        </p:nvSpPr>
        <p:spPr>
          <a:xfrm>
            <a:off x="838200" y="4008009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∀x ∀y (Пациент(x) ∧ Диагноз(x, пневмония) ∧ 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Аллергия(x, пенициллин) → 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Назначить(x,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альтернативное_лекарство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(y)))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980D2-3F45-B414-6CE1-B530CCFB17FD}"/>
              </a:ext>
            </a:extLst>
          </p:cNvPr>
          <p:cNvSpPr txBox="1"/>
          <p:nvPr/>
        </p:nvSpPr>
        <p:spPr>
          <a:xfrm>
            <a:off x="838199" y="1278644"/>
            <a:ext cx="74724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Примеры использования в медицине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4AF6129-886B-42E2-179F-1E8D28F5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93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5305-3AE9-9836-AEEE-19E4625B0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D717975-FC32-FF6D-2D5B-293C1004AEC1}"/>
              </a:ext>
            </a:extLst>
          </p:cNvPr>
          <p:cNvSpPr txBox="1"/>
          <p:nvPr/>
        </p:nvSpPr>
        <p:spPr>
          <a:xfrm>
            <a:off x="838199" y="2019600"/>
            <a:ext cx="7727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Выразительность – можно описать сложные отношения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Структурированность – работа с объектами и их свойствами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Универсальность – применима к различным доменам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BF57506E-8AC1-2594-638D-6CA43868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Логика предикатов первого порядка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35B01-9A27-3A7C-5B76-49CD7001C4AC}"/>
              </a:ext>
            </a:extLst>
          </p:cNvPr>
          <p:cNvSpPr txBox="1"/>
          <p:nvPr/>
        </p:nvSpPr>
        <p:spPr>
          <a:xfrm>
            <a:off x="838199" y="1278644"/>
            <a:ext cx="74724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 логики предикатов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C82E8C4-9094-CE00-F1E6-E0791728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95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E26C-7330-7FC4-47A6-8CAE531C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EE214A-B82F-FA40-E890-4A4AFAF5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Применение логических методов в СППР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95990-3149-B9AF-37F0-163845E0C4F1}"/>
              </a:ext>
            </a:extLst>
          </p:cNvPr>
          <p:cNvSpPr txBox="1"/>
          <p:nvPr/>
        </p:nvSpPr>
        <p:spPr>
          <a:xfrm>
            <a:off x="838199" y="2019600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Экспертные системы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системы, использующие знания экспертов в виде правил.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F4AFB-07AB-D5E8-C57A-599CA21A18CF}"/>
              </a:ext>
            </a:extLst>
          </p:cNvPr>
          <p:cNvSpPr txBox="1"/>
          <p:nvPr/>
        </p:nvSpPr>
        <p:spPr>
          <a:xfrm>
            <a:off x="838200" y="258247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Структура: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A26739-9CC1-E84E-2EA8-AFC435ECD67B}"/>
              </a:ext>
            </a:extLst>
          </p:cNvPr>
          <p:cNvSpPr txBox="1"/>
          <p:nvPr/>
        </p:nvSpPr>
        <p:spPr>
          <a:xfrm>
            <a:off x="838200" y="2905639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База знаний – набор правил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База фактов – текущие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Механизм вывода – логический вывод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7B0CAA-4A98-D65F-AAB3-BAF602558CD2}"/>
              </a:ext>
            </a:extLst>
          </p:cNvPr>
          <p:cNvSpPr txBox="1"/>
          <p:nvPr/>
        </p:nvSpPr>
        <p:spPr>
          <a:xfrm>
            <a:off x="838200" y="408991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 правила: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D13743-F75A-A8D3-333D-96A4BF54EC3D}"/>
              </a:ext>
            </a:extLst>
          </p:cNvPr>
          <p:cNvSpPr txBox="1"/>
          <p:nvPr/>
        </p:nvSpPr>
        <p:spPr>
          <a:xfrm>
            <a:off x="838200" y="4446773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температура &gt; 38°C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кашель = да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рентген показывает затемнение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 диагноз = пневмония (уверенность = 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8)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B8A76-CF4B-8E5F-1C9A-95E5ECC3E236}"/>
              </a:ext>
            </a:extLst>
          </p:cNvPr>
          <p:cNvSpPr txBox="1"/>
          <p:nvPr/>
        </p:nvSpPr>
        <p:spPr>
          <a:xfrm>
            <a:off x="838199" y="1278644"/>
            <a:ext cx="74724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Экспертные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F51329-9049-6DD9-A8D5-86A7E595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488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7678-16B0-EBF2-FE87-30D0A75D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8B242FF-476B-C569-6ADD-DD9617F2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Применение логических методов в СППР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9F069D-0490-A97D-346D-932FD2D9A2DD}"/>
              </a:ext>
            </a:extLst>
          </p:cNvPr>
          <p:cNvSpPr txBox="1"/>
          <p:nvPr/>
        </p:nvSpPr>
        <p:spPr>
          <a:xfrm>
            <a:off x="838200" y="263762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13324A-35E0-EBB7-144D-8B819FDEBD03}"/>
              </a:ext>
            </a:extLst>
          </p:cNvPr>
          <p:cNvSpPr txBox="1"/>
          <p:nvPr/>
        </p:nvSpPr>
        <p:spPr>
          <a:xfrm>
            <a:off x="838200" y="2987761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Понятность и интерпретируемость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Легкость модификации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Возможность объяснения решений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D9E823-A047-4C28-DBC9-FB4D6CBA2D8C}"/>
              </a:ext>
            </a:extLst>
          </p:cNvPr>
          <p:cNvSpPr txBox="1"/>
          <p:nvPr/>
        </p:nvSpPr>
        <p:spPr>
          <a:xfrm>
            <a:off x="838200" y="4333978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Недостатки: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860C01-5FD6-1422-AFC4-222F11B21C0E}"/>
              </a:ext>
            </a:extLst>
          </p:cNvPr>
          <p:cNvSpPr txBox="1"/>
          <p:nvPr/>
        </p:nvSpPr>
        <p:spPr>
          <a:xfrm>
            <a:off x="838200" y="4663790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Сложность работы с неопределенностью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Проблема конфликтов правил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Сложность масштабирования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471AC6-1DDF-FA30-855B-B85D2EEBC4A4}"/>
              </a:ext>
            </a:extLst>
          </p:cNvPr>
          <p:cNvSpPr txBox="1"/>
          <p:nvPr/>
        </p:nvSpPr>
        <p:spPr>
          <a:xfrm>
            <a:off x="838199" y="1278644"/>
            <a:ext cx="74724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Системы правил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24B887-A56F-3A24-6DCD-C30C708E243A}"/>
              </a:ext>
            </a:extLst>
          </p:cNvPr>
          <p:cNvSpPr txBox="1"/>
          <p:nvPr/>
        </p:nvSpPr>
        <p:spPr>
          <a:xfrm>
            <a:off x="838200" y="2019600"/>
            <a:ext cx="1023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Система правил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набор правил вида "ЕСЛИ условие ТО действие"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46CCAF-DCCD-2427-A1A7-902EB3CC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687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8620</TotalTime>
  <Words>1067</Words>
  <Application>Microsoft Office PowerPoint</Application>
  <PresentationFormat>Широкоэкранный</PresentationFormat>
  <Paragraphs>256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Aptos</vt:lpstr>
      <vt:lpstr>Arial</vt:lpstr>
      <vt:lpstr>Тема Office</vt:lpstr>
      <vt:lpstr>Основы логического вывода</vt:lpstr>
      <vt:lpstr>Основы логического вывода</vt:lpstr>
      <vt:lpstr>Основы логического вывода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Пропозициональная логика</vt:lpstr>
      <vt:lpstr>Логика предикатов первого порядка</vt:lpstr>
      <vt:lpstr>Логика предикатов первого порядка</vt:lpstr>
      <vt:lpstr>Логика предикатов первого порядка</vt:lpstr>
      <vt:lpstr>Логика предикатов первого порядка</vt:lpstr>
      <vt:lpstr>Применение логических методов в СППР</vt:lpstr>
      <vt:lpstr>Применение логических методов в СППР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Кумов Вячеслав Сергеевич</dc:creator>
  <cp:lastModifiedBy>a165</cp:lastModifiedBy>
  <cp:revision>159</cp:revision>
  <dcterms:created xsi:type="dcterms:W3CDTF">2024-11-06T14:38:58Z</dcterms:created>
  <dcterms:modified xsi:type="dcterms:W3CDTF">2026-02-14T01:55:22Z</dcterms:modified>
</cp:coreProperties>
</file>