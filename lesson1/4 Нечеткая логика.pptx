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8"/>
  </p:notesMasterIdLst>
  <p:sldIdLst>
    <p:sldId id="256" r:id="rId2"/>
    <p:sldId id="257" r:id="rId3"/>
    <p:sldId id="258" r:id="rId4"/>
    <p:sldId id="259" r:id="rId5"/>
    <p:sldId id="260" r:id="rId6"/>
    <p:sldId id="261" r:id="rId7"/>
    <p:sldId id="274" r:id="rId8"/>
    <p:sldId id="262" r:id="rId9"/>
    <p:sldId id="263" r:id="rId10"/>
    <p:sldId id="264" r:id="rId11"/>
    <p:sldId id="265" r:id="rId12"/>
    <p:sldId id="266" r:id="rId13"/>
    <p:sldId id="267" r:id="rId14"/>
    <p:sldId id="268" r:id="rId15"/>
    <p:sldId id="269" r:id="rId16"/>
    <p:sldId id="272" r:id="rId17"/>
    <p:sldId id="271" r:id="rId18"/>
    <p:sldId id="273" r:id="rId19"/>
    <p:sldId id="270" r:id="rId20"/>
    <p:sldId id="275" r:id="rId21"/>
    <p:sldId id="276" r:id="rId22"/>
    <p:sldId id="277" r:id="rId23"/>
    <p:sldId id="278" r:id="rId24"/>
    <p:sldId id="279" r:id="rId25"/>
    <p:sldId id="280" r:id="rId26"/>
    <p:sldId id="300" r:id="rId27"/>
    <p:sldId id="298" r:id="rId28"/>
    <p:sldId id="285" r:id="rId29"/>
    <p:sldId id="299" r:id="rId30"/>
    <p:sldId id="292" r:id="rId31"/>
    <p:sldId id="291" r:id="rId32"/>
    <p:sldId id="301" r:id="rId33"/>
    <p:sldId id="302" r:id="rId34"/>
    <p:sldId id="304" r:id="rId35"/>
    <p:sldId id="305" r:id="rId36"/>
    <p:sldId id="306" r:id="rId37"/>
    <p:sldId id="297" r:id="rId38"/>
    <p:sldId id="282" r:id="rId39"/>
    <p:sldId id="281" r:id="rId40"/>
    <p:sldId id="283" r:id="rId41"/>
    <p:sldId id="284" r:id="rId42"/>
    <p:sldId id="286" r:id="rId43"/>
    <p:sldId id="287" r:id="rId44"/>
    <p:sldId id="288" r:id="rId45"/>
    <p:sldId id="289" r:id="rId46"/>
    <p:sldId id="290" r:id="rId47"/>
    <p:sldId id="307" r:id="rId48"/>
    <p:sldId id="293" r:id="rId49"/>
    <p:sldId id="308" r:id="rId50"/>
    <p:sldId id="311" r:id="rId51"/>
    <p:sldId id="309" r:id="rId52"/>
    <p:sldId id="310" r:id="rId53"/>
    <p:sldId id="312" r:id="rId54"/>
    <p:sldId id="313" r:id="rId55"/>
    <p:sldId id="315" r:id="rId56"/>
    <p:sldId id="314" r:id="rId57"/>
    <p:sldId id="316" r:id="rId58"/>
    <p:sldId id="317" r:id="rId59"/>
    <p:sldId id="318" r:id="rId60"/>
    <p:sldId id="319" r:id="rId61"/>
    <p:sldId id="320" r:id="rId62"/>
    <p:sldId id="322" r:id="rId63"/>
    <p:sldId id="323" r:id="rId64"/>
    <p:sldId id="321"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0" r:id="rId82"/>
    <p:sldId id="341" r:id="rId83"/>
    <p:sldId id="342" r:id="rId84"/>
    <p:sldId id="343" r:id="rId85"/>
    <p:sldId id="344" r:id="rId86"/>
    <p:sldId id="294" r:id="rId87"/>
    <p:sldId id="345" r:id="rId88"/>
    <p:sldId id="346" r:id="rId89"/>
    <p:sldId id="347" r:id="rId90"/>
    <p:sldId id="349" r:id="rId91"/>
    <p:sldId id="348" r:id="rId92"/>
    <p:sldId id="350" r:id="rId93"/>
    <p:sldId id="351" r:id="rId94"/>
    <p:sldId id="352" r:id="rId95"/>
    <p:sldId id="353" r:id="rId96"/>
    <p:sldId id="295" r:id="rId97"/>
    <p:sldId id="354" r:id="rId98"/>
    <p:sldId id="355" r:id="rId99"/>
    <p:sldId id="356" r:id="rId100"/>
    <p:sldId id="357" r:id="rId101"/>
    <p:sldId id="358" r:id="rId102"/>
    <p:sldId id="359" r:id="rId103"/>
    <p:sldId id="361" r:id="rId104"/>
    <p:sldId id="360" r:id="rId105"/>
    <p:sldId id="362" r:id="rId106"/>
    <p:sldId id="363" r:id="rId107"/>
    <p:sldId id="364" r:id="rId108"/>
    <p:sldId id="365" r:id="rId109"/>
    <p:sldId id="366" r:id="rId110"/>
    <p:sldId id="369" r:id="rId111"/>
    <p:sldId id="367" r:id="rId112"/>
    <p:sldId id="368" r:id="rId113"/>
    <p:sldId id="404" r:id="rId114"/>
    <p:sldId id="370" r:id="rId115"/>
    <p:sldId id="371" r:id="rId116"/>
    <p:sldId id="372" r:id="rId117"/>
    <p:sldId id="373" r:id="rId118"/>
    <p:sldId id="374" r:id="rId119"/>
    <p:sldId id="376" r:id="rId120"/>
    <p:sldId id="378" r:id="rId121"/>
    <p:sldId id="379" r:id="rId122"/>
    <p:sldId id="377" r:id="rId123"/>
    <p:sldId id="380" r:id="rId124"/>
    <p:sldId id="381" r:id="rId125"/>
    <p:sldId id="382" r:id="rId126"/>
    <p:sldId id="383" r:id="rId127"/>
    <p:sldId id="384" r:id="rId128"/>
    <p:sldId id="385" r:id="rId129"/>
    <p:sldId id="393" r:id="rId130"/>
    <p:sldId id="394" r:id="rId131"/>
    <p:sldId id="395" r:id="rId132"/>
    <p:sldId id="396" r:id="rId133"/>
    <p:sldId id="397" r:id="rId134"/>
    <p:sldId id="386" r:id="rId135"/>
    <p:sldId id="387" r:id="rId136"/>
    <p:sldId id="398" r:id="rId137"/>
    <p:sldId id="399" r:id="rId138"/>
    <p:sldId id="401" r:id="rId139"/>
    <p:sldId id="402" r:id="rId140"/>
    <p:sldId id="403" r:id="rId141"/>
    <p:sldId id="388" r:id="rId142"/>
    <p:sldId id="389" r:id="rId143"/>
    <p:sldId id="390" r:id="rId144"/>
    <p:sldId id="391" r:id="rId145"/>
    <p:sldId id="392" r:id="rId146"/>
    <p:sldId id="400" r:id="rId147"/>
  </p:sldIdLst>
  <p:sldSz cx="9144000" cy="6858000" type="screen4x3"/>
  <p:notesSz cx="6858000" cy="9144000"/>
  <p:defaultTextStyle>
    <a:defPPr>
      <a:defRPr lang="ru-RU"/>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1E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5" d="100"/>
          <a:sy n="115" d="100"/>
        </p:scale>
        <p:origin x="1810"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C470CE-4F01-4003-9434-DA88247DEFFC}" type="doc">
      <dgm:prSet loTypeId="urn:microsoft.com/office/officeart/2005/8/layout/hierarchy4" loCatId="list" qsTypeId="urn:microsoft.com/office/officeart/2005/8/quickstyle/simple1" qsCatId="simple" csTypeId="urn:microsoft.com/office/officeart/2005/8/colors/accent1_2" csCatId="accent1" phldr="1"/>
      <dgm:spPr/>
    </dgm:pt>
    <dgm:pt modelId="{65A360DA-3253-48DC-8430-6926F144B3B9}">
      <dgm:prSet phldrT="[Текст]"/>
      <dgm:spPr/>
      <dgm:t>
        <a:bodyPr/>
        <a:lstStyle/>
        <a:p>
          <a:pPr algn="l"/>
          <a:r>
            <a:rPr lang="ru-RU" dirty="0">
              <a:latin typeface="Times New Roman" panose="02020603050405020304" pitchFamily="18" charset="0"/>
              <a:cs typeface="Times New Roman" panose="02020603050405020304" pitchFamily="18" charset="0"/>
            </a:rPr>
            <a:t>2. Логический вывод.</a:t>
          </a:r>
        </a:p>
        <a:p>
          <a:pPr algn="l"/>
          <a:r>
            <a:rPr lang="ru-RU" dirty="0">
              <a:latin typeface="Times New Roman" panose="02020603050405020304" pitchFamily="18" charset="0"/>
              <a:cs typeface="Times New Roman" panose="02020603050405020304" pitchFamily="18" charset="0"/>
            </a:rPr>
            <a:t>2.1. Агрегация</a:t>
          </a:r>
        </a:p>
        <a:p>
          <a:pPr algn="l"/>
          <a:r>
            <a:rPr lang="ru-RU" dirty="0">
              <a:latin typeface="Times New Roman" panose="02020603050405020304" pitchFamily="18" charset="0"/>
              <a:cs typeface="Times New Roman" panose="02020603050405020304" pitchFamily="18" charset="0"/>
            </a:rPr>
            <a:t>2.2. Активация</a:t>
          </a:r>
        </a:p>
      </dgm:t>
    </dgm:pt>
    <dgm:pt modelId="{942AE28E-2FED-4474-82DA-A2EF4A49353A}" type="parTrans" cxnId="{68AC2AB6-7C0A-4660-9ACC-4221831D83F8}">
      <dgm:prSet/>
      <dgm:spPr/>
      <dgm:t>
        <a:bodyPr/>
        <a:lstStyle/>
        <a:p>
          <a:endParaRPr lang="ru-RU">
            <a:latin typeface="Times New Roman" panose="02020603050405020304" pitchFamily="18" charset="0"/>
            <a:cs typeface="Times New Roman" panose="02020603050405020304" pitchFamily="18" charset="0"/>
          </a:endParaRPr>
        </a:p>
      </dgm:t>
    </dgm:pt>
    <dgm:pt modelId="{57D2994D-DA1F-4A11-846C-E0CCF67436EC}" type="sibTrans" cxnId="{68AC2AB6-7C0A-4660-9ACC-4221831D83F8}">
      <dgm:prSet/>
      <dgm:spPr/>
      <dgm:t>
        <a:bodyPr/>
        <a:lstStyle/>
        <a:p>
          <a:endParaRPr lang="ru-RU">
            <a:latin typeface="Times New Roman" panose="02020603050405020304" pitchFamily="18" charset="0"/>
            <a:cs typeface="Times New Roman" panose="02020603050405020304" pitchFamily="18" charset="0"/>
          </a:endParaRPr>
        </a:p>
      </dgm:t>
    </dgm:pt>
    <dgm:pt modelId="{31D544CE-FCF1-49E9-888F-DB654E7FF589}">
      <dgm:prSet phldrT="[Текст]"/>
      <dgm:spPr/>
      <dgm:t>
        <a:bodyPr/>
        <a:lstStyle/>
        <a:p>
          <a:pPr algn="l"/>
          <a:r>
            <a:rPr lang="ru-RU" dirty="0">
              <a:latin typeface="Times New Roman" panose="02020603050405020304" pitchFamily="18" charset="0"/>
              <a:cs typeface="Times New Roman" panose="02020603050405020304" pitchFamily="18" charset="0"/>
            </a:rPr>
            <a:t>3. Композиция.</a:t>
          </a:r>
        </a:p>
      </dgm:t>
    </dgm:pt>
    <dgm:pt modelId="{06CAE8C2-E5FF-4AD0-BE02-7BCB48EB27B7}" type="parTrans" cxnId="{381109B2-2A8D-49C8-9601-70A88188C540}">
      <dgm:prSet/>
      <dgm:spPr/>
      <dgm:t>
        <a:bodyPr/>
        <a:lstStyle/>
        <a:p>
          <a:endParaRPr lang="ru-RU">
            <a:latin typeface="Times New Roman" panose="02020603050405020304" pitchFamily="18" charset="0"/>
            <a:cs typeface="Times New Roman" panose="02020603050405020304" pitchFamily="18" charset="0"/>
          </a:endParaRPr>
        </a:p>
      </dgm:t>
    </dgm:pt>
    <dgm:pt modelId="{CEA58B4C-C223-449D-B7D3-89BFA7674FE2}" type="sibTrans" cxnId="{381109B2-2A8D-49C8-9601-70A88188C540}">
      <dgm:prSet/>
      <dgm:spPr/>
      <dgm:t>
        <a:bodyPr/>
        <a:lstStyle/>
        <a:p>
          <a:endParaRPr lang="ru-RU">
            <a:latin typeface="Times New Roman" panose="02020603050405020304" pitchFamily="18" charset="0"/>
            <a:cs typeface="Times New Roman" panose="02020603050405020304" pitchFamily="18" charset="0"/>
          </a:endParaRPr>
        </a:p>
      </dgm:t>
    </dgm:pt>
    <dgm:pt modelId="{84C168A1-7529-4F1A-8364-14143943105D}">
      <dgm:prSet phldrT="[Текст]"/>
      <dgm:spPr/>
      <dgm:t>
        <a:bodyPr/>
        <a:lstStyle/>
        <a:p>
          <a:pPr algn="l"/>
          <a:r>
            <a:rPr lang="ru-RU" dirty="0">
              <a:latin typeface="Times New Roman" panose="02020603050405020304" pitchFamily="18" charset="0"/>
              <a:cs typeface="Times New Roman" panose="02020603050405020304" pitchFamily="18" charset="0"/>
            </a:rPr>
            <a:t>4. Приведение к четкости (</a:t>
          </a:r>
          <a:r>
            <a:rPr lang="ru-RU" dirty="0" err="1">
              <a:latin typeface="Times New Roman" panose="02020603050405020304" pitchFamily="18" charset="0"/>
              <a:cs typeface="Times New Roman" panose="02020603050405020304" pitchFamily="18" charset="0"/>
            </a:rPr>
            <a:t>Дефаззификация</a:t>
          </a:r>
          <a:r>
            <a:rPr lang="ru-RU" dirty="0">
              <a:latin typeface="Times New Roman" panose="02020603050405020304" pitchFamily="18" charset="0"/>
              <a:cs typeface="Times New Roman" panose="02020603050405020304" pitchFamily="18" charset="0"/>
            </a:rPr>
            <a:t>).</a:t>
          </a:r>
        </a:p>
      </dgm:t>
    </dgm:pt>
    <dgm:pt modelId="{DBEF6698-0D2D-42AB-A5EA-F81527A2FD3A}" type="parTrans" cxnId="{C71E3207-7E85-47FF-A264-F490AD7EF5CB}">
      <dgm:prSet/>
      <dgm:spPr/>
      <dgm:t>
        <a:bodyPr/>
        <a:lstStyle/>
        <a:p>
          <a:endParaRPr lang="ru-RU">
            <a:latin typeface="Times New Roman" panose="02020603050405020304" pitchFamily="18" charset="0"/>
            <a:cs typeface="Times New Roman" panose="02020603050405020304" pitchFamily="18" charset="0"/>
          </a:endParaRPr>
        </a:p>
      </dgm:t>
    </dgm:pt>
    <dgm:pt modelId="{67FED83E-3A38-4F1F-A650-DE23C35D87A3}" type="sibTrans" cxnId="{C71E3207-7E85-47FF-A264-F490AD7EF5CB}">
      <dgm:prSet/>
      <dgm:spPr/>
      <dgm:t>
        <a:bodyPr/>
        <a:lstStyle/>
        <a:p>
          <a:endParaRPr lang="ru-RU">
            <a:latin typeface="Times New Roman" panose="02020603050405020304" pitchFamily="18" charset="0"/>
            <a:cs typeface="Times New Roman" panose="02020603050405020304" pitchFamily="18" charset="0"/>
          </a:endParaRPr>
        </a:p>
      </dgm:t>
    </dgm:pt>
    <dgm:pt modelId="{FC985D52-D2A2-4BF7-ABE1-C314FFBA3A95}">
      <dgm:prSet phldrT="[Текст]"/>
      <dgm:spPr/>
      <dgm:t>
        <a:bodyPr/>
        <a:lstStyle/>
        <a:p>
          <a:r>
            <a:rPr lang="ru-RU" dirty="0">
              <a:latin typeface="Times New Roman" panose="02020603050405020304" pitchFamily="18" charset="0"/>
              <a:cs typeface="Times New Roman" panose="02020603050405020304" pitchFamily="18" charset="0"/>
            </a:rPr>
            <a:t>Нечеткая база знаний (логико-лингвистическое описание системы)</a:t>
          </a:r>
        </a:p>
      </dgm:t>
    </dgm:pt>
    <dgm:pt modelId="{C4D509DC-7BC2-4FB8-AEB7-69D0AE3A6849}" type="parTrans" cxnId="{3EAC2663-333F-45F9-9DB3-D2BDF905D795}">
      <dgm:prSet/>
      <dgm:spPr/>
      <dgm:t>
        <a:bodyPr/>
        <a:lstStyle/>
        <a:p>
          <a:endParaRPr lang="ru-RU">
            <a:latin typeface="Times New Roman" panose="02020603050405020304" pitchFamily="18" charset="0"/>
            <a:cs typeface="Times New Roman" panose="02020603050405020304" pitchFamily="18" charset="0"/>
          </a:endParaRPr>
        </a:p>
      </dgm:t>
    </dgm:pt>
    <dgm:pt modelId="{783ED133-98E2-44C7-B642-E0287A1FBC1F}" type="sibTrans" cxnId="{3EAC2663-333F-45F9-9DB3-D2BDF905D795}">
      <dgm:prSet/>
      <dgm:spPr/>
      <dgm:t>
        <a:bodyPr/>
        <a:lstStyle/>
        <a:p>
          <a:endParaRPr lang="ru-RU">
            <a:latin typeface="Times New Roman" panose="02020603050405020304" pitchFamily="18" charset="0"/>
            <a:cs typeface="Times New Roman" panose="02020603050405020304" pitchFamily="18" charset="0"/>
          </a:endParaRPr>
        </a:p>
      </dgm:t>
    </dgm:pt>
    <dgm:pt modelId="{114E77EA-2E11-4445-9863-AC2BB5B57199}">
      <dgm:prSet phldrT="[Текст]"/>
      <dgm:spPr/>
      <dgm:t>
        <a:bodyPr/>
        <a:lstStyle/>
        <a:p>
          <a:pPr algn="ctr"/>
          <a:r>
            <a:rPr lang="ru-RU" dirty="0">
              <a:latin typeface="Times New Roman" panose="02020603050405020304" pitchFamily="18" charset="0"/>
              <a:cs typeface="Times New Roman" panose="02020603050405020304" pitchFamily="18" charset="0"/>
            </a:rPr>
            <a:t>Входные параметры</a:t>
          </a:r>
        </a:p>
        <a:p>
          <a:pPr algn="ctr"/>
          <a:r>
            <a:rPr lang="ru-RU" dirty="0">
              <a:latin typeface="Times New Roman" panose="02020603050405020304" pitchFamily="18" charset="0"/>
              <a:cs typeface="Times New Roman" panose="02020603050405020304" pitchFamily="18" charset="0"/>
            </a:rPr>
            <a:t>(четкие) </a:t>
          </a:r>
        </a:p>
      </dgm:t>
    </dgm:pt>
    <dgm:pt modelId="{65913462-EE6E-4FE3-9B08-F8EAE328D349}" type="parTrans" cxnId="{DF9547A6-1CE6-485A-9516-1166E5263B73}">
      <dgm:prSet/>
      <dgm:spPr/>
      <dgm:t>
        <a:bodyPr/>
        <a:lstStyle/>
        <a:p>
          <a:endParaRPr lang="ru-RU">
            <a:latin typeface="Times New Roman" panose="02020603050405020304" pitchFamily="18" charset="0"/>
            <a:cs typeface="Times New Roman" panose="02020603050405020304" pitchFamily="18" charset="0"/>
          </a:endParaRPr>
        </a:p>
      </dgm:t>
    </dgm:pt>
    <dgm:pt modelId="{CF8FCAFD-42C1-443B-9403-6BE112AA14B8}" type="sibTrans" cxnId="{DF9547A6-1CE6-485A-9516-1166E5263B73}">
      <dgm:prSet/>
      <dgm:spPr/>
      <dgm:t>
        <a:bodyPr/>
        <a:lstStyle/>
        <a:p>
          <a:endParaRPr lang="ru-RU">
            <a:latin typeface="Times New Roman" panose="02020603050405020304" pitchFamily="18" charset="0"/>
            <a:cs typeface="Times New Roman" panose="02020603050405020304" pitchFamily="18" charset="0"/>
          </a:endParaRPr>
        </a:p>
      </dgm:t>
    </dgm:pt>
    <dgm:pt modelId="{D3FA8C10-909F-4E55-B73E-E66A5B8808B3}">
      <dgm:prSet phldrT="[Текст]"/>
      <dgm:spPr/>
      <dgm:t>
        <a:bodyPr/>
        <a:lstStyle/>
        <a:p>
          <a:pPr algn="l"/>
          <a:r>
            <a:rPr lang="ru-RU" dirty="0">
              <a:latin typeface="Times New Roman" panose="02020603050405020304" pitchFamily="18" charset="0"/>
              <a:cs typeface="Times New Roman" panose="02020603050405020304" pitchFamily="18" charset="0"/>
            </a:rPr>
            <a:t>1. Введение нечеткости (</a:t>
          </a:r>
          <a:r>
            <a:rPr lang="ru-RU" dirty="0" err="1">
              <a:latin typeface="Times New Roman" panose="02020603050405020304" pitchFamily="18" charset="0"/>
              <a:cs typeface="Times New Roman" panose="02020603050405020304" pitchFamily="18" charset="0"/>
            </a:rPr>
            <a:t>Фаззификация</a:t>
          </a:r>
          <a:r>
            <a:rPr lang="ru-RU" dirty="0">
              <a:latin typeface="Times New Roman" panose="02020603050405020304" pitchFamily="18" charset="0"/>
              <a:cs typeface="Times New Roman" panose="02020603050405020304" pitchFamily="18" charset="0"/>
            </a:rPr>
            <a:t>).</a:t>
          </a:r>
        </a:p>
      </dgm:t>
    </dgm:pt>
    <dgm:pt modelId="{E01FAB40-7685-435C-965D-4A1498730610}" type="parTrans" cxnId="{FF007D03-06B9-421A-BDA3-91D42BB8BF43}">
      <dgm:prSet/>
      <dgm:spPr/>
      <dgm:t>
        <a:bodyPr/>
        <a:lstStyle/>
        <a:p>
          <a:endParaRPr lang="ru-RU">
            <a:latin typeface="Times New Roman" panose="02020603050405020304" pitchFamily="18" charset="0"/>
            <a:cs typeface="Times New Roman" panose="02020603050405020304" pitchFamily="18" charset="0"/>
          </a:endParaRPr>
        </a:p>
      </dgm:t>
    </dgm:pt>
    <dgm:pt modelId="{68637A01-AB2E-4483-AA41-B76FB3EAD5AE}" type="sibTrans" cxnId="{FF007D03-06B9-421A-BDA3-91D42BB8BF43}">
      <dgm:prSet/>
      <dgm:spPr/>
      <dgm:t>
        <a:bodyPr/>
        <a:lstStyle/>
        <a:p>
          <a:endParaRPr lang="ru-RU">
            <a:latin typeface="Times New Roman" panose="02020603050405020304" pitchFamily="18" charset="0"/>
            <a:cs typeface="Times New Roman" panose="02020603050405020304" pitchFamily="18" charset="0"/>
          </a:endParaRPr>
        </a:p>
      </dgm:t>
    </dgm:pt>
    <dgm:pt modelId="{9F9D0CEB-0F09-408F-8283-A8157179726B}">
      <dgm:prSet phldrT="[Текст]"/>
      <dgm:spPr/>
      <dgm:t>
        <a:bodyPr/>
        <a:lstStyle/>
        <a:p>
          <a:r>
            <a:rPr lang="ru-RU" dirty="0">
              <a:latin typeface="Times New Roman" panose="02020603050405020304" pitchFamily="18" charset="0"/>
              <a:cs typeface="Times New Roman" panose="02020603050405020304" pitchFamily="18" charset="0"/>
            </a:rPr>
            <a:t>Выходные параметры</a:t>
          </a:r>
        </a:p>
        <a:p>
          <a:r>
            <a:rPr lang="ru-RU" dirty="0">
              <a:latin typeface="Times New Roman" panose="02020603050405020304" pitchFamily="18" charset="0"/>
              <a:cs typeface="Times New Roman" panose="02020603050405020304" pitchFamily="18" charset="0"/>
            </a:rPr>
            <a:t>(четкие)</a:t>
          </a:r>
        </a:p>
      </dgm:t>
    </dgm:pt>
    <dgm:pt modelId="{008F58ED-DBB0-4078-A307-328B75C272F5}" type="parTrans" cxnId="{EE0C45A4-2B92-4AE2-BEE5-874507688BE6}">
      <dgm:prSet/>
      <dgm:spPr/>
      <dgm:t>
        <a:bodyPr/>
        <a:lstStyle/>
        <a:p>
          <a:endParaRPr lang="ru-RU">
            <a:latin typeface="Times New Roman" panose="02020603050405020304" pitchFamily="18" charset="0"/>
            <a:cs typeface="Times New Roman" panose="02020603050405020304" pitchFamily="18" charset="0"/>
          </a:endParaRPr>
        </a:p>
      </dgm:t>
    </dgm:pt>
    <dgm:pt modelId="{5D41C620-FAFC-4FED-823A-61ADC192B0E3}" type="sibTrans" cxnId="{EE0C45A4-2B92-4AE2-BEE5-874507688BE6}">
      <dgm:prSet/>
      <dgm:spPr/>
      <dgm:t>
        <a:bodyPr/>
        <a:lstStyle/>
        <a:p>
          <a:endParaRPr lang="ru-RU">
            <a:latin typeface="Times New Roman" panose="02020603050405020304" pitchFamily="18" charset="0"/>
            <a:cs typeface="Times New Roman" panose="02020603050405020304" pitchFamily="18" charset="0"/>
          </a:endParaRPr>
        </a:p>
      </dgm:t>
    </dgm:pt>
    <dgm:pt modelId="{EF81C305-CECF-4B76-BFF5-E63A04BD69FA}" type="pres">
      <dgm:prSet presAssocID="{69C470CE-4F01-4003-9434-DA88247DEFFC}" presName="Name0" presStyleCnt="0">
        <dgm:presLayoutVars>
          <dgm:chPref val="1"/>
          <dgm:dir/>
          <dgm:animOne val="branch"/>
          <dgm:animLvl val="lvl"/>
          <dgm:resizeHandles/>
        </dgm:presLayoutVars>
      </dgm:prSet>
      <dgm:spPr/>
    </dgm:pt>
    <dgm:pt modelId="{281C0840-23CC-4BE2-A665-5EBDF8396204}" type="pres">
      <dgm:prSet presAssocID="{D3FA8C10-909F-4E55-B73E-E66A5B8808B3}" presName="vertOne" presStyleCnt="0"/>
      <dgm:spPr/>
    </dgm:pt>
    <dgm:pt modelId="{E606C39F-664A-4992-8DDC-CB8F3929EB3C}" type="pres">
      <dgm:prSet presAssocID="{D3FA8C10-909F-4E55-B73E-E66A5B8808B3}" presName="txOne" presStyleLbl="node0" presStyleIdx="0" presStyleCnt="4">
        <dgm:presLayoutVars>
          <dgm:chPref val="3"/>
        </dgm:presLayoutVars>
      </dgm:prSet>
      <dgm:spPr/>
    </dgm:pt>
    <dgm:pt modelId="{7781AC0B-8E0C-45CB-A947-BD46B1C95AC1}" type="pres">
      <dgm:prSet presAssocID="{D3FA8C10-909F-4E55-B73E-E66A5B8808B3}" presName="parTransOne" presStyleCnt="0"/>
      <dgm:spPr/>
    </dgm:pt>
    <dgm:pt modelId="{E146F0E9-DEA7-4C76-8280-4437C466AB8B}" type="pres">
      <dgm:prSet presAssocID="{D3FA8C10-909F-4E55-B73E-E66A5B8808B3}" presName="horzOne" presStyleCnt="0"/>
      <dgm:spPr/>
    </dgm:pt>
    <dgm:pt modelId="{3A869F68-8570-4EE7-AFE7-D8D08F90F016}" type="pres">
      <dgm:prSet presAssocID="{114E77EA-2E11-4445-9863-AC2BB5B57199}" presName="vertTwo" presStyleCnt="0"/>
      <dgm:spPr/>
    </dgm:pt>
    <dgm:pt modelId="{D1C2CD30-2427-4C7F-8F46-E8350049BD31}" type="pres">
      <dgm:prSet presAssocID="{114E77EA-2E11-4445-9863-AC2BB5B57199}" presName="txTwo" presStyleLbl="node2" presStyleIdx="0" presStyleCnt="3">
        <dgm:presLayoutVars>
          <dgm:chPref val="3"/>
        </dgm:presLayoutVars>
      </dgm:prSet>
      <dgm:spPr/>
    </dgm:pt>
    <dgm:pt modelId="{DEF7976E-2B67-43CA-91CE-AF08A6B6A857}" type="pres">
      <dgm:prSet presAssocID="{114E77EA-2E11-4445-9863-AC2BB5B57199}" presName="horzTwo" presStyleCnt="0"/>
      <dgm:spPr/>
    </dgm:pt>
    <dgm:pt modelId="{48CBECAE-B9D9-4B8F-A1F9-35A2EC1810B3}" type="pres">
      <dgm:prSet presAssocID="{68637A01-AB2E-4483-AA41-B76FB3EAD5AE}" presName="sibSpaceOne" presStyleCnt="0"/>
      <dgm:spPr/>
    </dgm:pt>
    <dgm:pt modelId="{B8A63A04-6918-4C53-AC6C-4074FE08E645}" type="pres">
      <dgm:prSet presAssocID="{65A360DA-3253-48DC-8430-6926F144B3B9}" presName="vertOne" presStyleCnt="0"/>
      <dgm:spPr/>
    </dgm:pt>
    <dgm:pt modelId="{4BCE724F-866A-44F4-8F8B-4B3867FFBD17}" type="pres">
      <dgm:prSet presAssocID="{65A360DA-3253-48DC-8430-6926F144B3B9}" presName="txOne" presStyleLbl="node0" presStyleIdx="1" presStyleCnt="4">
        <dgm:presLayoutVars>
          <dgm:chPref val="3"/>
        </dgm:presLayoutVars>
      </dgm:prSet>
      <dgm:spPr/>
    </dgm:pt>
    <dgm:pt modelId="{EFE16E80-2420-40A5-8DEA-7A0D694B714E}" type="pres">
      <dgm:prSet presAssocID="{65A360DA-3253-48DC-8430-6926F144B3B9}" presName="parTransOne" presStyleCnt="0"/>
      <dgm:spPr/>
    </dgm:pt>
    <dgm:pt modelId="{2160717C-563B-4F6D-BDFE-385F961C25B5}" type="pres">
      <dgm:prSet presAssocID="{65A360DA-3253-48DC-8430-6926F144B3B9}" presName="horzOne" presStyleCnt="0"/>
      <dgm:spPr/>
    </dgm:pt>
    <dgm:pt modelId="{B9A936CD-A484-4A1A-BBC9-D44182554AB2}" type="pres">
      <dgm:prSet presAssocID="{FC985D52-D2A2-4BF7-ABE1-C314FFBA3A95}" presName="vertTwo" presStyleCnt="0"/>
      <dgm:spPr/>
    </dgm:pt>
    <dgm:pt modelId="{8B4D88AB-DCCA-4AB5-805E-C41F901535D9}" type="pres">
      <dgm:prSet presAssocID="{FC985D52-D2A2-4BF7-ABE1-C314FFBA3A95}" presName="txTwo" presStyleLbl="node2" presStyleIdx="1" presStyleCnt="3">
        <dgm:presLayoutVars>
          <dgm:chPref val="3"/>
        </dgm:presLayoutVars>
      </dgm:prSet>
      <dgm:spPr/>
    </dgm:pt>
    <dgm:pt modelId="{7A6C1D3E-B588-429E-8EA2-45EFE421DA9C}" type="pres">
      <dgm:prSet presAssocID="{FC985D52-D2A2-4BF7-ABE1-C314FFBA3A95}" presName="horzTwo" presStyleCnt="0"/>
      <dgm:spPr/>
    </dgm:pt>
    <dgm:pt modelId="{F7329A13-1E44-4051-8F9D-8592654C4CE1}" type="pres">
      <dgm:prSet presAssocID="{57D2994D-DA1F-4A11-846C-E0CCF67436EC}" presName="sibSpaceOne" presStyleCnt="0"/>
      <dgm:spPr/>
    </dgm:pt>
    <dgm:pt modelId="{B31FDA39-8292-4287-A5CB-89BB55F4E005}" type="pres">
      <dgm:prSet presAssocID="{31D544CE-FCF1-49E9-888F-DB654E7FF589}" presName="vertOne" presStyleCnt="0"/>
      <dgm:spPr/>
    </dgm:pt>
    <dgm:pt modelId="{9B43E097-4C6E-4C08-9CFC-D9886814F4A9}" type="pres">
      <dgm:prSet presAssocID="{31D544CE-FCF1-49E9-888F-DB654E7FF589}" presName="txOne" presStyleLbl="node0" presStyleIdx="2" presStyleCnt="4">
        <dgm:presLayoutVars>
          <dgm:chPref val="3"/>
        </dgm:presLayoutVars>
      </dgm:prSet>
      <dgm:spPr/>
    </dgm:pt>
    <dgm:pt modelId="{CA8D615B-9EF3-4A9C-BC8E-D76422311065}" type="pres">
      <dgm:prSet presAssocID="{31D544CE-FCF1-49E9-888F-DB654E7FF589}" presName="horzOne" presStyleCnt="0"/>
      <dgm:spPr/>
    </dgm:pt>
    <dgm:pt modelId="{0F0232D2-18F6-4D19-8F2F-8BEAF1FF626B}" type="pres">
      <dgm:prSet presAssocID="{CEA58B4C-C223-449D-B7D3-89BFA7674FE2}" presName="sibSpaceOne" presStyleCnt="0"/>
      <dgm:spPr/>
    </dgm:pt>
    <dgm:pt modelId="{CCBCDB48-BBF9-4302-A3ED-9AA16EA31463}" type="pres">
      <dgm:prSet presAssocID="{84C168A1-7529-4F1A-8364-14143943105D}" presName="vertOne" presStyleCnt="0"/>
      <dgm:spPr/>
    </dgm:pt>
    <dgm:pt modelId="{C9ACCC96-D7B8-4D7E-B87F-0DBE994387EB}" type="pres">
      <dgm:prSet presAssocID="{84C168A1-7529-4F1A-8364-14143943105D}" presName="txOne" presStyleLbl="node0" presStyleIdx="3" presStyleCnt="4">
        <dgm:presLayoutVars>
          <dgm:chPref val="3"/>
        </dgm:presLayoutVars>
      </dgm:prSet>
      <dgm:spPr/>
    </dgm:pt>
    <dgm:pt modelId="{0459278C-78D4-4E4A-B9DD-B07EDF8E0C84}" type="pres">
      <dgm:prSet presAssocID="{84C168A1-7529-4F1A-8364-14143943105D}" presName="parTransOne" presStyleCnt="0"/>
      <dgm:spPr/>
    </dgm:pt>
    <dgm:pt modelId="{736CB92D-2E8A-4223-BBDE-0638581EF3B9}" type="pres">
      <dgm:prSet presAssocID="{84C168A1-7529-4F1A-8364-14143943105D}" presName="horzOne" presStyleCnt="0"/>
      <dgm:spPr/>
    </dgm:pt>
    <dgm:pt modelId="{94A95ECA-2D2E-4342-9BF3-BC4A4013CF7C}" type="pres">
      <dgm:prSet presAssocID="{9F9D0CEB-0F09-408F-8283-A8157179726B}" presName="vertTwo" presStyleCnt="0"/>
      <dgm:spPr/>
    </dgm:pt>
    <dgm:pt modelId="{6DBC0E2D-B1DA-4894-B247-6178BCEDBC81}" type="pres">
      <dgm:prSet presAssocID="{9F9D0CEB-0F09-408F-8283-A8157179726B}" presName="txTwo" presStyleLbl="node2" presStyleIdx="2" presStyleCnt="3">
        <dgm:presLayoutVars>
          <dgm:chPref val="3"/>
        </dgm:presLayoutVars>
      </dgm:prSet>
      <dgm:spPr/>
    </dgm:pt>
    <dgm:pt modelId="{245C951F-3520-4A7E-BC50-C2A2B744D11E}" type="pres">
      <dgm:prSet presAssocID="{9F9D0CEB-0F09-408F-8283-A8157179726B}" presName="horzTwo" presStyleCnt="0"/>
      <dgm:spPr/>
    </dgm:pt>
  </dgm:ptLst>
  <dgm:cxnLst>
    <dgm:cxn modelId="{FF007D03-06B9-421A-BDA3-91D42BB8BF43}" srcId="{69C470CE-4F01-4003-9434-DA88247DEFFC}" destId="{D3FA8C10-909F-4E55-B73E-E66A5B8808B3}" srcOrd="0" destOrd="0" parTransId="{E01FAB40-7685-435C-965D-4A1498730610}" sibTransId="{68637A01-AB2E-4483-AA41-B76FB3EAD5AE}"/>
    <dgm:cxn modelId="{C71E3207-7E85-47FF-A264-F490AD7EF5CB}" srcId="{69C470CE-4F01-4003-9434-DA88247DEFFC}" destId="{84C168A1-7529-4F1A-8364-14143943105D}" srcOrd="3" destOrd="0" parTransId="{DBEF6698-0D2D-42AB-A5EA-F81527A2FD3A}" sibTransId="{67FED83E-3A38-4F1F-A650-DE23C35D87A3}"/>
    <dgm:cxn modelId="{9B4DE714-5A2F-4BCF-ACFC-882FF3B2C9D4}" type="presOf" srcId="{31D544CE-FCF1-49E9-888F-DB654E7FF589}" destId="{9B43E097-4C6E-4C08-9CFC-D9886814F4A9}" srcOrd="0" destOrd="0" presId="urn:microsoft.com/office/officeart/2005/8/layout/hierarchy4"/>
    <dgm:cxn modelId="{5EBC0D35-F514-4408-BDCD-A16CB0A7FA15}" type="presOf" srcId="{65A360DA-3253-48DC-8430-6926F144B3B9}" destId="{4BCE724F-866A-44F4-8F8B-4B3867FFBD17}" srcOrd="0" destOrd="0" presId="urn:microsoft.com/office/officeart/2005/8/layout/hierarchy4"/>
    <dgm:cxn modelId="{3EAC2663-333F-45F9-9DB3-D2BDF905D795}" srcId="{65A360DA-3253-48DC-8430-6926F144B3B9}" destId="{FC985D52-D2A2-4BF7-ABE1-C314FFBA3A95}" srcOrd="0" destOrd="0" parTransId="{C4D509DC-7BC2-4FB8-AEB7-69D0AE3A6849}" sibTransId="{783ED133-98E2-44C7-B642-E0287A1FBC1F}"/>
    <dgm:cxn modelId="{4FDD1C54-5BC5-4918-AB4C-652582E64F03}" type="presOf" srcId="{84C168A1-7529-4F1A-8364-14143943105D}" destId="{C9ACCC96-D7B8-4D7E-B87F-0DBE994387EB}" srcOrd="0" destOrd="0" presId="urn:microsoft.com/office/officeart/2005/8/layout/hierarchy4"/>
    <dgm:cxn modelId="{E719E281-97DB-4590-B01C-F7B15B1F67F6}" type="presOf" srcId="{FC985D52-D2A2-4BF7-ABE1-C314FFBA3A95}" destId="{8B4D88AB-DCCA-4AB5-805E-C41F901535D9}" srcOrd="0" destOrd="0" presId="urn:microsoft.com/office/officeart/2005/8/layout/hierarchy4"/>
    <dgm:cxn modelId="{EE0C45A4-2B92-4AE2-BEE5-874507688BE6}" srcId="{84C168A1-7529-4F1A-8364-14143943105D}" destId="{9F9D0CEB-0F09-408F-8283-A8157179726B}" srcOrd="0" destOrd="0" parTransId="{008F58ED-DBB0-4078-A307-328B75C272F5}" sibTransId="{5D41C620-FAFC-4FED-823A-61ADC192B0E3}"/>
    <dgm:cxn modelId="{DF9547A6-1CE6-485A-9516-1166E5263B73}" srcId="{D3FA8C10-909F-4E55-B73E-E66A5B8808B3}" destId="{114E77EA-2E11-4445-9863-AC2BB5B57199}" srcOrd="0" destOrd="0" parTransId="{65913462-EE6E-4FE3-9B08-F8EAE328D349}" sibTransId="{CF8FCAFD-42C1-443B-9403-6BE112AA14B8}"/>
    <dgm:cxn modelId="{44B158AF-EC40-4588-B3BB-E27DF5457328}" type="presOf" srcId="{114E77EA-2E11-4445-9863-AC2BB5B57199}" destId="{D1C2CD30-2427-4C7F-8F46-E8350049BD31}" srcOrd="0" destOrd="0" presId="urn:microsoft.com/office/officeart/2005/8/layout/hierarchy4"/>
    <dgm:cxn modelId="{381109B2-2A8D-49C8-9601-70A88188C540}" srcId="{69C470CE-4F01-4003-9434-DA88247DEFFC}" destId="{31D544CE-FCF1-49E9-888F-DB654E7FF589}" srcOrd="2" destOrd="0" parTransId="{06CAE8C2-E5FF-4AD0-BE02-7BCB48EB27B7}" sibTransId="{CEA58B4C-C223-449D-B7D3-89BFA7674FE2}"/>
    <dgm:cxn modelId="{68AC2AB6-7C0A-4660-9ACC-4221831D83F8}" srcId="{69C470CE-4F01-4003-9434-DA88247DEFFC}" destId="{65A360DA-3253-48DC-8430-6926F144B3B9}" srcOrd="1" destOrd="0" parTransId="{942AE28E-2FED-4474-82DA-A2EF4A49353A}" sibTransId="{57D2994D-DA1F-4A11-846C-E0CCF67436EC}"/>
    <dgm:cxn modelId="{095002C1-278D-42BE-B376-130D37074D86}" type="presOf" srcId="{69C470CE-4F01-4003-9434-DA88247DEFFC}" destId="{EF81C305-CECF-4B76-BFF5-E63A04BD69FA}" srcOrd="0" destOrd="0" presId="urn:microsoft.com/office/officeart/2005/8/layout/hierarchy4"/>
    <dgm:cxn modelId="{524404DF-BCA2-4A0B-9543-79D7F6D7FB4E}" type="presOf" srcId="{D3FA8C10-909F-4E55-B73E-E66A5B8808B3}" destId="{E606C39F-664A-4992-8DDC-CB8F3929EB3C}" srcOrd="0" destOrd="0" presId="urn:microsoft.com/office/officeart/2005/8/layout/hierarchy4"/>
    <dgm:cxn modelId="{7A23FBF7-2D43-470E-9974-80DB7274BA41}" type="presOf" srcId="{9F9D0CEB-0F09-408F-8283-A8157179726B}" destId="{6DBC0E2D-B1DA-4894-B247-6178BCEDBC81}" srcOrd="0" destOrd="0" presId="urn:microsoft.com/office/officeart/2005/8/layout/hierarchy4"/>
    <dgm:cxn modelId="{D5CFD0F3-3BAC-4A35-BFC1-FE950E112AEA}" type="presParOf" srcId="{EF81C305-CECF-4B76-BFF5-E63A04BD69FA}" destId="{281C0840-23CC-4BE2-A665-5EBDF8396204}" srcOrd="0" destOrd="0" presId="urn:microsoft.com/office/officeart/2005/8/layout/hierarchy4"/>
    <dgm:cxn modelId="{CAECD32F-5F04-42CF-BC23-838C2B60811B}" type="presParOf" srcId="{281C0840-23CC-4BE2-A665-5EBDF8396204}" destId="{E606C39F-664A-4992-8DDC-CB8F3929EB3C}" srcOrd="0" destOrd="0" presId="urn:microsoft.com/office/officeart/2005/8/layout/hierarchy4"/>
    <dgm:cxn modelId="{4014BC21-12F4-466A-AEED-F89DDD606054}" type="presParOf" srcId="{281C0840-23CC-4BE2-A665-5EBDF8396204}" destId="{7781AC0B-8E0C-45CB-A947-BD46B1C95AC1}" srcOrd="1" destOrd="0" presId="urn:microsoft.com/office/officeart/2005/8/layout/hierarchy4"/>
    <dgm:cxn modelId="{D6E31965-FA17-4DCB-B246-EBBFED29F4CE}" type="presParOf" srcId="{281C0840-23CC-4BE2-A665-5EBDF8396204}" destId="{E146F0E9-DEA7-4C76-8280-4437C466AB8B}" srcOrd="2" destOrd="0" presId="urn:microsoft.com/office/officeart/2005/8/layout/hierarchy4"/>
    <dgm:cxn modelId="{C017D3C6-35DD-42F2-B67A-7AB637A221AC}" type="presParOf" srcId="{E146F0E9-DEA7-4C76-8280-4437C466AB8B}" destId="{3A869F68-8570-4EE7-AFE7-D8D08F90F016}" srcOrd="0" destOrd="0" presId="urn:microsoft.com/office/officeart/2005/8/layout/hierarchy4"/>
    <dgm:cxn modelId="{CC2C8B9F-C56A-4269-945C-1C1E2AD642BC}" type="presParOf" srcId="{3A869F68-8570-4EE7-AFE7-D8D08F90F016}" destId="{D1C2CD30-2427-4C7F-8F46-E8350049BD31}" srcOrd="0" destOrd="0" presId="urn:microsoft.com/office/officeart/2005/8/layout/hierarchy4"/>
    <dgm:cxn modelId="{84067C4F-6359-41FE-AD72-E6D15FE9CE6D}" type="presParOf" srcId="{3A869F68-8570-4EE7-AFE7-D8D08F90F016}" destId="{DEF7976E-2B67-43CA-91CE-AF08A6B6A857}" srcOrd="1" destOrd="0" presId="urn:microsoft.com/office/officeart/2005/8/layout/hierarchy4"/>
    <dgm:cxn modelId="{E53A309B-E6DD-4322-A11D-52D8E2864EB6}" type="presParOf" srcId="{EF81C305-CECF-4B76-BFF5-E63A04BD69FA}" destId="{48CBECAE-B9D9-4B8F-A1F9-35A2EC1810B3}" srcOrd="1" destOrd="0" presId="urn:microsoft.com/office/officeart/2005/8/layout/hierarchy4"/>
    <dgm:cxn modelId="{4B39552D-D3EC-48B8-9E4B-C90A1BACA0F5}" type="presParOf" srcId="{EF81C305-CECF-4B76-BFF5-E63A04BD69FA}" destId="{B8A63A04-6918-4C53-AC6C-4074FE08E645}" srcOrd="2" destOrd="0" presId="urn:microsoft.com/office/officeart/2005/8/layout/hierarchy4"/>
    <dgm:cxn modelId="{509A2625-CD47-4685-8E5B-3395FE158FDE}" type="presParOf" srcId="{B8A63A04-6918-4C53-AC6C-4074FE08E645}" destId="{4BCE724F-866A-44F4-8F8B-4B3867FFBD17}" srcOrd="0" destOrd="0" presId="urn:microsoft.com/office/officeart/2005/8/layout/hierarchy4"/>
    <dgm:cxn modelId="{1260FFCC-0507-4BA4-8358-6DE02E94EB40}" type="presParOf" srcId="{B8A63A04-6918-4C53-AC6C-4074FE08E645}" destId="{EFE16E80-2420-40A5-8DEA-7A0D694B714E}" srcOrd="1" destOrd="0" presId="urn:microsoft.com/office/officeart/2005/8/layout/hierarchy4"/>
    <dgm:cxn modelId="{8BB082AB-0E59-4886-AC1B-A4475B16302D}" type="presParOf" srcId="{B8A63A04-6918-4C53-AC6C-4074FE08E645}" destId="{2160717C-563B-4F6D-BDFE-385F961C25B5}" srcOrd="2" destOrd="0" presId="urn:microsoft.com/office/officeart/2005/8/layout/hierarchy4"/>
    <dgm:cxn modelId="{3826C5EE-09CC-48EA-8EEF-8EBF7E7731DA}" type="presParOf" srcId="{2160717C-563B-4F6D-BDFE-385F961C25B5}" destId="{B9A936CD-A484-4A1A-BBC9-D44182554AB2}" srcOrd="0" destOrd="0" presId="urn:microsoft.com/office/officeart/2005/8/layout/hierarchy4"/>
    <dgm:cxn modelId="{509887CF-1B72-4D96-8FF5-EA74E42C799C}" type="presParOf" srcId="{B9A936CD-A484-4A1A-BBC9-D44182554AB2}" destId="{8B4D88AB-DCCA-4AB5-805E-C41F901535D9}" srcOrd="0" destOrd="0" presId="urn:microsoft.com/office/officeart/2005/8/layout/hierarchy4"/>
    <dgm:cxn modelId="{45E76F85-3197-4A37-B522-2091F0342507}" type="presParOf" srcId="{B9A936CD-A484-4A1A-BBC9-D44182554AB2}" destId="{7A6C1D3E-B588-429E-8EA2-45EFE421DA9C}" srcOrd="1" destOrd="0" presId="urn:microsoft.com/office/officeart/2005/8/layout/hierarchy4"/>
    <dgm:cxn modelId="{05D20484-C29E-4CF1-A35D-4F2CE6C0BA4A}" type="presParOf" srcId="{EF81C305-CECF-4B76-BFF5-E63A04BD69FA}" destId="{F7329A13-1E44-4051-8F9D-8592654C4CE1}" srcOrd="3" destOrd="0" presId="urn:microsoft.com/office/officeart/2005/8/layout/hierarchy4"/>
    <dgm:cxn modelId="{B740E80F-875B-4A71-8214-B5226B0B8746}" type="presParOf" srcId="{EF81C305-CECF-4B76-BFF5-E63A04BD69FA}" destId="{B31FDA39-8292-4287-A5CB-89BB55F4E005}" srcOrd="4" destOrd="0" presId="urn:microsoft.com/office/officeart/2005/8/layout/hierarchy4"/>
    <dgm:cxn modelId="{B06D73A7-5C80-41A6-8FCE-63DE41B152B1}" type="presParOf" srcId="{B31FDA39-8292-4287-A5CB-89BB55F4E005}" destId="{9B43E097-4C6E-4C08-9CFC-D9886814F4A9}" srcOrd="0" destOrd="0" presId="urn:microsoft.com/office/officeart/2005/8/layout/hierarchy4"/>
    <dgm:cxn modelId="{5132D18A-2604-4834-8851-5B17D683BB2C}" type="presParOf" srcId="{B31FDA39-8292-4287-A5CB-89BB55F4E005}" destId="{CA8D615B-9EF3-4A9C-BC8E-D76422311065}" srcOrd="1" destOrd="0" presId="urn:microsoft.com/office/officeart/2005/8/layout/hierarchy4"/>
    <dgm:cxn modelId="{ACC41AF0-CDF7-43D7-96BC-698ADA6A3611}" type="presParOf" srcId="{EF81C305-CECF-4B76-BFF5-E63A04BD69FA}" destId="{0F0232D2-18F6-4D19-8F2F-8BEAF1FF626B}" srcOrd="5" destOrd="0" presId="urn:microsoft.com/office/officeart/2005/8/layout/hierarchy4"/>
    <dgm:cxn modelId="{9B9B6B64-B83C-48BC-9551-FEC90B2D4A04}" type="presParOf" srcId="{EF81C305-CECF-4B76-BFF5-E63A04BD69FA}" destId="{CCBCDB48-BBF9-4302-A3ED-9AA16EA31463}" srcOrd="6" destOrd="0" presId="urn:microsoft.com/office/officeart/2005/8/layout/hierarchy4"/>
    <dgm:cxn modelId="{71A1CA44-D7FA-43AC-ACD5-39849BD641DE}" type="presParOf" srcId="{CCBCDB48-BBF9-4302-A3ED-9AA16EA31463}" destId="{C9ACCC96-D7B8-4D7E-B87F-0DBE994387EB}" srcOrd="0" destOrd="0" presId="urn:microsoft.com/office/officeart/2005/8/layout/hierarchy4"/>
    <dgm:cxn modelId="{9A290D55-33E8-4ED9-B829-947B5643EBB7}" type="presParOf" srcId="{CCBCDB48-BBF9-4302-A3ED-9AA16EA31463}" destId="{0459278C-78D4-4E4A-B9DD-B07EDF8E0C84}" srcOrd="1" destOrd="0" presId="urn:microsoft.com/office/officeart/2005/8/layout/hierarchy4"/>
    <dgm:cxn modelId="{0BCFD643-BC95-4548-9150-116DFDD0ABB3}" type="presParOf" srcId="{CCBCDB48-BBF9-4302-A3ED-9AA16EA31463}" destId="{736CB92D-2E8A-4223-BBDE-0638581EF3B9}" srcOrd="2" destOrd="0" presId="urn:microsoft.com/office/officeart/2005/8/layout/hierarchy4"/>
    <dgm:cxn modelId="{FB1FF650-60FB-4934-8D25-70077B7BE3BC}" type="presParOf" srcId="{736CB92D-2E8A-4223-BBDE-0638581EF3B9}" destId="{94A95ECA-2D2E-4342-9BF3-BC4A4013CF7C}" srcOrd="0" destOrd="0" presId="urn:microsoft.com/office/officeart/2005/8/layout/hierarchy4"/>
    <dgm:cxn modelId="{56DC93EC-2E57-4A18-975C-50CEDD85B5FC}" type="presParOf" srcId="{94A95ECA-2D2E-4342-9BF3-BC4A4013CF7C}" destId="{6DBC0E2D-B1DA-4894-B247-6178BCEDBC81}" srcOrd="0" destOrd="0" presId="urn:microsoft.com/office/officeart/2005/8/layout/hierarchy4"/>
    <dgm:cxn modelId="{03ECB81E-9CC5-4682-9A14-E5F8A6B36514}" type="presParOf" srcId="{94A95ECA-2D2E-4342-9BF3-BC4A4013CF7C}" destId="{245C951F-3520-4A7E-BC50-C2A2B744D11E}"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06C39F-664A-4992-8DDC-CB8F3929EB3C}">
      <dsp:nvSpPr>
        <dsp:cNvPr id="0" name=""/>
        <dsp:cNvSpPr/>
      </dsp:nvSpPr>
      <dsp:spPr>
        <a:xfrm>
          <a:off x="1872" y="908"/>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1. Введение нечеткости (</a:t>
          </a:r>
          <a:r>
            <a:rPr lang="ru-RU" sz="1500" kern="1200" dirty="0" err="1">
              <a:latin typeface="Times New Roman" panose="02020603050405020304" pitchFamily="18" charset="0"/>
              <a:cs typeface="Times New Roman" panose="02020603050405020304" pitchFamily="18" charset="0"/>
            </a:rPr>
            <a:t>Фаззификация</a:t>
          </a:r>
          <a:r>
            <a:rPr lang="ru-RU" sz="1500" kern="1200" dirty="0">
              <a:latin typeface="Times New Roman" panose="02020603050405020304" pitchFamily="18" charset="0"/>
              <a:cs typeface="Times New Roman" panose="02020603050405020304" pitchFamily="18" charset="0"/>
            </a:rPr>
            <a:t>).</a:t>
          </a:r>
        </a:p>
      </dsp:txBody>
      <dsp:txXfrm>
        <a:off x="55364" y="54400"/>
        <a:ext cx="1719360" cy="2045500"/>
      </dsp:txXfrm>
    </dsp:sp>
    <dsp:sp modelId="{D1C2CD30-2427-4C7F-8F46-E8350049BD31}">
      <dsp:nvSpPr>
        <dsp:cNvPr id="0" name=""/>
        <dsp:cNvSpPr/>
      </dsp:nvSpPr>
      <dsp:spPr>
        <a:xfrm>
          <a:off x="1872" y="2372570"/>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Входные параметры</a:t>
          </a:r>
        </a:p>
        <a:p>
          <a:pPr marL="0" lvl="0" indent="0" algn="ctr"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(четкие) </a:t>
          </a:r>
        </a:p>
      </dsp:txBody>
      <dsp:txXfrm>
        <a:off x="55364" y="2426062"/>
        <a:ext cx="1719360" cy="2045500"/>
      </dsp:txXfrm>
    </dsp:sp>
    <dsp:sp modelId="{4BCE724F-866A-44F4-8F8B-4B3867FFBD17}">
      <dsp:nvSpPr>
        <dsp:cNvPr id="0" name=""/>
        <dsp:cNvSpPr/>
      </dsp:nvSpPr>
      <dsp:spPr>
        <a:xfrm>
          <a:off x="2135042" y="908"/>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2. Логический вывод.</a:t>
          </a:r>
        </a:p>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2.1. Агрегация</a:t>
          </a:r>
        </a:p>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2.2. Активация</a:t>
          </a:r>
        </a:p>
      </dsp:txBody>
      <dsp:txXfrm>
        <a:off x="2188534" y="54400"/>
        <a:ext cx="1719360" cy="2045500"/>
      </dsp:txXfrm>
    </dsp:sp>
    <dsp:sp modelId="{8B4D88AB-DCCA-4AB5-805E-C41F901535D9}">
      <dsp:nvSpPr>
        <dsp:cNvPr id="0" name=""/>
        <dsp:cNvSpPr/>
      </dsp:nvSpPr>
      <dsp:spPr>
        <a:xfrm>
          <a:off x="2135042" y="2372570"/>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Нечеткая база знаний (логико-лингвистическое описание системы)</a:t>
          </a:r>
        </a:p>
      </dsp:txBody>
      <dsp:txXfrm>
        <a:off x="2188534" y="2426062"/>
        <a:ext cx="1719360" cy="2045500"/>
      </dsp:txXfrm>
    </dsp:sp>
    <dsp:sp modelId="{9B43E097-4C6E-4C08-9CFC-D9886814F4A9}">
      <dsp:nvSpPr>
        <dsp:cNvPr id="0" name=""/>
        <dsp:cNvSpPr/>
      </dsp:nvSpPr>
      <dsp:spPr>
        <a:xfrm>
          <a:off x="4268212" y="908"/>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3. Композиция.</a:t>
          </a:r>
        </a:p>
      </dsp:txBody>
      <dsp:txXfrm>
        <a:off x="4321704" y="54400"/>
        <a:ext cx="1719360" cy="2045500"/>
      </dsp:txXfrm>
    </dsp:sp>
    <dsp:sp modelId="{C9ACCC96-D7B8-4D7E-B87F-0DBE994387EB}">
      <dsp:nvSpPr>
        <dsp:cNvPr id="0" name=""/>
        <dsp:cNvSpPr/>
      </dsp:nvSpPr>
      <dsp:spPr>
        <a:xfrm>
          <a:off x="6401383" y="908"/>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4. Приведение к четкости (</a:t>
          </a:r>
          <a:r>
            <a:rPr lang="ru-RU" sz="1500" kern="1200" dirty="0" err="1">
              <a:latin typeface="Times New Roman" panose="02020603050405020304" pitchFamily="18" charset="0"/>
              <a:cs typeface="Times New Roman" panose="02020603050405020304" pitchFamily="18" charset="0"/>
            </a:rPr>
            <a:t>Дефаззификация</a:t>
          </a:r>
          <a:r>
            <a:rPr lang="ru-RU" sz="1500" kern="1200" dirty="0">
              <a:latin typeface="Times New Roman" panose="02020603050405020304" pitchFamily="18" charset="0"/>
              <a:cs typeface="Times New Roman" panose="02020603050405020304" pitchFamily="18" charset="0"/>
            </a:rPr>
            <a:t>).</a:t>
          </a:r>
        </a:p>
      </dsp:txBody>
      <dsp:txXfrm>
        <a:off x="6454875" y="54400"/>
        <a:ext cx="1719360" cy="2045500"/>
      </dsp:txXfrm>
    </dsp:sp>
    <dsp:sp modelId="{6DBC0E2D-B1DA-4894-B247-6178BCEDBC81}">
      <dsp:nvSpPr>
        <dsp:cNvPr id="0" name=""/>
        <dsp:cNvSpPr/>
      </dsp:nvSpPr>
      <dsp:spPr>
        <a:xfrm>
          <a:off x="6401383" y="2372570"/>
          <a:ext cx="1826344" cy="215248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Выходные параметры</a:t>
          </a:r>
        </a:p>
        <a:p>
          <a:pPr marL="0" lvl="0" indent="0" algn="ctr" defTabSz="666750">
            <a:lnSpc>
              <a:spcPct val="90000"/>
            </a:lnSpc>
            <a:spcBef>
              <a:spcPct val="0"/>
            </a:spcBef>
            <a:spcAft>
              <a:spcPct val="35000"/>
            </a:spcAft>
            <a:buNone/>
          </a:pPr>
          <a:r>
            <a:rPr lang="ru-RU" sz="1500" kern="1200" dirty="0">
              <a:latin typeface="Times New Roman" panose="02020603050405020304" pitchFamily="18" charset="0"/>
              <a:cs typeface="Times New Roman" panose="02020603050405020304" pitchFamily="18" charset="0"/>
            </a:rPr>
            <a:t>(четкие)</a:t>
          </a:r>
        </a:p>
      </dsp:txBody>
      <dsp:txXfrm>
        <a:off x="6454875" y="2426062"/>
        <a:ext cx="1719360" cy="20455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A5FBC61-8C6E-4020-A84A-18A872045883}" type="datetimeFigureOut">
              <a:rPr lang="ru-RU"/>
              <a:pPr>
                <a:defRPr/>
              </a:pPr>
              <a:t>13.02.2026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ru-RU" noProof="0"/>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7362B180-FAB4-4642-8D26-ACB6F1928DD2}" type="slidenum">
              <a:rPr lang="ru-RU"/>
              <a:pPr>
                <a:defRPr/>
              </a:pPr>
              <a:t>‹#›</a:t>
            </a:fld>
            <a:endParaRPr lang="ru-RU"/>
          </a:p>
        </p:txBody>
      </p:sp>
    </p:spTree>
    <p:extLst>
      <p:ext uri="{BB962C8B-B14F-4D97-AF65-F5344CB8AC3E}">
        <p14:creationId xmlns:p14="http://schemas.microsoft.com/office/powerpoint/2010/main" val="3174030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Образ слайда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Заметки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ru-RU"/>
          </a:p>
        </p:txBody>
      </p:sp>
      <p:sp>
        <p:nvSpPr>
          <p:cNvPr id="4" name="Номер слайда 3"/>
          <p:cNvSpPr>
            <a:spLocks noGrp="1"/>
          </p:cNvSpPr>
          <p:nvPr>
            <p:ph type="sldNum" sz="quarter" idx="5"/>
          </p:nvPr>
        </p:nvSpPr>
        <p:spPr/>
        <p:txBody>
          <a:bodyPr/>
          <a:lstStyle/>
          <a:p>
            <a:pPr>
              <a:defRPr/>
            </a:pPr>
            <a:fld id="{04A3EBAB-713E-4FC6-B961-03A6968E054E}" type="slidenum">
              <a:rPr lang="ru-RU" smtClean="0"/>
              <a:pPr>
                <a:defRPr/>
              </a:pPr>
              <a:t>64</a:t>
            </a:fld>
            <a:endParaRPr lang="ru-R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lvl1pPr>
              <a:defRPr/>
            </a:lvl1pPr>
          </a:lstStyle>
          <a:p>
            <a:pPr>
              <a:defRPr/>
            </a:pPr>
            <a:fld id="{378FCDDF-F875-41F6-AEFE-DBB9339C0A5A}" type="datetime1">
              <a:rPr lang="ru-RU" smtClean="0"/>
              <a:pPr>
                <a:defRPr/>
              </a:pPr>
              <a:t>13.02.2026</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589524CF-76E2-446E-BECC-802CEC7B1799}" type="slidenum">
              <a:rPr lang="ru-RU"/>
              <a:pPr>
                <a:defRPr/>
              </a:pPr>
              <a:t>‹#›</a:t>
            </a:fld>
            <a:endParaRPr lang="ru-RU"/>
          </a:p>
        </p:txBody>
      </p:sp>
    </p:spTree>
    <p:extLst>
      <p:ext uri="{BB962C8B-B14F-4D97-AF65-F5344CB8AC3E}">
        <p14:creationId xmlns:p14="http://schemas.microsoft.com/office/powerpoint/2010/main" val="425946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108ED695-0998-48FC-A472-78647585149F}" type="datetime1">
              <a:rPr lang="ru-RU" smtClean="0"/>
              <a:pPr>
                <a:defRPr/>
              </a:pPr>
              <a:t>13.02.2026</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7BBBBF82-7788-4E69-B31B-CCBCE965A141}" type="slidenum">
              <a:rPr lang="ru-RU"/>
              <a:pPr>
                <a:defRPr/>
              </a:pPr>
              <a:t>‹#›</a:t>
            </a:fld>
            <a:endParaRPr lang="ru-RU"/>
          </a:p>
        </p:txBody>
      </p:sp>
    </p:spTree>
    <p:extLst>
      <p:ext uri="{BB962C8B-B14F-4D97-AF65-F5344CB8AC3E}">
        <p14:creationId xmlns:p14="http://schemas.microsoft.com/office/powerpoint/2010/main" val="1653785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lvl1pPr>
              <a:defRPr/>
            </a:lvl1pPr>
          </a:lstStyle>
          <a:p>
            <a:pPr>
              <a:defRPr/>
            </a:pPr>
            <a:fld id="{5E868FF7-F6E4-4CB5-9EBD-53211EDC2575}" type="datetime1">
              <a:rPr lang="ru-RU" smtClean="0"/>
              <a:pPr>
                <a:defRPr/>
              </a:pPr>
              <a:t>13.02.2026</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1D4871C-084E-4766-AEA3-A9D4C055F0E8}" type="slidenum">
              <a:rPr lang="ru-RU"/>
              <a:pPr>
                <a:defRPr/>
              </a:pPr>
              <a:t>‹#›</a:t>
            </a:fld>
            <a:endParaRPr lang="ru-RU"/>
          </a:p>
        </p:txBody>
      </p:sp>
    </p:spTree>
    <p:extLst>
      <p:ext uri="{BB962C8B-B14F-4D97-AF65-F5344CB8AC3E}">
        <p14:creationId xmlns:p14="http://schemas.microsoft.com/office/powerpoint/2010/main" val="2185156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3"/>
          <p:cNvSpPr>
            <a:spLocks noGrp="1"/>
          </p:cNvSpPr>
          <p:nvPr>
            <p:ph type="dt" sz="half" idx="10"/>
          </p:nvPr>
        </p:nvSpPr>
        <p:spPr/>
        <p:txBody>
          <a:bodyPr/>
          <a:lstStyle>
            <a:lvl1pPr>
              <a:defRPr/>
            </a:lvl1pPr>
          </a:lstStyle>
          <a:p>
            <a:pPr>
              <a:defRPr/>
            </a:pPr>
            <a:fld id="{C904EB1A-5666-4B1A-9468-C50F84B63187}" type="datetime1">
              <a:rPr lang="ru-RU" smtClean="0"/>
              <a:pPr>
                <a:defRPr/>
              </a:pPr>
              <a:t>13.02.2026</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1AD668B8-27EA-4145-9EA1-8822882E9066}" type="slidenum">
              <a:rPr lang="ru-RU"/>
              <a:pPr>
                <a:defRPr/>
              </a:pPr>
              <a:t>‹#›</a:t>
            </a:fld>
            <a:endParaRPr lang="ru-RU"/>
          </a:p>
        </p:txBody>
      </p:sp>
    </p:spTree>
    <p:extLst>
      <p:ext uri="{BB962C8B-B14F-4D97-AF65-F5344CB8AC3E}">
        <p14:creationId xmlns:p14="http://schemas.microsoft.com/office/powerpoint/2010/main" val="2946344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3"/>
          <p:cNvSpPr>
            <a:spLocks noGrp="1"/>
          </p:cNvSpPr>
          <p:nvPr>
            <p:ph type="dt" sz="half" idx="10"/>
          </p:nvPr>
        </p:nvSpPr>
        <p:spPr/>
        <p:txBody>
          <a:bodyPr/>
          <a:lstStyle>
            <a:lvl1pPr>
              <a:defRPr/>
            </a:lvl1pPr>
          </a:lstStyle>
          <a:p>
            <a:pPr>
              <a:defRPr/>
            </a:pPr>
            <a:fld id="{736A4111-BBEE-4823-A86A-67BB14A883EC}" type="datetime1">
              <a:rPr lang="ru-RU" smtClean="0"/>
              <a:pPr>
                <a:defRPr/>
              </a:pPr>
              <a:t>13.02.2026</a:t>
            </a:fld>
            <a:endParaRPr lang="ru-RU"/>
          </a:p>
        </p:txBody>
      </p:sp>
      <p:sp>
        <p:nvSpPr>
          <p:cNvPr id="8" name="Нижний колонтитул 4"/>
          <p:cNvSpPr>
            <a:spLocks noGrp="1"/>
          </p:cNvSpPr>
          <p:nvPr>
            <p:ph type="ftr" sz="quarter" idx="11"/>
          </p:nvPr>
        </p:nvSpPr>
        <p:spPr/>
        <p:txBody>
          <a:bodyPr/>
          <a:lstStyle>
            <a:lvl1pPr>
              <a:defRPr/>
            </a:lvl1pPr>
          </a:lstStyle>
          <a:p>
            <a:pPr>
              <a:defRPr/>
            </a:pPr>
            <a:endParaRPr lang="ru-RU"/>
          </a:p>
        </p:txBody>
      </p:sp>
      <p:sp>
        <p:nvSpPr>
          <p:cNvPr id="9" name="Номер слайда 5"/>
          <p:cNvSpPr>
            <a:spLocks noGrp="1"/>
          </p:cNvSpPr>
          <p:nvPr>
            <p:ph type="sldNum" sz="quarter" idx="12"/>
          </p:nvPr>
        </p:nvSpPr>
        <p:spPr/>
        <p:txBody>
          <a:bodyPr/>
          <a:lstStyle>
            <a:lvl1pPr>
              <a:defRPr/>
            </a:lvl1pPr>
          </a:lstStyle>
          <a:p>
            <a:pPr>
              <a:defRPr/>
            </a:pPr>
            <a:fld id="{1B435F75-095E-441C-BCA2-E3612DDEA3AF}" type="slidenum">
              <a:rPr lang="ru-RU"/>
              <a:pPr>
                <a:defRPr/>
              </a:pPr>
              <a:t>‹#›</a:t>
            </a:fld>
            <a:endParaRPr lang="ru-RU"/>
          </a:p>
        </p:txBody>
      </p:sp>
    </p:spTree>
    <p:extLst>
      <p:ext uri="{BB962C8B-B14F-4D97-AF65-F5344CB8AC3E}">
        <p14:creationId xmlns:p14="http://schemas.microsoft.com/office/powerpoint/2010/main" val="917353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3"/>
          <p:cNvSpPr>
            <a:spLocks noGrp="1"/>
          </p:cNvSpPr>
          <p:nvPr>
            <p:ph type="dt" sz="half" idx="10"/>
          </p:nvPr>
        </p:nvSpPr>
        <p:spPr/>
        <p:txBody>
          <a:bodyPr/>
          <a:lstStyle>
            <a:lvl1pPr>
              <a:defRPr/>
            </a:lvl1pPr>
          </a:lstStyle>
          <a:p>
            <a:pPr>
              <a:defRPr/>
            </a:pPr>
            <a:fld id="{464EB469-DFEA-4A3E-BA2D-04517802BF63}" type="datetime1">
              <a:rPr lang="ru-RU" smtClean="0"/>
              <a:pPr>
                <a:defRPr/>
              </a:pPr>
              <a:t>13.02.2026</a:t>
            </a:fld>
            <a:endParaRPr lang="ru-RU"/>
          </a:p>
        </p:txBody>
      </p:sp>
      <p:sp>
        <p:nvSpPr>
          <p:cNvPr id="4" name="Нижний колонтитул 4"/>
          <p:cNvSpPr>
            <a:spLocks noGrp="1"/>
          </p:cNvSpPr>
          <p:nvPr>
            <p:ph type="ftr" sz="quarter" idx="11"/>
          </p:nvPr>
        </p:nvSpPr>
        <p:spPr/>
        <p:txBody>
          <a:bodyPr/>
          <a:lstStyle>
            <a:lvl1pPr>
              <a:defRPr/>
            </a:lvl1pPr>
          </a:lstStyle>
          <a:p>
            <a:pPr>
              <a:defRPr/>
            </a:pPr>
            <a:endParaRPr lang="ru-RU"/>
          </a:p>
        </p:txBody>
      </p:sp>
      <p:sp>
        <p:nvSpPr>
          <p:cNvPr id="5" name="Номер слайда 5"/>
          <p:cNvSpPr>
            <a:spLocks noGrp="1"/>
          </p:cNvSpPr>
          <p:nvPr>
            <p:ph type="sldNum" sz="quarter" idx="12"/>
          </p:nvPr>
        </p:nvSpPr>
        <p:spPr/>
        <p:txBody>
          <a:bodyPr/>
          <a:lstStyle>
            <a:lvl1pPr>
              <a:defRPr/>
            </a:lvl1pPr>
          </a:lstStyle>
          <a:p>
            <a:pPr>
              <a:defRPr/>
            </a:pPr>
            <a:fld id="{7765BB5A-2C56-4A96-AAD4-06DA74D54DFA}" type="slidenum">
              <a:rPr lang="ru-RU"/>
              <a:pPr>
                <a:defRPr/>
              </a:pPr>
              <a:t>‹#›</a:t>
            </a:fld>
            <a:endParaRPr lang="ru-RU"/>
          </a:p>
        </p:txBody>
      </p:sp>
    </p:spTree>
    <p:extLst>
      <p:ext uri="{BB962C8B-B14F-4D97-AF65-F5344CB8AC3E}">
        <p14:creationId xmlns:p14="http://schemas.microsoft.com/office/powerpoint/2010/main" val="3360006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3"/>
          <p:cNvSpPr>
            <a:spLocks noGrp="1"/>
          </p:cNvSpPr>
          <p:nvPr>
            <p:ph type="dt" sz="half" idx="10"/>
          </p:nvPr>
        </p:nvSpPr>
        <p:spPr/>
        <p:txBody>
          <a:bodyPr/>
          <a:lstStyle>
            <a:lvl1pPr>
              <a:defRPr/>
            </a:lvl1pPr>
          </a:lstStyle>
          <a:p>
            <a:pPr>
              <a:defRPr/>
            </a:pPr>
            <a:fld id="{A5B65159-37A0-43F1-8091-5E404F2FC3AF}" type="datetime1">
              <a:rPr lang="ru-RU" smtClean="0"/>
              <a:pPr>
                <a:defRPr/>
              </a:pPr>
              <a:t>13.02.2026</a:t>
            </a:fld>
            <a:endParaRPr lang="ru-RU"/>
          </a:p>
        </p:txBody>
      </p:sp>
      <p:sp>
        <p:nvSpPr>
          <p:cNvPr id="3" name="Нижний колонтитул 4"/>
          <p:cNvSpPr>
            <a:spLocks noGrp="1"/>
          </p:cNvSpPr>
          <p:nvPr>
            <p:ph type="ftr" sz="quarter" idx="11"/>
          </p:nvPr>
        </p:nvSpPr>
        <p:spPr/>
        <p:txBody>
          <a:bodyPr/>
          <a:lstStyle>
            <a:lvl1pPr>
              <a:defRPr/>
            </a:lvl1pPr>
          </a:lstStyle>
          <a:p>
            <a:pPr>
              <a:defRPr/>
            </a:pPr>
            <a:endParaRPr lang="ru-RU"/>
          </a:p>
        </p:txBody>
      </p:sp>
      <p:sp>
        <p:nvSpPr>
          <p:cNvPr id="4" name="Номер слайда 5"/>
          <p:cNvSpPr>
            <a:spLocks noGrp="1"/>
          </p:cNvSpPr>
          <p:nvPr>
            <p:ph type="sldNum" sz="quarter" idx="12"/>
          </p:nvPr>
        </p:nvSpPr>
        <p:spPr/>
        <p:txBody>
          <a:bodyPr/>
          <a:lstStyle>
            <a:lvl1pPr>
              <a:defRPr/>
            </a:lvl1pPr>
          </a:lstStyle>
          <a:p>
            <a:pPr>
              <a:defRPr/>
            </a:pPr>
            <a:fld id="{EFAC35E0-2693-47B9-B84C-F2F21398EEDA}" type="slidenum">
              <a:rPr lang="ru-RU"/>
              <a:pPr>
                <a:defRPr/>
              </a:pPr>
              <a:t>‹#›</a:t>
            </a:fld>
            <a:endParaRPr lang="ru-RU"/>
          </a:p>
        </p:txBody>
      </p:sp>
    </p:spTree>
    <p:extLst>
      <p:ext uri="{BB962C8B-B14F-4D97-AF65-F5344CB8AC3E}">
        <p14:creationId xmlns:p14="http://schemas.microsoft.com/office/powerpoint/2010/main" val="2066749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21F468DB-4E33-4B02-BD82-92F3D0A48B89}" type="datetime1">
              <a:rPr lang="ru-RU" smtClean="0"/>
              <a:pPr>
                <a:defRPr/>
              </a:pPr>
              <a:t>13.02.2026</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C04200E3-5110-46F9-8A0A-AECBA7AAC4A2}" type="slidenum">
              <a:rPr lang="ru-RU"/>
              <a:pPr>
                <a:defRPr/>
              </a:pPr>
              <a:t>‹#›</a:t>
            </a:fld>
            <a:endParaRPr lang="ru-RU"/>
          </a:p>
        </p:txBody>
      </p:sp>
    </p:spTree>
    <p:extLst>
      <p:ext uri="{BB962C8B-B14F-4D97-AF65-F5344CB8AC3E}">
        <p14:creationId xmlns:p14="http://schemas.microsoft.com/office/powerpoint/2010/main" val="421259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3"/>
          <p:cNvSpPr>
            <a:spLocks noGrp="1"/>
          </p:cNvSpPr>
          <p:nvPr>
            <p:ph type="dt" sz="half" idx="10"/>
          </p:nvPr>
        </p:nvSpPr>
        <p:spPr/>
        <p:txBody>
          <a:bodyPr/>
          <a:lstStyle>
            <a:lvl1pPr>
              <a:defRPr/>
            </a:lvl1pPr>
          </a:lstStyle>
          <a:p>
            <a:pPr>
              <a:defRPr/>
            </a:pPr>
            <a:fld id="{6D5EEE31-7000-46E7-B9E7-446365F3E527}" type="datetime1">
              <a:rPr lang="ru-RU" smtClean="0"/>
              <a:pPr>
                <a:defRPr/>
              </a:pPr>
              <a:t>13.02.2026</a:t>
            </a:fld>
            <a:endParaRPr lang="ru-RU"/>
          </a:p>
        </p:txBody>
      </p:sp>
      <p:sp>
        <p:nvSpPr>
          <p:cNvPr id="6" name="Нижний колонтитул 4"/>
          <p:cNvSpPr>
            <a:spLocks noGrp="1"/>
          </p:cNvSpPr>
          <p:nvPr>
            <p:ph type="ftr" sz="quarter" idx="11"/>
          </p:nvPr>
        </p:nvSpPr>
        <p:spPr/>
        <p:txBody>
          <a:bodyPr/>
          <a:lstStyle>
            <a:lvl1pPr>
              <a:defRPr/>
            </a:lvl1pPr>
          </a:lstStyle>
          <a:p>
            <a:pPr>
              <a:defRPr/>
            </a:pPr>
            <a:endParaRPr lang="ru-RU"/>
          </a:p>
        </p:txBody>
      </p:sp>
      <p:sp>
        <p:nvSpPr>
          <p:cNvPr id="7" name="Номер слайда 5"/>
          <p:cNvSpPr>
            <a:spLocks noGrp="1"/>
          </p:cNvSpPr>
          <p:nvPr>
            <p:ph type="sldNum" sz="quarter" idx="12"/>
          </p:nvPr>
        </p:nvSpPr>
        <p:spPr/>
        <p:txBody>
          <a:bodyPr/>
          <a:lstStyle>
            <a:lvl1pPr>
              <a:defRPr/>
            </a:lvl1pPr>
          </a:lstStyle>
          <a:p>
            <a:pPr>
              <a:defRPr/>
            </a:pPr>
            <a:fld id="{1E02238C-F702-4989-8188-5AD5A10C8FE5}" type="slidenum">
              <a:rPr lang="ru-RU"/>
              <a:pPr>
                <a:defRPr/>
              </a:pPr>
              <a:t>‹#›</a:t>
            </a:fld>
            <a:endParaRPr lang="ru-RU"/>
          </a:p>
        </p:txBody>
      </p:sp>
    </p:spTree>
    <p:extLst>
      <p:ext uri="{BB962C8B-B14F-4D97-AF65-F5344CB8AC3E}">
        <p14:creationId xmlns:p14="http://schemas.microsoft.com/office/powerpoint/2010/main" val="2801803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BCAEE947-7906-4778-80DF-3247D658220A}" type="datetime1">
              <a:rPr lang="ru-RU" smtClean="0"/>
              <a:pPr>
                <a:defRPr/>
              </a:pPr>
              <a:t>13.02.2026</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3CD3DB53-E4A1-4C25-BF92-B41338B9CBE9}" type="slidenum">
              <a:rPr lang="ru-RU"/>
              <a:pPr>
                <a:defRPr/>
              </a:pPr>
              <a:t>‹#›</a:t>
            </a:fld>
            <a:endParaRPr lang="ru-RU"/>
          </a:p>
        </p:txBody>
      </p:sp>
    </p:spTree>
    <p:extLst>
      <p:ext uri="{BB962C8B-B14F-4D97-AF65-F5344CB8AC3E}">
        <p14:creationId xmlns:p14="http://schemas.microsoft.com/office/powerpoint/2010/main" val="4252652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lvl1pPr>
              <a:defRPr/>
            </a:lvl1pPr>
          </a:lstStyle>
          <a:p>
            <a:pPr>
              <a:defRPr/>
            </a:pPr>
            <a:fld id="{EF3E52C5-22EF-49F3-948B-022BEC99A613}" type="datetime1">
              <a:rPr lang="ru-RU" smtClean="0"/>
              <a:pPr>
                <a:defRPr/>
              </a:pPr>
              <a:t>13.02.2026</a:t>
            </a:fld>
            <a:endParaRPr lang="ru-RU"/>
          </a:p>
        </p:txBody>
      </p:sp>
      <p:sp>
        <p:nvSpPr>
          <p:cNvPr id="5" name="Нижний колонтитул 4"/>
          <p:cNvSpPr>
            <a:spLocks noGrp="1"/>
          </p:cNvSpPr>
          <p:nvPr>
            <p:ph type="ftr" sz="quarter" idx="11"/>
          </p:nvPr>
        </p:nvSpPr>
        <p:spPr/>
        <p:txBody>
          <a:bodyPr/>
          <a:lstStyle>
            <a:lvl1pPr>
              <a:defRPr/>
            </a:lvl1pPr>
          </a:lstStyle>
          <a:p>
            <a:pPr>
              <a:defRPr/>
            </a:pPr>
            <a:endParaRPr lang="ru-RU"/>
          </a:p>
        </p:txBody>
      </p:sp>
      <p:sp>
        <p:nvSpPr>
          <p:cNvPr id="6" name="Номер слайда 5"/>
          <p:cNvSpPr>
            <a:spLocks noGrp="1"/>
          </p:cNvSpPr>
          <p:nvPr>
            <p:ph type="sldNum" sz="quarter" idx="12"/>
          </p:nvPr>
        </p:nvSpPr>
        <p:spPr/>
        <p:txBody>
          <a:bodyPr/>
          <a:lstStyle>
            <a:lvl1pPr>
              <a:defRPr/>
            </a:lvl1pPr>
          </a:lstStyle>
          <a:p>
            <a:pPr>
              <a:defRPr/>
            </a:pPr>
            <a:fld id="{06DB76BF-E26F-425A-A113-250E1799010A}" type="slidenum">
              <a:rPr lang="ru-RU"/>
              <a:pPr>
                <a:defRPr/>
              </a:pPr>
              <a:t>‹#›</a:t>
            </a:fld>
            <a:endParaRPr lang="ru-RU"/>
          </a:p>
        </p:txBody>
      </p:sp>
    </p:spTree>
    <p:extLst>
      <p:ext uri="{BB962C8B-B14F-4D97-AF65-F5344CB8AC3E}">
        <p14:creationId xmlns:p14="http://schemas.microsoft.com/office/powerpoint/2010/main" val="3565333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6562" name="Заголовок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u-RU"/>
              <a:t>Образец заголовка</a:t>
            </a:r>
          </a:p>
        </p:txBody>
      </p:sp>
      <p:sp>
        <p:nvSpPr>
          <p:cNvPr id="66563" name="Текст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Times New Roman" panose="02020603050405020304" pitchFamily="18" charset="0"/>
                <a:cs typeface="Times New Roman" panose="02020603050405020304" pitchFamily="18" charset="0"/>
              </a:defRPr>
            </a:lvl1pPr>
          </a:lstStyle>
          <a:p>
            <a:pPr>
              <a:defRPr/>
            </a:pPr>
            <a:fld id="{65EB57A5-D0FD-45D8-8676-21C8DC9F3C85}" type="datetime1">
              <a:rPr lang="ru-RU" smtClean="0"/>
              <a:pPr>
                <a:defRPr/>
              </a:pPr>
              <a:t>13.02.2026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imes New Roman" panose="02020603050405020304" pitchFamily="18" charset="0"/>
                <a:cs typeface="Times New Roman" panose="02020603050405020304" pitchFamily="18" charset="0"/>
              </a:defRPr>
            </a:lvl1pPr>
          </a:lstStyle>
          <a:p>
            <a:pPr>
              <a:defRPr/>
            </a:pPr>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Times New Roman" panose="02020603050405020304" pitchFamily="18" charset="0"/>
                <a:cs typeface="Times New Roman" panose="02020603050405020304" pitchFamily="18" charset="0"/>
              </a:defRPr>
            </a:lvl1pPr>
          </a:lstStyle>
          <a:p>
            <a:pPr>
              <a:defRPr/>
            </a:pPr>
            <a:fld id="{0EADCF4B-4F83-4302-851D-1DB4CE20883B}" type="slidenum">
              <a:rPr lang="ru-RU" smtClean="0"/>
              <a:pPr>
                <a:defRPr/>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Times New Roman" panose="02020603050405020304" pitchFamily="18" charset="0"/>
          <a:ea typeface="+mj-ea"/>
          <a:cs typeface="Times New Roman" panose="02020603050405020304" pitchFamily="18" charset="0"/>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w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package" Target="../embeddings/Microsoft_Word_Document1.docx"/><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package" Target="../embeddings/Microsoft_Word_Document2.docx"/><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49.emf"/><Relationship Id="rId7" Type="http://schemas.openxmlformats.org/officeDocument/2006/relationships/image" Target="../media/image51.emf"/><Relationship Id="rId2"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50.emf"/><Relationship Id="rId4" Type="http://schemas.openxmlformats.org/officeDocument/2006/relationships/oleObject" Target="../embeddings/oleObject15.bin"/><Relationship Id="rId9" Type="http://schemas.openxmlformats.org/officeDocument/2006/relationships/image" Target="../media/image52.emf"/></Relationships>
</file>

<file path=ppt/slides/_rels/slide6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package" Target="../embeddings/Microsoft_Word_Document3.docx"/><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28.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embeddings/oleObject29.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31.bin"/><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oleObject" Target="../embeddings/oleObject32.bin"/><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oleObject" Target="../embeddings/oleObject33.bin"/><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oleObject" Target="../embeddings/oleObject34.bin"/><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oleObject" Target="../embeddings/oleObject35.bin"/><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oleObject" Target="../embeddings/oleObject36.bin"/><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oleObject" Target="../embeddings/oleObject37.bin"/><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oleObject" Target="../embeddings/oleObject38.bin"/><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oleObject" Target="../embeddings/oleObject39.bin"/><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77.emf"/><Relationship Id="rId2" Type="http://schemas.openxmlformats.org/officeDocument/2006/relationships/oleObject" Target="../embeddings/oleObject40.bin"/><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oleObject" Target="../embeddings/oleObject41.bin"/><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oleObject" Target="../embeddings/oleObject42.bin"/><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oleObject" Target="../embeddings/oleObject43.bin"/><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oleObject" Target="../embeddings/oleObject44.bin"/><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oleObject" Target="../embeddings/oleObject45.bin"/><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oleObject" Target="../embeddings/oleObject46.bin"/><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oleObject" Target="../embeddings/oleObject47.bin"/><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oleObject" Target="../embeddings/oleObject48.bin"/><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oleObject" Target="../embeddings/oleObject49.bin"/><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oleObject" Target="../embeddings/oleObject50.bin"/><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oleObject" Target="../embeddings/oleObject51.bin"/><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package" Target="../embeddings/Microsoft_Word_Document4.docx"/><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oleObject" Target="../embeddings/oleObject52.bin"/><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oleObject" Target="../embeddings/oleObject54.bin"/><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oleObject" Target="../embeddings/oleObject55.bin"/><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oleObject" Target="../embeddings/oleObject56.bin"/><Relationship Id="rId1" Type="http://schemas.openxmlformats.org/officeDocument/2006/relationships/slideLayout" Target="../slideLayouts/slideLayout6.xml"/></Relationships>
</file>

<file path=ppt/slides/_rels/slide132.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oleObject" Target="../embeddings/oleObject57.bin"/><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oleObject" Target="../embeddings/oleObject58.bin"/><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oleObject" Target="../embeddings/oleObject59.bin"/><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oleObject" Target="../embeddings/oleObject60.bin"/><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oleObject" Target="../embeddings/oleObject61.bin"/><Relationship Id="rId1" Type="http://schemas.openxmlformats.org/officeDocument/2006/relationships/slideLayout" Target="../slideLayouts/slideLayout6.xml"/></Relationships>
</file>

<file path=ppt/slides/_rels/slide145.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oleObject" Target="../embeddings/oleObject62.bin"/><Relationship Id="rId1" Type="http://schemas.openxmlformats.org/officeDocument/2006/relationships/slideLayout" Target="../slideLayouts/slideLayout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Заголовок 1"/>
          <p:cNvSpPr>
            <a:spLocks noGrp="1"/>
          </p:cNvSpPr>
          <p:nvPr>
            <p:ph type="ctrTitle"/>
          </p:nvPr>
        </p:nvSpPr>
        <p:spPr/>
        <p:txBody>
          <a:bodyPr/>
          <a:lstStyle/>
          <a:p>
            <a:pPr eaLnBrk="1" hangingPunct="1"/>
            <a:r>
              <a:rPr lang="ru-RU" b="0" dirty="0">
                <a:latin typeface="Times New Roman" panose="02020603050405020304" pitchFamily="18" charset="0"/>
                <a:cs typeface="Times New Roman" panose="02020603050405020304" pitchFamily="18" charset="0"/>
              </a:rPr>
              <a:t>Основы нечеткой логики</a:t>
            </a:r>
          </a:p>
        </p:txBody>
      </p:sp>
      <p:sp>
        <p:nvSpPr>
          <p:cNvPr id="3" name="Подзаголовок 2">
            <a:extLst>
              <a:ext uri="{FF2B5EF4-FFF2-40B4-BE49-F238E27FC236}">
                <a16:creationId xmlns:a16="http://schemas.microsoft.com/office/drawing/2014/main" id="{0DDF8E37-3AB1-FAD5-EA36-95015DBD1EE0}"/>
              </a:ext>
            </a:extLst>
          </p:cNvPr>
          <p:cNvSpPr>
            <a:spLocks noGrp="1"/>
          </p:cNvSpPr>
          <p:nvPr>
            <p:ph type="subTitle" idx="1"/>
          </p:nvPr>
        </p:nvSpPr>
        <p:spPr/>
        <p:txBody>
          <a:bodyPr/>
          <a:lstStyle/>
          <a:p>
            <a:endParaRPr lang="ru-RU"/>
          </a:p>
        </p:txBody>
      </p:sp>
      <p:sp>
        <p:nvSpPr>
          <p:cNvPr id="4" name="Номер слайда 3"/>
          <p:cNvSpPr>
            <a:spLocks noGrp="1"/>
          </p:cNvSpPr>
          <p:nvPr>
            <p:ph type="sldNum" sz="quarter" idx="12"/>
          </p:nvPr>
        </p:nvSpPr>
        <p:spPr/>
        <p:txBody>
          <a:bodyPr/>
          <a:lstStyle/>
          <a:p>
            <a:pPr>
              <a:defRPr/>
            </a:pPr>
            <a:fld id="{FE44CF01-41BE-4EFD-9CB8-4491F511A5AE}" type="slidenum">
              <a:rPr lang="ru-RU">
                <a:latin typeface="Times New Roman" panose="02020603050405020304" pitchFamily="18" charset="0"/>
                <a:cs typeface="Times New Roman" panose="02020603050405020304" pitchFamily="18" charset="0"/>
              </a:rPr>
              <a:pPr>
                <a:defRPr/>
              </a:pPr>
              <a:t>1</a:t>
            </a:fld>
            <a:endParaRPr lang="ru-RU">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Заголовок 1"/>
          <p:cNvSpPr>
            <a:spLocks noGrp="1"/>
          </p:cNvSpPr>
          <p:nvPr>
            <p:ph type="title"/>
          </p:nvPr>
        </p:nvSpPr>
        <p:spPr/>
        <p:txBody>
          <a:bodyPr/>
          <a:lstStyle/>
          <a:p>
            <a:pPr eaLnBrk="1" hangingPunct="1"/>
            <a:r>
              <a:rPr lang="ru-RU">
                <a:latin typeface="Times New Roman" panose="02020603050405020304" pitchFamily="18" charset="0"/>
                <a:cs typeface="Times New Roman" panose="02020603050405020304" pitchFamily="18" charset="0"/>
              </a:rPr>
              <a:t>Понятие принадлежности</a:t>
            </a:r>
          </a:p>
        </p:txBody>
      </p:sp>
      <p:pic>
        <p:nvPicPr>
          <p:cNvPr id="6861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 y="1428750"/>
            <a:ext cx="8570913" cy="4214813"/>
          </a:xfrm>
          <a:noFill/>
        </p:spPr>
      </p:pic>
      <p:sp>
        <p:nvSpPr>
          <p:cNvPr id="5" name="Номер слайда 4"/>
          <p:cNvSpPr>
            <a:spLocks noGrp="1"/>
          </p:cNvSpPr>
          <p:nvPr>
            <p:ph type="sldNum" sz="quarter" idx="12"/>
          </p:nvPr>
        </p:nvSpPr>
        <p:spPr/>
        <p:txBody>
          <a:bodyPr/>
          <a:lstStyle/>
          <a:p>
            <a:pPr>
              <a:defRPr/>
            </a:pPr>
            <a:fld id="{3DB49B6A-D1BE-406D-AB92-3360888E43DC}" type="slidenum">
              <a:rPr lang="ru-RU">
                <a:latin typeface="Times New Roman" panose="02020603050405020304" pitchFamily="18" charset="0"/>
                <a:cs typeface="Times New Roman" panose="02020603050405020304" pitchFamily="18" charset="0"/>
              </a:rPr>
              <a:pPr>
                <a:defRPr/>
              </a:pPr>
              <a:t>2</a:t>
            </a:fld>
            <a:endParaRPr lang="ru-RU">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Заголовок 1"/>
          <p:cNvSpPr>
            <a:spLocks noGrp="1"/>
          </p:cNvSpPr>
          <p:nvPr>
            <p:ph type="title"/>
          </p:nvPr>
        </p:nvSpPr>
        <p:spPr/>
        <p:txBody>
          <a:bodyPr/>
          <a:lstStyle/>
          <a:p>
            <a:pPr eaLnBrk="1" hangingPunct="1"/>
            <a:r>
              <a:rPr lang="ru-RU">
                <a:latin typeface="Times New Roman" panose="02020603050405020304" pitchFamily="18" charset="0"/>
                <a:cs typeface="Times New Roman" panose="02020603050405020304" pitchFamily="18" charset="0"/>
              </a:rPr>
              <a:t>Пример</a:t>
            </a:r>
          </a:p>
        </p:txBody>
      </p:sp>
      <p:pic>
        <p:nvPicPr>
          <p:cNvPr id="6963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785938"/>
            <a:ext cx="8231187" cy="3214687"/>
          </a:xfrm>
          <a:noFill/>
        </p:spPr>
      </p:pic>
      <p:sp>
        <p:nvSpPr>
          <p:cNvPr id="5" name="Номер слайда 4"/>
          <p:cNvSpPr>
            <a:spLocks noGrp="1"/>
          </p:cNvSpPr>
          <p:nvPr>
            <p:ph type="sldNum" sz="quarter" idx="12"/>
          </p:nvPr>
        </p:nvSpPr>
        <p:spPr/>
        <p:txBody>
          <a:bodyPr/>
          <a:lstStyle/>
          <a:p>
            <a:pPr>
              <a:defRPr/>
            </a:pPr>
            <a:fld id="{D88B8162-510A-40AC-85D9-2E0846B467D1}" type="slidenum">
              <a:rPr lang="ru-RU">
                <a:latin typeface="Times New Roman" panose="02020603050405020304" pitchFamily="18" charset="0"/>
                <a:cs typeface="Times New Roman" panose="02020603050405020304" pitchFamily="18" charset="0"/>
              </a:rPr>
              <a:pPr>
                <a:defRPr/>
              </a:pPr>
              <a:t>3</a:t>
            </a:fld>
            <a:endParaRPr lang="ru-RU">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a:bodyPr>
          <a:lstStyle/>
          <a:p>
            <a:pPr eaLnBrk="1" fontAlgn="auto" hangingPunct="1">
              <a:spcAft>
                <a:spcPts val="0"/>
              </a:spcAft>
              <a:defRPr/>
            </a:pPr>
            <a:r>
              <a:rPr lang="ru-RU" dirty="0">
                <a:latin typeface="Times New Roman" panose="02020603050405020304" pitchFamily="18" charset="0"/>
                <a:cs typeface="Times New Roman" panose="02020603050405020304" pitchFamily="18" charset="0"/>
              </a:rPr>
              <a:t>Понятие нечеткого подмножества</a:t>
            </a:r>
          </a:p>
        </p:txBody>
      </p:sp>
      <p:pic>
        <p:nvPicPr>
          <p:cNvPr id="7065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4438" y="1143000"/>
            <a:ext cx="6715125" cy="5292725"/>
          </a:xfrm>
          <a:noFill/>
        </p:spPr>
      </p:pic>
      <p:sp>
        <p:nvSpPr>
          <p:cNvPr id="5" name="Номер слайда 4"/>
          <p:cNvSpPr>
            <a:spLocks noGrp="1"/>
          </p:cNvSpPr>
          <p:nvPr>
            <p:ph type="sldNum" sz="quarter" idx="12"/>
          </p:nvPr>
        </p:nvSpPr>
        <p:spPr/>
        <p:txBody>
          <a:bodyPr/>
          <a:lstStyle/>
          <a:p>
            <a:pPr>
              <a:defRPr/>
            </a:pPr>
            <a:fld id="{7BD406DC-4E3D-4DB1-9472-FEB0736EED33}" type="slidenum">
              <a:rPr lang="ru-RU">
                <a:latin typeface="Times New Roman" panose="02020603050405020304" pitchFamily="18" charset="0"/>
                <a:cs typeface="Times New Roman" panose="02020603050405020304" pitchFamily="18" charset="0"/>
              </a:rPr>
              <a:pPr>
                <a:defRPr/>
              </a:pPr>
              <a:t>4</a:t>
            </a:fld>
            <a:endParaRPr lang="ru-RU">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latin typeface="Times New Roman" panose="02020603050405020304" pitchFamily="18" charset="0"/>
                <a:cs typeface="Times New Roman" panose="02020603050405020304" pitchFamily="18" charset="0"/>
              </a:rPr>
              <a:t>Определение нечеткого множества</a:t>
            </a:r>
          </a:p>
        </p:txBody>
      </p:sp>
      <p:pic>
        <p:nvPicPr>
          <p:cNvPr id="7168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5" y="1428750"/>
            <a:ext cx="8455025" cy="4714875"/>
          </a:xfrm>
          <a:noFill/>
        </p:spPr>
      </p:pic>
      <p:sp>
        <p:nvSpPr>
          <p:cNvPr id="5" name="Номер слайда 4"/>
          <p:cNvSpPr>
            <a:spLocks noGrp="1"/>
          </p:cNvSpPr>
          <p:nvPr>
            <p:ph type="sldNum" sz="quarter" idx="12"/>
          </p:nvPr>
        </p:nvSpPr>
        <p:spPr/>
        <p:txBody>
          <a:bodyPr/>
          <a:lstStyle/>
          <a:p>
            <a:pPr>
              <a:defRPr/>
            </a:pPr>
            <a:fld id="{E1CA7559-ABEE-477D-8AC9-CA0DFC46ABB4}" type="slidenum">
              <a:rPr lang="ru-RU">
                <a:latin typeface="Times New Roman" panose="02020603050405020304" pitchFamily="18" charset="0"/>
                <a:cs typeface="Times New Roman" panose="02020603050405020304" pitchFamily="18" charset="0"/>
              </a:rPr>
              <a:pPr>
                <a:defRPr/>
              </a:pPr>
              <a:t>5</a:t>
            </a:fld>
            <a:endParaRPr lang="ru-RU">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latin typeface="Times New Roman" panose="02020603050405020304" pitchFamily="18" charset="0"/>
                <a:cs typeface="Times New Roman" panose="02020603050405020304" pitchFamily="18" charset="0"/>
              </a:rPr>
              <a:t>Определение нечеткого множества</a:t>
            </a:r>
          </a:p>
        </p:txBody>
      </p:sp>
      <p:pic>
        <p:nvPicPr>
          <p:cNvPr id="7270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5" y="1643063"/>
            <a:ext cx="8280400" cy="3643312"/>
          </a:xfrm>
          <a:noFill/>
        </p:spPr>
      </p:pic>
      <p:sp>
        <p:nvSpPr>
          <p:cNvPr id="5" name="Номер слайда 4"/>
          <p:cNvSpPr>
            <a:spLocks noGrp="1"/>
          </p:cNvSpPr>
          <p:nvPr>
            <p:ph type="sldNum" sz="quarter" idx="12"/>
          </p:nvPr>
        </p:nvSpPr>
        <p:spPr/>
        <p:txBody>
          <a:bodyPr/>
          <a:lstStyle/>
          <a:p>
            <a:pPr>
              <a:defRPr/>
            </a:pPr>
            <a:fld id="{B4AC2F6D-BE29-4C94-851E-B2E6DD2ECE8D}" type="slidenum">
              <a:rPr lang="ru-RU"/>
              <a:pPr>
                <a:defRPr/>
              </a:pPr>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Заголовок 1"/>
          <p:cNvSpPr>
            <a:spLocks noGrp="1"/>
          </p:cNvSpPr>
          <p:nvPr>
            <p:ph type="title"/>
          </p:nvPr>
        </p:nvSpPr>
        <p:spPr/>
        <p:txBody>
          <a:bodyPr/>
          <a:lstStyle/>
          <a:p>
            <a:pPr eaLnBrk="1" hangingPunct="1"/>
            <a:r>
              <a:rPr lang="ru-RU" dirty="0">
                <a:latin typeface="Times New Roman" panose="02020603050405020304" pitchFamily="18" charset="0"/>
                <a:cs typeface="Times New Roman" panose="02020603050405020304" pitchFamily="18" charset="0"/>
              </a:rPr>
              <a:t>Определение нечеткого числа</a:t>
            </a:r>
          </a:p>
        </p:txBody>
      </p:sp>
      <p:pic>
        <p:nvPicPr>
          <p:cNvPr id="7373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714500"/>
            <a:ext cx="7939087" cy="2000250"/>
          </a:xfrm>
          <a:noFill/>
        </p:spPr>
      </p:pic>
      <p:sp>
        <p:nvSpPr>
          <p:cNvPr id="5" name="Номер слайда 4"/>
          <p:cNvSpPr>
            <a:spLocks noGrp="1"/>
          </p:cNvSpPr>
          <p:nvPr>
            <p:ph type="sldNum" sz="quarter" idx="12"/>
          </p:nvPr>
        </p:nvSpPr>
        <p:spPr/>
        <p:txBody>
          <a:bodyPr/>
          <a:lstStyle/>
          <a:p>
            <a:pPr>
              <a:defRPr/>
            </a:pPr>
            <a:fld id="{745C841A-2879-4726-98EE-8E298E811BA2}" type="slidenum">
              <a:rPr lang="ru-RU"/>
              <a:pPr>
                <a:defRPr/>
              </a:pPr>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Заголовок 1"/>
          <p:cNvSpPr>
            <a:spLocks noGrp="1"/>
          </p:cNvSpPr>
          <p:nvPr>
            <p:ph type="title"/>
          </p:nvPr>
        </p:nvSpPr>
        <p:spPr/>
        <p:txBody>
          <a:bodyPr/>
          <a:lstStyle/>
          <a:p>
            <a:pPr eaLnBrk="1" hangingPunct="1"/>
            <a:r>
              <a:rPr lang="ru-RU" dirty="0">
                <a:latin typeface="Times New Roman" panose="02020603050405020304" pitchFamily="18" charset="0"/>
                <a:cs typeface="Times New Roman" panose="02020603050405020304" pitchFamily="18" charset="0"/>
              </a:rPr>
              <a:t>Определения</a:t>
            </a:r>
          </a:p>
        </p:txBody>
      </p:sp>
      <p:pic>
        <p:nvPicPr>
          <p:cNvPr id="7475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285875"/>
            <a:ext cx="8291512" cy="4643438"/>
          </a:xfrm>
          <a:noFill/>
        </p:spPr>
      </p:pic>
      <p:sp>
        <p:nvSpPr>
          <p:cNvPr id="5" name="Номер слайда 4"/>
          <p:cNvSpPr>
            <a:spLocks noGrp="1"/>
          </p:cNvSpPr>
          <p:nvPr>
            <p:ph type="sldNum" sz="quarter" idx="12"/>
          </p:nvPr>
        </p:nvSpPr>
        <p:spPr/>
        <p:txBody>
          <a:bodyPr/>
          <a:lstStyle/>
          <a:p>
            <a:pPr>
              <a:defRPr/>
            </a:pPr>
            <a:fld id="{250F429F-19A8-4EC3-85AC-457399990006}" type="slidenum">
              <a:rPr lang="ru-RU"/>
              <a:pPr>
                <a:defRPr/>
              </a:pPr>
              <a:t>8</a:t>
            </a:fld>
            <a:endParaRPr lang="ru-R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Заголовок 1"/>
          <p:cNvSpPr>
            <a:spLocks noGrp="1"/>
          </p:cNvSpPr>
          <p:nvPr>
            <p:ph type="title"/>
          </p:nvPr>
        </p:nvSpPr>
        <p:spPr/>
        <p:txBody>
          <a:bodyPr/>
          <a:lstStyle/>
          <a:p>
            <a:pPr eaLnBrk="1" hangingPunct="1"/>
            <a:r>
              <a:rPr lang="ru-RU" dirty="0">
                <a:latin typeface="Times New Roman" panose="02020603050405020304" pitchFamily="18" charset="0"/>
                <a:cs typeface="Times New Roman" panose="02020603050405020304" pitchFamily="18" charset="0"/>
              </a:rPr>
              <a:t>Определения, пример</a:t>
            </a:r>
          </a:p>
        </p:txBody>
      </p:sp>
      <p:pic>
        <p:nvPicPr>
          <p:cNvPr id="7577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42938" y="1214438"/>
            <a:ext cx="7972425" cy="5214937"/>
          </a:xfrm>
          <a:noFill/>
        </p:spPr>
      </p:pic>
      <p:sp>
        <p:nvSpPr>
          <p:cNvPr id="5" name="Номер слайда 4"/>
          <p:cNvSpPr>
            <a:spLocks noGrp="1"/>
          </p:cNvSpPr>
          <p:nvPr>
            <p:ph type="sldNum" sz="quarter" idx="12"/>
          </p:nvPr>
        </p:nvSpPr>
        <p:spPr/>
        <p:txBody>
          <a:bodyPr/>
          <a:lstStyle/>
          <a:p>
            <a:pPr>
              <a:defRPr/>
            </a:pPr>
            <a:fld id="{D7CB314F-6A03-4919-B1ED-6C9C78DE5BE5}" type="slidenum">
              <a:rPr lang="ru-RU"/>
              <a:pPr>
                <a:defRPr/>
              </a:pPr>
              <a:t>9</a:t>
            </a:fld>
            <a:endParaRPr lang="ru-R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Заголовок 1"/>
          <p:cNvSpPr>
            <a:spLocks noGrp="1"/>
          </p:cNvSpPr>
          <p:nvPr>
            <p:ph type="title"/>
          </p:nvPr>
        </p:nvSpPr>
        <p:spPr/>
        <p:txBody>
          <a:bodyPr/>
          <a:lstStyle/>
          <a:p>
            <a:pPr eaLnBrk="1" hangingPunct="1"/>
            <a:r>
              <a:rPr lang="ru-RU"/>
              <a:t>Пример</a:t>
            </a:r>
          </a:p>
        </p:txBody>
      </p:sp>
      <p:pic>
        <p:nvPicPr>
          <p:cNvPr id="7680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7188" y="1214438"/>
            <a:ext cx="8143875" cy="5268912"/>
          </a:xfrm>
          <a:noFill/>
        </p:spPr>
      </p:pic>
      <p:sp>
        <p:nvSpPr>
          <p:cNvPr id="5" name="Номер слайда 4"/>
          <p:cNvSpPr>
            <a:spLocks noGrp="1"/>
          </p:cNvSpPr>
          <p:nvPr>
            <p:ph type="sldNum" sz="quarter" idx="12"/>
          </p:nvPr>
        </p:nvSpPr>
        <p:spPr/>
        <p:txBody>
          <a:bodyPr/>
          <a:lstStyle/>
          <a:p>
            <a:pPr>
              <a:defRPr/>
            </a:pPr>
            <a:fld id="{CA2F4869-DBB7-49FF-87BB-27572D60FC5E}" type="slidenum">
              <a:rPr lang="ru-RU"/>
              <a:pPr>
                <a:defRPr/>
              </a:pPr>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42938" y="142875"/>
            <a:ext cx="7610475" cy="6643688"/>
          </a:xfrm>
          <a:noFill/>
        </p:spPr>
      </p:pic>
      <p:sp>
        <p:nvSpPr>
          <p:cNvPr id="5" name="Номер слайда 4"/>
          <p:cNvSpPr>
            <a:spLocks noGrp="1"/>
          </p:cNvSpPr>
          <p:nvPr>
            <p:ph type="sldNum" sz="quarter" idx="12"/>
          </p:nvPr>
        </p:nvSpPr>
        <p:spPr/>
        <p:txBody>
          <a:bodyPr/>
          <a:lstStyle/>
          <a:p>
            <a:pPr>
              <a:defRPr/>
            </a:pPr>
            <a:fld id="{F07B5111-B3E0-4CEB-A02E-8D92D2A84AAB}" type="slidenum">
              <a:rPr lang="ru-RU"/>
              <a:pPr>
                <a:defRPr/>
              </a:pPr>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Операции над нечеткими множествами</a:t>
            </a:r>
          </a:p>
        </p:txBody>
      </p:sp>
      <p:pic>
        <p:nvPicPr>
          <p:cNvPr id="7885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785938"/>
            <a:ext cx="8286750" cy="1481137"/>
          </a:xfrm>
          <a:noFill/>
        </p:spPr>
      </p:pic>
      <p:sp>
        <p:nvSpPr>
          <p:cNvPr id="78852" name="Rectangle 2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ru-RU">
              <a:latin typeface="Calibri" pitchFamily="34" charset="0"/>
            </a:endParaRPr>
          </a:p>
        </p:txBody>
      </p:sp>
      <p:sp>
        <p:nvSpPr>
          <p:cNvPr id="78853" name="Rectangle 3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ru-RU">
              <a:latin typeface="Calibri" pitchFamily="34" charset="0"/>
            </a:endParaRPr>
          </a:p>
        </p:txBody>
      </p:sp>
      <p:grpSp>
        <p:nvGrpSpPr>
          <p:cNvPr id="78854" name="Group 26"/>
          <p:cNvGrpSpPr>
            <a:grpSpLocks noChangeAspect="1"/>
          </p:cNvGrpSpPr>
          <p:nvPr/>
        </p:nvGrpSpPr>
        <p:grpSpPr bwMode="auto">
          <a:xfrm>
            <a:off x="1857375" y="3286125"/>
            <a:ext cx="4286250" cy="3219450"/>
            <a:chOff x="2112" y="8177"/>
            <a:chExt cx="3596" cy="2700"/>
          </a:xfrm>
        </p:grpSpPr>
        <p:sp>
          <p:nvSpPr>
            <p:cNvPr id="78856" name="AutoShape 36"/>
            <p:cNvSpPr>
              <a:spLocks noChangeAspect="1" noChangeArrowheads="1" noTextEdit="1"/>
            </p:cNvSpPr>
            <p:nvPr/>
          </p:nvSpPr>
          <p:spPr bwMode="auto">
            <a:xfrm>
              <a:off x="2112" y="8177"/>
              <a:ext cx="3596" cy="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p>
          </p:txBody>
        </p:sp>
        <p:sp>
          <p:nvSpPr>
            <p:cNvPr id="78857" name="Line 35"/>
            <p:cNvSpPr>
              <a:spLocks noChangeShapeType="1"/>
            </p:cNvSpPr>
            <p:nvPr/>
          </p:nvSpPr>
          <p:spPr bwMode="auto">
            <a:xfrm flipV="1">
              <a:off x="2494" y="8186"/>
              <a:ext cx="1" cy="21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8858" name="Line 34"/>
            <p:cNvSpPr>
              <a:spLocks noChangeShapeType="1"/>
            </p:cNvSpPr>
            <p:nvPr/>
          </p:nvSpPr>
          <p:spPr bwMode="auto">
            <a:xfrm flipV="1">
              <a:off x="2120" y="10167"/>
              <a:ext cx="3553"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8859" name="Freeform 33"/>
            <p:cNvSpPr>
              <a:spLocks/>
            </p:cNvSpPr>
            <p:nvPr/>
          </p:nvSpPr>
          <p:spPr bwMode="auto">
            <a:xfrm>
              <a:off x="2860" y="8717"/>
              <a:ext cx="1867" cy="1441"/>
            </a:xfrm>
            <a:custGeom>
              <a:avLst/>
              <a:gdLst>
                <a:gd name="T0" fmla="*/ 0 w 1122"/>
                <a:gd name="T1" fmla="*/ 46272 h 720"/>
                <a:gd name="T2" fmla="*/ 3970 w 1122"/>
                <a:gd name="T3" fmla="*/ 34720 h 720"/>
                <a:gd name="T4" fmla="*/ 7932 w 1122"/>
                <a:gd name="T5" fmla="*/ 11568 h 720"/>
                <a:gd name="T6" fmla="*/ 11914 w 1122"/>
                <a:gd name="T7" fmla="*/ 0 h 720"/>
                <a:gd name="T8" fmla="*/ 15884 w 1122"/>
                <a:gd name="T9" fmla="*/ 11568 h 720"/>
                <a:gd name="T10" fmla="*/ 19846 w 1122"/>
                <a:gd name="T11" fmla="*/ 34720 h 720"/>
                <a:gd name="T12" fmla="*/ 23820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9525">
              <a:solidFill>
                <a:srgbClr val="0000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8860" name="Text Box 32"/>
            <p:cNvSpPr txBox="1">
              <a:spLocks noChangeArrowheads="1"/>
            </p:cNvSpPr>
            <p:nvPr/>
          </p:nvSpPr>
          <p:spPr bwMode="auto">
            <a:xfrm>
              <a:off x="5334" y="10166"/>
              <a:ext cx="3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x</a:t>
              </a:r>
              <a:endParaRPr lang="en-US">
                <a:cs typeface="Times New Roman" pitchFamily="18" charset="0"/>
              </a:endParaRPr>
            </a:p>
          </p:txBody>
        </p:sp>
        <p:sp>
          <p:nvSpPr>
            <p:cNvPr id="78861" name="Text Box 31"/>
            <p:cNvSpPr txBox="1">
              <a:spLocks noChangeArrowheads="1"/>
            </p:cNvSpPr>
            <p:nvPr/>
          </p:nvSpPr>
          <p:spPr bwMode="auto">
            <a:xfrm>
              <a:off x="2494" y="8186"/>
              <a:ext cx="561"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µ(x)</a:t>
              </a:r>
              <a:endParaRPr lang="en-US">
                <a:cs typeface="Times New Roman" pitchFamily="18" charset="0"/>
              </a:endParaRPr>
            </a:p>
          </p:txBody>
        </p:sp>
        <p:sp>
          <p:nvSpPr>
            <p:cNvPr id="78862" name="Text Box 30"/>
            <p:cNvSpPr txBox="1">
              <a:spLocks noChangeArrowheads="1"/>
            </p:cNvSpPr>
            <p:nvPr/>
          </p:nvSpPr>
          <p:spPr bwMode="auto">
            <a:xfrm>
              <a:off x="2486" y="10337"/>
              <a:ext cx="280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ru-RU" sz="1000" b="1">
                  <a:cs typeface="Times New Roman" pitchFamily="18" charset="0"/>
                </a:rPr>
                <a:t>Рис. 2.</a:t>
              </a:r>
              <a:r>
                <a:rPr lang="en-US" sz="1000" b="1">
                  <a:cs typeface="Times New Roman" pitchFamily="18" charset="0"/>
                </a:rPr>
                <a:t>5. </a:t>
              </a:r>
              <a:r>
                <a:rPr lang="en-US" sz="1000">
                  <a:cs typeface="Times New Roman" pitchFamily="18" charset="0"/>
                </a:rPr>
                <a:t>Дополнение нечеткого множества</a:t>
              </a:r>
              <a:endParaRPr lang="en-US">
                <a:cs typeface="Times New Roman" pitchFamily="18" charset="0"/>
              </a:endParaRPr>
            </a:p>
          </p:txBody>
        </p:sp>
        <p:sp>
          <p:nvSpPr>
            <p:cNvPr id="78863" name="Freeform 29"/>
            <p:cNvSpPr>
              <a:spLocks/>
            </p:cNvSpPr>
            <p:nvPr/>
          </p:nvSpPr>
          <p:spPr bwMode="auto">
            <a:xfrm flipV="1">
              <a:off x="2855" y="8706"/>
              <a:ext cx="1867" cy="1441"/>
            </a:xfrm>
            <a:custGeom>
              <a:avLst/>
              <a:gdLst>
                <a:gd name="T0" fmla="*/ 0 w 1122"/>
                <a:gd name="T1" fmla="*/ 46272 h 720"/>
                <a:gd name="T2" fmla="*/ 3970 w 1122"/>
                <a:gd name="T3" fmla="*/ 34720 h 720"/>
                <a:gd name="T4" fmla="*/ 7932 w 1122"/>
                <a:gd name="T5" fmla="*/ 11568 h 720"/>
                <a:gd name="T6" fmla="*/ 11914 w 1122"/>
                <a:gd name="T7" fmla="*/ 0 h 720"/>
                <a:gd name="T8" fmla="*/ 15884 w 1122"/>
                <a:gd name="T9" fmla="*/ 11568 h 720"/>
                <a:gd name="T10" fmla="*/ 19846 w 1122"/>
                <a:gd name="T11" fmla="*/ 34720 h 720"/>
                <a:gd name="T12" fmla="*/ 23820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8864" name="Line 28"/>
            <p:cNvSpPr>
              <a:spLocks noChangeShapeType="1"/>
            </p:cNvSpPr>
            <p:nvPr/>
          </p:nvSpPr>
          <p:spPr bwMode="auto">
            <a:xfrm>
              <a:off x="2486" y="8702"/>
              <a:ext cx="2992" cy="1"/>
            </a:xfrm>
            <a:prstGeom prst="line">
              <a:avLst/>
            </a:prstGeom>
            <a:noFill/>
            <a:ln w="9525">
              <a:solidFill>
                <a:srgbClr val="000000"/>
              </a:solidFill>
              <a:prstDash val="dashDot"/>
              <a:round/>
              <a:headEnd/>
              <a:tailEnd/>
            </a:ln>
            <a:extLst>
              <a:ext uri="{909E8E84-426E-40DD-AFC4-6F175D3DCCD1}">
                <a14:hiddenFill xmlns:a14="http://schemas.microsoft.com/office/drawing/2010/main">
                  <a:noFill/>
                </a14:hiddenFill>
              </a:ext>
            </a:extLst>
          </p:spPr>
          <p:txBody>
            <a:bodyPr/>
            <a:lstStyle/>
            <a:p>
              <a:endParaRPr lang="ru-RU"/>
            </a:p>
          </p:txBody>
        </p:sp>
        <p:sp>
          <p:nvSpPr>
            <p:cNvPr id="78865" name="Line 27"/>
            <p:cNvSpPr>
              <a:spLocks noChangeShapeType="1"/>
            </p:cNvSpPr>
            <p:nvPr/>
          </p:nvSpPr>
          <p:spPr bwMode="auto">
            <a:xfrm>
              <a:off x="3784" y="8537"/>
              <a:ext cx="1" cy="180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ru-RU"/>
            </a:p>
          </p:txBody>
        </p:sp>
      </p:grpSp>
      <p:sp>
        <p:nvSpPr>
          <p:cNvPr id="35" name="Номер слайда 34"/>
          <p:cNvSpPr>
            <a:spLocks noGrp="1"/>
          </p:cNvSpPr>
          <p:nvPr>
            <p:ph type="sldNum" sz="quarter" idx="12"/>
          </p:nvPr>
        </p:nvSpPr>
        <p:spPr/>
        <p:txBody>
          <a:bodyPr/>
          <a:lstStyle/>
          <a:p>
            <a:pPr>
              <a:defRPr/>
            </a:pPr>
            <a:fld id="{A80C32AB-5223-4F28-958D-16DBD1F36674}" type="slidenum">
              <a:rPr lang="ru-RU"/>
              <a:pPr>
                <a:defRPr/>
              </a:pPr>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Операции над нечеткими множествами</a:t>
            </a:r>
          </a:p>
        </p:txBody>
      </p:sp>
      <p:pic>
        <p:nvPicPr>
          <p:cNvPr id="798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71500" y="1785938"/>
            <a:ext cx="7929563" cy="2108200"/>
          </a:xfrm>
          <a:noFill/>
        </p:spPr>
      </p:pic>
      <p:grpSp>
        <p:nvGrpSpPr>
          <p:cNvPr id="79876" name="Group 5"/>
          <p:cNvGrpSpPr>
            <a:grpSpLocks noChangeAspect="1"/>
          </p:cNvGrpSpPr>
          <p:nvPr/>
        </p:nvGrpSpPr>
        <p:grpSpPr bwMode="auto">
          <a:xfrm>
            <a:off x="2571750" y="4000500"/>
            <a:ext cx="3043238" cy="2286000"/>
            <a:chOff x="2112" y="8177"/>
            <a:chExt cx="3596" cy="2700"/>
          </a:xfrm>
        </p:grpSpPr>
        <p:sp>
          <p:nvSpPr>
            <p:cNvPr id="79878" name="AutoShape 19"/>
            <p:cNvSpPr>
              <a:spLocks noChangeAspect="1" noChangeArrowheads="1" noTextEdit="1"/>
            </p:cNvSpPr>
            <p:nvPr/>
          </p:nvSpPr>
          <p:spPr bwMode="auto">
            <a:xfrm>
              <a:off x="2112" y="8177"/>
              <a:ext cx="3596" cy="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p>
          </p:txBody>
        </p:sp>
        <p:sp>
          <p:nvSpPr>
            <p:cNvPr id="79879" name="Line 18"/>
            <p:cNvSpPr>
              <a:spLocks noChangeShapeType="1"/>
            </p:cNvSpPr>
            <p:nvPr/>
          </p:nvSpPr>
          <p:spPr bwMode="auto">
            <a:xfrm flipV="1">
              <a:off x="2494" y="8186"/>
              <a:ext cx="1" cy="21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9880" name="Line 17"/>
            <p:cNvSpPr>
              <a:spLocks noChangeShapeType="1"/>
            </p:cNvSpPr>
            <p:nvPr/>
          </p:nvSpPr>
          <p:spPr bwMode="auto">
            <a:xfrm flipV="1">
              <a:off x="2120" y="10167"/>
              <a:ext cx="3553"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79881" name="Freeform 16" descr="Светлый диагональный 2"/>
            <p:cNvSpPr>
              <a:spLocks/>
            </p:cNvSpPr>
            <p:nvPr/>
          </p:nvSpPr>
          <p:spPr bwMode="auto">
            <a:xfrm>
              <a:off x="2682" y="8726"/>
              <a:ext cx="1868" cy="1441"/>
            </a:xfrm>
            <a:custGeom>
              <a:avLst/>
              <a:gdLst>
                <a:gd name="T0" fmla="*/ 0 w 1122"/>
                <a:gd name="T1" fmla="*/ 46272 h 720"/>
                <a:gd name="T2" fmla="*/ 3977 w 1122"/>
                <a:gd name="T3" fmla="*/ 34720 h 720"/>
                <a:gd name="T4" fmla="*/ 7966 w 1122"/>
                <a:gd name="T5" fmla="*/ 11568 h 720"/>
                <a:gd name="T6" fmla="*/ 11947 w 1122"/>
                <a:gd name="T7" fmla="*/ 0 h 720"/>
                <a:gd name="T8" fmla="*/ 15926 w 1122"/>
                <a:gd name="T9" fmla="*/ 11568 h 720"/>
                <a:gd name="T10" fmla="*/ 19914 w 1122"/>
                <a:gd name="T11" fmla="*/ 34720 h 720"/>
                <a:gd name="T12" fmla="*/ 23896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pattFill prst="ltUpDiag">
              <a:fgClr>
                <a:srgbClr val="000000"/>
              </a:fgClr>
              <a:bgClr>
                <a:srgbClr val="FFFFFF"/>
              </a:bgClr>
            </a:pattFill>
            <a:ln w="9525">
              <a:solidFill>
                <a:srgbClr val="000000"/>
              </a:solidFill>
              <a:round/>
              <a:headEnd/>
              <a:tailEnd/>
            </a:ln>
          </p:spPr>
          <p:txBody>
            <a:bodyPr/>
            <a:lstStyle/>
            <a:p>
              <a:endParaRPr lang="ru-RU"/>
            </a:p>
          </p:txBody>
        </p:sp>
        <p:sp>
          <p:nvSpPr>
            <p:cNvPr id="79882" name="Freeform 15" descr="Светлый диагональный 2"/>
            <p:cNvSpPr>
              <a:spLocks/>
            </p:cNvSpPr>
            <p:nvPr/>
          </p:nvSpPr>
          <p:spPr bwMode="auto">
            <a:xfrm>
              <a:off x="3317" y="8726"/>
              <a:ext cx="1867" cy="1441"/>
            </a:xfrm>
            <a:custGeom>
              <a:avLst/>
              <a:gdLst>
                <a:gd name="T0" fmla="*/ 0 w 1122"/>
                <a:gd name="T1" fmla="*/ 46272 h 720"/>
                <a:gd name="T2" fmla="*/ 3970 w 1122"/>
                <a:gd name="T3" fmla="*/ 34720 h 720"/>
                <a:gd name="T4" fmla="*/ 7932 w 1122"/>
                <a:gd name="T5" fmla="*/ 11568 h 720"/>
                <a:gd name="T6" fmla="*/ 11914 w 1122"/>
                <a:gd name="T7" fmla="*/ 0 h 720"/>
                <a:gd name="T8" fmla="*/ 15884 w 1122"/>
                <a:gd name="T9" fmla="*/ 11568 h 720"/>
                <a:gd name="T10" fmla="*/ 19846 w 1122"/>
                <a:gd name="T11" fmla="*/ 34720 h 720"/>
                <a:gd name="T12" fmla="*/ 23820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pattFill prst="ltUpDiag">
              <a:fgClr>
                <a:srgbClr val="000000"/>
              </a:fgClr>
              <a:bgClr>
                <a:srgbClr val="FFFFFF"/>
              </a:bgClr>
            </a:pattFill>
            <a:ln w="9525">
              <a:solidFill>
                <a:srgbClr val="000000"/>
              </a:solidFill>
              <a:round/>
              <a:headEnd/>
              <a:tailEnd/>
            </a:ln>
          </p:spPr>
          <p:txBody>
            <a:bodyPr/>
            <a:lstStyle/>
            <a:p>
              <a:endParaRPr lang="ru-RU"/>
            </a:p>
          </p:txBody>
        </p:sp>
        <p:sp>
          <p:nvSpPr>
            <p:cNvPr id="79883" name="Freeform 14"/>
            <p:cNvSpPr>
              <a:spLocks/>
            </p:cNvSpPr>
            <p:nvPr/>
          </p:nvSpPr>
          <p:spPr bwMode="auto">
            <a:xfrm>
              <a:off x="2682" y="8726"/>
              <a:ext cx="1868" cy="1441"/>
            </a:xfrm>
            <a:custGeom>
              <a:avLst/>
              <a:gdLst>
                <a:gd name="T0" fmla="*/ 0 w 1122"/>
                <a:gd name="T1" fmla="*/ 46272 h 720"/>
                <a:gd name="T2" fmla="*/ 3977 w 1122"/>
                <a:gd name="T3" fmla="*/ 34720 h 720"/>
                <a:gd name="T4" fmla="*/ 7966 w 1122"/>
                <a:gd name="T5" fmla="*/ 11568 h 720"/>
                <a:gd name="T6" fmla="*/ 11947 w 1122"/>
                <a:gd name="T7" fmla="*/ 0 h 720"/>
                <a:gd name="T8" fmla="*/ 15926 w 1122"/>
                <a:gd name="T9" fmla="*/ 11568 h 720"/>
                <a:gd name="T10" fmla="*/ 19914 w 1122"/>
                <a:gd name="T11" fmla="*/ 34720 h 720"/>
                <a:gd name="T12" fmla="*/ 23896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9884" name="Freeform 13"/>
            <p:cNvSpPr>
              <a:spLocks/>
            </p:cNvSpPr>
            <p:nvPr/>
          </p:nvSpPr>
          <p:spPr bwMode="auto">
            <a:xfrm>
              <a:off x="3317" y="8726"/>
              <a:ext cx="1867" cy="1441"/>
            </a:xfrm>
            <a:custGeom>
              <a:avLst/>
              <a:gdLst>
                <a:gd name="T0" fmla="*/ 0 w 1122"/>
                <a:gd name="T1" fmla="*/ 46272 h 720"/>
                <a:gd name="T2" fmla="*/ 3970 w 1122"/>
                <a:gd name="T3" fmla="*/ 34720 h 720"/>
                <a:gd name="T4" fmla="*/ 7932 w 1122"/>
                <a:gd name="T5" fmla="*/ 11568 h 720"/>
                <a:gd name="T6" fmla="*/ 11914 w 1122"/>
                <a:gd name="T7" fmla="*/ 0 h 720"/>
                <a:gd name="T8" fmla="*/ 15884 w 1122"/>
                <a:gd name="T9" fmla="*/ 11568 h 720"/>
                <a:gd name="T10" fmla="*/ 19846 w 1122"/>
                <a:gd name="T11" fmla="*/ 34720 h 720"/>
                <a:gd name="T12" fmla="*/ 23820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9885" name="Freeform 12"/>
            <p:cNvSpPr>
              <a:spLocks/>
            </p:cNvSpPr>
            <p:nvPr/>
          </p:nvSpPr>
          <p:spPr bwMode="auto">
            <a:xfrm>
              <a:off x="2681" y="8726"/>
              <a:ext cx="1244" cy="1441"/>
            </a:xfrm>
            <a:custGeom>
              <a:avLst/>
              <a:gdLst>
                <a:gd name="T0" fmla="*/ 0 w 1244"/>
                <a:gd name="T1" fmla="*/ 1441 h 1441"/>
                <a:gd name="T2" fmla="*/ 311 w 1244"/>
                <a:gd name="T3" fmla="*/ 1081 h 1441"/>
                <a:gd name="T4" fmla="*/ 623 w 1244"/>
                <a:gd name="T5" fmla="*/ 360 h 1441"/>
                <a:gd name="T6" fmla="*/ 933 w 1244"/>
                <a:gd name="T7" fmla="*/ 0 h 1441"/>
                <a:gd name="T8" fmla="*/ 1244 w 1244"/>
                <a:gd name="T9" fmla="*/ 360 h 1441"/>
                <a:gd name="T10" fmla="*/ 0 60000 65536"/>
                <a:gd name="T11" fmla="*/ 0 60000 65536"/>
                <a:gd name="T12" fmla="*/ 0 60000 65536"/>
                <a:gd name="T13" fmla="*/ 0 60000 65536"/>
                <a:gd name="T14" fmla="*/ 0 60000 65536"/>
                <a:gd name="T15" fmla="*/ 0 w 1244"/>
                <a:gd name="T16" fmla="*/ 0 h 1441"/>
                <a:gd name="T17" fmla="*/ 1244 w 1244"/>
                <a:gd name="T18" fmla="*/ 1441 h 1441"/>
              </a:gdLst>
              <a:ahLst/>
              <a:cxnLst>
                <a:cxn ang="T10">
                  <a:pos x="T0" y="T1"/>
                </a:cxn>
                <a:cxn ang="T11">
                  <a:pos x="T2" y="T3"/>
                </a:cxn>
                <a:cxn ang="T12">
                  <a:pos x="T4" y="T5"/>
                </a:cxn>
                <a:cxn ang="T13">
                  <a:pos x="T6" y="T7"/>
                </a:cxn>
                <a:cxn ang="T14">
                  <a:pos x="T8" y="T9"/>
                </a:cxn>
              </a:cxnLst>
              <a:rect l="T15" t="T16" r="T17" b="T18"/>
              <a:pathLst>
                <a:path w="1244" h="1441">
                  <a:moveTo>
                    <a:pt x="0" y="1441"/>
                  </a:moveTo>
                  <a:cubicBezTo>
                    <a:pt x="103" y="1351"/>
                    <a:pt x="208" y="1261"/>
                    <a:pt x="311" y="1081"/>
                  </a:cubicBezTo>
                  <a:cubicBezTo>
                    <a:pt x="415" y="901"/>
                    <a:pt x="519" y="540"/>
                    <a:pt x="623" y="360"/>
                  </a:cubicBezTo>
                  <a:cubicBezTo>
                    <a:pt x="726" y="180"/>
                    <a:pt x="830" y="0"/>
                    <a:pt x="933" y="0"/>
                  </a:cubicBezTo>
                  <a:cubicBezTo>
                    <a:pt x="1036" y="0"/>
                    <a:pt x="1192" y="300"/>
                    <a:pt x="1244" y="36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9886" name="Freeform 11"/>
            <p:cNvSpPr>
              <a:spLocks/>
            </p:cNvSpPr>
            <p:nvPr/>
          </p:nvSpPr>
          <p:spPr bwMode="auto">
            <a:xfrm flipH="1">
              <a:off x="3934" y="8726"/>
              <a:ext cx="1245" cy="1441"/>
            </a:xfrm>
            <a:custGeom>
              <a:avLst/>
              <a:gdLst>
                <a:gd name="T0" fmla="*/ 0 w 1244"/>
                <a:gd name="T1" fmla="*/ 1441 h 1441"/>
                <a:gd name="T2" fmla="*/ 311 w 1244"/>
                <a:gd name="T3" fmla="*/ 1081 h 1441"/>
                <a:gd name="T4" fmla="*/ 629 w 1244"/>
                <a:gd name="T5" fmla="*/ 360 h 1441"/>
                <a:gd name="T6" fmla="*/ 939 w 1244"/>
                <a:gd name="T7" fmla="*/ 0 h 1441"/>
                <a:gd name="T8" fmla="*/ 1250 w 1244"/>
                <a:gd name="T9" fmla="*/ 360 h 1441"/>
                <a:gd name="T10" fmla="*/ 0 60000 65536"/>
                <a:gd name="T11" fmla="*/ 0 60000 65536"/>
                <a:gd name="T12" fmla="*/ 0 60000 65536"/>
                <a:gd name="T13" fmla="*/ 0 60000 65536"/>
                <a:gd name="T14" fmla="*/ 0 60000 65536"/>
                <a:gd name="T15" fmla="*/ 0 w 1244"/>
                <a:gd name="T16" fmla="*/ 0 h 1441"/>
                <a:gd name="T17" fmla="*/ 1244 w 1244"/>
                <a:gd name="T18" fmla="*/ 1441 h 1441"/>
              </a:gdLst>
              <a:ahLst/>
              <a:cxnLst>
                <a:cxn ang="T10">
                  <a:pos x="T0" y="T1"/>
                </a:cxn>
                <a:cxn ang="T11">
                  <a:pos x="T2" y="T3"/>
                </a:cxn>
                <a:cxn ang="T12">
                  <a:pos x="T4" y="T5"/>
                </a:cxn>
                <a:cxn ang="T13">
                  <a:pos x="T6" y="T7"/>
                </a:cxn>
                <a:cxn ang="T14">
                  <a:pos x="T8" y="T9"/>
                </a:cxn>
              </a:cxnLst>
              <a:rect l="T15" t="T16" r="T17" b="T18"/>
              <a:pathLst>
                <a:path w="1244" h="1441">
                  <a:moveTo>
                    <a:pt x="0" y="1441"/>
                  </a:moveTo>
                  <a:cubicBezTo>
                    <a:pt x="103" y="1351"/>
                    <a:pt x="208" y="1261"/>
                    <a:pt x="311" y="1081"/>
                  </a:cubicBezTo>
                  <a:cubicBezTo>
                    <a:pt x="415" y="901"/>
                    <a:pt x="519" y="540"/>
                    <a:pt x="623" y="360"/>
                  </a:cubicBezTo>
                  <a:cubicBezTo>
                    <a:pt x="726" y="180"/>
                    <a:pt x="830" y="0"/>
                    <a:pt x="933" y="0"/>
                  </a:cubicBezTo>
                  <a:cubicBezTo>
                    <a:pt x="1036" y="0"/>
                    <a:pt x="1192" y="300"/>
                    <a:pt x="1244" y="36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79887" name="Text Box 10"/>
            <p:cNvSpPr txBox="1">
              <a:spLocks noChangeArrowheads="1"/>
            </p:cNvSpPr>
            <p:nvPr/>
          </p:nvSpPr>
          <p:spPr bwMode="auto">
            <a:xfrm>
              <a:off x="5334" y="10166"/>
              <a:ext cx="3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x</a:t>
              </a:r>
              <a:endParaRPr lang="en-US">
                <a:cs typeface="Times New Roman" pitchFamily="18" charset="0"/>
              </a:endParaRPr>
            </a:p>
          </p:txBody>
        </p:sp>
        <p:sp>
          <p:nvSpPr>
            <p:cNvPr id="79888" name="Text Box 9"/>
            <p:cNvSpPr txBox="1">
              <a:spLocks noChangeArrowheads="1"/>
            </p:cNvSpPr>
            <p:nvPr/>
          </p:nvSpPr>
          <p:spPr bwMode="auto">
            <a:xfrm>
              <a:off x="2494" y="8186"/>
              <a:ext cx="561"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µ(x)</a:t>
              </a:r>
              <a:endParaRPr lang="en-US">
                <a:cs typeface="Times New Roman" pitchFamily="18" charset="0"/>
              </a:endParaRPr>
            </a:p>
          </p:txBody>
        </p:sp>
        <p:sp>
          <p:nvSpPr>
            <p:cNvPr id="79889" name="Text Box 8"/>
            <p:cNvSpPr txBox="1">
              <a:spLocks noChangeArrowheads="1"/>
            </p:cNvSpPr>
            <p:nvPr/>
          </p:nvSpPr>
          <p:spPr bwMode="auto">
            <a:xfrm>
              <a:off x="3429" y="8366"/>
              <a:ext cx="374"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200" i="1">
                  <a:cs typeface="Times New Roman" pitchFamily="18" charset="0"/>
                </a:rPr>
                <a:t>A</a:t>
              </a:r>
              <a:endParaRPr lang="en-US">
                <a:cs typeface="Times New Roman" pitchFamily="18" charset="0"/>
              </a:endParaRPr>
            </a:p>
          </p:txBody>
        </p:sp>
        <p:sp>
          <p:nvSpPr>
            <p:cNvPr id="79890" name="Text Box 7"/>
            <p:cNvSpPr txBox="1">
              <a:spLocks noChangeArrowheads="1"/>
            </p:cNvSpPr>
            <p:nvPr/>
          </p:nvSpPr>
          <p:spPr bwMode="auto">
            <a:xfrm>
              <a:off x="4067" y="8366"/>
              <a:ext cx="374"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200" i="1">
                  <a:cs typeface="Times New Roman" pitchFamily="18" charset="0"/>
                </a:rPr>
                <a:t>B</a:t>
              </a:r>
              <a:endParaRPr lang="en-US">
                <a:cs typeface="Times New Roman" pitchFamily="18" charset="0"/>
              </a:endParaRPr>
            </a:p>
          </p:txBody>
        </p:sp>
        <p:sp>
          <p:nvSpPr>
            <p:cNvPr id="79891" name="Text Box 6"/>
            <p:cNvSpPr txBox="1">
              <a:spLocks noChangeArrowheads="1"/>
            </p:cNvSpPr>
            <p:nvPr/>
          </p:nvSpPr>
          <p:spPr bwMode="auto">
            <a:xfrm>
              <a:off x="2486" y="10337"/>
              <a:ext cx="280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ru-RU" sz="1000" b="1">
                  <a:cs typeface="Times New Roman" pitchFamily="18" charset="0"/>
                </a:rPr>
                <a:t>Рис. 2.2. </a:t>
              </a:r>
              <a:r>
                <a:rPr lang="ru-RU" sz="1000">
                  <a:cs typeface="Times New Roman" pitchFamily="18" charset="0"/>
                </a:rPr>
                <a:t>Объединение нечетких множеств</a:t>
              </a:r>
              <a:endParaRPr lang="ru-RU">
                <a:cs typeface="Times New Roman" pitchFamily="18" charset="0"/>
              </a:endParaRPr>
            </a:p>
          </p:txBody>
        </p:sp>
      </p:grpSp>
      <p:sp>
        <p:nvSpPr>
          <p:cNvPr id="20" name="Номер слайда 19"/>
          <p:cNvSpPr>
            <a:spLocks noGrp="1"/>
          </p:cNvSpPr>
          <p:nvPr>
            <p:ph type="sldNum" sz="quarter" idx="12"/>
          </p:nvPr>
        </p:nvSpPr>
        <p:spPr/>
        <p:txBody>
          <a:bodyPr/>
          <a:lstStyle/>
          <a:p>
            <a:pPr>
              <a:defRPr/>
            </a:pPr>
            <a:fld id="{00F79EEF-4E3D-45C5-9682-611F869F0FB5}" type="slidenum">
              <a:rPr lang="ru-RU"/>
              <a:pPr>
                <a:defRPr/>
              </a:pPr>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Операции над нечеткими множествами</a:t>
            </a:r>
          </a:p>
        </p:txBody>
      </p:sp>
      <p:pic>
        <p:nvPicPr>
          <p:cNvPr id="8089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857375"/>
            <a:ext cx="8572500" cy="1714500"/>
          </a:xfrm>
          <a:noFill/>
        </p:spPr>
      </p:pic>
      <p:sp>
        <p:nvSpPr>
          <p:cNvPr id="80900" name="Rectangle 1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ru-RU">
              <a:latin typeface="Calibri" pitchFamily="34" charset="0"/>
            </a:endParaRPr>
          </a:p>
        </p:txBody>
      </p:sp>
      <p:grpSp>
        <p:nvGrpSpPr>
          <p:cNvPr id="80901" name="Group 3"/>
          <p:cNvGrpSpPr>
            <a:grpSpLocks noChangeAspect="1"/>
          </p:cNvGrpSpPr>
          <p:nvPr/>
        </p:nvGrpSpPr>
        <p:grpSpPr bwMode="auto">
          <a:xfrm>
            <a:off x="2000250" y="3786188"/>
            <a:ext cx="3714750" cy="2789237"/>
            <a:chOff x="2112" y="8177"/>
            <a:chExt cx="3596" cy="2700"/>
          </a:xfrm>
        </p:grpSpPr>
        <p:sp>
          <p:nvSpPr>
            <p:cNvPr id="80903" name="AutoShape 16"/>
            <p:cNvSpPr>
              <a:spLocks noChangeAspect="1" noChangeArrowheads="1" noTextEdit="1"/>
            </p:cNvSpPr>
            <p:nvPr/>
          </p:nvSpPr>
          <p:spPr bwMode="auto">
            <a:xfrm>
              <a:off x="2112" y="8177"/>
              <a:ext cx="3596" cy="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p>
          </p:txBody>
        </p:sp>
        <p:sp>
          <p:nvSpPr>
            <p:cNvPr id="80904" name="Line 15"/>
            <p:cNvSpPr>
              <a:spLocks noChangeShapeType="1"/>
            </p:cNvSpPr>
            <p:nvPr/>
          </p:nvSpPr>
          <p:spPr bwMode="auto">
            <a:xfrm flipV="1">
              <a:off x="2494" y="8186"/>
              <a:ext cx="1" cy="216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0905" name="Line 14"/>
            <p:cNvSpPr>
              <a:spLocks noChangeShapeType="1"/>
            </p:cNvSpPr>
            <p:nvPr/>
          </p:nvSpPr>
          <p:spPr bwMode="auto">
            <a:xfrm flipV="1">
              <a:off x="2120" y="10167"/>
              <a:ext cx="3553"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0906" name="Freeform 13"/>
            <p:cNvSpPr>
              <a:spLocks/>
            </p:cNvSpPr>
            <p:nvPr/>
          </p:nvSpPr>
          <p:spPr bwMode="auto">
            <a:xfrm>
              <a:off x="2682" y="8726"/>
              <a:ext cx="1868" cy="1441"/>
            </a:xfrm>
            <a:custGeom>
              <a:avLst/>
              <a:gdLst>
                <a:gd name="T0" fmla="*/ 0 w 1122"/>
                <a:gd name="T1" fmla="*/ 46272 h 720"/>
                <a:gd name="T2" fmla="*/ 3977 w 1122"/>
                <a:gd name="T3" fmla="*/ 34720 h 720"/>
                <a:gd name="T4" fmla="*/ 7966 w 1122"/>
                <a:gd name="T5" fmla="*/ 11568 h 720"/>
                <a:gd name="T6" fmla="*/ 11947 w 1122"/>
                <a:gd name="T7" fmla="*/ 0 h 720"/>
                <a:gd name="T8" fmla="*/ 15926 w 1122"/>
                <a:gd name="T9" fmla="*/ 11568 h 720"/>
                <a:gd name="T10" fmla="*/ 19914 w 1122"/>
                <a:gd name="T11" fmla="*/ 34720 h 720"/>
                <a:gd name="T12" fmla="*/ 23896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80907" name="Freeform 12"/>
            <p:cNvSpPr>
              <a:spLocks/>
            </p:cNvSpPr>
            <p:nvPr/>
          </p:nvSpPr>
          <p:spPr bwMode="auto">
            <a:xfrm>
              <a:off x="3317" y="8726"/>
              <a:ext cx="1867" cy="1441"/>
            </a:xfrm>
            <a:custGeom>
              <a:avLst/>
              <a:gdLst>
                <a:gd name="T0" fmla="*/ 0 w 1122"/>
                <a:gd name="T1" fmla="*/ 46272 h 720"/>
                <a:gd name="T2" fmla="*/ 3970 w 1122"/>
                <a:gd name="T3" fmla="*/ 34720 h 720"/>
                <a:gd name="T4" fmla="*/ 7932 w 1122"/>
                <a:gd name="T5" fmla="*/ 11568 h 720"/>
                <a:gd name="T6" fmla="*/ 11914 w 1122"/>
                <a:gd name="T7" fmla="*/ 0 h 720"/>
                <a:gd name="T8" fmla="*/ 15884 w 1122"/>
                <a:gd name="T9" fmla="*/ 11568 h 720"/>
                <a:gd name="T10" fmla="*/ 19846 w 1122"/>
                <a:gd name="T11" fmla="*/ 34720 h 720"/>
                <a:gd name="T12" fmla="*/ 23820 w 1122"/>
                <a:gd name="T13" fmla="*/ 46272 h 720"/>
                <a:gd name="T14" fmla="*/ 0 60000 65536"/>
                <a:gd name="T15" fmla="*/ 0 60000 65536"/>
                <a:gd name="T16" fmla="*/ 0 60000 65536"/>
                <a:gd name="T17" fmla="*/ 0 60000 65536"/>
                <a:gd name="T18" fmla="*/ 0 60000 65536"/>
                <a:gd name="T19" fmla="*/ 0 60000 65536"/>
                <a:gd name="T20" fmla="*/ 0 60000 65536"/>
                <a:gd name="T21" fmla="*/ 0 w 1122"/>
                <a:gd name="T22" fmla="*/ 0 h 720"/>
                <a:gd name="T23" fmla="*/ 1122 w 11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22" h="720">
                  <a:moveTo>
                    <a:pt x="0" y="720"/>
                  </a:moveTo>
                  <a:cubicBezTo>
                    <a:pt x="62" y="675"/>
                    <a:pt x="125" y="630"/>
                    <a:pt x="187" y="540"/>
                  </a:cubicBezTo>
                  <a:cubicBezTo>
                    <a:pt x="249" y="450"/>
                    <a:pt x="312" y="270"/>
                    <a:pt x="374" y="180"/>
                  </a:cubicBezTo>
                  <a:cubicBezTo>
                    <a:pt x="436" y="90"/>
                    <a:pt x="499" y="0"/>
                    <a:pt x="561" y="0"/>
                  </a:cubicBezTo>
                  <a:cubicBezTo>
                    <a:pt x="623" y="0"/>
                    <a:pt x="686" y="90"/>
                    <a:pt x="748" y="180"/>
                  </a:cubicBezTo>
                  <a:cubicBezTo>
                    <a:pt x="810" y="270"/>
                    <a:pt x="873" y="450"/>
                    <a:pt x="935" y="540"/>
                  </a:cubicBezTo>
                  <a:cubicBezTo>
                    <a:pt x="997" y="630"/>
                    <a:pt x="1091" y="690"/>
                    <a:pt x="1122" y="72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80908" name="Text Box 11"/>
            <p:cNvSpPr txBox="1">
              <a:spLocks noChangeArrowheads="1"/>
            </p:cNvSpPr>
            <p:nvPr/>
          </p:nvSpPr>
          <p:spPr bwMode="auto">
            <a:xfrm>
              <a:off x="5334" y="10166"/>
              <a:ext cx="37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x</a:t>
              </a:r>
              <a:endParaRPr lang="en-US">
                <a:cs typeface="Times New Roman" pitchFamily="18" charset="0"/>
              </a:endParaRPr>
            </a:p>
          </p:txBody>
        </p:sp>
        <p:sp>
          <p:nvSpPr>
            <p:cNvPr id="80909" name="Text Box 10"/>
            <p:cNvSpPr txBox="1">
              <a:spLocks noChangeArrowheads="1"/>
            </p:cNvSpPr>
            <p:nvPr/>
          </p:nvSpPr>
          <p:spPr bwMode="auto">
            <a:xfrm>
              <a:off x="2494" y="8186"/>
              <a:ext cx="561"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000" i="1">
                  <a:cs typeface="Times New Roman" pitchFamily="18" charset="0"/>
                </a:rPr>
                <a:t>µ(x)</a:t>
              </a:r>
              <a:endParaRPr lang="en-US">
                <a:cs typeface="Times New Roman" pitchFamily="18" charset="0"/>
              </a:endParaRPr>
            </a:p>
          </p:txBody>
        </p:sp>
        <p:sp>
          <p:nvSpPr>
            <p:cNvPr id="80910" name="Text Box 9"/>
            <p:cNvSpPr txBox="1">
              <a:spLocks noChangeArrowheads="1"/>
            </p:cNvSpPr>
            <p:nvPr/>
          </p:nvSpPr>
          <p:spPr bwMode="auto">
            <a:xfrm>
              <a:off x="3429" y="8366"/>
              <a:ext cx="374"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200" i="1">
                  <a:cs typeface="Times New Roman" pitchFamily="18" charset="0"/>
                </a:rPr>
                <a:t>A</a:t>
              </a:r>
              <a:endParaRPr lang="en-US">
                <a:cs typeface="Times New Roman" pitchFamily="18" charset="0"/>
              </a:endParaRPr>
            </a:p>
          </p:txBody>
        </p:sp>
        <p:sp>
          <p:nvSpPr>
            <p:cNvPr id="80911" name="Text Box 8"/>
            <p:cNvSpPr txBox="1">
              <a:spLocks noChangeArrowheads="1"/>
            </p:cNvSpPr>
            <p:nvPr/>
          </p:nvSpPr>
          <p:spPr bwMode="auto">
            <a:xfrm>
              <a:off x="4067" y="8366"/>
              <a:ext cx="374"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sz="1200" i="1">
                  <a:cs typeface="Times New Roman" pitchFamily="18" charset="0"/>
                </a:rPr>
                <a:t>B</a:t>
              </a:r>
              <a:endParaRPr lang="en-US">
                <a:cs typeface="Times New Roman" pitchFamily="18" charset="0"/>
              </a:endParaRPr>
            </a:p>
          </p:txBody>
        </p:sp>
        <p:sp>
          <p:nvSpPr>
            <p:cNvPr id="80912" name="Text Box 7"/>
            <p:cNvSpPr txBox="1">
              <a:spLocks noChangeArrowheads="1"/>
            </p:cNvSpPr>
            <p:nvPr/>
          </p:nvSpPr>
          <p:spPr bwMode="auto">
            <a:xfrm>
              <a:off x="2486" y="10337"/>
              <a:ext cx="2805"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ru-RU" sz="1000" b="1">
                  <a:cs typeface="Times New Roman" pitchFamily="18" charset="0"/>
                </a:rPr>
                <a:t>Рис. 2.3. </a:t>
              </a:r>
              <a:r>
                <a:rPr lang="ru-RU" sz="1000">
                  <a:cs typeface="Times New Roman" pitchFamily="18" charset="0"/>
                </a:rPr>
                <a:t>Пересечение нечетких множеств</a:t>
              </a:r>
              <a:endParaRPr lang="ru-RU">
                <a:cs typeface="Times New Roman" pitchFamily="18" charset="0"/>
              </a:endParaRPr>
            </a:p>
          </p:txBody>
        </p:sp>
        <p:grpSp>
          <p:nvGrpSpPr>
            <p:cNvPr id="80913" name="Group 4"/>
            <p:cNvGrpSpPr>
              <a:grpSpLocks/>
            </p:cNvGrpSpPr>
            <p:nvPr/>
          </p:nvGrpSpPr>
          <p:grpSpPr bwMode="auto">
            <a:xfrm>
              <a:off x="3311" y="9077"/>
              <a:ext cx="1233" cy="1081"/>
              <a:chOff x="6413" y="9257"/>
              <a:chExt cx="1233" cy="1081"/>
            </a:xfrm>
          </p:grpSpPr>
          <p:sp>
            <p:nvSpPr>
              <p:cNvPr id="80914" name="Freeform 6"/>
              <p:cNvSpPr>
                <a:spLocks/>
              </p:cNvSpPr>
              <p:nvPr/>
            </p:nvSpPr>
            <p:spPr bwMode="auto">
              <a:xfrm>
                <a:off x="6413" y="9257"/>
                <a:ext cx="623" cy="1081"/>
              </a:xfrm>
              <a:custGeom>
                <a:avLst/>
                <a:gdLst>
                  <a:gd name="T0" fmla="*/ 0 w 623"/>
                  <a:gd name="T1" fmla="*/ 1081 h 1081"/>
                  <a:gd name="T2" fmla="*/ 311 w 623"/>
                  <a:gd name="T3" fmla="*/ 721 h 1081"/>
                  <a:gd name="T4" fmla="*/ 623 w 623"/>
                  <a:gd name="T5" fmla="*/ 0 h 1081"/>
                  <a:gd name="T6" fmla="*/ 0 60000 65536"/>
                  <a:gd name="T7" fmla="*/ 0 60000 65536"/>
                  <a:gd name="T8" fmla="*/ 0 60000 65536"/>
                  <a:gd name="T9" fmla="*/ 0 w 623"/>
                  <a:gd name="T10" fmla="*/ 0 h 1081"/>
                  <a:gd name="T11" fmla="*/ 623 w 623"/>
                  <a:gd name="T12" fmla="*/ 1081 h 1081"/>
                </a:gdLst>
                <a:ahLst/>
                <a:cxnLst>
                  <a:cxn ang="T6">
                    <a:pos x="T0" y="T1"/>
                  </a:cxn>
                  <a:cxn ang="T7">
                    <a:pos x="T2" y="T3"/>
                  </a:cxn>
                  <a:cxn ang="T8">
                    <a:pos x="T4" y="T5"/>
                  </a:cxn>
                </a:cxnLst>
                <a:rect l="T9" t="T10" r="T11" b="T12"/>
                <a:pathLst>
                  <a:path w="623" h="1081">
                    <a:moveTo>
                      <a:pt x="0" y="1081"/>
                    </a:moveTo>
                    <a:cubicBezTo>
                      <a:pt x="103" y="991"/>
                      <a:pt x="208" y="901"/>
                      <a:pt x="311" y="721"/>
                    </a:cubicBezTo>
                    <a:cubicBezTo>
                      <a:pt x="415" y="541"/>
                      <a:pt x="571" y="120"/>
                      <a:pt x="623" y="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80915" name="Freeform 5"/>
              <p:cNvSpPr>
                <a:spLocks/>
              </p:cNvSpPr>
              <p:nvPr/>
            </p:nvSpPr>
            <p:spPr bwMode="auto">
              <a:xfrm flipH="1">
                <a:off x="7023" y="9257"/>
                <a:ext cx="623" cy="1081"/>
              </a:xfrm>
              <a:custGeom>
                <a:avLst/>
                <a:gdLst>
                  <a:gd name="T0" fmla="*/ 0 w 623"/>
                  <a:gd name="T1" fmla="*/ 1081 h 1081"/>
                  <a:gd name="T2" fmla="*/ 311 w 623"/>
                  <a:gd name="T3" fmla="*/ 721 h 1081"/>
                  <a:gd name="T4" fmla="*/ 623 w 623"/>
                  <a:gd name="T5" fmla="*/ 0 h 1081"/>
                  <a:gd name="T6" fmla="*/ 0 60000 65536"/>
                  <a:gd name="T7" fmla="*/ 0 60000 65536"/>
                  <a:gd name="T8" fmla="*/ 0 60000 65536"/>
                  <a:gd name="T9" fmla="*/ 0 w 623"/>
                  <a:gd name="T10" fmla="*/ 0 h 1081"/>
                  <a:gd name="T11" fmla="*/ 623 w 623"/>
                  <a:gd name="T12" fmla="*/ 1081 h 1081"/>
                </a:gdLst>
                <a:ahLst/>
                <a:cxnLst>
                  <a:cxn ang="T6">
                    <a:pos x="T0" y="T1"/>
                  </a:cxn>
                  <a:cxn ang="T7">
                    <a:pos x="T2" y="T3"/>
                  </a:cxn>
                  <a:cxn ang="T8">
                    <a:pos x="T4" y="T5"/>
                  </a:cxn>
                </a:cxnLst>
                <a:rect l="T9" t="T10" r="T11" b="T12"/>
                <a:pathLst>
                  <a:path w="623" h="1081">
                    <a:moveTo>
                      <a:pt x="0" y="1081"/>
                    </a:moveTo>
                    <a:cubicBezTo>
                      <a:pt x="103" y="991"/>
                      <a:pt x="208" y="901"/>
                      <a:pt x="311" y="721"/>
                    </a:cubicBezTo>
                    <a:cubicBezTo>
                      <a:pt x="415" y="541"/>
                      <a:pt x="571" y="120"/>
                      <a:pt x="623" y="0"/>
                    </a:cubicBezTo>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grpSp>
      <p:sp>
        <p:nvSpPr>
          <p:cNvPr id="20" name="Номер слайда 19"/>
          <p:cNvSpPr>
            <a:spLocks noGrp="1"/>
          </p:cNvSpPr>
          <p:nvPr>
            <p:ph type="sldNum" sz="quarter" idx="12"/>
          </p:nvPr>
        </p:nvSpPr>
        <p:spPr/>
        <p:txBody>
          <a:bodyPr/>
          <a:lstStyle/>
          <a:p>
            <a:pPr>
              <a:defRPr/>
            </a:pPr>
            <a:fld id="{C7AC2D34-81D0-43BE-B3F6-93AEFA0764B9}" type="slidenum">
              <a:rPr lang="ru-RU"/>
              <a:pPr>
                <a:defRPr/>
              </a:pPr>
              <a:t>14</a:t>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Операции над нечеткими множествами</a:t>
            </a:r>
          </a:p>
        </p:txBody>
      </p:sp>
      <p:pic>
        <p:nvPicPr>
          <p:cNvPr id="8192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5" y="1500188"/>
            <a:ext cx="8501063" cy="4940300"/>
          </a:xfrm>
          <a:noFill/>
        </p:spPr>
      </p:pic>
      <p:sp>
        <p:nvSpPr>
          <p:cNvPr id="5" name="Номер слайда 4"/>
          <p:cNvSpPr>
            <a:spLocks noGrp="1"/>
          </p:cNvSpPr>
          <p:nvPr>
            <p:ph type="sldNum" sz="quarter" idx="12"/>
          </p:nvPr>
        </p:nvSpPr>
        <p:spPr/>
        <p:txBody>
          <a:bodyPr/>
          <a:lstStyle/>
          <a:p>
            <a:pPr>
              <a:defRPr/>
            </a:pPr>
            <a:fld id="{57F961E4-8B35-4D4F-96DA-25980CACAC31}" type="slidenum">
              <a:rPr lang="ru-RU"/>
              <a:pPr>
                <a:defRPr/>
              </a:pPr>
              <a:t>15</a:t>
            </a:fld>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Заголовок 1"/>
          <p:cNvSpPr>
            <a:spLocks noGrp="1"/>
          </p:cNvSpPr>
          <p:nvPr>
            <p:ph type="title"/>
          </p:nvPr>
        </p:nvSpPr>
        <p:spPr/>
        <p:txBody>
          <a:bodyPr/>
          <a:lstStyle/>
          <a:p>
            <a:pPr eaLnBrk="1" hangingPunct="1"/>
            <a:r>
              <a:rPr lang="ru-RU" dirty="0"/>
              <a:t>Определение</a:t>
            </a:r>
          </a:p>
        </p:txBody>
      </p:sp>
      <p:pic>
        <p:nvPicPr>
          <p:cNvPr id="8294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4313" y="2071688"/>
            <a:ext cx="8742362" cy="987425"/>
          </a:xfrm>
          <a:noFill/>
        </p:spPr>
      </p:pic>
      <p:sp>
        <p:nvSpPr>
          <p:cNvPr id="5" name="Номер слайда 4"/>
          <p:cNvSpPr>
            <a:spLocks noGrp="1"/>
          </p:cNvSpPr>
          <p:nvPr>
            <p:ph type="sldNum" sz="quarter" idx="12"/>
          </p:nvPr>
        </p:nvSpPr>
        <p:spPr/>
        <p:txBody>
          <a:bodyPr/>
          <a:lstStyle/>
          <a:p>
            <a:pPr>
              <a:defRPr/>
            </a:pPr>
            <a:fld id="{6384FE97-391C-427A-A21C-01CD188E965C}" type="slidenum">
              <a:rPr lang="ru-RU"/>
              <a:pPr>
                <a:defRPr/>
              </a:pPr>
              <a:t>16</a:t>
            </a:fld>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Заголовок 1"/>
          <p:cNvSpPr>
            <a:spLocks noGrp="1"/>
          </p:cNvSpPr>
          <p:nvPr>
            <p:ph type="title"/>
          </p:nvPr>
        </p:nvSpPr>
        <p:spPr/>
        <p:txBody>
          <a:bodyPr/>
          <a:lstStyle/>
          <a:p>
            <a:pPr eaLnBrk="1" hangingPunct="1"/>
            <a:r>
              <a:rPr lang="ru-RU" sz="2800" dirty="0"/>
              <a:t>Свойства операций над нечеткими множествами</a:t>
            </a:r>
          </a:p>
        </p:txBody>
      </p:sp>
      <p:pic>
        <p:nvPicPr>
          <p:cNvPr id="8397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85813" y="1214438"/>
            <a:ext cx="7215187" cy="5399087"/>
          </a:xfrm>
          <a:noFill/>
        </p:spPr>
      </p:pic>
      <p:sp>
        <p:nvSpPr>
          <p:cNvPr id="5" name="Номер слайда 4"/>
          <p:cNvSpPr>
            <a:spLocks noGrp="1"/>
          </p:cNvSpPr>
          <p:nvPr>
            <p:ph type="sldNum" sz="quarter" idx="12"/>
          </p:nvPr>
        </p:nvSpPr>
        <p:spPr/>
        <p:txBody>
          <a:bodyPr/>
          <a:lstStyle/>
          <a:p>
            <a:pPr>
              <a:defRPr/>
            </a:pPr>
            <a:fld id="{54A8C860-7A53-492D-AFE3-C44B7D96C1A4}" type="slidenum">
              <a:rPr lang="ru-RU"/>
              <a:pPr>
                <a:defRPr/>
              </a:pPr>
              <a:t>17</a:t>
            </a:fld>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Заголовок 1"/>
          <p:cNvSpPr>
            <a:spLocks noGrp="1"/>
          </p:cNvSpPr>
          <p:nvPr>
            <p:ph type="title"/>
          </p:nvPr>
        </p:nvSpPr>
        <p:spPr/>
        <p:txBody>
          <a:bodyPr/>
          <a:lstStyle/>
          <a:p>
            <a:pPr eaLnBrk="1" hangingPunct="1"/>
            <a:r>
              <a:rPr lang="ru-RU"/>
              <a:t>Операции с нечеткими числами</a:t>
            </a:r>
          </a:p>
        </p:txBody>
      </p:sp>
      <p:pic>
        <p:nvPicPr>
          <p:cNvPr id="8499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5" y="1428750"/>
            <a:ext cx="8302625" cy="4786313"/>
          </a:xfrm>
          <a:noFill/>
        </p:spPr>
      </p:pic>
      <p:sp>
        <p:nvSpPr>
          <p:cNvPr id="5" name="Номер слайда 4"/>
          <p:cNvSpPr>
            <a:spLocks noGrp="1"/>
          </p:cNvSpPr>
          <p:nvPr>
            <p:ph type="sldNum" sz="quarter" idx="12"/>
          </p:nvPr>
        </p:nvSpPr>
        <p:spPr/>
        <p:txBody>
          <a:bodyPr/>
          <a:lstStyle/>
          <a:p>
            <a:pPr>
              <a:defRPr/>
            </a:pPr>
            <a:fld id="{E41788EC-5FC1-43C8-8BBC-873928A5B194}" type="slidenum">
              <a:rPr lang="ru-RU"/>
              <a:pPr>
                <a:defRPr/>
              </a:pPr>
              <a:t>18</a:t>
            </a:fld>
            <a:endParaRPr lang="ru-R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Заголовок 1"/>
          <p:cNvSpPr>
            <a:spLocks noGrp="1"/>
          </p:cNvSpPr>
          <p:nvPr>
            <p:ph type="title"/>
          </p:nvPr>
        </p:nvSpPr>
        <p:spPr/>
        <p:txBody>
          <a:bodyPr/>
          <a:lstStyle/>
          <a:p>
            <a:pPr eaLnBrk="1" hangingPunct="1"/>
            <a:r>
              <a:rPr lang="ru-RU"/>
              <a:t>Метод центра тяжести</a:t>
            </a:r>
          </a:p>
        </p:txBody>
      </p:sp>
      <p:pic>
        <p:nvPicPr>
          <p:cNvPr id="86019" name="Picture 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57250" y="1500188"/>
            <a:ext cx="7572375" cy="5238750"/>
          </a:xfrm>
          <a:noFill/>
        </p:spPr>
      </p:pic>
      <p:sp>
        <p:nvSpPr>
          <p:cNvPr id="5" name="Номер слайда 4"/>
          <p:cNvSpPr>
            <a:spLocks noGrp="1"/>
          </p:cNvSpPr>
          <p:nvPr>
            <p:ph type="sldNum" sz="quarter" idx="12"/>
          </p:nvPr>
        </p:nvSpPr>
        <p:spPr/>
        <p:txBody>
          <a:bodyPr/>
          <a:lstStyle/>
          <a:p>
            <a:pPr>
              <a:defRPr/>
            </a:pPr>
            <a:fld id="{6D350A10-8121-4E28-91A3-55B106B13CBA}" type="slidenum">
              <a:rPr lang="ru-RU"/>
              <a:pPr>
                <a:defRPr/>
              </a:pPr>
              <a:t>19</a:t>
            </a:fld>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Заголовок 1"/>
          <p:cNvSpPr>
            <a:spLocks noGrp="1"/>
          </p:cNvSpPr>
          <p:nvPr>
            <p:ph type="title"/>
          </p:nvPr>
        </p:nvSpPr>
        <p:spPr/>
        <p:txBody>
          <a:bodyPr/>
          <a:lstStyle/>
          <a:p>
            <a:pPr eaLnBrk="1" hangingPunct="1"/>
            <a:r>
              <a:rPr lang="ru-RU"/>
              <a:t>Метод медиан</a:t>
            </a:r>
          </a:p>
        </p:txBody>
      </p:sp>
      <p:pic>
        <p:nvPicPr>
          <p:cNvPr id="870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 y="1500188"/>
            <a:ext cx="8551863" cy="4286250"/>
          </a:xfrm>
          <a:noFill/>
        </p:spPr>
      </p:pic>
      <p:sp>
        <p:nvSpPr>
          <p:cNvPr id="5" name="Номер слайда 4"/>
          <p:cNvSpPr>
            <a:spLocks noGrp="1"/>
          </p:cNvSpPr>
          <p:nvPr>
            <p:ph type="sldNum" sz="quarter" idx="12"/>
          </p:nvPr>
        </p:nvSpPr>
        <p:spPr/>
        <p:txBody>
          <a:bodyPr/>
          <a:lstStyle/>
          <a:p>
            <a:pPr>
              <a:defRPr/>
            </a:pPr>
            <a:fld id="{2242D75A-C529-436C-854F-5C09A3F23597}" type="slidenum">
              <a:rPr lang="ru-RU"/>
              <a:pPr>
                <a:defRPr/>
              </a:pPr>
              <a:t>20</a:t>
            </a:fld>
            <a:endParaRPr lang="ru-RU"/>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Заголовок 1"/>
          <p:cNvSpPr>
            <a:spLocks noGrp="1"/>
          </p:cNvSpPr>
          <p:nvPr>
            <p:ph type="title"/>
          </p:nvPr>
        </p:nvSpPr>
        <p:spPr/>
        <p:txBody>
          <a:bodyPr/>
          <a:lstStyle/>
          <a:p>
            <a:pPr eaLnBrk="1" hangingPunct="1"/>
            <a:r>
              <a:rPr lang="ru-RU"/>
              <a:t>Метод центра максимумов</a:t>
            </a:r>
          </a:p>
        </p:txBody>
      </p:sp>
      <p:pic>
        <p:nvPicPr>
          <p:cNvPr id="880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0063" y="1643063"/>
            <a:ext cx="8358187" cy="4581525"/>
          </a:xfrm>
          <a:noFill/>
        </p:spPr>
      </p:pic>
      <p:sp>
        <p:nvSpPr>
          <p:cNvPr id="5" name="Номер слайда 4"/>
          <p:cNvSpPr>
            <a:spLocks noGrp="1"/>
          </p:cNvSpPr>
          <p:nvPr>
            <p:ph type="sldNum" sz="quarter" idx="12"/>
          </p:nvPr>
        </p:nvSpPr>
        <p:spPr/>
        <p:txBody>
          <a:bodyPr/>
          <a:lstStyle/>
          <a:p>
            <a:pPr>
              <a:defRPr/>
            </a:pPr>
            <a:fld id="{6938C123-D701-4D05-A7D7-12C8DBD077F3}" type="slidenum">
              <a:rPr lang="ru-RU"/>
              <a:pPr>
                <a:defRPr/>
              </a:pPr>
              <a:t>21</a:t>
            </a:fld>
            <a:endParaRPr lang="ru-RU"/>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Методы наибольшего и наименьшего максимума</a:t>
            </a:r>
          </a:p>
        </p:txBody>
      </p:sp>
      <p:sp>
        <p:nvSpPr>
          <p:cNvPr id="3" name="Содержимое 2"/>
          <p:cNvSpPr>
            <a:spLocks noGrp="1"/>
          </p:cNvSpPr>
          <p:nvPr>
            <p:ph idx="1"/>
          </p:nvPr>
        </p:nvSpPr>
        <p:spPr/>
        <p:txBody>
          <a:bodyPr rtlCol="0">
            <a:normAutofit fontScale="92500"/>
          </a:bodyPr>
          <a:lstStyle/>
          <a:p>
            <a:pPr eaLnBrk="1" fontAlgn="auto" hangingPunct="1">
              <a:spcAft>
                <a:spcPts val="0"/>
              </a:spcAft>
              <a:buFont typeface="Arial" pitchFamily="34" charset="0"/>
              <a:buChar char="•"/>
              <a:defRPr/>
            </a:pPr>
            <a:r>
              <a:rPr lang="ru-RU" dirty="0"/>
              <a:t>В дискретном случае </a:t>
            </a:r>
            <a:r>
              <a:rPr lang="ru-RU" i="1" dirty="0" err="1"/>
              <a:t>дефаззификация</a:t>
            </a:r>
            <a:r>
              <a:rPr lang="ru-RU" i="1" dirty="0"/>
              <a:t> </a:t>
            </a:r>
            <a:r>
              <a:rPr lang="ru-RU" dirty="0"/>
              <a:t>по методам наибольшего из максимумов и наименьшего из максимумов осуществляется по формулам </a:t>
            </a:r>
            <a:r>
              <a:rPr lang="en-US" i="1" dirty="0"/>
              <a:t>a</a:t>
            </a:r>
            <a:r>
              <a:rPr lang="ru-RU" i="1" dirty="0"/>
              <a:t>=</a:t>
            </a:r>
            <a:r>
              <a:rPr lang="en-US" dirty="0"/>
              <a:t>max</a:t>
            </a:r>
            <a:r>
              <a:rPr lang="ru-RU" i="1" dirty="0"/>
              <a:t>(</a:t>
            </a:r>
            <a:r>
              <a:rPr lang="en-US" i="1" dirty="0"/>
              <a:t>G</a:t>
            </a:r>
            <a:r>
              <a:rPr lang="ru-RU" i="1" dirty="0"/>
              <a:t>)</a:t>
            </a:r>
            <a:r>
              <a:rPr lang="ru-RU" dirty="0"/>
              <a:t> и</a:t>
            </a:r>
            <a:r>
              <a:rPr lang="ru-RU" i="1" dirty="0"/>
              <a:t> </a:t>
            </a:r>
            <a:r>
              <a:rPr lang="en-US" i="1" dirty="0"/>
              <a:t>a</a:t>
            </a:r>
            <a:r>
              <a:rPr lang="ru-RU" i="1" dirty="0"/>
              <a:t>=</a:t>
            </a:r>
            <a:r>
              <a:rPr lang="en-US" dirty="0"/>
              <a:t>min</a:t>
            </a:r>
            <a:r>
              <a:rPr lang="ru-RU" i="1" dirty="0"/>
              <a:t>(</a:t>
            </a:r>
            <a:r>
              <a:rPr lang="en-US" i="1" dirty="0"/>
              <a:t>G</a:t>
            </a:r>
            <a:r>
              <a:rPr lang="ru-RU" i="1" dirty="0"/>
              <a:t>)</a:t>
            </a:r>
            <a:r>
              <a:rPr lang="ru-RU" dirty="0"/>
              <a:t>, соответственно. </a:t>
            </a:r>
          </a:p>
          <a:p>
            <a:pPr eaLnBrk="1" fontAlgn="auto" hangingPunct="1">
              <a:spcAft>
                <a:spcPts val="0"/>
              </a:spcAft>
              <a:buFont typeface="Arial" pitchFamily="34" charset="0"/>
              <a:buChar char="•"/>
              <a:defRPr/>
            </a:pPr>
            <a:r>
              <a:rPr lang="ru-RU" dirty="0"/>
              <a:t>Из последних трех формул видно, что если функция принадлежности имеет только один максимум, то его координата и является четким аналогом нечеткого множества. </a:t>
            </a:r>
          </a:p>
          <a:p>
            <a:pPr eaLnBrk="1" fontAlgn="auto" hangingPunct="1">
              <a:spcAft>
                <a:spcPts val="0"/>
              </a:spcAft>
              <a:buFont typeface="Arial" pitchFamily="34" charset="0"/>
              <a:buChar char="•"/>
              <a:defRPr/>
            </a:pPr>
            <a:endParaRPr lang="ru-RU" dirty="0"/>
          </a:p>
        </p:txBody>
      </p:sp>
      <p:sp>
        <p:nvSpPr>
          <p:cNvPr id="4" name="Номер слайда 3"/>
          <p:cNvSpPr>
            <a:spLocks noGrp="1"/>
          </p:cNvSpPr>
          <p:nvPr>
            <p:ph type="sldNum" sz="quarter" idx="12"/>
          </p:nvPr>
        </p:nvSpPr>
        <p:spPr/>
        <p:txBody>
          <a:bodyPr/>
          <a:lstStyle/>
          <a:p>
            <a:pPr>
              <a:defRPr/>
            </a:pPr>
            <a:fld id="{B317DAE4-D684-4AAC-866B-519755DAB187}" type="slidenum">
              <a:rPr lang="ru-RU"/>
              <a:pPr>
                <a:defRPr/>
              </a:pPr>
              <a:t>22</a:t>
            </a:fld>
            <a:endParaRPr lang="ru-RU"/>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Подмножества </a:t>
            </a:r>
            <a:r>
              <a:rPr lang="ru-RU" dirty="0" err="1"/>
              <a:t>α </a:t>
            </a:r>
            <a:r>
              <a:rPr lang="ru-RU" dirty="0"/>
              <a:t>- уровня. Декомпозиция нечет­ких множеств.</a:t>
            </a:r>
          </a:p>
        </p:txBody>
      </p:sp>
      <p:sp>
        <p:nvSpPr>
          <p:cNvPr id="90115" name="Содержимое 2"/>
          <p:cNvSpPr>
            <a:spLocks noGrp="1"/>
          </p:cNvSpPr>
          <p:nvPr>
            <p:ph sz="half" idx="1"/>
          </p:nvPr>
        </p:nvSpPr>
        <p:spPr>
          <a:xfrm>
            <a:off x="457200" y="1928813"/>
            <a:ext cx="4038600" cy="4197350"/>
          </a:xfrm>
        </p:spPr>
        <p:txBody>
          <a:bodyPr/>
          <a:lstStyle/>
          <a:p>
            <a:pPr eaLnBrk="1" hangingPunct="1"/>
            <a:r>
              <a:rPr lang="ru-RU" dirty="0"/>
              <a:t>Пусть </a:t>
            </a:r>
            <a:r>
              <a:rPr lang="ru-RU" i="1" dirty="0"/>
              <a:t>α</a:t>
            </a:r>
            <a:r>
              <a:rPr lang="ru-RU" dirty="0"/>
              <a:t> число из диапазона [0,1]. Подмножеством </a:t>
            </a:r>
            <a:r>
              <a:rPr lang="ru-RU" i="1" dirty="0"/>
              <a:t>α</a:t>
            </a:r>
            <a:r>
              <a:rPr lang="ru-RU" dirty="0"/>
              <a:t>-уровня нечеткого множества </a:t>
            </a:r>
            <a:r>
              <a:rPr lang="ru-RU" i="1" dirty="0"/>
              <a:t>А</a:t>
            </a:r>
            <a:r>
              <a:rPr lang="ru-RU" dirty="0"/>
              <a:t> называется </a:t>
            </a:r>
            <a:r>
              <a:rPr lang="ru-RU" b="1" i="1" dirty="0"/>
              <a:t>обычное</a:t>
            </a:r>
            <a:r>
              <a:rPr lang="ru-RU" dirty="0"/>
              <a:t> (</a:t>
            </a:r>
            <a:r>
              <a:rPr lang="ru-RU" b="1" i="1" dirty="0"/>
              <a:t>четкое</a:t>
            </a:r>
            <a:r>
              <a:rPr lang="ru-RU" dirty="0"/>
              <a:t>) множество:</a:t>
            </a:r>
            <a:br>
              <a:rPr lang="ru-RU" dirty="0"/>
            </a:br>
            <a:r>
              <a:rPr lang="ru-RU" i="1" dirty="0"/>
              <a:t>А</a:t>
            </a:r>
            <a:r>
              <a:rPr lang="ru-RU" i="1" baseline="-25000" dirty="0"/>
              <a:t>α</a:t>
            </a:r>
            <a:r>
              <a:rPr lang="ru-RU" i="1" dirty="0"/>
              <a:t> = {и</a:t>
            </a:r>
            <a:r>
              <a:rPr lang="ru-RU" dirty="0"/>
              <a:t> </a:t>
            </a:r>
            <a:r>
              <a:rPr lang="ru-RU" i="1" dirty="0"/>
              <a:t>U : µ</a:t>
            </a:r>
            <a:r>
              <a:rPr lang="en-US" i="1" baseline="-25000" dirty="0"/>
              <a:t>A</a:t>
            </a:r>
            <a:r>
              <a:rPr lang="ru-RU" i="1" dirty="0"/>
              <a:t>(</a:t>
            </a:r>
            <a:r>
              <a:rPr lang="en-US" i="1" dirty="0"/>
              <a:t>u</a:t>
            </a:r>
            <a:r>
              <a:rPr lang="ru-RU" i="1" dirty="0"/>
              <a:t>) &gt; a}.</a:t>
            </a:r>
            <a:endParaRPr lang="ru-RU" dirty="0"/>
          </a:p>
          <a:p>
            <a:pPr eaLnBrk="1" hangingPunct="1"/>
            <a:endParaRPr lang="ru-RU" dirty="0"/>
          </a:p>
        </p:txBody>
      </p:sp>
      <p:pic>
        <p:nvPicPr>
          <p:cNvPr id="90116"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5000625" y="1500188"/>
            <a:ext cx="3143250" cy="5097462"/>
          </a:xfrm>
          <a:noFill/>
        </p:spPr>
      </p:pic>
      <p:sp>
        <p:nvSpPr>
          <p:cNvPr id="6" name="Номер слайда 5"/>
          <p:cNvSpPr>
            <a:spLocks noGrp="1"/>
          </p:cNvSpPr>
          <p:nvPr>
            <p:ph type="sldNum" sz="quarter" idx="12"/>
          </p:nvPr>
        </p:nvSpPr>
        <p:spPr/>
        <p:txBody>
          <a:bodyPr/>
          <a:lstStyle/>
          <a:p>
            <a:pPr>
              <a:defRPr/>
            </a:pPr>
            <a:fld id="{845CC447-17B7-4F3E-9E94-2E54A095BD95}" type="slidenum">
              <a:rPr lang="ru-RU"/>
              <a:pPr>
                <a:defRPr/>
              </a:pPr>
              <a:t>23</a:t>
            </a:fld>
            <a:endParaRPr lang="ru-RU"/>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p:cNvSpPr>
            <a:spLocks noGrp="1"/>
          </p:cNvSpPr>
          <p:nvPr>
            <p:ph type="title"/>
          </p:nvPr>
        </p:nvSpPr>
        <p:spPr/>
        <p:txBody>
          <a:bodyPr rtlCol="0">
            <a:normAutofit fontScale="90000"/>
          </a:bodyPr>
          <a:lstStyle/>
          <a:p>
            <a:pPr eaLnBrk="1" fontAlgn="auto" hangingPunct="1">
              <a:spcAft>
                <a:spcPts val="0"/>
              </a:spcAft>
              <a:defRPr/>
            </a:pPr>
            <a:r>
              <a:rPr lang="ru-RU" dirty="0"/>
              <a:t>Декомпозиция нечеткого множества</a:t>
            </a:r>
          </a:p>
        </p:txBody>
      </p:sp>
      <p:sp>
        <p:nvSpPr>
          <p:cNvPr id="5" name="Номер слайда 4"/>
          <p:cNvSpPr>
            <a:spLocks noGrp="1"/>
          </p:cNvSpPr>
          <p:nvPr>
            <p:ph type="sldNum" sz="quarter" idx="12"/>
          </p:nvPr>
        </p:nvSpPr>
        <p:spPr/>
        <p:txBody>
          <a:bodyPr/>
          <a:lstStyle/>
          <a:p>
            <a:pPr>
              <a:defRPr/>
            </a:pPr>
            <a:fld id="{BBC4E5E6-A3CE-4C12-96C0-F3165C49D1CF}" type="slidenum">
              <a:rPr lang="ru-RU"/>
              <a:pPr>
                <a:defRPr/>
              </a:pPr>
              <a:t>24</a:t>
            </a:fld>
            <a:endParaRPr lang="ru-RU"/>
          </a:p>
        </p:txBody>
      </p:sp>
      <p:pic>
        <p:nvPicPr>
          <p:cNvPr id="911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063" y="4143375"/>
            <a:ext cx="8313737"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4313" y="1500188"/>
            <a:ext cx="85725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Заголовок 1"/>
          <p:cNvSpPr>
            <a:spLocks noGrp="1"/>
          </p:cNvSpPr>
          <p:nvPr>
            <p:ph type="title"/>
          </p:nvPr>
        </p:nvSpPr>
        <p:spPr/>
        <p:txBody>
          <a:bodyPr/>
          <a:lstStyle/>
          <a:p>
            <a:pPr eaLnBrk="1" hangingPunct="1"/>
            <a:r>
              <a:rPr lang="ru-RU"/>
              <a:t>Синтез нечеткого подмножества</a:t>
            </a:r>
          </a:p>
        </p:txBody>
      </p:sp>
      <p:sp>
        <p:nvSpPr>
          <p:cNvPr id="4" name="Номер слайда 3"/>
          <p:cNvSpPr>
            <a:spLocks noGrp="1"/>
          </p:cNvSpPr>
          <p:nvPr>
            <p:ph type="sldNum" sz="quarter" idx="12"/>
          </p:nvPr>
        </p:nvSpPr>
        <p:spPr/>
        <p:txBody>
          <a:bodyPr/>
          <a:lstStyle/>
          <a:p>
            <a:pPr>
              <a:defRPr/>
            </a:pPr>
            <a:fld id="{01BA4411-8A9B-4ACA-B104-0344C1592022}" type="slidenum">
              <a:rPr lang="ru-RU"/>
              <a:pPr>
                <a:defRPr/>
              </a:pPr>
              <a:t>25</a:t>
            </a:fld>
            <a:endParaRPr lang="ru-RU"/>
          </a:p>
        </p:txBody>
      </p:sp>
      <p:pic>
        <p:nvPicPr>
          <p:cNvPr id="9216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85750" y="1643063"/>
            <a:ext cx="8440738" cy="4429125"/>
          </a:xfr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Заголовок 4"/>
          <p:cNvSpPr>
            <a:spLocks noGrp="1"/>
          </p:cNvSpPr>
          <p:nvPr>
            <p:ph type="ctrTitle"/>
          </p:nvPr>
        </p:nvSpPr>
        <p:spPr/>
        <p:txBody>
          <a:bodyPr/>
          <a:lstStyle/>
          <a:p>
            <a:pPr eaLnBrk="1" hangingPunct="1"/>
            <a:r>
              <a:rPr lang="ru-RU"/>
              <a:t>Лингвистическая переменная</a:t>
            </a:r>
          </a:p>
        </p:txBody>
      </p:sp>
      <p:sp>
        <p:nvSpPr>
          <p:cNvPr id="2" name="Подзаголовок 1">
            <a:extLst>
              <a:ext uri="{FF2B5EF4-FFF2-40B4-BE49-F238E27FC236}">
                <a16:creationId xmlns:a16="http://schemas.microsoft.com/office/drawing/2014/main" id="{3171458B-D366-F60D-CF38-9645956C863F}"/>
              </a:ext>
            </a:extLst>
          </p:cNvPr>
          <p:cNvSpPr>
            <a:spLocks noGrp="1"/>
          </p:cNvSpPr>
          <p:nvPr>
            <p:ph type="subTitle" idx="1"/>
          </p:nvPr>
        </p:nvSpPr>
        <p:spPr/>
        <p:txBody>
          <a:bodyPr/>
          <a:lstStyle/>
          <a:p>
            <a:endParaRPr lang="ru-RU"/>
          </a:p>
        </p:txBody>
      </p:sp>
      <p:sp>
        <p:nvSpPr>
          <p:cNvPr id="4" name="Номер слайда 3"/>
          <p:cNvSpPr>
            <a:spLocks noGrp="1"/>
          </p:cNvSpPr>
          <p:nvPr>
            <p:ph type="sldNum" sz="quarter" idx="12"/>
          </p:nvPr>
        </p:nvSpPr>
        <p:spPr/>
        <p:txBody>
          <a:bodyPr/>
          <a:lstStyle/>
          <a:p>
            <a:pPr>
              <a:defRPr/>
            </a:pPr>
            <a:fld id="{A0A5390F-E7BD-482A-916F-FBFD2A93A17D}" type="slidenum">
              <a:rPr lang="ru-RU" smtClean="0"/>
              <a:pPr>
                <a:defRPr/>
              </a:pPr>
              <a:t>26</a:t>
            </a:fld>
            <a:endParaRPr lang="ru-RU"/>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Заголовок 1"/>
          <p:cNvSpPr>
            <a:spLocks noGrp="1"/>
          </p:cNvSpPr>
          <p:nvPr>
            <p:ph type="title"/>
          </p:nvPr>
        </p:nvSpPr>
        <p:spPr/>
        <p:txBody>
          <a:bodyPr/>
          <a:lstStyle/>
          <a:p>
            <a:pPr eaLnBrk="1" hangingPunct="1"/>
            <a:r>
              <a:rPr lang="ru-RU" sz="3600"/>
              <a:t>Понятие лингвистической переменной</a:t>
            </a:r>
          </a:p>
        </p:txBody>
      </p:sp>
      <p:sp>
        <p:nvSpPr>
          <p:cNvPr id="94211" name="Содержимое 2"/>
          <p:cNvSpPr>
            <a:spLocks noGrp="1"/>
          </p:cNvSpPr>
          <p:nvPr>
            <p:ph idx="1"/>
          </p:nvPr>
        </p:nvSpPr>
        <p:spPr>
          <a:xfrm>
            <a:off x="457200" y="1285875"/>
            <a:ext cx="8229600" cy="4840288"/>
          </a:xfrm>
        </p:spPr>
        <p:txBody>
          <a:bodyPr/>
          <a:lstStyle/>
          <a:p>
            <a:pPr eaLnBrk="1" hangingPunct="1"/>
            <a:r>
              <a:rPr lang="ru-RU" sz="2000"/>
              <a:t>Лингвистическая переменная отличается от числовой переменной тем, что ее значениями являются не числа, а слова или предложения в естественном или формальном языке. </a:t>
            </a:r>
          </a:p>
          <a:p>
            <a:pPr eaLnBrk="1" hangingPunct="1"/>
            <a:r>
              <a:rPr lang="ru-RU" sz="2000"/>
              <a:t>Поскольку слова в общем менее точны, чем числа, понятие лингвистической переменной дает возможность приближенно описывать явления, которые настолько сложны, что не поддаются описанию в общепринятых количественных терминах. </a:t>
            </a:r>
          </a:p>
          <a:p>
            <a:pPr eaLnBrk="1" hangingPunct="1"/>
            <a:r>
              <a:rPr lang="ru-RU" sz="2000"/>
              <a:t>В частности, нечеткое множество, которое представляет собой ограничение, связанное со значениями лингвистической переменной, можно рассматривать как совокупную характеристику различных подклассов элементов универсального множества. </a:t>
            </a:r>
          </a:p>
          <a:p>
            <a:pPr eaLnBrk="1" hangingPunct="1"/>
            <a:r>
              <a:rPr lang="ru-RU" sz="2000"/>
              <a:t>В этом смысле роль нечетких множеств аналогична той роли, которую играют слова и предложения в естественном языке. </a:t>
            </a:r>
          </a:p>
          <a:p>
            <a:pPr eaLnBrk="1" hangingPunct="1"/>
            <a:endParaRPr lang="ru-RU" sz="2000"/>
          </a:p>
        </p:txBody>
      </p:sp>
      <p:sp>
        <p:nvSpPr>
          <p:cNvPr id="4" name="Номер слайда 3"/>
          <p:cNvSpPr>
            <a:spLocks noGrp="1"/>
          </p:cNvSpPr>
          <p:nvPr>
            <p:ph type="sldNum" sz="quarter" idx="12"/>
          </p:nvPr>
        </p:nvSpPr>
        <p:spPr/>
        <p:txBody>
          <a:bodyPr/>
          <a:lstStyle/>
          <a:p>
            <a:pPr>
              <a:defRPr/>
            </a:pPr>
            <a:fld id="{DB26CEE1-662F-4D55-8C72-367B2264FA33}" type="slidenum">
              <a:rPr lang="ru-RU" smtClean="0"/>
              <a:pPr>
                <a:defRPr/>
              </a:pPr>
              <a:t>27</a:t>
            </a:fld>
            <a:endParaRPr lang="ru-RU"/>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Заголовок 1"/>
          <p:cNvSpPr>
            <a:spLocks noGrp="1"/>
          </p:cNvSpPr>
          <p:nvPr>
            <p:ph type="title"/>
          </p:nvPr>
        </p:nvSpPr>
        <p:spPr/>
        <p:txBody>
          <a:bodyPr/>
          <a:lstStyle/>
          <a:p>
            <a:pPr eaLnBrk="1" hangingPunct="1"/>
            <a:r>
              <a:rPr lang="ru-RU" sz="3600"/>
              <a:t>Понятие лингвистической переменной</a:t>
            </a:r>
          </a:p>
        </p:txBody>
      </p:sp>
      <p:sp>
        <p:nvSpPr>
          <p:cNvPr id="3" name="Содержимое 2"/>
          <p:cNvSpPr>
            <a:spLocks noGrp="1"/>
          </p:cNvSpPr>
          <p:nvPr>
            <p:ph idx="1"/>
          </p:nvPr>
        </p:nvSpPr>
        <p:spPr/>
        <p:txBody>
          <a:bodyPr rtlCol="0">
            <a:normAutofit fontScale="85000" lnSpcReduction="10000"/>
          </a:bodyPr>
          <a:lstStyle/>
          <a:p>
            <a:pPr eaLnBrk="1" fontAlgn="auto" hangingPunct="1">
              <a:spcAft>
                <a:spcPts val="0"/>
              </a:spcAft>
              <a:buFont typeface="Arial" pitchFamily="34" charset="0"/>
              <a:buChar char="•"/>
              <a:defRPr/>
            </a:pPr>
            <a:r>
              <a:rPr lang="ru-RU" i="1" dirty="0"/>
              <a:t>Лингвистической </a:t>
            </a:r>
            <a:r>
              <a:rPr lang="ru-RU" dirty="0"/>
              <a:t>называется переменная, принимающая значения из множества слов или словосочетаний некоторого естественного или искусственного языка. </a:t>
            </a:r>
          </a:p>
          <a:p>
            <a:pPr eaLnBrk="1" fontAlgn="auto" hangingPunct="1">
              <a:spcAft>
                <a:spcPts val="0"/>
              </a:spcAft>
              <a:buFont typeface="Arial" pitchFamily="34" charset="0"/>
              <a:buChar char="•"/>
              <a:defRPr/>
            </a:pPr>
            <a:r>
              <a:rPr lang="ru-RU" dirty="0"/>
              <a:t>Задание значения переменной словами, без использования чисел, для человека более естественно. </a:t>
            </a:r>
          </a:p>
          <a:p>
            <a:pPr eaLnBrk="1" fontAlgn="auto" hangingPunct="1">
              <a:spcAft>
                <a:spcPts val="0"/>
              </a:spcAft>
              <a:buFont typeface="Arial" pitchFamily="34" charset="0"/>
              <a:buChar char="•"/>
              <a:defRPr/>
            </a:pPr>
            <a:r>
              <a:rPr lang="ru-RU" dirty="0"/>
              <a:t>Ежедневно мы принимаем решения на основе лингвистической информации типа: "очень высокая температура"; "длительная поездка"; "быстрый ответ"; "красивый букет"; "гармоничный вкус" и т.п.</a:t>
            </a:r>
          </a:p>
        </p:txBody>
      </p:sp>
      <p:sp>
        <p:nvSpPr>
          <p:cNvPr id="4" name="Номер слайда 3"/>
          <p:cNvSpPr>
            <a:spLocks noGrp="1"/>
          </p:cNvSpPr>
          <p:nvPr>
            <p:ph type="sldNum" sz="quarter" idx="12"/>
          </p:nvPr>
        </p:nvSpPr>
        <p:spPr/>
        <p:txBody>
          <a:bodyPr/>
          <a:lstStyle/>
          <a:p>
            <a:pPr>
              <a:defRPr/>
            </a:pPr>
            <a:fld id="{4B2D147D-5992-4109-AB5D-1D53E45E736E}" type="slidenum">
              <a:rPr lang="ru-RU"/>
              <a:pPr>
                <a:defRPr/>
              </a:pPr>
              <a:t>28</a:t>
            </a:fld>
            <a:endParaRPr lang="ru-RU"/>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Заголовок 1"/>
          <p:cNvSpPr>
            <a:spLocks noGrp="1"/>
          </p:cNvSpPr>
          <p:nvPr>
            <p:ph type="title"/>
          </p:nvPr>
        </p:nvSpPr>
        <p:spPr/>
        <p:txBody>
          <a:bodyPr/>
          <a:lstStyle/>
          <a:p>
            <a:pPr eaLnBrk="1" hangingPunct="1"/>
            <a:r>
              <a:rPr lang="ru-RU" sz="3600"/>
              <a:t>Понятие лингвистической переменной</a:t>
            </a:r>
          </a:p>
        </p:txBody>
      </p:sp>
      <p:sp>
        <p:nvSpPr>
          <p:cNvPr id="96259" name="Содержимое 2"/>
          <p:cNvSpPr>
            <a:spLocks noGrp="1"/>
          </p:cNvSpPr>
          <p:nvPr>
            <p:ph idx="1"/>
          </p:nvPr>
        </p:nvSpPr>
        <p:spPr>
          <a:xfrm>
            <a:off x="457200" y="1357313"/>
            <a:ext cx="8229600" cy="4768850"/>
          </a:xfrm>
        </p:spPr>
        <p:txBody>
          <a:bodyPr/>
          <a:lstStyle/>
          <a:p>
            <a:pPr eaLnBrk="1" hangingPunct="1"/>
            <a:r>
              <a:rPr lang="ru-RU" sz="2400"/>
              <a:t>Например, значениями лингвистической переменной "ВОЗРАСТ" могут быть: "МОЛОДОЙ, НЕМОЛОДОЙ, СТАРЫЙ, ОЧЕНЬ СТАРЫЙ, НЕ МОЛОДОЙ И НЕ СТАРЫЙ" и т.п. </a:t>
            </a:r>
          </a:p>
          <a:p>
            <a:pPr eaLnBrk="1" hangingPunct="1"/>
            <a:r>
              <a:rPr lang="ru-RU" sz="2400"/>
              <a:t>Другой важный аспект понятия лингвистической переменной состоит в том, что лингвистической переменной присущи два правила:</a:t>
            </a:r>
          </a:p>
          <a:p>
            <a:pPr lvl="1" eaLnBrk="1" hangingPunct="1"/>
            <a:r>
              <a:rPr lang="ru-RU" sz="2000"/>
              <a:t>Cинтаксическое, которое может быть задано в форме грамматики, порождающей название значений переменной;</a:t>
            </a:r>
          </a:p>
          <a:p>
            <a:pPr lvl="1" eaLnBrk="1" hangingPunct="1"/>
            <a:r>
              <a:rPr lang="ru-RU" sz="2000"/>
              <a:t>Cемантическое, которое определяет алгоритмическую процедуру для вычисления смысла каждого значения.</a:t>
            </a:r>
          </a:p>
          <a:p>
            <a:pPr eaLnBrk="1" hangingPunct="1"/>
            <a:endParaRPr lang="ru-RU" sz="2400"/>
          </a:p>
        </p:txBody>
      </p:sp>
      <p:sp>
        <p:nvSpPr>
          <p:cNvPr id="4" name="Номер слайда 3"/>
          <p:cNvSpPr>
            <a:spLocks noGrp="1"/>
          </p:cNvSpPr>
          <p:nvPr>
            <p:ph type="sldNum" sz="quarter" idx="12"/>
          </p:nvPr>
        </p:nvSpPr>
        <p:spPr/>
        <p:txBody>
          <a:bodyPr/>
          <a:lstStyle/>
          <a:p>
            <a:pPr>
              <a:defRPr/>
            </a:pPr>
            <a:fld id="{7EA5D12E-679B-4FE2-8D27-879A7E280806}" type="slidenum">
              <a:rPr lang="ru-RU" smtClean="0"/>
              <a:pPr>
                <a:defRPr/>
              </a:pPr>
              <a:t>29</a:t>
            </a:fld>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Заголовок 1"/>
          <p:cNvSpPr>
            <a:spLocks noGrp="1"/>
          </p:cNvSpPr>
          <p:nvPr>
            <p:ph type="title"/>
          </p:nvPr>
        </p:nvSpPr>
        <p:spPr/>
        <p:txBody>
          <a:bodyPr/>
          <a:lstStyle/>
          <a:p>
            <a:pPr eaLnBrk="1" hangingPunct="1"/>
            <a:r>
              <a:rPr lang="ru-RU" dirty="0"/>
              <a:t>Определение ЛП</a:t>
            </a:r>
          </a:p>
        </p:txBody>
      </p:sp>
      <p:sp>
        <p:nvSpPr>
          <p:cNvPr id="97283" name="Содержимое 2"/>
          <p:cNvSpPr>
            <a:spLocks noGrp="1"/>
          </p:cNvSpPr>
          <p:nvPr>
            <p:ph idx="1"/>
          </p:nvPr>
        </p:nvSpPr>
        <p:spPr/>
        <p:txBody>
          <a:bodyPr/>
          <a:lstStyle/>
          <a:p>
            <a:pPr eaLnBrk="1" hangingPunct="1">
              <a:lnSpc>
                <a:spcPct val="80000"/>
              </a:lnSpc>
            </a:pPr>
            <a:r>
              <a:rPr lang="ru-RU" sz="2200" dirty="0"/>
              <a:t>Формально, лингвистическая переменная задается пятеркой </a:t>
            </a:r>
            <a:r>
              <a:rPr lang="ru-RU" sz="2200" i="1" dirty="0"/>
              <a:t>&lt;</a:t>
            </a:r>
            <a:r>
              <a:rPr lang="en-US" sz="2200" i="1" dirty="0"/>
              <a:t>X</a:t>
            </a:r>
            <a:r>
              <a:rPr lang="ru-RU" sz="2200" i="1" dirty="0"/>
              <a:t>, </a:t>
            </a:r>
            <a:r>
              <a:rPr lang="en-US" sz="2200" i="1" dirty="0"/>
              <a:t>T(X)</a:t>
            </a:r>
            <a:r>
              <a:rPr lang="ru-RU" sz="2200" i="1" dirty="0"/>
              <a:t>, </a:t>
            </a:r>
            <a:r>
              <a:rPr lang="en-US" sz="2200" i="1" dirty="0"/>
              <a:t>U</a:t>
            </a:r>
            <a:r>
              <a:rPr lang="ru-RU" sz="2200" i="1" dirty="0"/>
              <a:t>, </a:t>
            </a:r>
            <a:r>
              <a:rPr lang="en-US" sz="2200" i="1" dirty="0"/>
              <a:t>M</a:t>
            </a:r>
            <a:r>
              <a:rPr lang="ru-RU" sz="2200" i="1" dirty="0"/>
              <a:t>, </a:t>
            </a:r>
            <a:r>
              <a:rPr lang="en-US" sz="2200" i="1" dirty="0"/>
              <a:t>G </a:t>
            </a:r>
            <a:r>
              <a:rPr lang="ru-RU" sz="2200" i="1" dirty="0"/>
              <a:t>&gt;</a:t>
            </a:r>
            <a:r>
              <a:rPr lang="ru-RU" sz="2200" dirty="0"/>
              <a:t>, где </a:t>
            </a:r>
            <a:endParaRPr lang="en-US" sz="2200" dirty="0"/>
          </a:p>
          <a:p>
            <a:pPr lvl="1" eaLnBrk="1" hangingPunct="1">
              <a:lnSpc>
                <a:spcPct val="80000"/>
              </a:lnSpc>
              <a:buFont typeface="Arial" charset="0"/>
              <a:buChar char="•"/>
            </a:pPr>
            <a:r>
              <a:rPr lang="en-US" sz="2000" dirty="0"/>
              <a:t>X</a:t>
            </a:r>
            <a:r>
              <a:rPr lang="ru-RU" sz="2000" dirty="0"/>
              <a:t> – имя переменной; </a:t>
            </a:r>
            <a:endParaRPr lang="en-US" sz="2000" dirty="0"/>
          </a:p>
          <a:p>
            <a:pPr lvl="1" eaLnBrk="1" hangingPunct="1">
              <a:lnSpc>
                <a:spcPct val="80000"/>
              </a:lnSpc>
              <a:buFont typeface="Arial" charset="0"/>
              <a:buChar char="•"/>
            </a:pPr>
            <a:r>
              <a:rPr lang="en-US" sz="2000" i="1" dirty="0"/>
              <a:t>T(X)</a:t>
            </a:r>
            <a:r>
              <a:rPr lang="ru-RU" sz="2000" dirty="0"/>
              <a:t> – обозначает терм-множество переменной </a:t>
            </a:r>
            <a:r>
              <a:rPr lang="en-US" sz="2000" i="1" dirty="0"/>
              <a:t>X</a:t>
            </a:r>
            <a:r>
              <a:rPr lang="ru-RU" sz="2000" dirty="0"/>
              <a:t>, т.е. множество названий лингвистических значений переменной </a:t>
            </a:r>
            <a:r>
              <a:rPr lang="en-US" sz="2000" i="1" dirty="0"/>
              <a:t>X</a:t>
            </a:r>
            <a:r>
              <a:rPr lang="ru-RU" sz="2000" dirty="0"/>
              <a:t>, причем каждое из таких значений является нечеткой переменной </a:t>
            </a:r>
            <a:r>
              <a:rPr lang="en-US" sz="2000" i="1" dirty="0"/>
              <a:t>x </a:t>
            </a:r>
            <a:r>
              <a:rPr lang="ru-RU" sz="2000" dirty="0"/>
              <a:t>со значениями из универсального множества </a:t>
            </a:r>
            <a:r>
              <a:rPr lang="en-US" sz="2000" i="1" dirty="0"/>
              <a:t>U </a:t>
            </a:r>
            <a:r>
              <a:rPr lang="ru-RU" sz="2000" dirty="0"/>
              <a:t>с базовой переменной </a:t>
            </a:r>
            <a:r>
              <a:rPr lang="en-US" sz="2000" i="1" dirty="0"/>
              <a:t>u;</a:t>
            </a:r>
          </a:p>
          <a:p>
            <a:pPr lvl="1" eaLnBrk="1" hangingPunct="1">
              <a:lnSpc>
                <a:spcPct val="80000"/>
              </a:lnSpc>
              <a:buFont typeface="Arial" charset="0"/>
              <a:buChar char="•"/>
            </a:pPr>
            <a:r>
              <a:rPr lang="en-US" sz="2000" i="1" dirty="0"/>
              <a:t>U – </a:t>
            </a:r>
            <a:r>
              <a:rPr lang="ru-RU" sz="2000" i="1" dirty="0"/>
              <a:t>универсальное множество;</a:t>
            </a:r>
            <a:endParaRPr lang="en-US" sz="2000" i="1" dirty="0"/>
          </a:p>
          <a:p>
            <a:pPr lvl="1" eaLnBrk="1" hangingPunct="1">
              <a:lnSpc>
                <a:spcPct val="80000"/>
              </a:lnSpc>
              <a:buFont typeface="Arial" charset="0"/>
              <a:buChar char="•"/>
            </a:pPr>
            <a:r>
              <a:rPr lang="en-US" sz="2000" dirty="0"/>
              <a:t>M</a:t>
            </a:r>
            <a:r>
              <a:rPr lang="ru-RU" sz="2000" dirty="0"/>
              <a:t> – семантические правила, задающие функции принадлежности нечетких термов, которое ставит в соответствие каждой нечеткой переменной </a:t>
            </a:r>
            <a:r>
              <a:rPr lang="en-US" sz="2000" i="1" dirty="0"/>
              <a:t>x </a:t>
            </a:r>
            <a:r>
              <a:rPr lang="ru-RU" sz="2000" dirty="0"/>
              <a:t>ее смысл </a:t>
            </a:r>
            <a:r>
              <a:rPr lang="en-US" sz="2000" i="1" dirty="0"/>
              <a:t>M(x)</a:t>
            </a:r>
            <a:r>
              <a:rPr lang="ru-RU" sz="2000" dirty="0"/>
              <a:t>, т.е. нечеткое подмножество </a:t>
            </a:r>
            <a:r>
              <a:rPr lang="en-US" sz="2000" i="1" dirty="0"/>
              <a:t>M(x) </a:t>
            </a:r>
            <a:r>
              <a:rPr lang="ru-RU" sz="2000" dirty="0"/>
              <a:t>универсального множества</a:t>
            </a:r>
            <a:r>
              <a:rPr lang="en-US" sz="2000" dirty="0"/>
              <a:t> </a:t>
            </a:r>
            <a:r>
              <a:rPr lang="en-US" sz="2000" i="1" dirty="0"/>
              <a:t>U</a:t>
            </a:r>
            <a:r>
              <a:rPr lang="ru-RU" sz="2000" i="1" dirty="0"/>
              <a:t>;</a:t>
            </a:r>
          </a:p>
          <a:p>
            <a:pPr lvl="1" eaLnBrk="1" hangingPunct="1">
              <a:lnSpc>
                <a:spcPct val="80000"/>
              </a:lnSpc>
              <a:buFont typeface="Arial" charset="0"/>
              <a:buChar char="•"/>
            </a:pPr>
            <a:r>
              <a:rPr lang="en-US" sz="2000" i="1" dirty="0"/>
              <a:t>G</a:t>
            </a:r>
            <a:r>
              <a:rPr lang="ru-RU" sz="2000" dirty="0"/>
              <a:t> – синтаксические правила, часто в виде грамматики, порождающее названия значений переменной </a:t>
            </a:r>
            <a:r>
              <a:rPr lang="en-US" sz="2000" i="1" dirty="0"/>
              <a:t>X (</a:t>
            </a:r>
            <a:r>
              <a:rPr lang="ru-RU" sz="2000" i="1" dirty="0"/>
              <a:t>из терм множества</a:t>
            </a:r>
            <a:r>
              <a:rPr lang="en-US" sz="2000" i="1" dirty="0"/>
              <a:t>).</a:t>
            </a:r>
            <a:endParaRPr lang="ru-RU" sz="2000" i="1" dirty="0"/>
          </a:p>
        </p:txBody>
      </p:sp>
      <p:sp>
        <p:nvSpPr>
          <p:cNvPr id="4" name="Номер слайда 3"/>
          <p:cNvSpPr>
            <a:spLocks noGrp="1"/>
          </p:cNvSpPr>
          <p:nvPr>
            <p:ph type="sldNum" sz="quarter" idx="12"/>
          </p:nvPr>
        </p:nvSpPr>
        <p:spPr/>
        <p:txBody>
          <a:bodyPr/>
          <a:lstStyle/>
          <a:p>
            <a:pPr>
              <a:defRPr/>
            </a:pPr>
            <a:fld id="{1C109383-D1C0-4761-A21B-F82CC6255B22}" type="slidenum">
              <a:rPr lang="ru-RU"/>
              <a:pPr>
                <a:defRPr/>
              </a:pPr>
              <a:t>30</a:t>
            </a:fld>
            <a:endParaRPr lang="ru-RU"/>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Заголовок 1"/>
          <p:cNvSpPr>
            <a:spLocks noGrp="1"/>
          </p:cNvSpPr>
          <p:nvPr>
            <p:ph type="title"/>
          </p:nvPr>
        </p:nvSpPr>
        <p:spPr/>
        <p:txBody>
          <a:bodyPr/>
          <a:lstStyle/>
          <a:p>
            <a:pPr eaLnBrk="1" hangingPunct="1"/>
            <a:r>
              <a:rPr lang="ru-RU"/>
              <a:t>Понятие терма</a:t>
            </a:r>
          </a:p>
        </p:txBody>
      </p:sp>
      <p:sp>
        <p:nvSpPr>
          <p:cNvPr id="3" name="Содержимое 2"/>
          <p:cNvSpPr>
            <a:spLocks noGrp="1"/>
          </p:cNvSpPr>
          <p:nvPr>
            <p:ph idx="1"/>
          </p:nvPr>
        </p:nvSpPr>
        <p:spPr/>
        <p:txBody>
          <a:bodyPr rtlCol="0">
            <a:normAutofit fontScale="70000" lnSpcReduction="20000"/>
          </a:bodyPr>
          <a:lstStyle/>
          <a:p>
            <a:pPr eaLnBrk="1" fontAlgn="auto" hangingPunct="1">
              <a:spcAft>
                <a:spcPts val="0"/>
              </a:spcAft>
              <a:buFont typeface="Arial" pitchFamily="34" charset="0"/>
              <a:buChar char="•"/>
              <a:defRPr/>
            </a:pPr>
            <a:r>
              <a:rPr lang="ru-RU" dirty="0"/>
              <a:t>Понятие лингвистической переменной играет важную роль в нечетком логическом выводе и в принятии решений на основе приближенных рассуждений.</a:t>
            </a:r>
          </a:p>
          <a:p>
            <a:pPr eaLnBrk="1" fontAlgn="auto" hangingPunct="1">
              <a:spcAft>
                <a:spcPts val="0"/>
              </a:spcAft>
              <a:buFont typeface="Arial" pitchFamily="34" charset="0"/>
              <a:buChar char="•"/>
              <a:defRPr/>
            </a:pPr>
            <a:r>
              <a:rPr lang="ru-RU" dirty="0"/>
              <a:t>Совокупность значений лингвистической переменной составляет </a:t>
            </a:r>
            <a:r>
              <a:rPr lang="ru-RU" i="1" dirty="0"/>
              <a:t>терм - множество</a:t>
            </a:r>
            <a:r>
              <a:rPr lang="ru-RU" dirty="0"/>
              <a:t> этой переменной. Это множество может иметь, вообще говоря, бесконечное число элементов, но на практике, естественно, оно конечно. Например, терм - множество лингвистической переменной  «температура» можно записать так:</a:t>
            </a:r>
          </a:p>
          <a:p>
            <a:pPr eaLnBrk="1" fontAlgn="auto" hangingPunct="1">
              <a:spcAft>
                <a:spcPts val="0"/>
              </a:spcAft>
              <a:buFont typeface="Arial" pitchFamily="34" charset="0"/>
              <a:buNone/>
              <a:defRPr/>
            </a:pPr>
            <a:br>
              <a:rPr lang="ru-RU" dirty="0"/>
            </a:br>
            <a:r>
              <a:rPr lang="ru-RU" dirty="0"/>
              <a:t>(температура)={очень низкая \/  почти низкая \/  </a:t>
            </a:r>
            <a:r>
              <a:rPr lang="ru-RU" dirty="0" err="1"/>
              <a:t>низкая</a:t>
            </a:r>
            <a:r>
              <a:rPr lang="ru-RU" dirty="0"/>
              <a:t> \/  почти средняя \/  </a:t>
            </a:r>
            <a:r>
              <a:rPr lang="ru-RU" dirty="0" err="1"/>
              <a:t>средняя</a:t>
            </a:r>
            <a:r>
              <a:rPr lang="ru-RU" dirty="0"/>
              <a:t> \/ ...\/ высокая \/ очень высокая}.</a:t>
            </a:r>
          </a:p>
          <a:p>
            <a:pPr eaLnBrk="1" fontAlgn="auto" hangingPunct="1">
              <a:spcAft>
                <a:spcPts val="0"/>
              </a:spcAft>
              <a:buFont typeface="Arial" pitchFamily="34" charset="0"/>
              <a:buChar char="•"/>
              <a:defRPr/>
            </a:pPr>
            <a:r>
              <a:rPr lang="ru-RU" i="1" dirty="0"/>
              <a:t>Термом </a:t>
            </a:r>
            <a:r>
              <a:rPr lang="ru-RU" dirty="0"/>
              <a:t>называется любой элемент терм-множества. В теории нечетких множеств терм формализуется нечетким множеством с помощью функции принадлежности.</a:t>
            </a:r>
          </a:p>
          <a:p>
            <a:pPr eaLnBrk="1" fontAlgn="auto" hangingPunct="1">
              <a:spcAft>
                <a:spcPts val="0"/>
              </a:spcAft>
              <a:buFont typeface="Arial" pitchFamily="34" charset="0"/>
              <a:buChar char="•"/>
              <a:defRPr/>
            </a:pPr>
            <a:endParaRPr lang="ru-RU" dirty="0"/>
          </a:p>
        </p:txBody>
      </p:sp>
      <p:sp>
        <p:nvSpPr>
          <p:cNvPr id="4" name="Номер слайда 3"/>
          <p:cNvSpPr>
            <a:spLocks noGrp="1"/>
          </p:cNvSpPr>
          <p:nvPr>
            <p:ph type="sldNum" sz="quarter" idx="12"/>
          </p:nvPr>
        </p:nvSpPr>
        <p:spPr/>
        <p:txBody>
          <a:bodyPr/>
          <a:lstStyle/>
          <a:p>
            <a:pPr>
              <a:defRPr/>
            </a:pPr>
            <a:fld id="{3ED7E8FA-45B4-48ED-B4A3-96DA66EDCF73}" type="slidenum">
              <a:rPr lang="ru-RU"/>
              <a:pPr>
                <a:defRPr/>
              </a:pPr>
              <a:t>31</a:t>
            </a:fld>
            <a:endParaRPr lang="ru-RU"/>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Заголовок 1"/>
          <p:cNvSpPr>
            <a:spLocks noGrp="1"/>
          </p:cNvSpPr>
          <p:nvPr>
            <p:ph type="title"/>
          </p:nvPr>
        </p:nvSpPr>
        <p:spPr/>
        <p:txBody>
          <a:bodyPr/>
          <a:lstStyle/>
          <a:p>
            <a:pPr eaLnBrk="1" hangingPunct="1"/>
            <a:r>
              <a:rPr lang="ru-RU"/>
              <a:t>Пример</a:t>
            </a:r>
          </a:p>
        </p:txBody>
      </p:sp>
      <p:sp>
        <p:nvSpPr>
          <p:cNvPr id="99331" name="Содержимое 2"/>
          <p:cNvSpPr>
            <a:spLocks noGrp="1"/>
          </p:cNvSpPr>
          <p:nvPr>
            <p:ph idx="1"/>
          </p:nvPr>
        </p:nvSpPr>
        <p:spPr/>
        <p:txBody>
          <a:bodyPr/>
          <a:lstStyle/>
          <a:p>
            <a:pPr eaLnBrk="1" hangingPunct="1"/>
            <a:r>
              <a:rPr lang="ru-RU" sz="2000" dirty="0"/>
              <a:t>Рассмотрим </a:t>
            </a:r>
            <a:r>
              <a:rPr lang="ru-RU" sz="2000" i="1" dirty="0"/>
              <a:t>лингвистическую переменную</a:t>
            </a:r>
            <a:r>
              <a:rPr lang="ru-RU" sz="2000" dirty="0"/>
              <a:t> с именем </a:t>
            </a:r>
            <a:r>
              <a:rPr lang="en-US" sz="2000" dirty="0"/>
              <a:t>X</a:t>
            </a:r>
            <a:r>
              <a:rPr lang="ru-RU" sz="2000" dirty="0"/>
              <a:t>="ТЕМПЕРАТУРА В КОМНАТЕ". Тогда оставшуюся четверку </a:t>
            </a:r>
            <a:r>
              <a:rPr lang="ru-RU" sz="2000" i="1" dirty="0"/>
              <a:t>&lt;</a:t>
            </a:r>
            <a:r>
              <a:rPr lang="en-US" sz="2000" i="1" dirty="0"/>
              <a:t>T</a:t>
            </a:r>
            <a:r>
              <a:rPr lang="ru-RU" sz="2000" i="1" dirty="0"/>
              <a:t>, </a:t>
            </a:r>
            <a:r>
              <a:rPr lang="en-US" sz="2000" i="1" dirty="0"/>
              <a:t>U</a:t>
            </a:r>
            <a:r>
              <a:rPr lang="ru-RU" sz="2000" i="1" dirty="0"/>
              <a:t>, </a:t>
            </a:r>
            <a:r>
              <a:rPr lang="en-US" sz="2000" i="1" dirty="0"/>
              <a:t>M</a:t>
            </a:r>
            <a:r>
              <a:rPr lang="ru-RU" sz="2000" i="1" dirty="0"/>
              <a:t>, </a:t>
            </a:r>
            <a:r>
              <a:rPr lang="en-US" sz="2000" i="1" dirty="0"/>
              <a:t>G</a:t>
            </a:r>
            <a:r>
              <a:rPr lang="ru-RU" sz="2000" i="1" dirty="0"/>
              <a:t>&gt;</a:t>
            </a:r>
            <a:r>
              <a:rPr lang="ru-RU" sz="2000" dirty="0"/>
              <a:t>, можно определить так:</a:t>
            </a:r>
          </a:p>
          <a:p>
            <a:pPr lvl="1" eaLnBrk="1" hangingPunct="1"/>
            <a:r>
              <a:rPr lang="ru-RU" sz="1600" dirty="0"/>
              <a:t>универсальное множество U=[5,35];</a:t>
            </a:r>
          </a:p>
          <a:p>
            <a:pPr lvl="1" eaLnBrk="1" hangingPunct="1"/>
            <a:r>
              <a:rPr lang="ru-RU" sz="1600" dirty="0"/>
              <a:t>терм-множество T={"ХОЛОДНО", "КОМФОРТНО", "ЖАРКО"} </a:t>
            </a:r>
          </a:p>
          <a:p>
            <a:pPr lvl="1" eaLnBrk="1" hangingPunct="1"/>
            <a:r>
              <a:rPr lang="en-US" sz="1600" i="1" dirty="0"/>
              <a:t>M </a:t>
            </a:r>
            <a:r>
              <a:rPr lang="ru-RU" sz="1600" dirty="0"/>
              <a:t>будет являться процедурой, ставящей каждому терму в соответствие нечеткое множество из </a:t>
            </a:r>
            <a:r>
              <a:rPr lang="en-US" sz="1600" i="1" dirty="0"/>
              <a:t>U </a:t>
            </a:r>
            <a:r>
              <a:rPr lang="ru-RU" sz="1600" dirty="0"/>
              <a:t>по правилам</a:t>
            </a:r>
            <a:r>
              <a:rPr lang="en-US" sz="1600" dirty="0"/>
              <a:t> (</a:t>
            </a:r>
            <a:r>
              <a:rPr lang="ru-RU" sz="1600" dirty="0"/>
              <a:t>функциям принадлежности): </a:t>
            </a:r>
          </a:p>
          <a:p>
            <a:pPr eaLnBrk="1" hangingPunct="1"/>
            <a:endParaRPr lang="ru-RU" sz="2000" dirty="0"/>
          </a:p>
        </p:txBody>
      </p:sp>
      <p:sp>
        <p:nvSpPr>
          <p:cNvPr id="4" name="Номер слайда 3"/>
          <p:cNvSpPr>
            <a:spLocks noGrp="1"/>
          </p:cNvSpPr>
          <p:nvPr>
            <p:ph type="sldNum" sz="quarter" idx="12"/>
          </p:nvPr>
        </p:nvSpPr>
        <p:spPr/>
        <p:txBody>
          <a:bodyPr/>
          <a:lstStyle/>
          <a:p>
            <a:pPr>
              <a:defRPr/>
            </a:pPr>
            <a:fld id="{8FA43E81-C9F7-49AA-BC25-A99E571295FA}" type="slidenum">
              <a:rPr lang="ru-RU" smtClean="0"/>
              <a:pPr>
                <a:defRPr/>
              </a:pPr>
              <a:t>32</a:t>
            </a:fld>
            <a:endParaRPr lang="ru-RU"/>
          </a:p>
        </p:txBody>
      </p:sp>
      <p:pic>
        <p:nvPicPr>
          <p:cNvPr id="99333" name="Рисунок 4" descr="&#10;\begin{gathered}&#10;\mu''_{\t{холодно}''}(u)=\frac{1}{1+\left(\frac{u-10}{7}\right)^{12}},\\&#10;\mu''_{\t{комфортно}'}(u)=\frac{1}{1+\left(\frac{u-20}{3}\right)^{6}},\\&#10;\mu''_{\t{жарко}''}(u)=\frac{1}{1+\left(\frac{u-30}{6}\right)^{10}};&#10;\end{gathered}&#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3929063"/>
            <a:ext cx="3875088"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776663"/>
            <a:ext cx="3929063" cy="268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Заголовок 1"/>
          <p:cNvSpPr>
            <a:spLocks noGrp="1"/>
          </p:cNvSpPr>
          <p:nvPr>
            <p:ph type="title"/>
          </p:nvPr>
        </p:nvSpPr>
        <p:spPr/>
        <p:txBody>
          <a:bodyPr/>
          <a:lstStyle/>
          <a:p>
            <a:pPr eaLnBrk="1" hangingPunct="1"/>
            <a:r>
              <a:rPr lang="ru-RU"/>
              <a:t>Пример</a:t>
            </a:r>
          </a:p>
        </p:txBody>
      </p:sp>
      <p:sp>
        <p:nvSpPr>
          <p:cNvPr id="100355" name="Содержимое 2"/>
          <p:cNvSpPr>
            <a:spLocks noGrp="1"/>
          </p:cNvSpPr>
          <p:nvPr>
            <p:ph idx="1"/>
          </p:nvPr>
        </p:nvSpPr>
        <p:spPr/>
        <p:txBody>
          <a:bodyPr/>
          <a:lstStyle/>
          <a:p>
            <a:pPr eaLnBrk="1" hangingPunct="1"/>
            <a:r>
              <a:rPr lang="ru-RU" sz="2000"/>
              <a:t>Синтаксическое правило </a:t>
            </a:r>
            <a:r>
              <a:rPr lang="en-US" sz="2000"/>
              <a:t>G</a:t>
            </a:r>
            <a:r>
              <a:rPr lang="ru-RU" sz="2000"/>
              <a:t> (грамматика), присваивающее значение лингвистической переменной (выбор терма из терм множества).</a:t>
            </a:r>
          </a:p>
          <a:p>
            <a:pPr eaLnBrk="1" hangingPunct="1"/>
            <a:endParaRPr lang="ru-RU" sz="2000"/>
          </a:p>
        </p:txBody>
      </p:sp>
      <p:sp>
        <p:nvSpPr>
          <p:cNvPr id="4" name="Номер слайда 3"/>
          <p:cNvSpPr>
            <a:spLocks noGrp="1"/>
          </p:cNvSpPr>
          <p:nvPr>
            <p:ph type="sldNum" sz="quarter" idx="12"/>
          </p:nvPr>
        </p:nvSpPr>
        <p:spPr/>
        <p:txBody>
          <a:bodyPr/>
          <a:lstStyle/>
          <a:p>
            <a:pPr>
              <a:defRPr/>
            </a:pPr>
            <a:fld id="{43960391-BCC3-4A48-9313-094656564EFF}" type="slidenum">
              <a:rPr lang="ru-RU" smtClean="0"/>
              <a:pPr>
                <a:defRPr/>
              </a:pPr>
              <a:t>33</a:t>
            </a:fld>
            <a:endParaRPr lang="ru-RU"/>
          </a:p>
        </p:txBody>
      </p:sp>
      <p:pic>
        <p:nvPicPr>
          <p:cNvPr id="10035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5875" y="2357438"/>
            <a:ext cx="6215063" cy="424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Заголовок 1"/>
          <p:cNvSpPr>
            <a:spLocks noGrp="1"/>
          </p:cNvSpPr>
          <p:nvPr>
            <p:ph type="title"/>
          </p:nvPr>
        </p:nvSpPr>
        <p:spPr/>
        <p:txBody>
          <a:bodyPr/>
          <a:lstStyle/>
          <a:p>
            <a:pPr eaLnBrk="1" hangingPunct="1"/>
            <a:r>
              <a:rPr lang="ru-RU"/>
              <a:t>Пример</a:t>
            </a:r>
          </a:p>
        </p:txBody>
      </p:sp>
      <p:sp>
        <p:nvSpPr>
          <p:cNvPr id="101379" name="Содержимое 2"/>
          <p:cNvSpPr>
            <a:spLocks noGrp="1"/>
          </p:cNvSpPr>
          <p:nvPr>
            <p:ph idx="1"/>
          </p:nvPr>
        </p:nvSpPr>
        <p:spPr/>
        <p:txBody>
          <a:bodyPr/>
          <a:lstStyle/>
          <a:p>
            <a:pPr eaLnBrk="1" hangingPunct="1"/>
            <a:r>
              <a:rPr lang="ru-RU" sz="2800"/>
              <a:t>В рассмотренном примере терм-множество состояло лишь из небольшого числа термов, так что целесообразно было просто перечислить элементы терм-множества </a:t>
            </a:r>
            <a:r>
              <a:rPr lang="en-US" sz="2800" i="1"/>
              <a:t>T(X) </a:t>
            </a:r>
            <a:r>
              <a:rPr lang="ru-RU" sz="2800"/>
              <a:t>и установить прямое соответствие между каждым элементом и его смыслом. </a:t>
            </a:r>
            <a:endParaRPr lang="en-US" sz="2800"/>
          </a:p>
          <a:p>
            <a:pPr eaLnBrk="1" hangingPunct="1"/>
            <a:r>
              <a:rPr lang="ru-RU" sz="2800"/>
              <a:t>В более общем случае, число элементов </a:t>
            </a:r>
            <a:r>
              <a:rPr lang="en-US" sz="2800" i="1"/>
              <a:t>T(X) </a:t>
            </a:r>
            <a:r>
              <a:rPr lang="ru-RU" sz="2800"/>
              <a:t>в может быть бесконечным, и тогда как для порождения элементов множества </a:t>
            </a:r>
            <a:r>
              <a:rPr lang="en-US" sz="2800" i="1"/>
              <a:t>T(X)</a:t>
            </a:r>
            <a:r>
              <a:rPr lang="ru-RU" sz="2800"/>
              <a:t>, так и для вычисления их смысла необходимо применять алгоритм, а не просто процедуру перечисления.</a:t>
            </a:r>
          </a:p>
        </p:txBody>
      </p:sp>
      <p:sp>
        <p:nvSpPr>
          <p:cNvPr id="4" name="Номер слайда 3"/>
          <p:cNvSpPr>
            <a:spLocks noGrp="1"/>
          </p:cNvSpPr>
          <p:nvPr>
            <p:ph type="sldNum" sz="quarter" idx="12"/>
          </p:nvPr>
        </p:nvSpPr>
        <p:spPr/>
        <p:txBody>
          <a:bodyPr/>
          <a:lstStyle/>
          <a:p>
            <a:pPr>
              <a:defRPr/>
            </a:pPr>
            <a:fld id="{011D936B-32C4-4A04-8B92-2AF5B42BD290}" type="slidenum">
              <a:rPr lang="ru-RU" smtClean="0"/>
              <a:pPr>
                <a:defRPr/>
              </a:pPr>
              <a:t>34</a:t>
            </a:fld>
            <a:endParaRPr lang="ru-RU"/>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Заголовок 1"/>
          <p:cNvSpPr>
            <a:spLocks noGrp="1"/>
          </p:cNvSpPr>
          <p:nvPr>
            <p:ph type="title"/>
          </p:nvPr>
        </p:nvSpPr>
        <p:spPr/>
        <p:txBody>
          <a:bodyPr/>
          <a:lstStyle/>
          <a:p>
            <a:pPr eaLnBrk="1" hangingPunct="1"/>
            <a:r>
              <a:rPr lang="ru-RU"/>
              <a:t>Определение</a:t>
            </a:r>
          </a:p>
        </p:txBody>
      </p:sp>
      <p:sp>
        <p:nvSpPr>
          <p:cNvPr id="102403" name="Содержимое 2"/>
          <p:cNvSpPr>
            <a:spLocks noGrp="1"/>
          </p:cNvSpPr>
          <p:nvPr>
            <p:ph idx="1"/>
          </p:nvPr>
        </p:nvSpPr>
        <p:spPr/>
        <p:txBody>
          <a:bodyPr/>
          <a:lstStyle/>
          <a:p>
            <a:pPr eaLnBrk="1" hangingPunct="1"/>
            <a:r>
              <a:rPr lang="ru-RU"/>
              <a:t>Будем говорить, что </a:t>
            </a:r>
            <a:r>
              <a:rPr lang="ru-RU" i="1"/>
              <a:t>лингвистическая переменная</a:t>
            </a:r>
            <a:r>
              <a:rPr lang="ru-RU"/>
              <a:t> </a:t>
            </a:r>
            <a:r>
              <a:rPr lang="en-US" b="1" i="1"/>
              <a:t>X </a:t>
            </a:r>
            <a:r>
              <a:rPr lang="ru-RU" b="1"/>
              <a:t>структурирована</a:t>
            </a:r>
            <a:r>
              <a:rPr lang="ru-RU"/>
              <a:t>, если ее терм-множество </a:t>
            </a:r>
            <a:r>
              <a:rPr lang="en-US" i="1"/>
              <a:t>T(X) </a:t>
            </a:r>
            <a:r>
              <a:rPr lang="ru-RU"/>
              <a:t>и функцию </a:t>
            </a:r>
            <a:r>
              <a:rPr lang="en-US"/>
              <a:t>M</a:t>
            </a:r>
            <a:r>
              <a:rPr lang="ru-RU"/>
              <a:t>, которая ставит в соответствие каждому элементу терм-множества его смысл, можно задать алгоритмически.</a:t>
            </a:r>
          </a:p>
        </p:txBody>
      </p:sp>
      <p:sp>
        <p:nvSpPr>
          <p:cNvPr id="4" name="Номер слайда 3"/>
          <p:cNvSpPr>
            <a:spLocks noGrp="1"/>
          </p:cNvSpPr>
          <p:nvPr>
            <p:ph type="sldNum" sz="quarter" idx="12"/>
          </p:nvPr>
        </p:nvSpPr>
        <p:spPr/>
        <p:txBody>
          <a:bodyPr/>
          <a:lstStyle/>
          <a:p>
            <a:pPr>
              <a:defRPr/>
            </a:pPr>
            <a:fld id="{983A7941-555D-4728-982D-0B281FDE1D26}" type="slidenum">
              <a:rPr lang="ru-RU" smtClean="0"/>
              <a:pPr>
                <a:defRPr/>
              </a:pPr>
              <a:t>35</a:t>
            </a:fld>
            <a:endParaRPr lang="ru-RU"/>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Заголовок 1"/>
          <p:cNvSpPr>
            <a:spLocks noGrp="1"/>
          </p:cNvSpPr>
          <p:nvPr>
            <p:ph type="title"/>
          </p:nvPr>
        </p:nvSpPr>
        <p:spPr/>
        <p:txBody>
          <a:bodyPr/>
          <a:lstStyle/>
          <a:p>
            <a:pPr eaLnBrk="1" hangingPunct="1"/>
            <a:r>
              <a:rPr lang="ru-RU"/>
              <a:t>Пример</a:t>
            </a:r>
          </a:p>
        </p:txBody>
      </p:sp>
      <p:sp>
        <p:nvSpPr>
          <p:cNvPr id="1028" name="Содержимое 2"/>
          <p:cNvSpPr>
            <a:spLocks noGrp="1"/>
          </p:cNvSpPr>
          <p:nvPr>
            <p:ph idx="1"/>
          </p:nvPr>
        </p:nvSpPr>
        <p:spPr/>
        <p:txBody>
          <a:bodyPr/>
          <a:lstStyle/>
          <a:p>
            <a:pPr eaLnBrk="1" hangingPunct="1"/>
            <a:r>
              <a:rPr lang="ru-RU" sz="2400" dirty="0"/>
              <a:t>В качестве очень простой иллюстрации той роли, которую играют синтаксическое и семантическое правила в случае структурированной </a:t>
            </a:r>
            <a:r>
              <a:rPr lang="ru-RU" sz="2400" i="1" dirty="0"/>
              <a:t>лингвистической переменной</a:t>
            </a:r>
            <a:r>
              <a:rPr lang="ru-RU" sz="2400" dirty="0"/>
              <a:t>, рассмотрим переменную РОСТ, терм-множество которой можно записать в виде:</a:t>
            </a:r>
          </a:p>
          <a:p>
            <a:pPr lvl="1" eaLnBrk="1" hangingPunct="1"/>
            <a:r>
              <a:rPr lang="ru-RU" sz="2000" dirty="0"/>
              <a:t>T(РОСТ)={ВЫСОКИЙ,ОЧЕНЬ ВЫСОКИЙ,ОЧЕНЬ-ОЧЕНЬ ВЫСОКИЙ,...}.</a:t>
            </a:r>
          </a:p>
          <a:p>
            <a:pPr lvl="1" eaLnBrk="1" hangingPunct="1"/>
            <a:endParaRPr lang="ru-RU" sz="2000" dirty="0"/>
          </a:p>
        </p:txBody>
      </p:sp>
      <p:sp>
        <p:nvSpPr>
          <p:cNvPr id="4" name="Номер слайда 3"/>
          <p:cNvSpPr>
            <a:spLocks noGrp="1"/>
          </p:cNvSpPr>
          <p:nvPr>
            <p:ph type="sldNum" sz="quarter" idx="12"/>
          </p:nvPr>
        </p:nvSpPr>
        <p:spPr/>
        <p:txBody>
          <a:bodyPr/>
          <a:lstStyle/>
          <a:p>
            <a:pPr>
              <a:defRPr/>
            </a:pPr>
            <a:fld id="{15F2D9D1-EBD7-48D6-B047-15F9AF3AD18C}" type="slidenum">
              <a:rPr lang="ru-RU" smtClean="0"/>
              <a:pPr>
                <a:defRPr/>
              </a:pPr>
              <a:t>36</a:t>
            </a:fld>
            <a:endParaRPr lang="ru-RU"/>
          </a:p>
        </p:txBody>
      </p:sp>
      <p:graphicFrame>
        <p:nvGraphicFramePr>
          <p:cNvPr id="1026" name="Object 4"/>
          <p:cNvGraphicFramePr>
            <a:graphicFrameLocks noChangeAspect="1"/>
          </p:cNvGraphicFramePr>
          <p:nvPr/>
        </p:nvGraphicFramePr>
        <p:xfrm>
          <a:off x="579438" y="4221163"/>
          <a:ext cx="7970837" cy="1477962"/>
        </p:xfrm>
        <a:graphic>
          <a:graphicData uri="http://schemas.openxmlformats.org/presentationml/2006/ole">
            <mc:AlternateContent xmlns:mc="http://schemas.openxmlformats.org/markup-compatibility/2006">
              <mc:Choice xmlns:v="urn:schemas-microsoft-com:vml" Requires="v">
                <p:oleObj name="Документ" r:id="rId2" imgW="5939606" imgH="1108120" progId="Word.Document.12">
                  <p:embed/>
                </p:oleObj>
              </mc:Choice>
              <mc:Fallback>
                <p:oleObj name="Документ" r:id="rId2" imgW="5939606" imgH="1108120" progId="Word.Document.12">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438" y="4221163"/>
                        <a:ext cx="7970837"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Заголовок 4"/>
          <p:cNvSpPr>
            <a:spLocks noGrp="1"/>
          </p:cNvSpPr>
          <p:nvPr>
            <p:ph type="ctrTitle"/>
          </p:nvPr>
        </p:nvSpPr>
        <p:spPr/>
        <p:txBody>
          <a:bodyPr/>
          <a:lstStyle/>
          <a:p>
            <a:pPr eaLnBrk="1" hangingPunct="1"/>
            <a:r>
              <a:rPr lang="ru-RU"/>
              <a:t>Методы построения функций принадлежности</a:t>
            </a:r>
          </a:p>
        </p:txBody>
      </p:sp>
      <p:sp>
        <p:nvSpPr>
          <p:cNvPr id="6" name="Подзаголовок 5"/>
          <p:cNvSpPr>
            <a:spLocks noGrp="1"/>
          </p:cNvSpPr>
          <p:nvPr>
            <p:ph type="subTitle" idx="1"/>
          </p:nvPr>
        </p:nvSpPr>
        <p:spPr/>
        <p:txBody>
          <a:bodyPr/>
          <a:lstStyle/>
          <a:p>
            <a:pPr eaLnBrk="1" hangingPunct="1">
              <a:defRPr/>
            </a:pPr>
            <a:endParaRPr lang="ru-RU"/>
          </a:p>
        </p:txBody>
      </p:sp>
      <p:sp>
        <p:nvSpPr>
          <p:cNvPr id="4" name="Номер слайда 3"/>
          <p:cNvSpPr>
            <a:spLocks noGrp="1"/>
          </p:cNvSpPr>
          <p:nvPr>
            <p:ph type="sldNum" sz="quarter" idx="12"/>
          </p:nvPr>
        </p:nvSpPr>
        <p:spPr/>
        <p:txBody>
          <a:bodyPr/>
          <a:lstStyle/>
          <a:p>
            <a:pPr>
              <a:defRPr/>
            </a:pPr>
            <a:fld id="{70DA0779-8042-43E9-9399-926E118DE5EE}" type="slidenum">
              <a:rPr lang="ru-RU" smtClean="0"/>
              <a:pPr>
                <a:defRPr/>
              </a:pPr>
              <a:t>37</a:t>
            </a:fld>
            <a:endParaRPr lang="ru-RU"/>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rtlCol="0">
            <a:normAutofit fontScale="90000"/>
          </a:bodyPr>
          <a:lstStyle/>
          <a:p>
            <a:pPr eaLnBrk="1" fontAlgn="auto" hangingPunct="1">
              <a:spcAft>
                <a:spcPts val="0"/>
              </a:spcAft>
              <a:defRPr/>
            </a:pPr>
            <a:r>
              <a:rPr lang="ru-RU" dirty="0"/>
              <a:t>Требования к функциям принадлежности</a:t>
            </a:r>
          </a:p>
        </p:txBody>
      </p:sp>
      <p:sp>
        <p:nvSpPr>
          <p:cNvPr id="4" name="Номер слайда 3"/>
          <p:cNvSpPr>
            <a:spLocks noGrp="1"/>
          </p:cNvSpPr>
          <p:nvPr>
            <p:ph type="sldNum" sz="quarter" idx="12"/>
          </p:nvPr>
        </p:nvSpPr>
        <p:spPr/>
        <p:txBody>
          <a:bodyPr/>
          <a:lstStyle/>
          <a:p>
            <a:pPr>
              <a:defRPr/>
            </a:pPr>
            <a:fld id="{48C16C89-2FE4-44D7-879F-FDE0D7736DDC}" type="slidenum">
              <a:rPr lang="ru-RU"/>
              <a:pPr>
                <a:defRPr/>
              </a:pPr>
              <a:t>38</a:t>
            </a:fld>
            <a:endParaRPr lang="ru-RU"/>
          </a:p>
        </p:txBody>
      </p:sp>
      <p:pic>
        <p:nvPicPr>
          <p:cNvPr id="10445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5" y="2071688"/>
            <a:ext cx="8286750" cy="1935162"/>
          </a:xfr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Заголовок 1"/>
          <p:cNvSpPr>
            <a:spLocks noGrp="1"/>
          </p:cNvSpPr>
          <p:nvPr>
            <p:ph type="title"/>
          </p:nvPr>
        </p:nvSpPr>
        <p:spPr/>
        <p:txBody>
          <a:bodyPr/>
          <a:lstStyle/>
          <a:p>
            <a:pPr eaLnBrk="1" hangingPunct="1"/>
            <a:r>
              <a:rPr lang="ru-RU"/>
              <a:t>Методы построения ФП</a:t>
            </a:r>
          </a:p>
        </p:txBody>
      </p:sp>
      <p:sp>
        <p:nvSpPr>
          <p:cNvPr id="4" name="Номер слайда 3"/>
          <p:cNvSpPr>
            <a:spLocks noGrp="1"/>
          </p:cNvSpPr>
          <p:nvPr>
            <p:ph type="sldNum" sz="quarter" idx="12"/>
          </p:nvPr>
        </p:nvSpPr>
        <p:spPr/>
        <p:txBody>
          <a:bodyPr/>
          <a:lstStyle/>
          <a:p>
            <a:pPr>
              <a:defRPr/>
            </a:pPr>
            <a:fld id="{764D34BD-23AD-4C23-9007-9C11EFAA5246}" type="slidenum">
              <a:rPr lang="ru-RU"/>
              <a:pPr>
                <a:defRPr/>
              </a:pPr>
              <a:t>39</a:t>
            </a:fld>
            <a:endParaRPr lang="ru-RU"/>
          </a:p>
        </p:txBody>
      </p:sp>
      <p:pic>
        <p:nvPicPr>
          <p:cNvPr id="105476"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071563" y="1143000"/>
            <a:ext cx="6572250" cy="5592763"/>
          </a:xfr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Заголовок 1"/>
          <p:cNvSpPr>
            <a:spLocks noGrp="1"/>
          </p:cNvSpPr>
          <p:nvPr>
            <p:ph type="title"/>
          </p:nvPr>
        </p:nvSpPr>
        <p:spPr/>
        <p:txBody>
          <a:bodyPr/>
          <a:lstStyle/>
          <a:p>
            <a:pPr eaLnBrk="1" hangingPunct="1"/>
            <a:r>
              <a:rPr lang="ru-RU" sz="3600" dirty="0"/>
              <a:t>Прямые методы для одного эксперта</a:t>
            </a:r>
          </a:p>
        </p:txBody>
      </p:sp>
      <p:sp>
        <p:nvSpPr>
          <p:cNvPr id="106499" name="Содержимое 2"/>
          <p:cNvSpPr>
            <a:spLocks noGrp="1"/>
          </p:cNvSpPr>
          <p:nvPr>
            <p:ph idx="1"/>
          </p:nvPr>
        </p:nvSpPr>
        <p:spPr/>
        <p:txBody>
          <a:bodyPr/>
          <a:lstStyle/>
          <a:p>
            <a:pPr eaLnBrk="1" hangingPunct="1"/>
            <a:r>
              <a:rPr lang="ru-RU" dirty="0"/>
              <a:t>Прямые методы для одного (уникального) эксперта состоят в непосредственном назначении степени принадлежности для исследуемых объектов или непосредственном назначении функции (правила), позволяющей вычислять значения.</a:t>
            </a:r>
          </a:p>
        </p:txBody>
      </p:sp>
      <p:sp>
        <p:nvSpPr>
          <p:cNvPr id="4" name="Номер слайда 3"/>
          <p:cNvSpPr>
            <a:spLocks noGrp="1"/>
          </p:cNvSpPr>
          <p:nvPr>
            <p:ph type="sldNum" sz="quarter" idx="12"/>
          </p:nvPr>
        </p:nvSpPr>
        <p:spPr/>
        <p:txBody>
          <a:bodyPr/>
          <a:lstStyle/>
          <a:p>
            <a:pPr>
              <a:defRPr/>
            </a:pPr>
            <a:fld id="{2DA951D4-837C-4D0E-8012-F07798C182FB}" type="slidenum">
              <a:rPr lang="ru-RU"/>
              <a:pPr>
                <a:defRPr/>
              </a:pPr>
              <a:t>40</a:t>
            </a:fld>
            <a:endParaRPr lang="ru-RU"/>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Заголовок 1"/>
          <p:cNvSpPr>
            <a:spLocks noGrp="1"/>
          </p:cNvSpPr>
          <p:nvPr>
            <p:ph type="title"/>
          </p:nvPr>
        </p:nvSpPr>
        <p:spPr/>
        <p:txBody>
          <a:bodyPr/>
          <a:lstStyle/>
          <a:p>
            <a:pPr eaLnBrk="1" hangingPunct="1"/>
            <a:r>
              <a:rPr lang="ru-RU" sz="3600" dirty="0"/>
              <a:t>Прямые методы для одного эксперта</a:t>
            </a:r>
          </a:p>
        </p:txBody>
      </p:sp>
      <p:sp>
        <p:nvSpPr>
          <p:cNvPr id="4" name="Номер слайда 3"/>
          <p:cNvSpPr>
            <a:spLocks noGrp="1"/>
          </p:cNvSpPr>
          <p:nvPr>
            <p:ph type="sldNum" sz="quarter" idx="12"/>
          </p:nvPr>
        </p:nvSpPr>
        <p:spPr/>
        <p:txBody>
          <a:bodyPr/>
          <a:lstStyle/>
          <a:p>
            <a:pPr>
              <a:defRPr/>
            </a:pPr>
            <a:fld id="{CE9F2335-2200-4BBA-801C-0AC47DF632F8}" type="slidenum">
              <a:rPr lang="ru-RU"/>
              <a:pPr>
                <a:defRPr/>
              </a:pPr>
              <a:t>41</a:t>
            </a:fld>
            <a:endParaRPr lang="ru-RU"/>
          </a:p>
        </p:txBody>
      </p:sp>
      <p:pic>
        <p:nvPicPr>
          <p:cNvPr id="10752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4313" y="1643063"/>
            <a:ext cx="8685212" cy="1643062"/>
          </a:xfrm>
          <a:noFill/>
        </p:spPr>
      </p:pic>
      <p:pic>
        <p:nvPicPr>
          <p:cNvPr id="10752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3643313"/>
            <a:ext cx="85931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Заголовок 1"/>
          <p:cNvSpPr>
            <a:spLocks noGrp="1"/>
          </p:cNvSpPr>
          <p:nvPr>
            <p:ph type="title"/>
          </p:nvPr>
        </p:nvSpPr>
        <p:spPr/>
        <p:txBody>
          <a:bodyPr/>
          <a:lstStyle/>
          <a:p>
            <a:pPr eaLnBrk="1" hangingPunct="1"/>
            <a:r>
              <a:rPr lang="ru-RU" dirty="0"/>
              <a:t>Пример</a:t>
            </a:r>
          </a:p>
        </p:txBody>
      </p:sp>
      <p:sp>
        <p:nvSpPr>
          <p:cNvPr id="4" name="Номер слайда 3"/>
          <p:cNvSpPr>
            <a:spLocks noGrp="1"/>
          </p:cNvSpPr>
          <p:nvPr>
            <p:ph type="sldNum" sz="quarter" idx="12"/>
          </p:nvPr>
        </p:nvSpPr>
        <p:spPr/>
        <p:txBody>
          <a:bodyPr/>
          <a:lstStyle/>
          <a:p>
            <a:pPr>
              <a:defRPr/>
            </a:pPr>
            <a:fld id="{388985EA-66D1-49F6-A2B8-18ED98D6A24A}" type="slidenum">
              <a:rPr lang="ru-RU"/>
              <a:pPr>
                <a:defRPr/>
              </a:pPr>
              <a:t>42</a:t>
            </a:fld>
            <a:endParaRPr lang="ru-RU"/>
          </a:p>
        </p:txBody>
      </p:sp>
      <p:pic>
        <p:nvPicPr>
          <p:cNvPr id="10854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57188" y="1500188"/>
            <a:ext cx="8429625" cy="4784725"/>
          </a:xfr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Заголовок 1"/>
          <p:cNvSpPr>
            <a:spLocks noGrp="1"/>
          </p:cNvSpPr>
          <p:nvPr>
            <p:ph type="title"/>
          </p:nvPr>
        </p:nvSpPr>
        <p:spPr/>
        <p:txBody>
          <a:bodyPr/>
          <a:lstStyle/>
          <a:p>
            <a:pPr eaLnBrk="1" hangingPunct="1"/>
            <a:r>
              <a:rPr lang="ru-RU" sz="3600" dirty="0"/>
              <a:t>Примеры различных способов построения функций принадлежности</a:t>
            </a:r>
          </a:p>
        </p:txBody>
      </p:sp>
      <p:sp>
        <p:nvSpPr>
          <p:cNvPr id="4" name="Номер слайда 3"/>
          <p:cNvSpPr>
            <a:spLocks noGrp="1"/>
          </p:cNvSpPr>
          <p:nvPr>
            <p:ph type="sldNum" sz="quarter" idx="12"/>
          </p:nvPr>
        </p:nvSpPr>
        <p:spPr/>
        <p:txBody>
          <a:bodyPr/>
          <a:lstStyle/>
          <a:p>
            <a:pPr>
              <a:defRPr/>
            </a:pPr>
            <a:fld id="{046A2E49-E764-4A6E-A019-8BD27E556755}" type="slidenum">
              <a:rPr lang="ru-RU"/>
              <a:pPr>
                <a:defRPr/>
              </a:pPr>
              <a:t>43</a:t>
            </a:fld>
            <a:endParaRPr lang="ru-RU"/>
          </a:p>
        </p:txBody>
      </p:sp>
      <p:graphicFrame>
        <p:nvGraphicFramePr>
          <p:cNvPr id="2050" name="Object 2"/>
          <p:cNvGraphicFramePr>
            <a:graphicFrameLocks noChangeAspect="1"/>
          </p:cNvGraphicFramePr>
          <p:nvPr/>
        </p:nvGraphicFramePr>
        <p:xfrm>
          <a:off x="428625" y="1500188"/>
          <a:ext cx="8215313" cy="4772025"/>
        </p:xfrm>
        <a:graphic>
          <a:graphicData uri="http://schemas.openxmlformats.org/presentationml/2006/ole">
            <mc:AlternateContent xmlns:mc="http://schemas.openxmlformats.org/markup-compatibility/2006">
              <mc:Choice xmlns:v="urn:schemas-microsoft-com:vml" Requires="v">
                <p:oleObj name="Документ" r:id="rId2" imgW="6609977" imgH="3839821" progId="Word.Document.12">
                  <p:embed/>
                </p:oleObj>
              </mc:Choice>
              <mc:Fallback>
                <p:oleObj name="Документ" r:id="rId2" imgW="6609977" imgH="3839821"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500188"/>
                        <a:ext cx="8215313"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Заголовок 1"/>
          <p:cNvSpPr>
            <a:spLocks noGrp="1"/>
          </p:cNvSpPr>
          <p:nvPr>
            <p:ph type="title"/>
          </p:nvPr>
        </p:nvSpPr>
        <p:spPr/>
        <p:txBody>
          <a:bodyPr/>
          <a:lstStyle/>
          <a:p>
            <a:pPr eaLnBrk="1" hangingPunct="1"/>
            <a:r>
              <a:rPr lang="ru-RU" sz="3600" dirty="0"/>
              <a:t>Примеры различных способов построения функций принадлежности</a:t>
            </a:r>
          </a:p>
        </p:txBody>
      </p:sp>
      <p:sp>
        <p:nvSpPr>
          <p:cNvPr id="4" name="Номер слайда 3"/>
          <p:cNvSpPr>
            <a:spLocks noGrp="1"/>
          </p:cNvSpPr>
          <p:nvPr>
            <p:ph type="sldNum" sz="quarter" idx="12"/>
          </p:nvPr>
        </p:nvSpPr>
        <p:spPr/>
        <p:txBody>
          <a:bodyPr/>
          <a:lstStyle/>
          <a:p>
            <a:pPr>
              <a:defRPr/>
            </a:pPr>
            <a:fld id="{D85BA9DA-BE43-4851-ADAA-84DB5247F4A9}" type="slidenum">
              <a:rPr lang="ru-RU"/>
              <a:pPr>
                <a:defRPr/>
              </a:pPr>
              <a:t>44</a:t>
            </a:fld>
            <a:endParaRPr lang="ru-RU"/>
          </a:p>
        </p:txBody>
      </p:sp>
      <p:graphicFrame>
        <p:nvGraphicFramePr>
          <p:cNvPr id="3074" name="Object 2"/>
          <p:cNvGraphicFramePr>
            <a:graphicFrameLocks noChangeAspect="1"/>
          </p:cNvGraphicFramePr>
          <p:nvPr/>
        </p:nvGraphicFramePr>
        <p:xfrm>
          <a:off x="285750" y="1714500"/>
          <a:ext cx="8408988" cy="4286250"/>
        </p:xfrm>
        <a:graphic>
          <a:graphicData uri="http://schemas.openxmlformats.org/presentationml/2006/ole">
            <mc:AlternateContent xmlns:mc="http://schemas.openxmlformats.org/markup-compatibility/2006">
              <mc:Choice xmlns:v="urn:schemas-microsoft-com:vml" Requires="v">
                <p:oleObj name="Документ" r:id="rId2" imgW="6932468" imgH="3533485" progId="Word.Document.12">
                  <p:embed/>
                </p:oleObj>
              </mc:Choice>
              <mc:Fallback>
                <p:oleObj name="Документ" r:id="rId2" imgW="6932468" imgH="353348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714500"/>
                        <a:ext cx="8408988"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Заголовок 1"/>
          <p:cNvSpPr>
            <a:spLocks noGrp="1"/>
          </p:cNvSpPr>
          <p:nvPr>
            <p:ph type="title"/>
          </p:nvPr>
        </p:nvSpPr>
        <p:spPr/>
        <p:txBody>
          <a:bodyPr/>
          <a:lstStyle/>
          <a:p>
            <a:pPr eaLnBrk="1" hangingPunct="1"/>
            <a:r>
              <a:rPr lang="ru-RU" sz="3600" dirty="0"/>
              <a:t>Примеры различных способов построения функций принадлежности</a:t>
            </a:r>
          </a:p>
        </p:txBody>
      </p:sp>
      <p:sp>
        <p:nvSpPr>
          <p:cNvPr id="4" name="Номер слайда 3"/>
          <p:cNvSpPr>
            <a:spLocks noGrp="1"/>
          </p:cNvSpPr>
          <p:nvPr>
            <p:ph type="sldNum" sz="quarter" idx="12"/>
          </p:nvPr>
        </p:nvSpPr>
        <p:spPr/>
        <p:txBody>
          <a:bodyPr/>
          <a:lstStyle/>
          <a:p>
            <a:pPr>
              <a:defRPr/>
            </a:pPr>
            <a:fld id="{6963AF5E-83BD-45C5-972D-A95AD2B1C280}" type="slidenum">
              <a:rPr lang="ru-RU"/>
              <a:pPr>
                <a:defRPr/>
              </a:pPr>
              <a:t>45</a:t>
            </a:fld>
            <a:endParaRPr lang="ru-RU"/>
          </a:p>
        </p:txBody>
      </p:sp>
      <p:graphicFrame>
        <p:nvGraphicFramePr>
          <p:cNvPr id="4098" name="Object 2"/>
          <p:cNvGraphicFramePr>
            <a:graphicFrameLocks noChangeAspect="1"/>
          </p:cNvGraphicFramePr>
          <p:nvPr/>
        </p:nvGraphicFramePr>
        <p:xfrm>
          <a:off x="357188" y="1571625"/>
          <a:ext cx="8358187" cy="4613275"/>
        </p:xfrm>
        <a:graphic>
          <a:graphicData uri="http://schemas.openxmlformats.org/presentationml/2006/ole">
            <mc:AlternateContent xmlns:mc="http://schemas.openxmlformats.org/markup-compatibility/2006">
              <mc:Choice xmlns:v="urn:schemas-microsoft-com:vml" Requires="v">
                <p:oleObj name="Документ" r:id="rId2" imgW="6932468" imgH="3826142" progId="Word.Document.12">
                  <p:embed/>
                </p:oleObj>
              </mc:Choice>
              <mc:Fallback>
                <p:oleObj name="Документ" r:id="rId2" imgW="6932468" imgH="3826142"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571625"/>
                        <a:ext cx="8358187" cy="461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Заголовок 1"/>
          <p:cNvSpPr>
            <a:spLocks noGrp="1"/>
          </p:cNvSpPr>
          <p:nvPr>
            <p:ph type="title"/>
          </p:nvPr>
        </p:nvSpPr>
        <p:spPr/>
        <p:txBody>
          <a:bodyPr/>
          <a:lstStyle/>
          <a:p>
            <a:pPr eaLnBrk="1" hangingPunct="1"/>
            <a:r>
              <a:rPr lang="ru-RU" sz="3600" dirty="0"/>
              <a:t>Примеры различных способов построения функций принадлежности</a:t>
            </a:r>
          </a:p>
        </p:txBody>
      </p:sp>
      <p:sp>
        <p:nvSpPr>
          <p:cNvPr id="4" name="Номер слайда 3"/>
          <p:cNvSpPr>
            <a:spLocks noGrp="1"/>
          </p:cNvSpPr>
          <p:nvPr>
            <p:ph type="sldNum" sz="quarter" idx="12"/>
          </p:nvPr>
        </p:nvSpPr>
        <p:spPr/>
        <p:txBody>
          <a:bodyPr/>
          <a:lstStyle/>
          <a:p>
            <a:pPr>
              <a:defRPr/>
            </a:pPr>
            <a:fld id="{4F730EED-08AE-4496-B9EF-D0BCCDA092FC}" type="slidenum">
              <a:rPr lang="ru-RU"/>
              <a:pPr>
                <a:defRPr/>
              </a:pPr>
              <a:t>46</a:t>
            </a:fld>
            <a:endParaRPr lang="ru-RU"/>
          </a:p>
        </p:txBody>
      </p:sp>
      <p:graphicFrame>
        <p:nvGraphicFramePr>
          <p:cNvPr id="5122" name="Object 2"/>
          <p:cNvGraphicFramePr>
            <a:graphicFrameLocks noChangeAspect="1"/>
          </p:cNvGraphicFramePr>
          <p:nvPr/>
        </p:nvGraphicFramePr>
        <p:xfrm>
          <a:off x="285750" y="1571625"/>
          <a:ext cx="8537575" cy="4500563"/>
        </p:xfrm>
        <a:graphic>
          <a:graphicData uri="http://schemas.openxmlformats.org/presentationml/2006/ole">
            <mc:AlternateContent xmlns:mc="http://schemas.openxmlformats.org/markup-compatibility/2006">
              <mc:Choice xmlns:v="urn:schemas-microsoft-com:vml" Requires="v">
                <p:oleObj name="Документ" r:id="rId2" imgW="6932468" imgH="3655156" progId="Word.Document.12">
                  <p:embed/>
                </p:oleObj>
              </mc:Choice>
              <mc:Fallback>
                <p:oleObj name="Документ" r:id="rId2" imgW="6932468" imgH="365515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571625"/>
                        <a:ext cx="8537575" cy="450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Заголовок 4"/>
          <p:cNvSpPr>
            <a:spLocks noGrp="1"/>
          </p:cNvSpPr>
          <p:nvPr>
            <p:ph type="ctrTitle"/>
          </p:nvPr>
        </p:nvSpPr>
        <p:spPr/>
        <p:txBody>
          <a:bodyPr/>
          <a:lstStyle/>
          <a:p>
            <a:pPr eaLnBrk="1" hangingPunct="1"/>
            <a:r>
              <a:rPr lang="ru-RU"/>
              <a:t>Понятие нечетких отношений</a:t>
            </a:r>
          </a:p>
        </p:txBody>
      </p:sp>
      <p:sp>
        <p:nvSpPr>
          <p:cNvPr id="6" name="Подзаголовок 5"/>
          <p:cNvSpPr>
            <a:spLocks noGrp="1"/>
          </p:cNvSpPr>
          <p:nvPr>
            <p:ph type="subTitle" idx="1"/>
          </p:nvPr>
        </p:nvSpPr>
        <p:spPr/>
        <p:txBody>
          <a:bodyPr/>
          <a:lstStyle/>
          <a:p>
            <a:pPr eaLnBrk="1" hangingPunct="1">
              <a:defRPr/>
            </a:pPr>
            <a:endParaRPr lang="ru-RU"/>
          </a:p>
        </p:txBody>
      </p:sp>
      <p:sp>
        <p:nvSpPr>
          <p:cNvPr id="4" name="Номер слайда 3"/>
          <p:cNvSpPr>
            <a:spLocks noGrp="1"/>
          </p:cNvSpPr>
          <p:nvPr>
            <p:ph type="sldNum" sz="quarter" idx="12"/>
          </p:nvPr>
        </p:nvSpPr>
        <p:spPr/>
        <p:txBody>
          <a:bodyPr/>
          <a:lstStyle/>
          <a:p>
            <a:pPr>
              <a:defRPr/>
            </a:pPr>
            <a:fld id="{55656967-7D76-4A21-A33E-6BB1602A72D5}" type="slidenum">
              <a:rPr lang="ru-RU" smtClean="0"/>
              <a:pPr>
                <a:defRPr/>
              </a:pPr>
              <a:t>47</a:t>
            </a:fld>
            <a:endParaRPr lang="ru-RU"/>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Заголовок 1"/>
          <p:cNvSpPr>
            <a:spLocks noGrp="1"/>
          </p:cNvSpPr>
          <p:nvPr>
            <p:ph type="title"/>
          </p:nvPr>
        </p:nvSpPr>
        <p:spPr/>
        <p:txBody>
          <a:bodyPr/>
          <a:lstStyle/>
          <a:p>
            <a:pPr eaLnBrk="1" hangingPunct="1"/>
            <a:r>
              <a:rPr lang="ru-RU"/>
              <a:t>Понятие нечетких отношений</a:t>
            </a:r>
          </a:p>
        </p:txBody>
      </p:sp>
      <p:sp>
        <p:nvSpPr>
          <p:cNvPr id="110595" name="Содержимое 2"/>
          <p:cNvSpPr>
            <a:spLocks noGrp="1"/>
          </p:cNvSpPr>
          <p:nvPr>
            <p:ph idx="1"/>
          </p:nvPr>
        </p:nvSpPr>
        <p:spPr/>
        <p:txBody>
          <a:bodyPr/>
          <a:lstStyle/>
          <a:p>
            <a:pPr eaLnBrk="1" hangingPunct="1"/>
            <a:r>
              <a:rPr lang="ru-RU" sz="2400"/>
              <a:t>Нечеткое отношение представляет собой важное математическое понятие, позволяющее формулировать и анализировать математические модели реальных задач принятия решений. </a:t>
            </a:r>
          </a:p>
          <a:p>
            <a:pPr eaLnBrk="1" hangingPunct="1"/>
            <a:r>
              <a:rPr lang="ru-RU" sz="2400"/>
              <a:t>Отношение на множестве альтернатив, объектов и т. п. в таких задачах выявляется обычно путем консультаций с лицом, принимающим решения (л. п. р.), или с экспертами, которые зачастую не имеют вполне четкого суждения об этом отношении. </a:t>
            </a:r>
          </a:p>
          <a:p>
            <a:pPr eaLnBrk="1" hangingPunct="1"/>
            <a:r>
              <a:rPr lang="ru-RU" sz="2400"/>
              <a:t>В подобных случаях нечеткое отношение может служить удобной и более адекватной реальности формой представления исходной информации, чем обычное отношение.</a:t>
            </a:r>
          </a:p>
        </p:txBody>
      </p:sp>
      <p:sp>
        <p:nvSpPr>
          <p:cNvPr id="4" name="Номер слайда 3"/>
          <p:cNvSpPr>
            <a:spLocks noGrp="1"/>
          </p:cNvSpPr>
          <p:nvPr>
            <p:ph type="sldNum" sz="quarter" idx="12"/>
          </p:nvPr>
        </p:nvSpPr>
        <p:spPr/>
        <p:txBody>
          <a:bodyPr/>
          <a:lstStyle/>
          <a:p>
            <a:pPr>
              <a:defRPr/>
            </a:pPr>
            <a:fld id="{2FB69591-06D1-4252-A749-157BF791F083}" type="slidenum">
              <a:rPr lang="ru-RU"/>
              <a:pPr>
                <a:defRPr/>
              </a:pPr>
              <a:t>48</a:t>
            </a:fld>
            <a:endParaRPr lang="ru-RU"/>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Заголовок 1"/>
          <p:cNvSpPr>
            <a:spLocks noGrp="1"/>
          </p:cNvSpPr>
          <p:nvPr>
            <p:ph type="title"/>
          </p:nvPr>
        </p:nvSpPr>
        <p:spPr/>
        <p:txBody>
          <a:bodyPr/>
          <a:lstStyle/>
          <a:p>
            <a:pPr eaLnBrk="1" hangingPunct="1"/>
            <a:r>
              <a:rPr lang="ru-RU"/>
              <a:t>Определение</a:t>
            </a:r>
          </a:p>
        </p:txBody>
      </p:sp>
      <p:sp>
        <p:nvSpPr>
          <p:cNvPr id="4" name="Номер слайда 3"/>
          <p:cNvSpPr>
            <a:spLocks noGrp="1"/>
          </p:cNvSpPr>
          <p:nvPr>
            <p:ph type="sldNum" sz="quarter" idx="12"/>
          </p:nvPr>
        </p:nvSpPr>
        <p:spPr/>
        <p:txBody>
          <a:bodyPr/>
          <a:lstStyle/>
          <a:p>
            <a:pPr>
              <a:defRPr/>
            </a:pPr>
            <a:fld id="{9B24ED85-ADE5-4DAC-9619-3E583D1A69A8}" type="slidenum">
              <a:rPr lang="ru-RU" smtClean="0"/>
              <a:pPr>
                <a:defRPr/>
              </a:pPr>
              <a:t>49</a:t>
            </a:fld>
            <a:endParaRPr lang="ru-RU"/>
          </a:p>
        </p:txBody>
      </p:sp>
      <p:graphicFrame>
        <p:nvGraphicFramePr>
          <p:cNvPr id="6146" name="Object 2"/>
          <p:cNvGraphicFramePr>
            <a:graphicFrameLocks noChangeAspect="1"/>
          </p:cNvGraphicFramePr>
          <p:nvPr>
            <p:extLst>
              <p:ext uri="{D42A27DB-BD31-4B8C-83A1-F6EECF244321}">
                <p14:modId xmlns:p14="http://schemas.microsoft.com/office/powerpoint/2010/main" val="1974125936"/>
              </p:ext>
            </p:extLst>
          </p:nvPr>
        </p:nvGraphicFramePr>
        <p:xfrm>
          <a:off x="214313" y="1714500"/>
          <a:ext cx="11990535" cy="3117850"/>
        </p:xfrm>
        <a:graphic>
          <a:graphicData uri="http://schemas.openxmlformats.org/presentationml/2006/ole">
            <mc:AlternateContent xmlns:mc="http://schemas.openxmlformats.org/markup-compatibility/2006">
              <mc:Choice xmlns:v="urn:schemas-microsoft-com:vml" Requires="v">
                <p:oleObj name="Document" r:id="rId2" imgW="6723601" imgH="1630397" progId="Word.Document.12">
                  <p:embed/>
                </p:oleObj>
              </mc:Choice>
              <mc:Fallback>
                <p:oleObj name="Document" r:id="rId2" imgW="6723601" imgH="1630397" progId="Word.Document.12">
                  <p:embed/>
                  <p:pic>
                    <p:nvPicPr>
                      <p:cNvPr id="0" name="Object 2"/>
                      <p:cNvPicPr>
                        <a:picLocks noChangeAspect="1" noChangeArrowheads="1"/>
                      </p:cNvPicPr>
                      <p:nvPr/>
                    </p:nvPicPr>
                    <p:blipFill>
                      <a:blip r:embed="rId3"/>
                      <a:srcRect/>
                      <a:stretch>
                        <a:fillRect/>
                      </a:stretch>
                    </p:blipFill>
                    <p:spPr bwMode="auto">
                      <a:xfrm>
                        <a:off x="214313" y="1714500"/>
                        <a:ext cx="11990535" cy="3117850"/>
                      </a:xfrm>
                      <a:prstGeom prst="rect">
                        <a:avLst/>
                      </a:prstGeom>
                      <a:noFill/>
                      <a:ln>
                        <a:noFill/>
                      </a:ln>
                      <a:effec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Заголовок 1"/>
          <p:cNvSpPr>
            <a:spLocks noGrp="1"/>
          </p:cNvSpPr>
          <p:nvPr>
            <p:ph type="title"/>
          </p:nvPr>
        </p:nvSpPr>
        <p:spPr/>
        <p:txBody>
          <a:bodyPr/>
          <a:lstStyle/>
          <a:p>
            <a:pPr eaLnBrk="1" hangingPunct="1"/>
            <a:r>
              <a:rPr lang="ru-RU"/>
              <a:t>Способы задания НО</a:t>
            </a:r>
          </a:p>
        </p:txBody>
      </p:sp>
      <p:sp>
        <p:nvSpPr>
          <p:cNvPr id="4" name="Номер слайда 3"/>
          <p:cNvSpPr>
            <a:spLocks noGrp="1"/>
          </p:cNvSpPr>
          <p:nvPr>
            <p:ph type="sldNum" sz="quarter" idx="12"/>
          </p:nvPr>
        </p:nvSpPr>
        <p:spPr/>
        <p:txBody>
          <a:bodyPr/>
          <a:lstStyle/>
          <a:p>
            <a:pPr>
              <a:defRPr/>
            </a:pPr>
            <a:fld id="{7494EF11-7D61-47E2-BDC6-A061E155DA8D}" type="slidenum">
              <a:rPr lang="ru-RU" smtClean="0"/>
              <a:pPr>
                <a:defRPr/>
              </a:pPr>
              <a:t>50</a:t>
            </a:fld>
            <a:endParaRPr lang="ru-RU"/>
          </a:p>
        </p:txBody>
      </p:sp>
      <p:graphicFrame>
        <p:nvGraphicFramePr>
          <p:cNvPr id="7170" name="Object 2"/>
          <p:cNvGraphicFramePr>
            <a:graphicFrameLocks noChangeAspect="1"/>
          </p:cNvGraphicFramePr>
          <p:nvPr>
            <p:extLst>
              <p:ext uri="{D42A27DB-BD31-4B8C-83A1-F6EECF244321}">
                <p14:modId xmlns:p14="http://schemas.microsoft.com/office/powerpoint/2010/main" val="736234255"/>
              </p:ext>
            </p:extLst>
          </p:nvPr>
        </p:nvGraphicFramePr>
        <p:xfrm>
          <a:off x="214313" y="1643063"/>
          <a:ext cx="8648700" cy="3082081"/>
        </p:xfrm>
        <a:graphic>
          <a:graphicData uri="http://schemas.openxmlformats.org/presentationml/2006/ole">
            <mc:AlternateContent xmlns:mc="http://schemas.openxmlformats.org/markup-compatibility/2006">
              <mc:Choice xmlns:v="urn:schemas-microsoft-com:vml" Requires="v">
                <p:oleObj name="Document" r:id="rId2" imgW="4950538" imgH="1839912" progId="Word.Document.12">
                  <p:embed/>
                </p:oleObj>
              </mc:Choice>
              <mc:Fallback>
                <p:oleObj name="Document" r:id="rId2" imgW="4950538" imgH="1839912" progId="Word.Document.12">
                  <p:embed/>
                  <p:pic>
                    <p:nvPicPr>
                      <p:cNvPr id="0" name="Object 2"/>
                      <p:cNvPicPr>
                        <a:picLocks noChangeAspect="1" noChangeArrowheads="1"/>
                      </p:cNvPicPr>
                      <p:nvPr/>
                    </p:nvPicPr>
                    <p:blipFill>
                      <a:blip r:embed="rId3"/>
                      <a:srcRect/>
                      <a:stretch>
                        <a:fillRect/>
                      </a:stretch>
                    </p:blipFill>
                    <p:spPr bwMode="auto">
                      <a:xfrm>
                        <a:off x="214313" y="1643063"/>
                        <a:ext cx="8648700" cy="3082081"/>
                      </a:xfrm>
                      <a:prstGeom prst="rect">
                        <a:avLst/>
                      </a:prstGeom>
                      <a:noFill/>
                      <a:ln>
                        <a:noFill/>
                      </a:ln>
                      <a:effectLst/>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Заголовок 1"/>
          <p:cNvSpPr>
            <a:spLocks noGrp="1"/>
          </p:cNvSpPr>
          <p:nvPr>
            <p:ph type="title"/>
          </p:nvPr>
        </p:nvSpPr>
        <p:spPr/>
        <p:txBody>
          <a:bodyPr/>
          <a:lstStyle/>
          <a:p>
            <a:pPr eaLnBrk="1" hangingPunct="1"/>
            <a:r>
              <a:rPr lang="ru-RU"/>
              <a:t>Способы задания НО</a:t>
            </a:r>
          </a:p>
        </p:txBody>
      </p:sp>
      <p:sp>
        <p:nvSpPr>
          <p:cNvPr id="4" name="Номер слайда 3"/>
          <p:cNvSpPr>
            <a:spLocks noGrp="1"/>
          </p:cNvSpPr>
          <p:nvPr>
            <p:ph type="sldNum" sz="quarter" idx="12"/>
          </p:nvPr>
        </p:nvSpPr>
        <p:spPr/>
        <p:txBody>
          <a:bodyPr/>
          <a:lstStyle/>
          <a:p>
            <a:pPr>
              <a:defRPr/>
            </a:pPr>
            <a:fld id="{3086FCD0-F5C7-4255-B510-0379BD2E481B}" type="slidenum">
              <a:rPr lang="ru-RU" smtClean="0"/>
              <a:pPr>
                <a:defRPr/>
              </a:pPr>
              <a:t>51</a:t>
            </a:fld>
            <a:endParaRPr lang="ru-RU"/>
          </a:p>
        </p:txBody>
      </p:sp>
      <p:graphicFrame>
        <p:nvGraphicFramePr>
          <p:cNvPr id="8194" name="Object 2"/>
          <p:cNvGraphicFramePr>
            <a:graphicFrameLocks noChangeAspect="1"/>
          </p:cNvGraphicFramePr>
          <p:nvPr/>
        </p:nvGraphicFramePr>
        <p:xfrm>
          <a:off x="214313" y="1357313"/>
          <a:ext cx="8662987" cy="4143375"/>
        </p:xfrm>
        <a:graphic>
          <a:graphicData uri="http://schemas.openxmlformats.org/presentationml/2006/ole">
            <mc:AlternateContent xmlns:mc="http://schemas.openxmlformats.org/markup-compatibility/2006">
              <mc:Choice xmlns:v="urn:schemas-microsoft-com:vml" Requires="v">
                <p:oleObj name="Документ" r:id="rId2" imgW="6478817" imgH="3098271" progId="Word.Document.12">
                  <p:embed/>
                </p:oleObj>
              </mc:Choice>
              <mc:Fallback>
                <p:oleObj name="Документ" r:id="rId2" imgW="6478817" imgH="3098271"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357313"/>
                        <a:ext cx="8662987"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Заголовок 1"/>
          <p:cNvSpPr>
            <a:spLocks noGrp="1"/>
          </p:cNvSpPr>
          <p:nvPr>
            <p:ph type="title"/>
          </p:nvPr>
        </p:nvSpPr>
        <p:spPr/>
        <p:txBody>
          <a:bodyPr/>
          <a:lstStyle/>
          <a:p>
            <a:pPr eaLnBrk="1" hangingPunct="1"/>
            <a:r>
              <a:rPr lang="ru-RU"/>
              <a:t>Определения</a:t>
            </a:r>
          </a:p>
        </p:txBody>
      </p:sp>
      <p:sp>
        <p:nvSpPr>
          <p:cNvPr id="4" name="Номер слайда 3"/>
          <p:cNvSpPr>
            <a:spLocks noGrp="1"/>
          </p:cNvSpPr>
          <p:nvPr>
            <p:ph type="sldNum" sz="quarter" idx="12"/>
          </p:nvPr>
        </p:nvSpPr>
        <p:spPr/>
        <p:txBody>
          <a:bodyPr/>
          <a:lstStyle/>
          <a:p>
            <a:pPr>
              <a:defRPr/>
            </a:pPr>
            <a:fld id="{5E76C25C-7EE3-463E-ADB2-1F8507ED317C}" type="slidenum">
              <a:rPr lang="ru-RU" smtClean="0"/>
              <a:pPr>
                <a:defRPr/>
              </a:pPr>
              <a:t>52</a:t>
            </a:fld>
            <a:endParaRPr lang="ru-RU"/>
          </a:p>
        </p:txBody>
      </p:sp>
      <p:graphicFrame>
        <p:nvGraphicFramePr>
          <p:cNvPr id="9218" name="Object 2"/>
          <p:cNvGraphicFramePr>
            <a:graphicFrameLocks noChangeAspect="1"/>
          </p:cNvGraphicFramePr>
          <p:nvPr>
            <p:extLst>
              <p:ext uri="{D42A27DB-BD31-4B8C-83A1-F6EECF244321}">
                <p14:modId xmlns:p14="http://schemas.microsoft.com/office/powerpoint/2010/main" val="1809187736"/>
              </p:ext>
            </p:extLst>
          </p:nvPr>
        </p:nvGraphicFramePr>
        <p:xfrm>
          <a:off x="214313" y="1571624"/>
          <a:ext cx="8683625" cy="4089624"/>
        </p:xfrm>
        <a:graphic>
          <a:graphicData uri="http://schemas.openxmlformats.org/presentationml/2006/ole">
            <mc:AlternateContent xmlns:mc="http://schemas.openxmlformats.org/markup-compatibility/2006">
              <mc:Choice xmlns:v="urn:schemas-microsoft-com:vml" Requires="v">
                <p:oleObj name="Document" r:id="rId2" imgW="5671143" imgH="2792980" progId="Word.Document.12">
                  <p:embed/>
                </p:oleObj>
              </mc:Choice>
              <mc:Fallback>
                <p:oleObj name="Document" r:id="rId2" imgW="5671143" imgH="2792980" progId="Word.Document.12">
                  <p:embed/>
                  <p:pic>
                    <p:nvPicPr>
                      <p:cNvPr id="0" name="Object 2"/>
                      <p:cNvPicPr>
                        <a:picLocks noChangeAspect="1" noChangeArrowheads="1"/>
                      </p:cNvPicPr>
                      <p:nvPr/>
                    </p:nvPicPr>
                    <p:blipFill>
                      <a:blip r:embed="rId3"/>
                      <a:srcRect/>
                      <a:stretch>
                        <a:fillRect/>
                      </a:stretch>
                    </p:blipFill>
                    <p:spPr bwMode="auto">
                      <a:xfrm>
                        <a:off x="214313" y="1571624"/>
                        <a:ext cx="8683625" cy="4089624"/>
                      </a:xfrm>
                      <a:prstGeom prst="rect">
                        <a:avLst/>
                      </a:prstGeom>
                      <a:noFill/>
                      <a:ln>
                        <a:noFill/>
                      </a:ln>
                      <a:effec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Заголовок 1"/>
          <p:cNvSpPr>
            <a:spLocks noGrp="1"/>
          </p:cNvSpPr>
          <p:nvPr>
            <p:ph type="title"/>
          </p:nvPr>
        </p:nvSpPr>
        <p:spPr/>
        <p:txBody>
          <a:bodyPr/>
          <a:lstStyle/>
          <a:p>
            <a:pPr eaLnBrk="1" hangingPunct="1"/>
            <a:r>
              <a:rPr lang="ru-RU" dirty="0"/>
              <a:t>Пример</a:t>
            </a:r>
          </a:p>
        </p:txBody>
      </p:sp>
      <p:sp>
        <p:nvSpPr>
          <p:cNvPr id="4" name="Номер слайда 3"/>
          <p:cNvSpPr>
            <a:spLocks noGrp="1"/>
          </p:cNvSpPr>
          <p:nvPr>
            <p:ph type="sldNum" sz="quarter" idx="12"/>
          </p:nvPr>
        </p:nvSpPr>
        <p:spPr/>
        <p:txBody>
          <a:bodyPr/>
          <a:lstStyle/>
          <a:p>
            <a:pPr>
              <a:defRPr/>
            </a:pPr>
            <a:fld id="{FED4F3D4-C247-45D9-B882-62F5B614BF06}" type="slidenum">
              <a:rPr lang="ru-RU" smtClean="0"/>
              <a:pPr>
                <a:defRPr/>
              </a:pPr>
              <a:t>53</a:t>
            </a:fld>
            <a:endParaRPr lang="ru-RU"/>
          </a:p>
        </p:txBody>
      </p:sp>
      <p:graphicFrame>
        <p:nvGraphicFramePr>
          <p:cNvPr id="10242" name="Object 2"/>
          <p:cNvGraphicFramePr>
            <a:graphicFrameLocks noChangeAspect="1"/>
          </p:cNvGraphicFramePr>
          <p:nvPr/>
        </p:nvGraphicFramePr>
        <p:xfrm>
          <a:off x="214313" y="1643063"/>
          <a:ext cx="8599487" cy="3286125"/>
        </p:xfrm>
        <a:graphic>
          <a:graphicData uri="http://schemas.openxmlformats.org/presentationml/2006/ole">
            <mc:AlternateContent xmlns:mc="http://schemas.openxmlformats.org/markup-compatibility/2006">
              <mc:Choice xmlns:v="urn:schemas-microsoft-com:vml" Requires="v">
                <p:oleObj name="Документ" r:id="rId2" imgW="6622079" imgH="2529811" progId="Word.Document.12">
                  <p:embed/>
                </p:oleObj>
              </mc:Choice>
              <mc:Fallback>
                <p:oleObj name="Документ" r:id="rId2" imgW="6622079" imgH="2529811"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643063"/>
                        <a:ext cx="8599487" cy="328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Заголовок 1"/>
          <p:cNvSpPr>
            <a:spLocks noGrp="1"/>
          </p:cNvSpPr>
          <p:nvPr>
            <p:ph type="title"/>
          </p:nvPr>
        </p:nvSpPr>
        <p:spPr/>
        <p:txBody>
          <a:bodyPr/>
          <a:lstStyle/>
          <a:p>
            <a:pPr eaLnBrk="1" hangingPunct="1"/>
            <a:r>
              <a:rPr lang="ru-RU" sz="3200" dirty="0"/>
              <a:t>Операции над нечеткими отношениями</a:t>
            </a:r>
          </a:p>
        </p:txBody>
      </p:sp>
      <p:sp>
        <p:nvSpPr>
          <p:cNvPr id="4" name="Номер слайда 3"/>
          <p:cNvSpPr>
            <a:spLocks noGrp="1"/>
          </p:cNvSpPr>
          <p:nvPr>
            <p:ph type="sldNum" sz="quarter" idx="12"/>
          </p:nvPr>
        </p:nvSpPr>
        <p:spPr/>
        <p:txBody>
          <a:bodyPr/>
          <a:lstStyle/>
          <a:p>
            <a:pPr>
              <a:defRPr/>
            </a:pPr>
            <a:fld id="{C6F54780-5D8E-46E7-83FE-5D4FC44040AD}" type="slidenum">
              <a:rPr lang="ru-RU" smtClean="0"/>
              <a:pPr>
                <a:defRPr/>
              </a:pPr>
              <a:t>54</a:t>
            </a:fld>
            <a:endParaRPr lang="ru-RU"/>
          </a:p>
        </p:txBody>
      </p:sp>
      <p:graphicFrame>
        <p:nvGraphicFramePr>
          <p:cNvPr id="11266" name="Object 2"/>
          <p:cNvGraphicFramePr>
            <a:graphicFrameLocks noChangeAspect="1"/>
          </p:cNvGraphicFramePr>
          <p:nvPr/>
        </p:nvGraphicFramePr>
        <p:xfrm>
          <a:off x="428625" y="1500188"/>
          <a:ext cx="8464550" cy="4786312"/>
        </p:xfrm>
        <a:graphic>
          <a:graphicData uri="http://schemas.openxmlformats.org/presentationml/2006/ole">
            <mc:AlternateContent xmlns:mc="http://schemas.openxmlformats.org/markup-compatibility/2006">
              <mc:Choice xmlns:v="urn:schemas-microsoft-com:vml" Requires="v">
                <p:oleObj name="Документ" r:id="rId2" imgW="4499789" imgH="2547812" progId="Word.Document.12">
                  <p:embed/>
                </p:oleObj>
              </mc:Choice>
              <mc:Fallback>
                <p:oleObj name="Документ" r:id="rId2" imgW="4499789" imgH="2547812"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500188"/>
                        <a:ext cx="8464550" cy="4786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Заголовок 1"/>
          <p:cNvSpPr>
            <a:spLocks noGrp="1"/>
          </p:cNvSpPr>
          <p:nvPr>
            <p:ph type="title"/>
          </p:nvPr>
        </p:nvSpPr>
        <p:spPr/>
        <p:txBody>
          <a:bodyPr/>
          <a:lstStyle/>
          <a:p>
            <a:pPr eaLnBrk="1" hangingPunct="1"/>
            <a:r>
              <a:rPr lang="ru-RU" sz="3200" dirty="0"/>
              <a:t>Операции над нечеткими отношениями</a:t>
            </a:r>
          </a:p>
        </p:txBody>
      </p:sp>
      <p:sp>
        <p:nvSpPr>
          <p:cNvPr id="4" name="Номер слайда 3"/>
          <p:cNvSpPr>
            <a:spLocks noGrp="1"/>
          </p:cNvSpPr>
          <p:nvPr>
            <p:ph type="sldNum" sz="quarter" idx="12"/>
          </p:nvPr>
        </p:nvSpPr>
        <p:spPr/>
        <p:txBody>
          <a:bodyPr/>
          <a:lstStyle/>
          <a:p>
            <a:pPr>
              <a:defRPr/>
            </a:pPr>
            <a:fld id="{360CEE31-7388-4CD5-B487-CD68FAB87E35}" type="slidenum">
              <a:rPr lang="ru-RU" smtClean="0"/>
              <a:pPr>
                <a:defRPr/>
              </a:pPr>
              <a:t>55</a:t>
            </a:fld>
            <a:endParaRPr lang="ru-RU"/>
          </a:p>
        </p:txBody>
      </p:sp>
      <p:graphicFrame>
        <p:nvGraphicFramePr>
          <p:cNvPr id="12290" name="Object 2"/>
          <p:cNvGraphicFramePr>
            <a:graphicFrameLocks noChangeAspect="1"/>
          </p:cNvGraphicFramePr>
          <p:nvPr/>
        </p:nvGraphicFramePr>
        <p:xfrm>
          <a:off x="357188" y="1571625"/>
          <a:ext cx="8243887" cy="3143250"/>
        </p:xfrm>
        <a:graphic>
          <a:graphicData uri="http://schemas.openxmlformats.org/presentationml/2006/ole">
            <mc:AlternateContent xmlns:mc="http://schemas.openxmlformats.org/markup-compatibility/2006">
              <mc:Choice xmlns:v="urn:schemas-microsoft-com:vml" Requires="v">
                <p:oleObj name="Документ" r:id="rId2" imgW="5130068" imgH="1964591" progId="Word.Document.12">
                  <p:embed/>
                </p:oleObj>
              </mc:Choice>
              <mc:Fallback>
                <p:oleObj name="Документ" r:id="rId2" imgW="5130068" imgH="1964591"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571625"/>
                        <a:ext cx="8243887" cy="314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Заголовок 1"/>
          <p:cNvSpPr>
            <a:spLocks noGrp="1"/>
          </p:cNvSpPr>
          <p:nvPr>
            <p:ph type="title"/>
          </p:nvPr>
        </p:nvSpPr>
        <p:spPr/>
        <p:txBody>
          <a:bodyPr/>
          <a:lstStyle/>
          <a:p>
            <a:pPr eaLnBrk="1" hangingPunct="1"/>
            <a:r>
              <a:rPr lang="ru-RU" sz="3200" dirty="0"/>
              <a:t>Операции над нечеткими отношениями</a:t>
            </a:r>
          </a:p>
        </p:txBody>
      </p:sp>
      <p:sp>
        <p:nvSpPr>
          <p:cNvPr id="4" name="Номер слайда 3"/>
          <p:cNvSpPr>
            <a:spLocks noGrp="1"/>
          </p:cNvSpPr>
          <p:nvPr>
            <p:ph type="sldNum" sz="quarter" idx="12"/>
          </p:nvPr>
        </p:nvSpPr>
        <p:spPr/>
        <p:txBody>
          <a:bodyPr/>
          <a:lstStyle/>
          <a:p>
            <a:pPr>
              <a:defRPr/>
            </a:pPr>
            <a:fld id="{07F1F31C-4AD0-4FC3-B326-26B5806BFEAB}" type="slidenum">
              <a:rPr lang="ru-RU" smtClean="0"/>
              <a:pPr>
                <a:defRPr/>
              </a:pPr>
              <a:t>56</a:t>
            </a:fld>
            <a:endParaRPr lang="ru-RU"/>
          </a:p>
        </p:txBody>
      </p:sp>
      <p:graphicFrame>
        <p:nvGraphicFramePr>
          <p:cNvPr id="13314" name="Object 2"/>
          <p:cNvGraphicFramePr>
            <a:graphicFrameLocks noChangeAspect="1"/>
          </p:cNvGraphicFramePr>
          <p:nvPr/>
        </p:nvGraphicFramePr>
        <p:xfrm>
          <a:off x="428625" y="1428750"/>
          <a:ext cx="8275638" cy="4643438"/>
        </p:xfrm>
        <a:graphic>
          <a:graphicData uri="http://schemas.openxmlformats.org/presentationml/2006/ole">
            <mc:AlternateContent xmlns:mc="http://schemas.openxmlformats.org/markup-compatibility/2006">
              <mc:Choice xmlns:v="urn:schemas-microsoft-com:vml" Requires="v">
                <p:oleObj name="Документ" r:id="rId2" imgW="5040080" imgH="2830782" progId="Word.Document.12">
                  <p:embed/>
                </p:oleObj>
              </mc:Choice>
              <mc:Fallback>
                <p:oleObj name="Документ" r:id="rId2" imgW="5040080" imgH="2830782"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428750"/>
                        <a:ext cx="8275638" cy="464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Заголовок 1"/>
          <p:cNvSpPr>
            <a:spLocks noGrp="1"/>
          </p:cNvSpPr>
          <p:nvPr>
            <p:ph type="title"/>
          </p:nvPr>
        </p:nvSpPr>
        <p:spPr/>
        <p:txBody>
          <a:bodyPr/>
          <a:lstStyle/>
          <a:p>
            <a:pPr eaLnBrk="1" hangingPunct="1"/>
            <a:r>
              <a:rPr lang="ru-RU" sz="4000" dirty="0"/>
              <a:t>Композиция нечетких отношений</a:t>
            </a:r>
          </a:p>
        </p:txBody>
      </p:sp>
      <p:sp>
        <p:nvSpPr>
          <p:cNvPr id="14340" name="Содержимое 2"/>
          <p:cNvSpPr>
            <a:spLocks noGrp="1"/>
          </p:cNvSpPr>
          <p:nvPr>
            <p:ph idx="1"/>
          </p:nvPr>
        </p:nvSpPr>
        <p:spPr/>
        <p:txBody>
          <a:bodyPr/>
          <a:lstStyle/>
          <a:p>
            <a:pPr eaLnBrk="1" hangingPunct="1"/>
            <a:r>
              <a:rPr lang="ru-RU"/>
              <a:t>Операция композиции нечетких отношений </a:t>
            </a:r>
            <a:r>
              <a:rPr lang="en-US"/>
              <a:t>R</a:t>
            </a:r>
            <a:r>
              <a:rPr lang="ru-RU" baseline="-25000"/>
              <a:t>1</a:t>
            </a:r>
            <a:r>
              <a:rPr lang="ru-RU"/>
              <a:t> в X×Y и</a:t>
            </a:r>
            <a:r>
              <a:rPr lang="en-US"/>
              <a:t>R</a:t>
            </a:r>
            <a:r>
              <a:rPr lang="ru-RU" baseline="-25000"/>
              <a:t>2</a:t>
            </a:r>
            <a:r>
              <a:rPr lang="ru-RU"/>
              <a:t> в Y×Z позволяет определить нечеткое отношение в X×Z.</a:t>
            </a:r>
          </a:p>
          <a:p>
            <a:pPr algn="ctr" eaLnBrk="1" hangingPunct="1">
              <a:buFont typeface="Arial" charset="0"/>
              <a:buNone/>
            </a:pPr>
            <a:r>
              <a:rPr lang="ru-RU" b="1" i="1"/>
              <a:t>(Max-min) - композиция и ее свойства</a:t>
            </a:r>
            <a:endParaRPr lang="ru-RU"/>
          </a:p>
          <a:p>
            <a:pPr eaLnBrk="1" hangingPunct="1"/>
            <a:endParaRPr lang="ru-RU"/>
          </a:p>
        </p:txBody>
      </p:sp>
      <p:sp>
        <p:nvSpPr>
          <p:cNvPr id="4" name="Номер слайда 3"/>
          <p:cNvSpPr>
            <a:spLocks noGrp="1"/>
          </p:cNvSpPr>
          <p:nvPr>
            <p:ph type="sldNum" sz="quarter" idx="12"/>
          </p:nvPr>
        </p:nvSpPr>
        <p:spPr/>
        <p:txBody>
          <a:bodyPr/>
          <a:lstStyle/>
          <a:p>
            <a:pPr>
              <a:defRPr/>
            </a:pPr>
            <a:fld id="{95F728CF-4B14-4981-8D05-241BCB43B195}" type="slidenum">
              <a:rPr lang="ru-RU" smtClean="0"/>
              <a:pPr>
                <a:defRPr/>
              </a:pPr>
              <a:t>57</a:t>
            </a:fld>
            <a:endParaRPr lang="ru-RU"/>
          </a:p>
        </p:txBody>
      </p:sp>
      <p:graphicFrame>
        <p:nvGraphicFramePr>
          <p:cNvPr id="14338" name="Object 2"/>
          <p:cNvGraphicFramePr>
            <a:graphicFrameLocks noChangeAspect="1"/>
          </p:cNvGraphicFramePr>
          <p:nvPr/>
        </p:nvGraphicFramePr>
        <p:xfrm>
          <a:off x="714375" y="3786188"/>
          <a:ext cx="7351713" cy="2714625"/>
        </p:xfrm>
        <a:graphic>
          <a:graphicData uri="http://schemas.openxmlformats.org/presentationml/2006/ole">
            <mc:AlternateContent xmlns:mc="http://schemas.openxmlformats.org/markup-compatibility/2006">
              <mc:Choice xmlns:v="urn:schemas-microsoft-com:vml" Requires="v">
                <p:oleObj name="Документ" r:id="rId2" imgW="4050206" imgH="1503054" progId="Word.Document.12">
                  <p:embed/>
                </p:oleObj>
              </mc:Choice>
              <mc:Fallback>
                <p:oleObj name="Документ" r:id="rId2" imgW="4050206" imgH="1503054"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3786188"/>
                        <a:ext cx="7351713"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Заголовок 1"/>
          <p:cNvSpPr>
            <a:spLocks noGrp="1"/>
          </p:cNvSpPr>
          <p:nvPr>
            <p:ph type="title"/>
          </p:nvPr>
        </p:nvSpPr>
        <p:spPr/>
        <p:txBody>
          <a:bodyPr/>
          <a:lstStyle/>
          <a:p>
            <a:pPr eaLnBrk="1" hangingPunct="1"/>
            <a:r>
              <a:rPr lang="ru-RU"/>
              <a:t>Вычисление композиций НО</a:t>
            </a:r>
          </a:p>
        </p:txBody>
      </p:sp>
      <p:sp>
        <p:nvSpPr>
          <p:cNvPr id="111619" name="Содержимое 2"/>
          <p:cNvSpPr>
            <a:spLocks noGrp="1"/>
          </p:cNvSpPr>
          <p:nvPr>
            <p:ph idx="1"/>
          </p:nvPr>
        </p:nvSpPr>
        <p:spPr/>
        <p:txBody>
          <a:bodyPr/>
          <a:lstStyle/>
          <a:p>
            <a:pPr eaLnBrk="1" hangingPunct="1"/>
            <a:r>
              <a:rPr lang="ru-RU"/>
              <a:t>Вычисление композиции нечетких отношений аналогично вычислению произведения матриц, ("столбец на строку"), только вместо произведения и суммы выполняются операции взятия минимума и максимума соответственно.</a:t>
            </a:r>
          </a:p>
          <a:p>
            <a:pPr eaLnBrk="1" hangingPunct="1"/>
            <a:endParaRPr lang="ru-RU"/>
          </a:p>
        </p:txBody>
      </p:sp>
      <p:sp>
        <p:nvSpPr>
          <p:cNvPr id="4" name="Номер слайда 3"/>
          <p:cNvSpPr>
            <a:spLocks noGrp="1"/>
          </p:cNvSpPr>
          <p:nvPr>
            <p:ph type="sldNum" sz="quarter" idx="12"/>
          </p:nvPr>
        </p:nvSpPr>
        <p:spPr/>
        <p:txBody>
          <a:bodyPr/>
          <a:lstStyle/>
          <a:p>
            <a:pPr>
              <a:defRPr/>
            </a:pPr>
            <a:fld id="{5975FCB4-1201-439B-B9DC-B6DFC28E35B9}" type="slidenum">
              <a:rPr lang="ru-RU" smtClean="0"/>
              <a:pPr>
                <a:defRPr/>
              </a:pPr>
              <a:t>58</a:t>
            </a:fld>
            <a:endParaRPr lang="ru-RU"/>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Заголовок 1"/>
          <p:cNvSpPr>
            <a:spLocks noGrp="1"/>
          </p:cNvSpPr>
          <p:nvPr>
            <p:ph type="title"/>
          </p:nvPr>
        </p:nvSpPr>
        <p:spPr/>
        <p:txBody>
          <a:bodyPr/>
          <a:lstStyle/>
          <a:p>
            <a:pPr eaLnBrk="1" hangingPunct="1"/>
            <a:r>
              <a:rPr lang="ru-RU"/>
              <a:t>Пример</a:t>
            </a:r>
          </a:p>
        </p:txBody>
      </p:sp>
      <p:sp>
        <p:nvSpPr>
          <p:cNvPr id="4" name="Номер слайда 3"/>
          <p:cNvSpPr>
            <a:spLocks noGrp="1"/>
          </p:cNvSpPr>
          <p:nvPr>
            <p:ph type="sldNum" sz="quarter" idx="12"/>
          </p:nvPr>
        </p:nvSpPr>
        <p:spPr/>
        <p:txBody>
          <a:bodyPr/>
          <a:lstStyle/>
          <a:p>
            <a:pPr>
              <a:defRPr/>
            </a:pPr>
            <a:fld id="{CC561EFD-CF55-4FBE-97E2-7A4C3C500537}" type="slidenum">
              <a:rPr lang="ru-RU" smtClean="0"/>
              <a:pPr>
                <a:defRPr/>
              </a:pPr>
              <a:t>59</a:t>
            </a:fld>
            <a:endParaRPr lang="ru-RU"/>
          </a:p>
        </p:txBody>
      </p:sp>
      <p:graphicFrame>
        <p:nvGraphicFramePr>
          <p:cNvPr id="15362" name="Object 2"/>
          <p:cNvGraphicFramePr>
            <a:graphicFrameLocks noChangeAspect="1"/>
          </p:cNvGraphicFramePr>
          <p:nvPr/>
        </p:nvGraphicFramePr>
        <p:xfrm>
          <a:off x="428625" y="1214438"/>
          <a:ext cx="8488363" cy="4929187"/>
        </p:xfrm>
        <a:graphic>
          <a:graphicData uri="http://schemas.openxmlformats.org/presentationml/2006/ole">
            <mc:AlternateContent xmlns:mc="http://schemas.openxmlformats.org/markup-compatibility/2006">
              <mc:Choice xmlns:v="urn:schemas-microsoft-com:vml" Requires="v">
                <p:oleObj name="Документ" r:id="rId2" imgW="6622079" imgH="3844938" progId="Word.Document.12">
                  <p:embed/>
                </p:oleObj>
              </mc:Choice>
              <mc:Fallback>
                <p:oleObj name="Документ" r:id="rId2" imgW="6622079" imgH="384493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214438"/>
                        <a:ext cx="8488363" cy="4929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Заголовок 1"/>
          <p:cNvSpPr>
            <a:spLocks noGrp="1"/>
          </p:cNvSpPr>
          <p:nvPr>
            <p:ph type="title"/>
          </p:nvPr>
        </p:nvSpPr>
        <p:spPr/>
        <p:txBody>
          <a:bodyPr/>
          <a:lstStyle/>
          <a:p>
            <a:pPr eaLnBrk="1" hangingPunct="1"/>
            <a:r>
              <a:rPr lang="ru-RU"/>
              <a:t>Свойства (max-min) - композиции</a:t>
            </a:r>
          </a:p>
        </p:txBody>
      </p:sp>
      <p:sp>
        <p:nvSpPr>
          <p:cNvPr id="4" name="Номер слайда 3"/>
          <p:cNvSpPr>
            <a:spLocks noGrp="1"/>
          </p:cNvSpPr>
          <p:nvPr>
            <p:ph type="sldNum" sz="quarter" idx="12"/>
          </p:nvPr>
        </p:nvSpPr>
        <p:spPr/>
        <p:txBody>
          <a:bodyPr/>
          <a:lstStyle/>
          <a:p>
            <a:pPr>
              <a:defRPr/>
            </a:pPr>
            <a:fld id="{EB109B18-39C4-4FB6-BFC0-1F65239FA806}" type="slidenum">
              <a:rPr lang="ru-RU" smtClean="0"/>
              <a:pPr>
                <a:defRPr/>
              </a:pPr>
              <a:t>60</a:t>
            </a:fld>
            <a:endParaRPr lang="ru-RU"/>
          </a:p>
        </p:txBody>
      </p:sp>
      <p:graphicFrame>
        <p:nvGraphicFramePr>
          <p:cNvPr id="16386" name="Object 2"/>
          <p:cNvGraphicFramePr>
            <a:graphicFrameLocks noChangeAspect="1"/>
          </p:cNvGraphicFramePr>
          <p:nvPr/>
        </p:nvGraphicFramePr>
        <p:xfrm>
          <a:off x="357188" y="1643063"/>
          <a:ext cx="8524875" cy="3071812"/>
        </p:xfrm>
        <a:graphic>
          <a:graphicData uri="http://schemas.openxmlformats.org/presentationml/2006/ole">
            <mc:AlternateContent xmlns:mc="http://schemas.openxmlformats.org/markup-compatibility/2006">
              <mc:Choice xmlns:v="urn:schemas-microsoft-com:vml" Requires="v">
                <p:oleObj name="Документ" r:id="rId2" imgW="5130068" imgH="1851186" progId="Word.Document.12">
                  <p:embed/>
                </p:oleObj>
              </mc:Choice>
              <mc:Fallback>
                <p:oleObj name="Документ" r:id="rId2" imgW="5130068" imgH="185118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643063"/>
                        <a:ext cx="8524875" cy="307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Заголовок 1"/>
          <p:cNvSpPr>
            <a:spLocks noGrp="1"/>
          </p:cNvSpPr>
          <p:nvPr>
            <p:ph type="title"/>
          </p:nvPr>
        </p:nvSpPr>
        <p:spPr/>
        <p:txBody>
          <a:bodyPr/>
          <a:lstStyle/>
          <a:p>
            <a:pPr eaLnBrk="1" hangingPunct="1"/>
            <a:r>
              <a:rPr lang="ru-RU"/>
              <a:t>Свойства нечетких отношений</a:t>
            </a:r>
          </a:p>
        </p:txBody>
      </p:sp>
      <p:sp>
        <p:nvSpPr>
          <p:cNvPr id="4" name="Номер слайда 3"/>
          <p:cNvSpPr>
            <a:spLocks noGrp="1"/>
          </p:cNvSpPr>
          <p:nvPr>
            <p:ph type="sldNum" sz="quarter" idx="12"/>
          </p:nvPr>
        </p:nvSpPr>
        <p:spPr/>
        <p:txBody>
          <a:bodyPr/>
          <a:lstStyle/>
          <a:p>
            <a:pPr>
              <a:defRPr/>
            </a:pPr>
            <a:fld id="{AA944625-73A3-4C1A-B757-580298779F54}" type="slidenum">
              <a:rPr lang="ru-RU" smtClean="0"/>
              <a:pPr>
                <a:defRPr/>
              </a:pPr>
              <a:t>61</a:t>
            </a:fld>
            <a:endParaRPr lang="ru-RU"/>
          </a:p>
        </p:txBody>
      </p:sp>
      <p:graphicFrame>
        <p:nvGraphicFramePr>
          <p:cNvPr id="17410" name="Object 2"/>
          <p:cNvGraphicFramePr>
            <a:graphicFrameLocks noChangeAspect="1"/>
          </p:cNvGraphicFramePr>
          <p:nvPr/>
        </p:nvGraphicFramePr>
        <p:xfrm>
          <a:off x="214313" y="1285875"/>
          <a:ext cx="8715375" cy="1250950"/>
        </p:xfrm>
        <a:graphic>
          <a:graphicData uri="http://schemas.openxmlformats.org/presentationml/2006/ole">
            <mc:AlternateContent xmlns:mc="http://schemas.openxmlformats.org/markup-compatibility/2006">
              <mc:Choice xmlns:v="urn:schemas-microsoft-com:vml" Requires="v">
                <p:oleObj name="Документ" r:id="rId2" imgW="6478817" imgH="929553" progId="Word.Document.12">
                  <p:embed/>
                </p:oleObj>
              </mc:Choice>
              <mc:Fallback>
                <p:oleObj name="Документ" r:id="rId2" imgW="6478817" imgH="92955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1285875"/>
                        <a:ext cx="8715375" cy="125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1" name="Object 3"/>
          <p:cNvGraphicFramePr>
            <a:graphicFrameLocks noChangeAspect="1"/>
          </p:cNvGraphicFramePr>
          <p:nvPr/>
        </p:nvGraphicFramePr>
        <p:xfrm>
          <a:off x="142875" y="2643188"/>
          <a:ext cx="8851900" cy="1071562"/>
        </p:xfrm>
        <a:graphic>
          <a:graphicData uri="http://schemas.openxmlformats.org/presentationml/2006/ole">
            <mc:AlternateContent xmlns:mc="http://schemas.openxmlformats.org/markup-compatibility/2006">
              <mc:Choice xmlns:v="urn:schemas-microsoft-com:vml" Requires="v">
                <p:oleObj name="Документ" r:id="rId4" imgW="6478817" imgH="784828" progId="Word.Document.12">
                  <p:embed/>
                </p:oleObj>
              </mc:Choice>
              <mc:Fallback>
                <p:oleObj name="Документ" r:id="rId4" imgW="6478817" imgH="784828" progId="Word.Document.12">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75" y="2643188"/>
                        <a:ext cx="8851900" cy="1071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2" name="Object 4"/>
          <p:cNvGraphicFramePr>
            <a:graphicFrameLocks noChangeAspect="1"/>
          </p:cNvGraphicFramePr>
          <p:nvPr/>
        </p:nvGraphicFramePr>
        <p:xfrm>
          <a:off x="142875" y="3857625"/>
          <a:ext cx="8786813" cy="1022350"/>
        </p:xfrm>
        <a:graphic>
          <a:graphicData uri="http://schemas.openxmlformats.org/presentationml/2006/ole">
            <mc:AlternateContent xmlns:mc="http://schemas.openxmlformats.org/markup-compatibility/2006">
              <mc:Choice xmlns:v="urn:schemas-microsoft-com:vml" Requires="v">
                <p:oleObj name="Документ" r:id="rId6" imgW="6478817" imgH="754227" progId="Word.Document.12">
                  <p:embed/>
                </p:oleObj>
              </mc:Choice>
              <mc:Fallback>
                <p:oleObj name="Документ" r:id="rId6" imgW="6478817" imgH="754227" progId="Word.Document.12">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75" y="3857625"/>
                        <a:ext cx="8786813" cy="1022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3" name="Object 10"/>
          <p:cNvGraphicFramePr>
            <a:graphicFrameLocks noChangeAspect="1"/>
          </p:cNvGraphicFramePr>
          <p:nvPr/>
        </p:nvGraphicFramePr>
        <p:xfrm>
          <a:off x="142875" y="5143500"/>
          <a:ext cx="8858250" cy="520700"/>
        </p:xfrm>
        <a:graphic>
          <a:graphicData uri="http://schemas.openxmlformats.org/presentationml/2006/ole">
            <mc:AlternateContent xmlns:mc="http://schemas.openxmlformats.org/markup-compatibility/2006">
              <mc:Choice xmlns:v="urn:schemas-microsoft-com:vml" Requires="v">
                <p:oleObj name="Документ" r:id="rId8" imgW="6478817" imgH="380894" progId="Word.Document.12">
                  <p:embed/>
                </p:oleObj>
              </mc:Choice>
              <mc:Fallback>
                <p:oleObj name="Документ" r:id="rId8" imgW="6478817" imgH="380894" progId="Word.Document.12">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875" y="5143500"/>
                        <a:ext cx="88582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Заголовок 1"/>
          <p:cNvSpPr>
            <a:spLocks noGrp="1"/>
          </p:cNvSpPr>
          <p:nvPr>
            <p:ph type="title"/>
          </p:nvPr>
        </p:nvSpPr>
        <p:spPr/>
        <p:txBody>
          <a:bodyPr/>
          <a:lstStyle/>
          <a:p>
            <a:pPr eaLnBrk="1" hangingPunct="1"/>
            <a:r>
              <a:rPr lang="ru-RU"/>
              <a:t>Транзитивное замыкание НО</a:t>
            </a:r>
          </a:p>
        </p:txBody>
      </p:sp>
      <p:sp>
        <p:nvSpPr>
          <p:cNvPr id="4" name="Номер слайда 3"/>
          <p:cNvSpPr>
            <a:spLocks noGrp="1"/>
          </p:cNvSpPr>
          <p:nvPr>
            <p:ph type="sldNum" sz="quarter" idx="12"/>
          </p:nvPr>
        </p:nvSpPr>
        <p:spPr/>
        <p:txBody>
          <a:bodyPr/>
          <a:lstStyle/>
          <a:p>
            <a:pPr>
              <a:defRPr/>
            </a:pPr>
            <a:fld id="{D5957E07-1B03-496C-B87D-24EF27DB8144}" type="slidenum">
              <a:rPr lang="ru-RU" smtClean="0"/>
              <a:pPr>
                <a:defRPr/>
              </a:pPr>
              <a:t>62</a:t>
            </a:fld>
            <a:endParaRPr lang="ru-RU"/>
          </a:p>
        </p:txBody>
      </p:sp>
      <p:graphicFrame>
        <p:nvGraphicFramePr>
          <p:cNvPr id="18434" name="Object 2"/>
          <p:cNvGraphicFramePr>
            <a:graphicFrameLocks noChangeAspect="1"/>
          </p:cNvGraphicFramePr>
          <p:nvPr/>
        </p:nvGraphicFramePr>
        <p:xfrm>
          <a:off x="431800" y="1571625"/>
          <a:ext cx="8212138" cy="3786188"/>
        </p:xfrm>
        <a:graphic>
          <a:graphicData uri="http://schemas.openxmlformats.org/presentationml/2006/ole">
            <mc:AlternateContent xmlns:mc="http://schemas.openxmlformats.org/markup-compatibility/2006">
              <mc:Choice xmlns:v="urn:schemas-microsoft-com:vml" Requires="v">
                <p:oleObj name="Документ" r:id="rId2" imgW="6478817" imgH="2984507" progId="Word.Document.12">
                  <p:embed/>
                </p:oleObj>
              </mc:Choice>
              <mc:Fallback>
                <p:oleObj name="Документ" r:id="rId2" imgW="6478817" imgH="298450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1571625"/>
                        <a:ext cx="8212138"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Заголовок 1"/>
          <p:cNvSpPr>
            <a:spLocks noGrp="1"/>
          </p:cNvSpPr>
          <p:nvPr>
            <p:ph type="title"/>
          </p:nvPr>
        </p:nvSpPr>
        <p:spPr/>
        <p:txBody>
          <a:bodyPr/>
          <a:lstStyle/>
          <a:p>
            <a:pPr eaLnBrk="1" hangingPunct="1"/>
            <a:r>
              <a:rPr lang="ru-RU"/>
              <a:t>Классификация НО</a:t>
            </a:r>
          </a:p>
        </p:txBody>
      </p:sp>
      <p:sp>
        <p:nvSpPr>
          <p:cNvPr id="4" name="Номер слайда 3"/>
          <p:cNvSpPr>
            <a:spLocks noGrp="1"/>
          </p:cNvSpPr>
          <p:nvPr>
            <p:ph type="sldNum" sz="quarter" idx="12"/>
          </p:nvPr>
        </p:nvSpPr>
        <p:spPr/>
        <p:txBody>
          <a:bodyPr/>
          <a:lstStyle/>
          <a:p>
            <a:pPr>
              <a:defRPr/>
            </a:pPr>
            <a:fld id="{713B9F48-E8B7-464A-994C-C06B29A60FD2}" type="slidenum">
              <a:rPr lang="ru-RU" smtClean="0"/>
              <a:pPr>
                <a:defRPr/>
              </a:pPr>
              <a:t>63</a:t>
            </a:fld>
            <a:endParaRPr lang="ru-RU"/>
          </a:p>
        </p:txBody>
      </p:sp>
      <p:pic>
        <p:nvPicPr>
          <p:cNvPr id="112644"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38175" y="1600200"/>
            <a:ext cx="7867650" cy="4525963"/>
          </a:xfr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Заголовок 1"/>
          <p:cNvSpPr>
            <a:spLocks noGrp="1"/>
          </p:cNvSpPr>
          <p:nvPr>
            <p:ph type="title"/>
          </p:nvPr>
        </p:nvSpPr>
        <p:spPr/>
        <p:txBody>
          <a:bodyPr/>
          <a:lstStyle/>
          <a:p>
            <a:pPr eaLnBrk="1" hangingPunct="1"/>
            <a:r>
              <a:rPr lang="ru-RU"/>
              <a:t>Приложения теории нечетких отношений к анализу систем</a:t>
            </a:r>
          </a:p>
        </p:txBody>
      </p:sp>
      <p:sp>
        <p:nvSpPr>
          <p:cNvPr id="113667" name="Содержимое 2"/>
          <p:cNvSpPr>
            <a:spLocks noGrp="1"/>
          </p:cNvSpPr>
          <p:nvPr>
            <p:ph idx="1"/>
          </p:nvPr>
        </p:nvSpPr>
        <p:spPr/>
        <p:txBody>
          <a:bodyPr/>
          <a:lstStyle/>
          <a:p>
            <a:pPr eaLnBrk="1" hangingPunct="1"/>
            <a:r>
              <a:rPr lang="ru-RU" sz="2000"/>
              <a:t>В кластерном анализе (автоматической классификации) предложена процедура кластеризации, основанная на транзитивном замыкании исходного отношения сходства, получаемого в результате опроса экспертов. </a:t>
            </a:r>
          </a:p>
          <a:p>
            <a:pPr eaLnBrk="1" hangingPunct="1"/>
            <a:r>
              <a:rPr lang="ru-RU" sz="2000"/>
              <a:t>Эксперты в некоторой шкале сравнений указывали силу сходства между портретами людей, принадлежащих к нескольким семьям, и на основе попарного сравнения всех портретов строилась матрица сходства. </a:t>
            </a:r>
          </a:p>
          <a:p>
            <a:pPr eaLnBrk="1" hangingPunct="1"/>
            <a:r>
              <a:rPr lang="ru-RU" sz="2000"/>
              <a:t>Транзитивное замыкание этой матрицы давало НО эквивалентности. </a:t>
            </a:r>
          </a:p>
          <a:p>
            <a:pPr eaLnBrk="1" hangingPunct="1"/>
            <a:r>
              <a:rPr lang="ru-RU" sz="2000"/>
              <a:t>Далее выбирался порог (уровень) α таким образом, чтобы число классов разбиения, получаемое на α-уровнях, равнялось числу семей. </a:t>
            </a:r>
          </a:p>
          <a:p>
            <a:pPr eaLnBrk="1" hangingPunct="1"/>
            <a:r>
              <a:rPr lang="ru-RU" sz="2000"/>
              <a:t>Процедура классификации относила портреты, попавшие в один класс разбиения, к одной семье. В проведенных экспериментах результаты классификации дали хорошее согласование с истинным разбиением портретов по семьям.</a:t>
            </a:r>
          </a:p>
        </p:txBody>
      </p:sp>
      <p:sp>
        <p:nvSpPr>
          <p:cNvPr id="4" name="Номер слайда 3"/>
          <p:cNvSpPr>
            <a:spLocks noGrp="1"/>
          </p:cNvSpPr>
          <p:nvPr>
            <p:ph type="sldNum" sz="quarter" idx="12"/>
          </p:nvPr>
        </p:nvSpPr>
        <p:spPr/>
        <p:txBody>
          <a:bodyPr/>
          <a:lstStyle/>
          <a:p>
            <a:pPr>
              <a:defRPr/>
            </a:pPr>
            <a:fld id="{54020317-A1D7-459F-B1C0-8043FC7DBE4D}" type="slidenum">
              <a:rPr lang="ru-RU" smtClean="0"/>
              <a:pPr>
                <a:defRPr/>
              </a:pPr>
              <a:t>64</a:t>
            </a:fld>
            <a:endParaRPr lang="ru-RU"/>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ctrTitle"/>
          </p:nvPr>
        </p:nvSpPr>
        <p:spPr/>
        <p:txBody>
          <a:bodyPr/>
          <a:lstStyle/>
          <a:p>
            <a:pPr>
              <a:defRPr/>
            </a:pPr>
            <a:r>
              <a:rPr lang="ru-RU" dirty="0"/>
              <a:t>Элементы теории приближенных рассуждений</a:t>
            </a:r>
          </a:p>
        </p:txBody>
      </p:sp>
      <p:sp>
        <p:nvSpPr>
          <p:cNvPr id="2" name="Подзаголовок 1">
            <a:extLst>
              <a:ext uri="{FF2B5EF4-FFF2-40B4-BE49-F238E27FC236}">
                <a16:creationId xmlns:a16="http://schemas.microsoft.com/office/drawing/2014/main" id="{197CC2EB-7E33-9A22-C349-E187AF3051E7}"/>
              </a:ext>
            </a:extLst>
          </p:cNvPr>
          <p:cNvSpPr>
            <a:spLocks noGrp="1"/>
          </p:cNvSpPr>
          <p:nvPr>
            <p:ph type="subTitle" idx="1"/>
          </p:nvPr>
        </p:nvSpPr>
        <p:spPr/>
        <p:txBody>
          <a:bodyPr/>
          <a:lstStyle/>
          <a:p>
            <a:endParaRPr lang="ru-RU"/>
          </a:p>
        </p:txBody>
      </p:sp>
      <p:sp>
        <p:nvSpPr>
          <p:cNvPr id="4" name="Номер слайда 3"/>
          <p:cNvSpPr>
            <a:spLocks noGrp="1"/>
          </p:cNvSpPr>
          <p:nvPr>
            <p:ph type="sldNum" sz="quarter" idx="12"/>
          </p:nvPr>
        </p:nvSpPr>
        <p:spPr/>
        <p:txBody>
          <a:bodyPr/>
          <a:lstStyle/>
          <a:p>
            <a:pPr>
              <a:defRPr/>
            </a:pPr>
            <a:fld id="{A5CBC730-9B58-4007-A8C9-9734B812A525}" type="slidenum">
              <a:rPr lang="ru-RU" smtClean="0"/>
              <a:pPr>
                <a:defRPr/>
              </a:pPr>
              <a:t>65</a:t>
            </a:fld>
            <a:endParaRPr lang="ru-RU"/>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Заголовок 4"/>
          <p:cNvSpPr>
            <a:spLocks noGrp="1"/>
          </p:cNvSpPr>
          <p:nvPr>
            <p:ph type="title"/>
          </p:nvPr>
        </p:nvSpPr>
        <p:spPr/>
        <p:txBody>
          <a:bodyPr/>
          <a:lstStyle/>
          <a:p>
            <a:r>
              <a:rPr lang="ru-RU"/>
              <a:t>Приближенные рассуждения</a:t>
            </a:r>
          </a:p>
        </p:txBody>
      </p:sp>
      <p:sp>
        <p:nvSpPr>
          <p:cNvPr id="115715" name="Содержимое 5"/>
          <p:cNvSpPr>
            <a:spLocks noGrp="1"/>
          </p:cNvSpPr>
          <p:nvPr>
            <p:ph idx="1"/>
          </p:nvPr>
        </p:nvSpPr>
        <p:spPr/>
        <p:txBody>
          <a:bodyPr/>
          <a:lstStyle/>
          <a:p>
            <a:r>
              <a:rPr lang="ru-RU" sz="2400" dirty="0"/>
              <a:t>Под приближенными рассуждениями понимается процесс, при котором из нечетких посылок получаются некоторые следствия, возможно, тоже нечеткие. </a:t>
            </a:r>
          </a:p>
          <a:p>
            <a:r>
              <a:rPr lang="ru-RU" sz="2400" dirty="0"/>
              <a:t>Способность человека рассуждать в качественных, неточных терминах отличает интеллект человека от интеллекта вычислительной машины.</a:t>
            </a:r>
          </a:p>
          <a:p>
            <a:r>
              <a:rPr lang="ru-RU" sz="2400" dirty="0"/>
              <a:t>Приближенные рассуждения находят применение в системах основанных на принципах нечеткого логического вывода. </a:t>
            </a:r>
          </a:p>
          <a:p>
            <a:r>
              <a:rPr lang="ru-RU" sz="2400" dirty="0"/>
              <a:t>В основе нечетких систем лежат логические правила вида </a:t>
            </a:r>
            <a:r>
              <a:rPr lang="ru-RU" sz="2400" b="1" dirty="0"/>
              <a:t>"Если ..., то ...",</a:t>
            </a:r>
            <a:r>
              <a:rPr lang="ru-RU" sz="2400" dirty="0"/>
              <a:t> в которых посылки и выводы являются нечеткими понятиями.</a:t>
            </a:r>
          </a:p>
          <a:p>
            <a:endParaRPr lang="ru-RU" sz="2400" dirty="0"/>
          </a:p>
        </p:txBody>
      </p:sp>
      <p:sp>
        <p:nvSpPr>
          <p:cNvPr id="4" name="Номер слайда 3"/>
          <p:cNvSpPr>
            <a:spLocks noGrp="1"/>
          </p:cNvSpPr>
          <p:nvPr>
            <p:ph type="sldNum" sz="quarter" idx="12"/>
          </p:nvPr>
        </p:nvSpPr>
        <p:spPr/>
        <p:txBody>
          <a:bodyPr/>
          <a:lstStyle/>
          <a:p>
            <a:pPr>
              <a:defRPr/>
            </a:pPr>
            <a:fld id="{18DAAC91-7656-4CB3-B61F-F79B0369C911}" type="slidenum">
              <a:rPr lang="ru-RU" smtClean="0"/>
              <a:pPr>
                <a:defRPr/>
              </a:pPr>
              <a:t>66</a:t>
            </a:fld>
            <a:endParaRPr lang="ru-RU"/>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Заголовок 1"/>
          <p:cNvSpPr>
            <a:spLocks noGrp="1"/>
          </p:cNvSpPr>
          <p:nvPr>
            <p:ph type="title"/>
          </p:nvPr>
        </p:nvSpPr>
        <p:spPr/>
        <p:txBody>
          <a:bodyPr/>
          <a:lstStyle/>
          <a:p>
            <a:r>
              <a:rPr lang="ru-RU"/>
              <a:t>Четкие рассуждения</a:t>
            </a:r>
          </a:p>
        </p:txBody>
      </p:sp>
      <p:sp>
        <p:nvSpPr>
          <p:cNvPr id="116739" name="Содержимое 2"/>
          <p:cNvSpPr>
            <a:spLocks noGrp="1"/>
          </p:cNvSpPr>
          <p:nvPr>
            <p:ph idx="1"/>
          </p:nvPr>
        </p:nvSpPr>
        <p:spPr/>
        <p:txBody>
          <a:bodyPr/>
          <a:lstStyle/>
          <a:p>
            <a:r>
              <a:rPr lang="ru-RU" sz="2400"/>
              <a:t>Основным правилом вывода в традиционной логике является правило </a:t>
            </a:r>
            <a:r>
              <a:rPr lang="ru-RU" sz="2400" b="1" i="1"/>
              <a:t>modus ponens</a:t>
            </a:r>
            <a:r>
              <a:rPr lang="ru-RU" sz="2400"/>
              <a:t>, согласно которому мы можем судить об истинности высказывания </a:t>
            </a:r>
            <a:r>
              <a:rPr lang="ru-RU" sz="2400" i="1"/>
              <a:t>В</a:t>
            </a:r>
            <a:r>
              <a:rPr lang="ru-RU" sz="2400"/>
              <a:t> по истинности высказывания </a:t>
            </a:r>
            <a:r>
              <a:rPr lang="en-US" sz="2400" i="1"/>
              <a:t>A</a:t>
            </a:r>
            <a:r>
              <a:rPr lang="ru-RU" sz="2400"/>
              <a:t> и импликации А</a:t>
            </a:r>
            <a:r>
              <a:rPr lang="en-US" sz="2400">
                <a:sym typeface="Wingdings" pitchFamily="2" charset="2"/>
              </a:rPr>
              <a:t></a:t>
            </a:r>
            <a:r>
              <a:rPr lang="ru-RU" sz="2400"/>
              <a:t>В. </a:t>
            </a:r>
          </a:p>
          <a:p>
            <a:r>
              <a:rPr lang="ru-RU" sz="2400"/>
              <a:t>Во многих привычных рассуждениях, однако, правило modus ponens используется не в точной, а в приближенной форме. </a:t>
            </a:r>
          </a:p>
          <a:p>
            <a:r>
              <a:rPr lang="ru-RU" sz="2400"/>
              <a:t>Так если мы знаем, что А истинно и что А</a:t>
            </a:r>
            <a:r>
              <a:rPr lang="ru-RU" sz="2400" baseline="30000"/>
              <a:t>*</a:t>
            </a:r>
            <a:r>
              <a:rPr lang="en-US" sz="2400">
                <a:sym typeface="Wingdings" pitchFamily="2" charset="2"/>
              </a:rPr>
              <a:t></a:t>
            </a:r>
            <a:r>
              <a:rPr lang="ru-RU" sz="2400"/>
              <a:t>В, где А</a:t>
            </a:r>
            <a:r>
              <a:rPr lang="ru-RU" sz="2400" baseline="30000"/>
              <a:t>*</a:t>
            </a:r>
            <a:r>
              <a:rPr lang="ru-RU" sz="2400"/>
              <a:t> есть в некотором смысле, приближение В. </a:t>
            </a:r>
          </a:p>
          <a:p>
            <a:r>
              <a:rPr lang="ru-RU" sz="2400"/>
              <a:t>Тогда из А</a:t>
            </a:r>
            <a:r>
              <a:rPr lang="ru-RU" sz="2400" baseline="30000"/>
              <a:t>*</a:t>
            </a:r>
            <a:r>
              <a:rPr lang="en-US" sz="2400">
                <a:sym typeface="Wingdings" pitchFamily="2" charset="2"/>
              </a:rPr>
              <a:t></a:t>
            </a:r>
            <a:r>
              <a:rPr lang="ru-RU" sz="2400"/>
              <a:t>В мы можем сделать вывод о том, что В приближенно истинно.</a:t>
            </a:r>
          </a:p>
          <a:p>
            <a:endParaRPr lang="ru-RU" sz="2400"/>
          </a:p>
        </p:txBody>
      </p:sp>
      <p:sp>
        <p:nvSpPr>
          <p:cNvPr id="4" name="Номер слайда 3"/>
          <p:cNvSpPr>
            <a:spLocks noGrp="1"/>
          </p:cNvSpPr>
          <p:nvPr>
            <p:ph type="sldNum" sz="quarter" idx="12"/>
          </p:nvPr>
        </p:nvSpPr>
        <p:spPr/>
        <p:txBody>
          <a:bodyPr/>
          <a:lstStyle/>
          <a:p>
            <a:pPr>
              <a:defRPr/>
            </a:pPr>
            <a:fld id="{BBE36196-71AF-4CF6-8811-6BFE0A74937D}" type="slidenum">
              <a:rPr lang="ru-RU" smtClean="0"/>
              <a:pPr>
                <a:defRPr/>
              </a:pPr>
              <a:t>67</a:t>
            </a:fld>
            <a:endParaRPr lang="ru-RU"/>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Заголовок 1"/>
          <p:cNvSpPr>
            <a:spLocks noGrp="1"/>
          </p:cNvSpPr>
          <p:nvPr>
            <p:ph type="title"/>
          </p:nvPr>
        </p:nvSpPr>
        <p:spPr/>
        <p:txBody>
          <a:bodyPr/>
          <a:lstStyle/>
          <a:p>
            <a:r>
              <a:rPr lang="ru-RU" dirty="0"/>
              <a:t>Обобщение нечетких рассуждений</a:t>
            </a:r>
          </a:p>
        </p:txBody>
      </p:sp>
      <p:sp>
        <p:nvSpPr>
          <p:cNvPr id="117763" name="Содержимое 2"/>
          <p:cNvSpPr>
            <a:spLocks noGrp="1"/>
          </p:cNvSpPr>
          <p:nvPr>
            <p:ph idx="1"/>
          </p:nvPr>
        </p:nvSpPr>
        <p:spPr/>
        <p:txBody>
          <a:bodyPr/>
          <a:lstStyle/>
          <a:p>
            <a:r>
              <a:rPr lang="ru-RU" dirty="0"/>
              <a:t>Рассмотрим способ формализации приближенных рассуждений, основанный на понятиях, введенных ранее. </a:t>
            </a:r>
          </a:p>
          <a:p>
            <a:r>
              <a:rPr lang="ru-RU" dirty="0"/>
              <a:t>В отличие от традиционной логики нашим главным инструментом будет не правило </a:t>
            </a:r>
            <a:r>
              <a:rPr lang="ru-RU" dirty="0" err="1"/>
              <a:t>modus</a:t>
            </a:r>
            <a:r>
              <a:rPr lang="ru-RU" dirty="0"/>
              <a:t> </a:t>
            </a:r>
            <a:r>
              <a:rPr lang="ru-RU" dirty="0" err="1"/>
              <a:t>ponens</a:t>
            </a:r>
            <a:r>
              <a:rPr lang="ru-RU" dirty="0"/>
              <a:t>, а так называемое композиционное правило вывода, весьма частным случаем, которого является правило </a:t>
            </a:r>
            <a:r>
              <a:rPr lang="ru-RU" dirty="0" err="1"/>
              <a:t>modus</a:t>
            </a:r>
            <a:r>
              <a:rPr lang="ru-RU" dirty="0"/>
              <a:t> </a:t>
            </a:r>
            <a:r>
              <a:rPr lang="ru-RU" dirty="0" err="1"/>
              <a:t>ponens</a:t>
            </a:r>
            <a:r>
              <a:rPr lang="ru-RU" dirty="0"/>
              <a:t>.</a:t>
            </a:r>
          </a:p>
          <a:p>
            <a:endParaRPr lang="ru-RU" dirty="0"/>
          </a:p>
        </p:txBody>
      </p:sp>
      <p:sp>
        <p:nvSpPr>
          <p:cNvPr id="4" name="Номер слайда 3"/>
          <p:cNvSpPr>
            <a:spLocks noGrp="1"/>
          </p:cNvSpPr>
          <p:nvPr>
            <p:ph type="sldNum" sz="quarter" idx="12"/>
          </p:nvPr>
        </p:nvSpPr>
        <p:spPr/>
        <p:txBody>
          <a:bodyPr/>
          <a:lstStyle/>
          <a:p>
            <a:pPr>
              <a:defRPr/>
            </a:pPr>
            <a:fld id="{16C2FA6E-1A59-45BF-9069-8969F45C8AE9}" type="slidenum">
              <a:rPr lang="ru-RU" smtClean="0"/>
              <a:pPr>
                <a:defRPr/>
              </a:pPr>
              <a:t>68</a:t>
            </a:fld>
            <a:endParaRPr lang="ru-RU"/>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Заголовок 1"/>
          <p:cNvSpPr>
            <a:spLocks noGrp="1"/>
          </p:cNvSpPr>
          <p:nvPr>
            <p:ph type="title"/>
          </p:nvPr>
        </p:nvSpPr>
        <p:spPr/>
        <p:txBody>
          <a:bodyPr/>
          <a:lstStyle/>
          <a:p>
            <a:r>
              <a:rPr lang="ru-RU" sz="4000"/>
              <a:t>Композиционное правило вывода</a:t>
            </a:r>
          </a:p>
        </p:txBody>
      </p:sp>
      <p:sp>
        <p:nvSpPr>
          <p:cNvPr id="4" name="Номер слайда 3"/>
          <p:cNvSpPr>
            <a:spLocks noGrp="1"/>
          </p:cNvSpPr>
          <p:nvPr>
            <p:ph type="sldNum" sz="quarter" idx="12"/>
          </p:nvPr>
        </p:nvSpPr>
        <p:spPr/>
        <p:txBody>
          <a:bodyPr/>
          <a:lstStyle/>
          <a:p>
            <a:pPr>
              <a:defRPr/>
            </a:pPr>
            <a:fld id="{7F7DC256-A898-4DC5-BF38-20AF47528E53}" type="slidenum">
              <a:rPr lang="ru-RU" smtClean="0"/>
              <a:pPr>
                <a:defRPr/>
              </a:pPr>
              <a:t>69</a:t>
            </a:fld>
            <a:endParaRPr lang="ru-RU"/>
          </a:p>
        </p:txBody>
      </p:sp>
      <p:graphicFrame>
        <p:nvGraphicFramePr>
          <p:cNvPr id="19458" name="Object 2"/>
          <p:cNvGraphicFramePr>
            <a:graphicFrameLocks noChangeAspect="1"/>
          </p:cNvGraphicFramePr>
          <p:nvPr/>
        </p:nvGraphicFramePr>
        <p:xfrm>
          <a:off x="357188" y="1357313"/>
          <a:ext cx="8561387" cy="4429125"/>
        </p:xfrm>
        <a:graphic>
          <a:graphicData uri="http://schemas.openxmlformats.org/presentationml/2006/ole">
            <mc:AlternateContent xmlns:mc="http://schemas.openxmlformats.org/markup-compatibility/2006">
              <mc:Choice xmlns:v="urn:schemas-microsoft-com:vml" Requires="v">
                <p:oleObj name="Документ" r:id="rId2" imgW="6055268" imgH="3340560" progId="Word.Document.12">
                  <p:embed/>
                </p:oleObj>
              </mc:Choice>
              <mc:Fallback>
                <p:oleObj name="Документ" r:id="rId2" imgW="6055268" imgH="3340560"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357313"/>
                        <a:ext cx="8561387" cy="442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Заголовок 1"/>
          <p:cNvSpPr>
            <a:spLocks noGrp="1"/>
          </p:cNvSpPr>
          <p:nvPr>
            <p:ph type="title"/>
          </p:nvPr>
        </p:nvSpPr>
        <p:spPr/>
        <p:txBody>
          <a:bodyPr/>
          <a:lstStyle/>
          <a:p>
            <a:r>
              <a:rPr lang="ru-RU" sz="4000"/>
              <a:t>Композиционное правило вывода</a:t>
            </a:r>
          </a:p>
        </p:txBody>
      </p:sp>
      <p:sp>
        <p:nvSpPr>
          <p:cNvPr id="4" name="Номер слайда 3"/>
          <p:cNvSpPr>
            <a:spLocks noGrp="1"/>
          </p:cNvSpPr>
          <p:nvPr>
            <p:ph type="sldNum" sz="quarter" idx="12"/>
          </p:nvPr>
        </p:nvSpPr>
        <p:spPr/>
        <p:txBody>
          <a:bodyPr/>
          <a:lstStyle/>
          <a:p>
            <a:pPr>
              <a:defRPr/>
            </a:pPr>
            <a:fld id="{88AE9B41-C076-4964-8C13-9D4DC77B851E}" type="slidenum">
              <a:rPr lang="ru-RU" smtClean="0"/>
              <a:pPr>
                <a:defRPr/>
              </a:pPr>
              <a:t>70</a:t>
            </a:fld>
            <a:endParaRPr lang="ru-RU"/>
          </a:p>
        </p:txBody>
      </p:sp>
      <p:graphicFrame>
        <p:nvGraphicFramePr>
          <p:cNvPr id="20482" name="Object 2"/>
          <p:cNvGraphicFramePr>
            <a:graphicFrameLocks noChangeAspect="1"/>
          </p:cNvGraphicFramePr>
          <p:nvPr/>
        </p:nvGraphicFramePr>
        <p:xfrm>
          <a:off x="557213" y="1209675"/>
          <a:ext cx="8086725" cy="5576888"/>
        </p:xfrm>
        <a:graphic>
          <a:graphicData uri="http://schemas.openxmlformats.org/presentationml/2006/ole">
            <mc:AlternateContent xmlns:mc="http://schemas.openxmlformats.org/markup-compatibility/2006">
              <mc:Choice xmlns:v="urn:schemas-microsoft-com:vml" Requires="v">
                <p:oleObj name="Документ" r:id="rId2" imgW="6328205" imgH="4362637" progId="Word.Document.12">
                  <p:embed/>
                </p:oleObj>
              </mc:Choice>
              <mc:Fallback>
                <p:oleObj name="Документ" r:id="rId2" imgW="6328205" imgH="436263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 y="1209675"/>
                        <a:ext cx="8086725" cy="557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Заголовок 1"/>
          <p:cNvSpPr>
            <a:spLocks noGrp="1"/>
          </p:cNvSpPr>
          <p:nvPr>
            <p:ph type="title"/>
          </p:nvPr>
        </p:nvSpPr>
        <p:spPr/>
        <p:txBody>
          <a:bodyPr/>
          <a:lstStyle/>
          <a:p>
            <a:r>
              <a:rPr lang="ru-RU" sz="4000"/>
              <a:t>Композиционное правило вывода</a:t>
            </a:r>
          </a:p>
        </p:txBody>
      </p:sp>
      <p:sp>
        <p:nvSpPr>
          <p:cNvPr id="4" name="Номер слайда 3"/>
          <p:cNvSpPr>
            <a:spLocks noGrp="1"/>
          </p:cNvSpPr>
          <p:nvPr>
            <p:ph type="sldNum" sz="quarter" idx="12"/>
          </p:nvPr>
        </p:nvSpPr>
        <p:spPr/>
        <p:txBody>
          <a:bodyPr/>
          <a:lstStyle/>
          <a:p>
            <a:pPr>
              <a:defRPr/>
            </a:pPr>
            <a:fld id="{710F065E-CC21-4119-9C80-9DBFCC377894}" type="slidenum">
              <a:rPr lang="ru-RU" smtClean="0"/>
              <a:pPr>
                <a:defRPr/>
              </a:pPr>
              <a:t>71</a:t>
            </a:fld>
            <a:endParaRPr lang="ru-RU" dirty="0"/>
          </a:p>
        </p:txBody>
      </p:sp>
      <p:graphicFrame>
        <p:nvGraphicFramePr>
          <p:cNvPr id="21506" name="Object 2"/>
          <p:cNvGraphicFramePr>
            <a:graphicFrameLocks noChangeAspect="1"/>
          </p:cNvGraphicFramePr>
          <p:nvPr/>
        </p:nvGraphicFramePr>
        <p:xfrm>
          <a:off x="433388" y="1279525"/>
          <a:ext cx="8370887" cy="4935538"/>
        </p:xfrm>
        <a:graphic>
          <a:graphicData uri="http://schemas.openxmlformats.org/presentationml/2006/ole">
            <mc:AlternateContent xmlns:mc="http://schemas.openxmlformats.org/markup-compatibility/2006">
              <mc:Choice xmlns:v="urn:schemas-microsoft-com:vml" Requires="v">
                <p:oleObj name="Документ" r:id="rId2" imgW="7316141" imgH="4313315" progId="Word.Document.12">
                  <p:embed/>
                </p:oleObj>
              </mc:Choice>
              <mc:Fallback>
                <p:oleObj name="Документ" r:id="rId2" imgW="7316141" imgH="431331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8" y="1279525"/>
                        <a:ext cx="8370887" cy="4935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Заголовок 1"/>
          <p:cNvSpPr>
            <a:spLocks noGrp="1"/>
          </p:cNvSpPr>
          <p:nvPr>
            <p:ph type="title"/>
          </p:nvPr>
        </p:nvSpPr>
        <p:spPr/>
        <p:txBody>
          <a:bodyPr/>
          <a:lstStyle/>
          <a:p>
            <a:r>
              <a:rPr lang="ru-RU" sz="4000"/>
              <a:t>Композиционное правило вывода</a:t>
            </a:r>
          </a:p>
        </p:txBody>
      </p:sp>
      <p:sp>
        <p:nvSpPr>
          <p:cNvPr id="4" name="Номер слайда 3"/>
          <p:cNvSpPr>
            <a:spLocks noGrp="1"/>
          </p:cNvSpPr>
          <p:nvPr>
            <p:ph type="sldNum" sz="quarter" idx="12"/>
          </p:nvPr>
        </p:nvSpPr>
        <p:spPr/>
        <p:txBody>
          <a:bodyPr/>
          <a:lstStyle/>
          <a:p>
            <a:pPr>
              <a:defRPr/>
            </a:pPr>
            <a:fld id="{BAE75A64-5384-4F3C-ADBC-B65A2FC651ED}" type="slidenum">
              <a:rPr lang="ru-RU" smtClean="0"/>
              <a:pPr>
                <a:defRPr/>
              </a:pPr>
              <a:t>72</a:t>
            </a:fld>
            <a:endParaRPr lang="ru-RU"/>
          </a:p>
        </p:txBody>
      </p:sp>
      <p:graphicFrame>
        <p:nvGraphicFramePr>
          <p:cNvPr id="22530" name="Object 2"/>
          <p:cNvGraphicFramePr>
            <a:graphicFrameLocks noChangeAspect="1"/>
          </p:cNvGraphicFramePr>
          <p:nvPr/>
        </p:nvGraphicFramePr>
        <p:xfrm>
          <a:off x="280988" y="1285875"/>
          <a:ext cx="8559800" cy="4710113"/>
        </p:xfrm>
        <a:graphic>
          <a:graphicData uri="http://schemas.openxmlformats.org/presentationml/2006/ole">
            <mc:AlternateContent xmlns:mc="http://schemas.openxmlformats.org/markup-compatibility/2006">
              <mc:Choice xmlns:v="urn:schemas-microsoft-com:vml" Requires="v">
                <p:oleObj name="Документ" r:id="rId2" imgW="5587795" imgH="3241196" progId="Word.Document.12">
                  <p:embed/>
                </p:oleObj>
              </mc:Choice>
              <mc:Fallback>
                <p:oleObj name="Документ" r:id="rId2" imgW="5587795" imgH="324119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285875"/>
                        <a:ext cx="8559800" cy="4710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Заголовок 1"/>
          <p:cNvSpPr>
            <a:spLocks noGrp="1"/>
          </p:cNvSpPr>
          <p:nvPr>
            <p:ph type="title"/>
          </p:nvPr>
        </p:nvSpPr>
        <p:spPr/>
        <p:txBody>
          <a:bodyPr/>
          <a:lstStyle/>
          <a:p>
            <a:r>
              <a:rPr lang="ru-RU"/>
              <a:t>Пример</a:t>
            </a:r>
          </a:p>
        </p:txBody>
      </p:sp>
      <p:sp>
        <p:nvSpPr>
          <p:cNvPr id="4" name="Номер слайда 3"/>
          <p:cNvSpPr>
            <a:spLocks noGrp="1"/>
          </p:cNvSpPr>
          <p:nvPr>
            <p:ph type="sldNum" sz="quarter" idx="12"/>
          </p:nvPr>
        </p:nvSpPr>
        <p:spPr/>
        <p:txBody>
          <a:bodyPr/>
          <a:lstStyle/>
          <a:p>
            <a:pPr>
              <a:defRPr/>
            </a:pPr>
            <a:fld id="{9EAF5D2F-CFF3-4118-9249-54D2899B39F6}" type="slidenum">
              <a:rPr lang="ru-RU" smtClean="0"/>
              <a:pPr>
                <a:defRPr/>
              </a:pPr>
              <a:t>73</a:t>
            </a:fld>
            <a:endParaRPr lang="ru-RU"/>
          </a:p>
        </p:txBody>
      </p:sp>
      <p:graphicFrame>
        <p:nvGraphicFramePr>
          <p:cNvPr id="23554" name="Object 2"/>
          <p:cNvGraphicFramePr>
            <a:graphicFrameLocks noChangeAspect="1"/>
          </p:cNvGraphicFramePr>
          <p:nvPr/>
        </p:nvGraphicFramePr>
        <p:xfrm>
          <a:off x="520700" y="1571625"/>
          <a:ext cx="8194675" cy="3916363"/>
        </p:xfrm>
        <a:graphic>
          <a:graphicData uri="http://schemas.openxmlformats.org/presentationml/2006/ole">
            <mc:AlternateContent xmlns:mc="http://schemas.openxmlformats.org/markup-compatibility/2006">
              <mc:Choice xmlns:v="urn:schemas-microsoft-com:vml" Requires="v">
                <p:oleObj name="Документ" r:id="rId2" imgW="4975275" imgH="2378965" progId="Word.Document.12">
                  <p:embed/>
                </p:oleObj>
              </mc:Choice>
              <mc:Fallback>
                <p:oleObj name="Документ" r:id="rId2" imgW="4975275" imgH="237896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1571625"/>
                        <a:ext cx="8194675" cy="391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Заголовок 1"/>
          <p:cNvSpPr>
            <a:spLocks noGrp="1"/>
          </p:cNvSpPr>
          <p:nvPr>
            <p:ph type="title"/>
          </p:nvPr>
        </p:nvSpPr>
        <p:spPr/>
        <p:txBody>
          <a:bodyPr/>
          <a:lstStyle/>
          <a:p>
            <a:r>
              <a:rPr lang="ru-RU" sz="4000"/>
              <a:t>Композиционное правило вывода.</a:t>
            </a:r>
            <a:br>
              <a:rPr lang="ru-RU" sz="4000"/>
            </a:br>
            <a:r>
              <a:rPr lang="ru-RU" sz="4000"/>
              <a:t>Определение.</a:t>
            </a:r>
          </a:p>
        </p:txBody>
      </p:sp>
      <p:sp>
        <p:nvSpPr>
          <p:cNvPr id="4" name="Номер слайда 3"/>
          <p:cNvSpPr>
            <a:spLocks noGrp="1"/>
          </p:cNvSpPr>
          <p:nvPr>
            <p:ph type="sldNum" sz="quarter" idx="12"/>
          </p:nvPr>
        </p:nvSpPr>
        <p:spPr/>
        <p:txBody>
          <a:bodyPr/>
          <a:lstStyle/>
          <a:p>
            <a:pPr>
              <a:defRPr/>
            </a:pPr>
            <a:fld id="{A05A1D8A-6F88-4EC2-962B-3AA0552E61C0}" type="slidenum">
              <a:rPr lang="ru-RU" smtClean="0"/>
              <a:pPr>
                <a:defRPr/>
              </a:pPr>
              <a:t>74</a:t>
            </a:fld>
            <a:endParaRPr lang="ru-RU"/>
          </a:p>
        </p:txBody>
      </p:sp>
      <p:graphicFrame>
        <p:nvGraphicFramePr>
          <p:cNvPr id="24578" name="Object 2"/>
          <p:cNvGraphicFramePr>
            <a:graphicFrameLocks noChangeAspect="1"/>
          </p:cNvGraphicFramePr>
          <p:nvPr/>
        </p:nvGraphicFramePr>
        <p:xfrm>
          <a:off x="574675" y="1693863"/>
          <a:ext cx="8042275" cy="3949700"/>
        </p:xfrm>
        <a:graphic>
          <a:graphicData uri="http://schemas.openxmlformats.org/presentationml/2006/ole">
            <mc:AlternateContent xmlns:mc="http://schemas.openxmlformats.org/markup-compatibility/2006">
              <mc:Choice xmlns:v="urn:schemas-microsoft-com:vml" Requires="v">
                <p:oleObj name="Документ" r:id="rId2" imgW="4900804" imgH="2418567" progId="Word.Document.12">
                  <p:embed/>
                </p:oleObj>
              </mc:Choice>
              <mc:Fallback>
                <p:oleObj name="Документ" r:id="rId2" imgW="4900804" imgH="241856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1693863"/>
                        <a:ext cx="8042275" cy="394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Заголовок 1"/>
          <p:cNvSpPr>
            <a:spLocks noGrp="1"/>
          </p:cNvSpPr>
          <p:nvPr>
            <p:ph type="title"/>
          </p:nvPr>
        </p:nvSpPr>
        <p:spPr/>
        <p:txBody>
          <a:bodyPr/>
          <a:lstStyle/>
          <a:p>
            <a:r>
              <a:rPr lang="ru-RU"/>
              <a:t>Пример</a:t>
            </a:r>
          </a:p>
        </p:txBody>
      </p:sp>
      <p:sp>
        <p:nvSpPr>
          <p:cNvPr id="4" name="Номер слайда 3"/>
          <p:cNvSpPr>
            <a:spLocks noGrp="1"/>
          </p:cNvSpPr>
          <p:nvPr>
            <p:ph type="sldNum" sz="quarter" idx="12"/>
          </p:nvPr>
        </p:nvSpPr>
        <p:spPr/>
        <p:txBody>
          <a:bodyPr/>
          <a:lstStyle/>
          <a:p>
            <a:pPr>
              <a:defRPr/>
            </a:pPr>
            <a:fld id="{2B4DCC6B-A1DB-40F1-A6A4-8C2A6A8D6585}" type="slidenum">
              <a:rPr lang="ru-RU" smtClean="0"/>
              <a:pPr>
                <a:defRPr/>
              </a:pPr>
              <a:t>75</a:t>
            </a:fld>
            <a:endParaRPr lang="ru-RU"/>
          </a:p>
        </p:txBody>
      </p:sp>
      <p:graphicFrame>
        <p:nvGraphicFramePr>
          <p:cNvPr id="25602" name="Object 2"/>
          <p:cNvGraphicFramePr>
            <a:graphicFrameLocks noChangeAspect="1"/>
          </p:cNvGraphicFramePr>
          <p:nvPr/>
        </p:nvGraphicFramePr>
        <p:xfrm>
          <a:off x="285750" y="1143000"/>
          <a:ext cx="8572500" cy="5153025"/>
        </p:xfrm>
        <a:graphic>
          <a:graphicData uri="http://schemas.openxmlformats.org/presentationml/2006/ole">
            <mc:AlternateContent xmlns:mc="http://schemas.openxmlformats.org/markup-compatibility/2006">
              <mc:Choice xmlns:v="urn:schemas-microsoft-com:vml" Requires="v">
                <p:oleObj name="Документ" r:id="rId2" imgW="6478817" imgH="3893540" progId="Word.Document.12">
                  <p:embed/>
                </p:oleObj>
              </mc:Choice>
              <mc:Fallback>
                <p:oleObj name="Документ" r:id="rId2" imgW="6478817" imgH="3893540"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143000"/>
                        <a:ext cx="8572500" cy="515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Заголовок 1"/>
          <p:cNvSpPr>
            <a:spLocks noGrp="1"/>
          </p:cNvSpPr>
          <p:nvPr>
            <p:ph type="title"/>
          </p:nvPr>
        </p:nvSpPr>
        <p:spPr/>
        <p:txBody>
          <a:bodyPr/>
          <a:lstStyle/>
          <a:p>
            <a:r>
              <a:rPr lang="ru-RU"/>
              <a:t>Основная идея метода</a:t>
            </a:r>
          </a:p>
        </p:txBody>
      </p:sp>
      <p:sp>
        <p:nvSpPr>
          <p:cNvPr id="4" name="Номер слайда 3"/>
          <p:cNvSpPr>
            <a:spLocks noGrp="1"/>
          </p:cNvSpPr>
          <p:nvPr>
            <p:ph type="sldNum" sz="quarter" idx="12"/>
          </p:nvPr>
        </p:nvSpPr>
        <p:spPr/>
        <p:txBody>
          <a:bodyPr/>
          <a:lstStyle/>
          <a:p>
            <a:pPr>
              <a:defRPr/>
            </a:pPr>
            <a:fld id="{B29B67B9-AA8C-4CCB-B0D0-FD42B641628B}" type="slidenum">
              <a:rPr lang="ru-RU" smtClean="0"/>
              <a:pPr>
                <a:defRPr/>
              </a:pPr>
              <a:t>76</a:t>
            </a:fld>
            <a:endParaRPr lang="ru-RU"/>
          </a:p>
        </p:txBody>
      </p:sp>
      <p:graphicFrame>
        <p:nvGraphicFramePr>
          <p:cNvPr id="26626" name="Object 2"/>
          <p:cNvGraphicFramePr>
            <a:graphicFrameLocks noChangeAspect="1"/>
          </p:cNvGraphicFramePr>
          <p:nvPr/>
        </p:nvGraphicFramePr>
        <p:xfrm>
          <a:off x="357188" y="1643063"/>
          <a:ext cx="8431212" cy="4357687"/>
        </p:xfrm>
        <a:graphic>
          <a:graphicData uri="http://schemas.openxmlformats.org/presentationml/2006/ole">
            <mc:AlternateContent xmlns:mc="http://schemas.openxmlformats.org/markup-compatibility/2006">
              <mc:Choice xmlns:v="urn:schemas-microsoft-com:vml" Requires="v">
                <p:oleObj name="Документ" r:id="rId2" imgW="5889519" imgH="3244077" progId="Word.Document.12">
                  <p:embed/>
                </p:oleObj>
              </mc:Choice>
              <mc:Fallback>
                <p:oleObj name="Документ" r:id="rId2" imgW="5889519" imgH="324407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643063"/>
                        <a:ext cx="8431212" cy="435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Заголовок 1"/>
          <p:cNvSpPr>
            <a:spLocks noGrp="1"/>
          </p:cNvSpPr>
          <p:nvPr>
            <p:ph type="title"/>
          </p:nvPr>
        </p:nvSpPr>
        <p:spPr/>
        <p:txBody>
          <a:bodyPr/>
          <a:lstStyle/>
          <a:p>
            <a:r>
              <a:rPr lang="ru-RU"/>
              <a:t>Приближенные рассуждения на основе modus ponens</a:t>
            </a:r>
          </a:p>
        </p:txBody>
      </p:sp>
      <p:sp>
        <p:nvSpPr>
          <p:cNvPr id="4" name="Номер слайда 3"/>
          <p:cNvSpPr>
            <a:spLocks noGrp="1"/>
          </p:cNvSpPr>
          <p:nvPr>
            <p:ph type="sldNum" sz="quarter" idx="12"/>
          </p:nvPr>
        </p:nvSpPr>
        <p:spPr/>
        <p:txBody>
          <a:bodyPr/>
          <a:lstStyle/>
          <a:p>
            <a:pPr>
              <a:defRPr/>
            </a:pPr>
            <a:fld id="{E6B10EAB-B954-408A-BD90-32F75AF61DAD}" type="slidenum">
              <a:rPr lang="ru-RU" smtClean="0"/>
              <a:pPr>
                <a:defRPr/>
              </a:pPr>
              <a:t>77</a:t>
            </a:fld>
            <a:endParaRPr lang="ru-RU"/>
          </a:p>
        </p:txBody>
      </p:sp>
      <p:graphicFrame>
        <p:nvGraphicFramePr>
          <p:cNvPr id="27650" name="Object 2"/>
          <p:cNvGraphicFramePr>
            <a:graphicFrameLocks noChangeAspect="1"/>
          </p:cNvGraphicFramePr>
          <p:nvPr/>
        </p:nvGraphicFramePr>
        <p:xfrm>
          <a:off x="571500" y="1785938"/>
          <a:ext cx="8067675" cy="4000500"/>
        </p:xfrm>
        <a:graphic>
          <a:graphicData uri="http://schemas.openxmlformats.org/presentationml/2006/ole">
            <mc:AlternateContent xmlns:mc="http://schemas.openxmlformats.org/markup-compatibility/2006">
              <mc:Choice xmlns:v="urn:schemas-microsoft-com:vml" Requires="v">
                <p:oleObj name="Документ" r:id="rId2" imgW="5378742" imgH="2669136" progId="Word.Document.12">
                  <p:embed/>
                </p:oleObj>
              </mc:Choice>
              <mc:Fallback>
                <p:oleObj name="Документ" r:id="rId2" imgW="5378742" imgH="266913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1785938"/>
                        <a:ext cx="8067675"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Заголовок 1"/>
          <p:cNvSpPr>
            <a:spLocks noGrp="1"/>
          </p:cNvSpPr>
          <p:nvPr>
            <p:ph type="title"/>
          </p:nvPr>
        </p:nvSpPr>
        <p:spPr/>
        <p:txBody>
          <a:bodyPr/>
          <a:lstStyle/>
          <a:p>
            <a:r>
              <a:rPr lang="ru-RU" sz="3600"/>
              <a:t>Обобщение материальной импликации</a:t>
            </a:r>
          </a:p>
        </p:txBody>
      </p:sp>
      <p:sp>
        <p:nvSpPr>
          <p:cNvPr id="4" name="Номер слайда 3"/>
          <p:cNvSpPr>
            <a:spLocks noGrp="1"/>
          </p:cNvSpPr>
          <p:nvPr>
            <p:ph type="sldNum" sz="quarter" idx="12"/>
          </p:nvPr>
        </p:nvSpPr>
        <p:spPr/>
        <p:txBody>
          <a:bodyPr/>
          <a:lstStyle/>
          <a:p>
            <a:pPr>
              <a:defRPr/>
            </a:pPr>
            <a:fld id="{81BADD58-BC52-4552-8EEB-F8AC8E7D6552}" type="slidenum">
              <a:rPr lang="ru-RU" smtClean="0"/>
              <a:pPr>
                <a:defRPr/>
              </a:pPr>
              <a:t>78</a:t>
            </a:fld>
            <a:endParaRPr lang="ru-RU"/>
          </a:p>
        </p:txBody>
      </p:sp>
      <p:graphicFrame>
        <p:nvGraphicFramePr>
          <p:cNvPr id="28674" name="Object 2"/>
          <p:cNvGraphicFramePr>
            <a:graphicFrameLocks noChangeAspect="1"/>
          </p:cNvGraphicFramePr>
          <p:nvPr>
            <p:extLst>
              <p:ext uri="{D42A27DB-BD31-4B8C-83A1-F6EECF244321}">
                <p14:modId xmlns:p14="http://schemas.microsoft.com/office/powerpoint/2010/main" val="918296189"/>
              </p:ext>
            </p:extLst>
          </p:nvPr>
        </p:nvGraphicFramePr>
        <p:xfrm>
          <a:off x="280988" y="1360488"/>
          <a:ext cx="8418512" cy="4804816"/>
        </p:xfrm>
        <a:graphic>
          <a:graphicData uri="http://schemas.openxmlformats.org/presentationml/2006/ole">
            <mc:AlternateContent xmlns:mc="http://schemas.openxmlformats.org/markup-compatibility/2006">
              <mc:Choice xmlns:v="urn:schemas-microsoft-com:vml" Requires="v">
                <p:oleObj name="Document" r:id="rId2" imgW="5201668" imgH="3092511" progId="Word.Document.12">
                  <p:embed/>
                </p:oleObj>
              </mc:Choice>
              <mc:Fallback>
                <p:oleObj name="Document" r:id="rId2" imgW="5201668" imgH="3092511" progId="Word.Document.12">
                  <p:embed/>
                  <p:pic>
                    <p:nvPicPr>
                      <p:cNvPr id="0" name="Object 2"/>
                      <p:cNvPicPr>
                        <a:picLocks noChangeAspect="1" noChangeArrowheads="1"/>
                      </p:cNvPicPr>
                      <p:nvPr/>
                    </p:nvPicPr>
                    <p:blipFill>
                      <a:blip r:embed="rId3"/>
                      <a:srcRect/>
                      <a:stretch>
                        <a:fillRect/>
                      </a:stretch>
                    </p:blipFill>
                    <p:spPr bwMode="auto">
                      <a:xfrm>
                        <a:off x="280988" y="1360488"/>
                        <a:ext cx="8418512" cy="4804816"/>
                      </a:xfrm>
                      <a:prstGeom prst="rect">
                        <a:avLst/>
                      </a:prstGeom>
                      <a:noFill/>
                      <a:ln>
                        <a:noFill/>
                      </a:ln>
                      <a:effectLst/>
                    </p:spPr>
                  </p:pic>
                </p:oleObj>
              </mc:Fallback>
            </mc:AlternateContent>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Заголовок 1"/>
          <p:cNvSpPr>
            <a:spLocks noGrp="1"/>
          </p:cNvSpPr>
          <p:nvPr>
            <p:ph type="title"/>
          </p:nvPr>
        </p:nvSpPr>
        <p:spPr/>
        <p:txBody>
          <a:bodyPr/>
          <a:lstStyle/>
          <a:p>
            <a:r>
              <a:rPr lang="ru-RU"/>
              <a:t>Определение</a:t>
            </a:r>
          </a:p>
        </p:txBody>
      </p:sp>
      <p:sp>
        <p:nvSpPr>
          <p:cNvPr id="4" name="Номер слайда 3"/>
          <p:cNvSpPr>
            <a:spLocks noGrp="1"/>
          </p:cNvSpPr>
          <p:nvPr>
            <p:ph type="sldNum" sz="quarter" idx="12"/>
          </p:nvPr>
        </p:nvSpPr>
        <p:spPr/>
        <p:txBody>
          <a:bodyPr/>
          <a:lstStyle/>
          <a:p>
            <a:pPr>
              <a:defRPr/>
            </a:pPr>
            <a:fld id="{62F7654D-BE3F-4386-866F-118957B6784F}" type="slidenum">
              <a:rPr lang="ru-RU" smtClean="0"/>
              <a:pPr>
                <a:defRPr/>
              </a:pPr>
              <a:t>79</a:t>
            </a:fld>
            <a:endParaRPr lang="ru-RU"/>
          </a:p>
        </p:txBody>
      </p:sp>
      <p:graphicFrame>
        <p:nvGraphicFramePr>
          <p:cNvPr id="29698" name="Object 2"/>
          <p:cNvGraphicFramePr>
            <a:graphicFrameLocks noChangeAspect="1"/>
          </p:cNvGraphicFramePr>
          <p:nvPr/>
        </p:nvGraphicFramePr>
        <p:xfrm>
          <a:off x="433388" y="1500188"/>
          <a:ext cx="8229600" cy="4678362"/>
        </p:xfrm>
        <a:graphic>
          <a:graphicData uri="http://schemas.openxmlformats.org/presentationml/2006/ole">
            <mc:AlternateContent xmlns:mc="http://schemas.openxmlformats.org/markup-compatibility/2006">
              <mc:Choice xmlns:v="urn:schemas-microsoft-com:vml" Requires="v">
                <p:oleObj name="Документ" r:id="rId2" imgW="5280118" imgH="2996748" progId="Word.Document.12">
                  <p:embed/>
                </p:oleObj>
              </mc:Choice>
              <mc:Fallback>
                <p:oleObj name="Документ" r:id="rId2" imgW="5280118" imgH="299674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8" y="1500188"/>
                        <a:ext cx="8229600" cy="467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Заголовок 1"/>
          <p:cNvSpPr>
            <a:spLocks noGrp="1"/>
          </p:cNvSpPr>
          <p:nvPr>
            <p:ph type="title"/>
          </p:nvPr>
        </p:nvSpPr>
        <p:spPr/>
        <p:txBody>
          <a:bodyPr/>
          <a:lstStyle/>
          <a:p>
            <a:r>
              <a:rPr lang="ru-RU"/>
              <a:t>Определение</a:t>
            </a:r>
          </a:p>
        </p:txBody>
      </p:sp>
      <p:sp>
        <p:nvSpPr>
          <p:cNvPr id="4" name="Номер слайда 3"/>
          <p:cNvSpPr>
            <a:spLocks noGrp="1"/>
          </p:cNvSpPr>
          <p:nvPr>
            <p:ph type="sldNum" sz="quarter" idx="12"/>
          </p:nvPr>
        </p:nvSpPr>
        <p:spPr/>
        <p:txBody>
          <a:bodyPr/>
          <a:lstStyle/>
          <a:p>
            <a:pPr>
              <a:defRPr/>
            </a:pPr>
            <a:fld id="{49AD94CE-94DF-4BB3-8424-67F7DC82ECF8}" type="slidenum">
              <a:rPr lang="ru-RU" smtClean="0"/>
              <a:pPr>
                <a:defRPr/>
              </a:pPr>
              <a:t>80</a:t>
            </a:fld>
            <a:endParaRPr lang="ru-RU"/>
          </a:p>
        </p:txBody>
      </p:sp>
      <p:graphicFrame>
        <p:nvGraphicFramePr>
          <p:cNvPr id="30722" name="Object 2"/>
          <p:cNvGraphicFramePr>
            <a:graphicFrameLocks noChangeAspect="1"/>
          </p:cNvGraphicFramePr>
          <p:nvPr/>
        </p:nvGraphicFramePr>
        <p:xfrm>
          <a:off x="428625" y="1643063"/>
          <a:ext cx="8255000" cy="4143375"/>
        </p:xfrm>
        <a:graphic>
          <a:graphicData uri="http://schemas.openxmlformats.org/presentationml/2006/ole">
            <mc:AlternateContent xmlns:mc="http://schemas.openxmlformats.org/markup-compatibility/2006">
              <mc:Choice xmlns:v="urn:schemas-microsoft-com:vml" Requires="v">
                <p:oleObj name="Документ" r:id="rId2" imgW="5705505" imgH="2860663" progId="Word.Document.12">
                  <p:embed/>
                </p:oleObj>
              </mc:Choice>
              <mc:Fallback>
                <p:oleObj name="Документ" r:id="rId2" imgW="5705505" imgH="286066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643063"/>
                        <a:ext cx="825500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Заголовок 1"/>
          <p:cNvSpPr>
            <a:spLocks noGrp="1"/>
          </p:cNvSpPr>
          <p:nvPr>
            <p:ph type="title"/>
          </p:nvPr>
        </p:nvSpPr>
        <p:spPr/>
        <p:txBody>
          <a:bodyPr/>
          <a:lstStyle/>
          <a:p>
            <a:r>
              <a:rPr lang="ru-RU" dirty="0"/>
              <a:t>Применение правила</a:t>
            </a:r>
          </a:p>
        </p:txBody>
      </p:sp>
      <p:sp>
        <p:nvSpPr>
          <p:cNvPr id="4" name="Номер слайда 3"/>
          <p:cNvSpPr>
            <a:spLocks noGrp="1"/>
          </p:cNvSpPr>
          <p:nvPr>
            <p:ph type="sldNum" sz="quarter" idx="12"/>
          </p:nvPr>
        </p:nvSpPr>
        <p:spPr/>
        <p:txBody>
          <a:bodyPr/>
          <a:lstStyle/>
          <a:p>
            <a:pPr>
              <a:defRPr/>
            </a:pPr>
            <a:fld id="{1BE6E65E-6AE7-456E-B3F9-A7CF85771105}" type="slidenum">
              <a:rPr lang="ru-RU" smtClean="0"/>
              <a:pPr>
                <a:defRPr/>
              </a:pPr>
              <a:t>81</a:t>
            </a:fld>
            <a:endParaRPr lang="ru-RU"/>
          </a:p>
        </p:txBody>
      </p:sp>
      <p:graphicFrame>
        <p:nvGraphicFramePr>
          <p:cNvPr id="31746" name="Object 2"/>
          <p:cNvGraphicFramePr>
            <a:graphicFrameLocks noChangeAspect="1"/>
          </p:cNvGraphicFramePr>
          <p:nvPr/>
        </p:nvGraphicFramePr>
        <p:xfrm>
          <a:off x="642938" y="1357313"/>
          <a:ext cx="7929562" cy="5005387"/>
        </p:xfrm>
        <a:graphic>
          <a:graphicData uri="http://schemas.openxmlformats.org/presentationml/2006/ole">
            <mc:AlternateContent xmlns:mc="http://schemas.openxmlformats.org/markup-compatibility/2006">
              <mc:Choice xmlns:v="urn:schemas-microsoft-com:vml" Requires="v">
                <p:oleObj name="Документ" r:id="rId2" imgW="5881933" imgH="3704893" progId="Word.Document.12">
                  <p:embed/>
                </p:oleObj>
              </mc:Choice>
              <mc:Fallback>
                <p:oleObj name="Документ" r:id="rId2" imgW="5881933" imgH="370489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938" y="1357313"/>
                        <a:ext cx="7929562" cy="500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Заголовок 5"/>
          <p:cNvSpPr>
            <a:spLocks noGrp="1"/>
          </p:cNvSpPr>
          <p:nvPr>
            <p:ph type="title"/>
          </p:nvPr>
        </p:nvSpPr>
        <p:spPr/>
        <p:txBody>
          <a:bodyPr/>
          <a:lstStyle/>
          <a:p>
            <a:r>
              <a:rPr lang="ru-RU" sz="3600"/>
              <a:t>Формализация нечеткой импликации</a:t>
            </a:r>
          </a:p>
        </p:txBody>
      </p:sp>
      <p:sp>
        <p:nvSpPr>
          <p:cNvPr id="4" name="Номер слайда 3"/>
          <p:cNvSpPr>
            <a:spLocks noGrp="1"/>
          </p:cNvSpPr>
          <p:nvPr>
            <p:ph type="sldNum" sz="quarter" idx="12"/>
          </p:nvPr>
        </p:nvSpPr>
        <p:spPr/>
        <p:txBody>
          <a:bodyPr/>
          <a:lstStyle/>
          <a:p>
            <a:pPr>
              <a:defRPr/>
            </a:pPr>
            <a:fld id="{9B728AD5-D74F-4F26-9A4A-B50E7BCC6D05}" type="slidenum">
              <a:rPr lang="ru-RU" smtClean="0"/>
              <a:pPr>
                <a:defRPr/>
              </a:pPr>
              <a:t>82</a:t>
            </a:fld>
            <a:endParaRPr lang="ru-RU"/>
          </a:p>
        </p:txBody>
      </p:sp>
      <p:graphicFrame>
        <p:nvGraphicFramePr>
          <p:cNvPr id="32770" name="Object 2"/>
          <p:cNvGraphicFramePr>
            <a:graphicFrameLocks noChangeAspect="1"/>
          </p:cNvGraphicFramePr>
          <p:nvPr/>
        </p:nvGraphicFramePr>
        <p:xfrm>
          <a:off x="352425" y="1309688"/>
          <a:ext cx="8369300" cy="5334000"/>
        </p:xfrm>
        <a:graphic>
          <a:graphicData uri="http://schemas.openxmlformats.org/presentationml/2006/ole">
            <mc:AlternateContent xmlns:mc="http://schemas.openxmlformats.org/markup-compatibility/2006">
              <mc:Choice xmlns:v="urn:schemas-microsoft-com:vml" Requires="v">
                <p:oleObj name="Документ" r:id="rId2" imgW="6478817" imgH="4132228" progId="Word.Document.12">
                  <p:embed/>
                </p:oleObj>
              </mc:Choice>
              <mc:Fallback>
                <p:oleObj name="Документ" r:id="rId2" imgW="6478817" imgH="413222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309688"/>
                        <a:ext cx="83693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Заголовок 1"/>
          <p:cNvSpPr>
            <a:spLocks noGrp="1"/>
          </p:cNvSpPr>
          <p:nvPr>
            <p:ph type="title"/>
          </p:nvPr>
        </p:nvSpPr>
        <p:spPr/>
        <p:txBody>
          <a:bodyPr/>
          <a:lstStyle/>
          <a:p>
            <a:r>
              <a:rPr lang="ru-RU" sz="4000"/>
              <a:t>Приближенные рассуждения на основе modus </a:t>
            </a:r>
            <a:r>
              <a:rPr lang="en-US" sz="4000"/>
              <a:t>tollens</a:t>
            </a:r>
            <a:endParaRPr lang="ru-RU" sz="4000"/>
          </a:p>
        </p:txBody>
      </p:sp>
      <p:sp>
        <p:nvSpPr>
          <p:cNvPr id="3" name="Номер слайда 2"/>
          <p:cNvSpPr>
            <a:spLocks noGrp="1"/>
          </p:cNvSpPr>
          <p:nvPr>
            <p:ph type="sldNum" sz="quarter" idx="12"/>
          </p:nvPr>
        </p:nvSpPr>
        <p:spPr/>
        <p:txBody>
          <a:bodyPr/>
          <a:lstStyle/>
          <a:p>
            <a:pPr>
              <a:defRPr/>
            </a:pPr>
            <a:fld id="{500C497E-C9D6-4AEA-A2C1-DE1D6CDA83CF}" type="slidenum">
              <a:rPr lang="ru-RU" smtClean="0"/>
              <a:pPr>
                <a:defRPr/>
              </a:pPr>
              <a:t>83</a:t>
            </a:fld>
            <a:endParaRPr lang="ru-RU"/>
          </a:p>
        </p:txBody>
      </p:sp>
      <p:graphicFrame>
        <p:nvGraphicFramePr>
          <p:cNvPr id="33794" name="Object 2"/>
          <p:cNvGraphicFramePr>
            <a:graphicFrameLocks noChangeAspect="1"/>
          </p:cNvGraphicFramePr>
          <p:nvPr/>
        </p:nvGraphicFramePr>
        <p:xfrm>
          <a:off x="574675" y="1781175"/>
          <a:ext cx="8069263" cy="4648200"/>
        </p:xfrm>
        <a:graphic>
          <a:graphicData uri="http://schemas.openxmlformats.org/presentationml/2006/ole">
            <mc:AlternateContent xmlns:mc="http://schemas.openxmlformats.org/markup-compatibility/2006">
              <mc:Choice xmlns:v="urn:schemas-microsoft-com:vml" Requires="v">
                <p:oleObj name="Документ" r:id="rId2" imgW="5403672" imgH="3123112" progId="Word.Document.12">
                  <p:embed/>
                </p:oleObj>
              </mc:Choice>
              <mc:Fallback>
                <p:oleObj name="Документ" r:id="rId2" imgW="5403672" imgH="3123112"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675" y="1781175"/>
                        <a:ext cx="8069263"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Заголовок 1"/>
          <p:cNvSpPr>
            <a:spLocks noGrp="1"/>
          </p:cNvSpPr>
          <p:nvPr>
            <p:ph type="title"/>
          </p:nvPr>
        </p:nvSpPr>
        <p:spPr/>
        <p:txBody>
          <a:bodyPr/>
          <a:lstStyle/>
          <a:p>
            <a:r>
              <a:rPr lang="ru-RU" dirty="0"/>
              <a:t>Обобщение правила</a:t>
            </a:r>
          </a:p>
        </p:txBody>
      </p:sp>
      <p:sp>
        <p:nvSpPr>
          <p:cNvPr id="3" name="Номер слайда 2"/>
          <p:cNvSpPr>
            <a:spLocks noGrp="1"/>
          </p:cNvSpPr>
          <p:nvPr>
            <p:ph type="sldNum" sz="quarter" idx="12"/>
          </p:nvPr>
        </p:nvSpPr>
        <p:spPr/>
        <p:txBody>
          <a:bodyPr/>
          <a:lstStyle/>
          <a:p>
            <a:pPr>
              <a:defRPr/>
            </a:pPr>
            <a:fld id="{DF27CECC-E4A9-40DE-A456-7E34860FB17B}" type="slidenum">
              <a:rPr lang="ru-RU" smtClean="0"/>
              <a:pPr>
                <a:defRPr/>
              </a:pPr>
              <a:t>84</a:t>
            </a:fld>
            <a:endParaRPr lang="ru-RU"/>
          </a:p>
        </p:txBody>
      </p:sp>
      <p:graphicFrame>
        <p:nvGraphicFramePr>
          <p:cNvPr id="34818" name="Object 2"/>
          <p:cNvGraphicFramePr>
            <a:graphicFrameLocks noChangeAspect="1"/>
          </p:cNvGraphicFramePr>
          <p:nvPr>
            <p:extLst>
              <p:ext uri="{D42A27DB-BD31-4B8C-83A1-F6EECF244321}">
                <p14:modId xmlns:p14="http://schemas.microsoft.com/office/powerpoint/2010/main" val="1381333441"/>
              </p:ext>
            </p:extLst>
          </p:nvPr>
        </p:nvGraphicFramePr>
        <p:xfrm>
          <a:off x="285750" y="1357313"/>
          <a:ext cx="8507413" cy="5096023"/>
        </p:xfrm>
        <a:graphic>
          <a:graphicData uri="http://schemas.openxmlformats.org/presentationml/2006/ole">
            <mc:AlternateContent xmlns:mc="http://schemas.openxmlformats.org/markup-compatibility/2006">
              <mc:Choice xmlns:v="urn:schemas-microsoft-com:vml" Requires="v">
                <p:oleObj name="Документ" r:id="rId2" imgW="4832541" imgH="2910705" progId="Word.Document.12">
                  <p:embed/>
                </p:oleObj>
              </mc:Choice>
              <mc:Fallback>
                <p:oleObj name="Документ" r:id="rId2" imgW="4832541" imgH="291070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357313"/>
                        <a:ext cx="8507413" cy="5096023"/>
                      </a:xfrm>
                      <a:prstGeom prst="rect">
                        <a:avLst/>
                      </a:prstGeom>
                      <a:noFill/>
                      <a:ln>
                        <a:noFill/>
                      </a:ln>
                      <a:effectLst/>
                    </p:spPr>
                  </p:pic>
                </p:oleObj>
              </mc:Fallback>
            </mc:AlternateContent>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Заголовок 1"/>
          <p:cNvSpPr>
            <a:spLocks noGrp="1"/>
          </p:cNvSpPr>
          <p:nvPr>
            <p:ph type="title"/>
          </p:nvPr>
        </p:nvSpPr>
        <p:spPr/>
        <p:txBody>
          <a:bodyPr/>
          <a:lstStyle/>
          <a:p>
            <a:r>
              <a:rPr lang="ru-RU"/>
              <a:t>Применение правила</a:t>
            </a:r>
          </a:p>
        </p:txBody>
      </p:sp>
      <p:sp>
        <p:nvSpPr>
          <p:cNvPr id="3" name="Номер слайда 2"/>
          <p:cNvSpPr>
            <a:spLocks noGrp="1"/>
          </p:cNvSpPr>
          <p:nvPr>
            <p:ph type="sldNum" sz="quarter" idx="12"/>
          </p:nvPr>
        </p:nvSpPr>
        <p:spPr/>
        <p:txBody>
          <a:bodyPr/>
          <a:lstStyle/>
          <a:p>
            <a:pPr>
              <a:defRPr/>
            </a:pPr>
            <a:fld id="{8C79F2F6-0F9A-4D44-A820-C7F979062E3D}" type="slidenum">
              <a:rPr lang="ru-RU" smtClean="0"/>
              <a:pPr>
                <a:defRPr/>
              </a:pPr>
              <a:t>85</a:t>
            </a:fld>
            <a:endParaRPr lang="ru-RU"/>
          </a:p>
        </p:txBody>
      </p:sp>
      <p:graphicFrame>
        <p:nvGraphicFramePr>
          <p:cNvPr id="35842" name="Object 2"/>
          <p:cNvGraphicFramePr>
            <a:graphicFrameLocks noChangeAspect="1"/>
          </p:cNvGraphicFramePr>
          <p:nvPr/>
        </p:nvGraphicFramePr>
        <p:xfrm>
          <a:off x="428625" y="1714500"/>
          <a:ext cx="8154988" cy="3786188"/>
        </p:xfrm>
        <a:graphic>
          <a:graphicData uri="http://schemas.openxmlformats.org/presentationml/2006/ole">
            <mc:AlternateContent xmlns:mc="http://schemas.openxmlformats.org/markup-compatibility/2006">
              <mc:Choice xmlns:v="urn:schemas-microsoft-com:vml" Requires="v">
                <p:oleObj name="Документ" r:id="rId2" imgW="4590179" imgH="2152157" progId="Word.Document.12">
                  <p:embed/>
                </p:oleObj>
              </mc:Choice>
              <mc:Fallback>
                <p:oleObj name="Документ" r:id="rId2" imgW="4590179" imgH="215215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1714500"/>
                        <a:ext cx="8154988"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Заголовок 1"/>
          <p:cNvSpPr>
            <a:spLocks noGrp="1"/>
          </p:cNvSpPr>
          <p:nvPr>
            <p:ph type="title"/>
          </p:nvPr>
        </p:nvSpPr>
        <p:spPr/>
        <p:txBody>
          <a:bodyPr/>
          <a:lstStyle/>
          <a:p>
            <a:pPr eaLnBrk="1" hangingPunct="1"/>
            <a:r>
              <a:rPr lang="ru-RU" sz="4000"/>
              <a:t>Формализация логических связок</a:t>
            </a:r>
            <a:br>
              <a:rPr lang="ru-RU"/>
            </a:br>
            <a:r>
              <a:rPr lang="ru-RU"/>
              <a:t>(Нечеткая логика)</a:t>
            </a:r>
          </a:p>
        </p:txBody>
      </p:sp>
      <p:sp>
        <p:nvSpPr>
          <p:cNvPr id="118787" name="Содержимое 2"/>
          <p:cNvSpPr>
            <a:spLocks noGrp="1"/>
          </p:cNvSpPr>
          <p:nvPr>
            <p:ph idx="1"/>
          </p:nvPr>
        </p:nvSpPr>
        <p:spPr/>
        <p:txBody>
          <a:bodyPr/>
          <a:lstStyle/>
          <a:p>
            <a:pPr eaLnBrk="1" hangingPunct="1"/>
            <a:r>
              <a:rPr lang="ru-RU" sz="2400"/>
              <a:t>Ранее мы говорили о том, что операции пересечения, объединения и дополнения в множестве </a:t>
            </a:r>
            <a:r>
              <a:rPr lang="en-US" sz="2400" i="1"/>
              <a:t>P</a:t>
            </a:r>
            <a:r>
              <a:rPr lang="ru-RU" sz="2400" i="1"/>
              <a:t>(</a:t>
            </a:r>
            <a:r>
              <a:rPr lang="en-US" sz="2400" i="1"/>
              <a:t>U</a:t>
            </a:r>
            <a:r>
              <a:rPr lang="ru-RU" sz="2400" i="1"/>
              <a:t>)</a:t>
            </a:r>
            <a:r>
              <a:rPr lang="ru-RU" sz="2400"/>
              <a:t> всех нечетких множеств, заданных на одном универсальном множестве </a:t>
            </a:r>
            <a:r>
              <a:rPr lang="en-US" sz="2400" i="1"/>
              <a:t>U</a:t>
            </a:r>
            <a:r>
              <a:rPr lang="ru-RU" sz="2400"/>
              <a:t> могут быть определены различными способами. </a:t>
            </a:r>
          </a:p>
          <a:p>
            <a:pPr eaLnBrk="1" hangingPunct="1"/>
            <a:r>
              <a:rPr lang="ru-RU" sz="2400"/>
              <a:t>Эти способы являются различными обобщениями соответствующих операций для обычных множеств и берут свое начало в работах по многозначным логикам, где возникают аналогичные проблемы. </a:t>
            </a:r>
          </a:p>
          <a:p>
            <a:pPr eaLnBrk="1" hangingPunct="1"/>
            <a:r>
              <a:rPr lang="ru-RU" sz="2400"/>
              <a:t>При использовании различных операций, мы получаем также различные интерпретации логических связок "И", "ИЛИ", "НЕ", соответствующих операциям пересечения, объединения и дополнения.</a:t>
            </a:r>
          </a:p>
        </p:txBody>
      </p:sp>
      <p:sp>
        <p:nvSpPr>
          <p:cNvPr id="4" name="Номер слайда 3"/>
          <p:cNvSpPr>
            <a:spLocks noGrp="1"/>
          </p:cNvSpPr>
          <p:nvPr>
            <p:ph type="sldNum" sz="quarter" idx="12"/>
          </p:nvPr>
        </p:nvSpPr>
        <p:spPr/>
        <p:txBody>
          <a:bodyPr/>
          <a:lstStyle/>
          <a:p>
            <a:pPr>
              <a:defRPr/>
            </a:pPr>
            <a:fld id="{C1409952-2DFE-47A9-AA44-35022E39810A}" type="slidenum">
              <a:rPr lang="ru-RU"/>
              <a:pPr>
                <a:defRPr/>
              </a:pPr>
              <a:t>86</a:t>
            </a:fld>
            <a:endParaRPr lang="ru-RU"/>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Заголовок 1"/>
          <p:cNvSpPr>
            <a:spLocks noGrp="1"/>
          </p:cNvSpPr>
          <p:nvPr>
            <p:ph type="title"/>
          </p:nvPr>
        </p:nvSpPr>
        <p:spPr/>
        <p:txBody>
          <a:bodyPr/>
          <a:lstStyle/>
          <a:p>
            <a:r>
              <a:rPr lang="ru-RU" sz="4000"/>
              <a:t>Расширение логических операций </a:t>
            </a:r>
          </a:p>
        </p:txBody>
      </p:sp>
      <p:sp>
        <p:nvSpPr>
          <p:cNvPr id="119811" name="Содержимое 2"/>
          <p:cNvSpPr>
            <a:spLocks noGrp="1"/>
          </p:cNvSpPr>
          <p:nvPr>
            <p:ph idx="1"/>
          </p:nvPr>
        </p:nvSpPr>
        <p:spPr/>
        <p:txBody>
          <a:bodyPr/>
          <a:lstStyle/>
          <a:p>
            <a:r>
              <a:rPr lang="ru-RU" sz="2800" b="1"/>
              <a:t>Утверждение:</a:t>
            </a:r>
            <a:endParaRPr lang="ru-RU" sz="2800"/>
          </a:p>
          <a:p>
            <a:pPr lvl="1"/>
            <a:r>
              <a:rPr lang="ru-RU" sz="2400"/>
              <a:t>Логические операции «НЕ», «И» и «ИЛИ» образуют полную систему, т.е. с их помощью 	можно задать любую другую логическую операцию, или сочетание логический операций.</a:t>
            </a:r>
          </a:p>
          <a:p>
            <a:r>
              <a:rPr lang="ru-RU" sz="2800"/>
              <a:t>Расширением логических операций при переходе от четкой логики к нечеткой производится путем введения функций, носящих название треугольных норм: норм (</a:t>
            </a:r>
            <a:r>
              <a:rPr lang="en-US" sz="2800"/>
              <a:t>t</a:t>
            </a:r>
            <a:r>
              <a:rPr lang="ru-RU" sz="2800"/>
              <a:t> - норм) и конорм (s - норма, </a:t>
            </a:r>
            <a:r>
              <a:rPr lang="en-US" sz="2800"/>
              <a:t>t</a:t>
            </a:r>
            <a:r>
              <a:rPr lang="ru-RU" sz="2800"/>
              <a:t> - конорм) для логических операций «И» и «ИЛИ» соответственно.</a:t>
            </a:r>
          </a:p>
          <a:p>
            <a:endParaRPr lang="ru-RU" sz="2800"/>
          </a:p>
        </p:txBody>
      </p:sp>
      <p:sp>
        <p:nvSpPr>
          <p:cNvPr id="4" name="Номер слайда 3"/>
          <p:cNvSpPr>
            <a:spLocks noGrp="1"/>
          </p:cNvSpPr>
          <p:nvPr>
            <p:ph type="sldNum" sz="quarter" idx="12"/>
          </p:nvPr>
        </p:nvSpPr>
        <p:spPr/>
        <p:txBody>
          <a:bodyPr/>
          <a:lstStyle/>
          <a:p>
            <a:pPr>
              <a:defRPr/>
            </a:pPr>
            <a:fld id="{7C1694CE-7E17-4E7B-8C0C-C6E8EF6EBEC6}" type="slidenum">
              <a:rPr lang="ru-RU" smtClean="0"/>
              <a:pPr>
                <a:defRPr/>
              </a:pPr>
              <a:t>87</a:t>
            </a:fld>
            <a:endParaRPr lang="ru-RU"/>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Заголовок 1"/>
          <p:cNvSpPr>
            <a:spLocks noGrp="1"/>
          </p:cNvSpPr>
          <p:nvPr>
            <p:ph type="title"/>
          </p:nvPr>
        </p:nvSpPr>
        <p:spPr/>
        <p:txBody>
          <a:bodyPr/>
          <a:lstStyle/>
          <a:p>
            <a:r>
              <a:rPr lang="ru-RU"/>
              <a:t>Треугольные нормы</a:t>
            </a:r>
          </a:p>
        </p:txBody>
      </p:sp>
      <p:sp>
        <p:nvSpPr>
          <p:cNvPr id="4" name="Номер слайда 3"/>
          <p:cNvSpPr>
            <a:spLocks noGrp="1"/>
          </p:cNvSpPr>
          <p:nvPr>
            <p:ph type="sldNum" sz="quarter" idx="12"/>
          </p:nvPr>
        </p:nvSpPr>
        <p:spPr/>
        <p:txBody>
          <a:bodyPr/>
          <a:lstStyle/>
          <a:p>
            <a:pPr>
              <a:defRPr/>
            </a:pPr>
            <a:fld id="{22BBE5F9-7342-4FB8-8685-F4DE4F9BE2EE}" type="slidenum">
              <a:rPr lang="ru-RU" smtClean="0"/>
              <a:pPr>
                <a:defRPr/>
              </a:pPr>
              <a:t>88</a:t>
            </a:fld>
            <a:endParaRPr lang="ru-RU"/>
          </a:p>
        </p:txBody>
      </p:sp>
      <p:graphicFrame>
        <p:nvGraphicFramePr>
          <p:cNvPr id="36866" name="Object 2"/>
          <p:cNvGraphicFramePr>
            <a:graphicFrameLocks noChangeAspect="1"/>
          </p:cNvGraphicFramePr>
          <p:nvPr/>
        </p:nvGraphicFramePr>
        <p:xfrm>
          <a:off x="460375" y="1785938"/>
          <a:ext cx="8112125" cy="3071812"/>
        </p:xfrm>
        <a:graphic>
          <a:graphicData uri="http://schemas.openxmlformats.org/presentationml/2006/ole">
            <mc:AlternateContent xmlns:mc="http://schemas.openxmlformats.org/markup-compatibility/2006">
              <mc:Choice xmlns:v="urn:schemas-microsoft-com:vml" Requires="v">
                <p:oleObj name="Документ" r:id="rId2" imgW="4853640" imgH="1840026" progId="Word.Document.12">
                  <p:embed/>
                </p:oleObj>
              </mc:Choice>
              <mc:Fallback>
                <p:oleObj name="Документ" r:id="rId2" imgW="4853640" imgH="184002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375" y="1785938"/>
                        <a:ext cx="8112125" cy="307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Заголовок 1"/>
          <p:cNvSpPr>
            <a:spLocks noGrp="1"/>
          </p:cNvSpPr>
          <p:nvPr>
            <p:ph type="title"/>
          </p:nvPr>
        </p:nvSpPr>
        <p:spPr/>
        <p:txBody>
          <a:bodyPr/>
          <a:lstStyle/>
          <a:p>
            <a:r>
              <a:rPr lang="ru-RU"/>
              <a:t>Треугольные нормы</a:t>
            </a:r>
          </a:p>
        </p:txBody>
      </p:sp>
      <p:sp>
        <p:nvSpPr>
          <p:cNvPr id="3" name="Номер слайда 2"/>
          <p:cNvSpPr>
            <a:spLocks noGrp="1"/>
          </p:cNvSpPr>
          <p:nvPr>
            <p:ph type="sldNum" sz="quarter" idx="12"/>
          </p:nvPr>
        </p:nvSpPr>
        <p:spPr/>
        <p:txBody>
          <a:bodyPr/>
          <a:lstStyle/>
          <a:p>
            <a:pPr>
              <a:defRPr/>
            </a:pPr>
            <a:fld id="{4D404802-4C13-4F5E-8074-EA4B01BA060F}" type="slidenum">
              <a:rPr lang="ru-RU" smtClean="0"/>
              <a:pPr>
                <a:defRPr/>
              </a:pPr>
              <a:t>89</a:t>
            </a:fld>
            <a:endParaRPr lang="ru-RU"/>
          </a:p>
        </p:txBody>
      </p:sp>
      <p:graphicFrame>
        <p:nvGraphicFramePr>
          <p:cNvPr id="37890" name="Object 2"/>
          <p:cNvGraphicFramePr>
            <a:graphicFrameLocks noChangeAspect="1"/>
          </p:cNvGraphicFramePr>
          <p:nvPr/>
        </p:nvGraphicFramePr>
        <p:xfrm>
          <a:off x="785813" y="1500188"/>
          <a:ext cx="7143750" cy="4899025"/>
        </p:xfrm>
        <a:graphic>
          <a:graphicData uri="http://schemas.openxmlformats.org/presentationml/2006/ole">
            <mc:AlternateContent xmlns:mc="http://schemas.openxmlformats.org/markup-compatibility/2006">
              <mc:Choice xmlns:v="urn:schemas-microsoft-com:vml" Requires="v">
                <p:oleObj name="Документ" r:id="rId2" imgW="5607101" imgH="3844938" progId="Word.Document.12">
                  <p:embed/>
                </p:oleObj>
              </mc:Choice>
              <mc:Fallback>
                <p:oleObj name="Документ" r:id="rId2" imgW="5607101" imgH="384493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500188"/>
                        <a:ext cx="7143750" cy="4899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Заголовок 1"/>
          <p:cNvSpPr>
            <a:spLocks noGrp="1"/>
          </p:cNvSpPr>
          <p:nvPr>
            <p:ph type="title"/>
          </p:nvPr>
        </p:nvSpPr>
        <p:spPr/>
        <p:txBody>
          <a:bodyPr/>
          <a:lstStyle/>
          <a:p>
            <a:r>
              <a:rPr lang="ru-RU"/>
              <a:t>Треугольные нормы</a:t>
            </a:r>
          </a:p>
        </p:txBody>
      </p:sp>
      <p:sp>
        <p:nvSpPr>
          <p:cNvPr id="3" name="Номер слайда 2"/>
          <p:cNvSpPr>
            <a:spLocks noGrp="1"/>
          </p:cNvSpPr>
          <p:nvPr>
            <p:ph type="sldNum" sz="quarter" idx="12"/>
          </p:nvPr>
        </p:nvSpPr>
        <p:spPr/>
        <p:txBody>
          <a:bodyPr/>
          <a:lstStyle/>
          <a:p>
            <a:pPr>
              <a:defRPr/>
            </a:pPr>
            <a:fld id="{1C1DF17E-EA44-4F8D-9EFF-E578AE25C592}" type="slidenum">
              <a:rPr lang="ru-RU" smtClean="0"/>
              <a:pPr>
                <a:defRPr/>
              </a:pPr>
              <a:t>90</a:t>
            </a:fld>
            <a:endParaRPr lang="ru-RU"/>
          </a:p>
        </p:txBody>
      </p:sp>
      <p:graphicFrame>
        <p:nvGraphicFramePr>
          <p:cNvPr id="38914" name="Object 3"/>
          <p:cNvGraphicFramePr>
            <a:graphicFrameLocks noChangeAspect="1"/>
          </p:cNvGraphicFramePr>
          <p:nvPr>
            <p:extLst>
              <p:ext uri="{D42A27DB-BD31-4B8C-83A1-F6EECF244321}">
                <p14:modId xmlns:p14="http://schemas.microsoft.com/office/powerpoint/2010/main" val="4201423918"/>
              </p:ext>
            </p:extLst>
          </p:nvPr>
        </p:nvGraphicFramePr>
        <p:xfrm>
          <a:off x="285750" y="1428750"/>
          <a:ext cx="8442325" cy="3944466"/>
        </p:xfrm>
        <a:graphic>
          <a:graphicData uri="http://schemas.openxmlformats.org/presentationml/2006/ole">
            <mc:AlternateContent xmlns:mc="http://schemas.openxmlformats.org/markup-compatibility/2006">
              <mc:Choice xmlns:v="urn:schemas-microsoft-com:vml" Requires="v">
                <p:oleObj name="Документ" r:id="rId2" imgW="5100915" imgH="2387606" progId="Word.Document.12">
                  <p:embed/>
                </p:oleObj>
              </mc:Choice>
              <mc:Fallback>
                <p:oleObj name="Документ" r:id="rId2" imgW="5100915" imgH="2387606" progId="Word.Document.12">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750" y="1428750"/>
                        <a:ext cx="8442325" cy="3944466"/>
                      </a:xfrm>
                      <a:prstGeom prst="rect">
                        <a:avLst/>
                      </a:prstGeom>
                      <a:noFill/>
                      <a:ln>
                        <a:noFill/>
                      </a:ln>
                      <a:effectLst/>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Заголовок 1"/>
          <p:cNvSpPr>
            <a:spLocks noGrp="1"/>
          </p:cNvSpPr>
          <p:nvPr>
            <p:ph type="title"/>
          </p:nvPr>
        </p:nvSpPr>
        <p:spPr/>
        <p:txBody>
          <a:bodyPr/>
          <a:lstStyle/>
          <a:p>
            <a:r>
              <a:rPr lang="ru-RU"/>
              <a:t>Треугольные нормы</a:t>
            </a:r>
          </a:p>
        </p:txBody>
      </p:sp>
      <p:sp>
        <p:nvSpPr>
          <p:cNvPr id="3" name="Номер слайда 2"/>
          <p:cNvSpPr>
            <a:spLocks noGrp="1"/>
          </p:cNvSpPr>
          <p:nvPr>
            <p:ph type="sldNum" sz="quarter" idx="12"/>
          </p:nvPr>
        </p:nvSpPr>
        <p:spPr/>
        <p:txBody>
          <a:bodyPr/>
          <a:lstStyle/>
          <a:p>
            <a:pPr>
              <a:defRPr/>
            </a:pPr>
            <a:fld id="{4B26C194-71C8-4725-951E-9381010E1FF7}" type="slidenum">
              <a:rPr lang="ru-RU" smtClean="0"/>
              <a:pPr>
                <a:defRPr/>
              </a:pPr>
              <a:t>91</a:t>
            </a:fld>
            <a:endParaRPr lang="ru-RU"/>
          </a:p>
        </p:txBody>
      </p:sp>
      <p:graphicFrame>
        <p:nvGraphicFramePr>
          <p:cNvPr id="39938" name="Object 2"/>
          <p:cNvGraphicFramePr>
            <a:graphicFrameLocks noChangeAspect="1"/>
          </p:cNvGraphicFramePr>
          <p:nvPr/>
        </p:nvGraphicFramePr>
        <p:xfrm>
          <a:off x="785813" y="1357313"/>
          <a:ext cx="7858125" cy="5278437"/>
        </p:xfrm>
        <a:graphic>
          <a:graphicData uri="http://schemas.openxmlformats.org/presentationml/2006/ole">
            <mc:AlternateContent xmlns:mc="http://schemas.openxmlformats.org/markup-compatibility/2006">
              <mc:Choice xmlns:v="urn:schemas-microsoft-com:vml" Requires="v">
                <p:oleObj name="Документ" r:id="rId2" imgW="5631848" imgH="3798136" progId="Word.Document.12">
                  <p:embed/>
                </p:oleObj>
              </mc:Choice>
              <mc:Fallback>
                <p:oleObj name="Документ" r:id="rId2" imgW="5631848" imgH="379813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357313"/>
                        <a:ext cx="7858125" cy="527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Заголовок 1"/>
          <p:cNvSpPr>
            <a:spLocks noGrp="1"/>
          </p:cNvSpPr>
          <p:nvPr>
            <p:ph type="title"/>
          </p:nvPr>
        </p:nvSpPr>
        <p:spPr/>
        <p:txBody>
          <a:bodyPr/>
          <a:lstStyle/>
          <a:p>
            <a:r>
              <a:rPr lang="ru-RU"/>
              <a:t>Отрицание</a:t>
            </a:r>
          </a:p>
        </p:txBody>
      </p:sp>
      <p:sp>
        <p:nvSpPr>
          <p:cNvPr id="3" name="Номер слайда 2"/>
          <p:cNvSpPr>
            <a:spLocks noGrp="1"/>
          </p:cNvSpPr>
          <p:nvPr>
            <p:ph type="sldNum" sz="quarter" idx="12"/>
          </p:nvPr>
        </p:nvSpPr>
        <p:spPr/>
        <p:txBody>
          <a:bodyPr/>
          <a:lstStyle/>
          <a:p>
            <a:pPr>
              <a:defRPr/>
            </a:pPr>
            <a:fld id="{CD30DF2E-6EB5-409C-8335-58D3602D122D}" type="slidenum">
              <a:rPr lang="ru-RU" smtClean="0"/>
              <a:pPr>
                <a:defRPr/>
              </a:pPr>
              <a:t>92</a:t>
            </a:fld>
            <a:endParaRPr lang="ru-RU"/>
          </a:p>
        </p:txBody>
      </p:sp>
      <p:graphicFrame>
        <p:nvGraphicFramePr>
          <p:cNvPr id="40962" name="Object 2"/>
          <p:cNvGraphicFramePr>
            <a:graphicFrameLocks noChangeAspect="1"/>
          </p:cNvGraphicFramePr>
          <p:nvPr>
            <p:extLst>
              <p:ext uri="{D42A27DB-BD31-4B8C-83A1-F6EECF244321}">
                <p14:modId xmlns:p14="http://schemas.microsoft.com/office/powerpoint/2010/main" val="4071610601"/>
              </p:ext>
            </p:extLst>
          </p:nvPr>
        </p:nvGraphicFramePr>
        <p:xfrm>
          <a:off x="357188" y="836713"/>
          <a:ext cx="8448675" cy="5884762"/>
        </p:xfrm>
        <a:graphic>
          <a:graphicData uri="http://schemas.openxmlformats.org/presentationml/2006/ole">
            <mc:AlternateContent xmlns:mc="http://schemas.openxmlformats.org/markup-compatibility/2006">
              <mc:Choice xmlns:v="urn:schemas-microsoft-com:vml" Requires="v">
                <p:oleObj name="Документ" r:id="rId2" imgW="5069960" imgH="3481325" progId="Word.Document.12">
                  <p:embed/>
                </p:oleObj>
              </mc:Choice>
              <mc:Fallback>
                <p:oleObj name="Документ" r:id="rId2" imgW="5069960" imgH="348132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836713"/>
                        <a:ext cx="8448675" cy="5884762"/>
                      </a:xfrm>
                      <a:prstGeom prst="rect">
                        <a:avLst/>
                      </a:prstGeom>
                      <a:noFill/>
                      <a:ln>
                        <a:noFill/>
                      </a:ln>
                      <a:effectLst/>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Заголовок 1"/>
          <p:cNvSpPr>
            <a:spLocks noGrp="1"/>
          </p:cNvSpPr>
          <p:nvPr>
            <p:ph type="title"/>
          </p:nvPr>
        </p:nvSpPr>
        <p:spPr/>
        <p:txBody>
          <a:bodyPr/>
          <a:lstStyle/>
          <a:p>
            <a:r>
              <a:rPr lang="ru-RU" sz="3200"/>
              <a:t>Логико-лингвистическое описание систем, нечеткие модели</a:t>
            </a:r>
          </a:p>
        </p:txBody>
      </p:sp>
      <p:sp>
        <p:nvSpPr>
          <p:cNvPr id="3" name="Номер слайда 2"/>
          <p:cNvSpPr>
            <a:spLocks noGrp="1"/>
          </p:cNvSpPr>
          <p:nvPr>
            <p:ph type="sldNum" sz="quarter" idx="12"/>
          </p:nvPr>
        </p:nvSpPr>
        <p:spPr/>
        <p:txBody>
          <a:bodyPr/>
          <a:lstStyle/>
          <a:p>
            <a:pPr>
              <a:defRPr/>
            </a:pPr>
            <a:fld id="{7BFF83DB-474C-45AB-9DF6-E2955F682767}" type="slidenum">
              <a:rPr lang="ru-RU" smtClean="0"/>
              <a:pPr>
                <a:defRPr/>
              </a:pPr>
              <a:t>93</a:t>
            </a:fld>
            <a:endParaRPr lang="ru-RU"/>
          </a:p>
        </p:txBody>
      </p:sp>
      <p:graphicFrame>
        <p:nvGraphicFramePr>
          <p:cNvPr id="41986" name="Object 2"/>
          <p:cNvGraphicFramePr>
            <a:graphicFrameLocks noChangeAspect="1"/>
          </p:cNvGraphicFramePr>
          <p:nvPr/>
        </p:nvGraphicFramePr>
        <p:xfrm>
          <a:off x="344488" y="1430338"/>
          <a:ext cx="8370887" cy="4783137"/>
        </p:xfrm>
        <a:graphic>
          <a:graphicData uri="http://schemas.openxmlformats.org/presentationml/2006/ole">
            <mc:AlternateContent xmlns:mc="http://schemas.openxmlformats.org/markup-compatibility/2006">
              <mc:Choice xmlns:v="urn:schemas-microsoft-com:vml" Requires="v">
                <p:oleObj name="Документ" r:id="rId2" imgW="6478817" imgH="3709213" progId="Word.Document.12">
                  <p:embed/>
                </p:oleObj>
              </mc:Choice>
              <mc:Fallback>
                <p:oleObj name="Документ" r:id="rId2" imgW="6478817" imgH="370921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430338"/>
                        <a:ext cx="8370887" cy="4783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Заголовок 1"/>
          <p:cNvSpPr>
            <a:spLocks noGrp="1"/>
          </p:cNvSpPr>
          <p:nvPr>
            <p:ph type="title"/>
          </p:nvPr>
        </p:nvSpPr>
        <p:spPr/>
        <p:txBody>
          <a:bodyPr/>
          <a:lstStyle/>
          <a:p>
            <a:r>
              <a:rPr lang="ru-RU" sz="3200"/>
              <a:t>Логико-лингвистическое описание систем, нечеткие модели</a:t>
            </a:r>
          </a:p>
        </p:txBody>
      </p:sp>
      <p:sp>
        <p:nvSpPr>
          <p:cNvPr id="3" name="Номер слайда 2"/>
          <p:cNvSpPr>
            <a:spLocks noGrp="1"/>
          </p:cNvSpPr>
          <p:nvPr>
            <p:ph type="sldNum" sz="quarter" idx="12"/>
          </p:nvPr>
        </p:nvSpPr>
        <p:spPr/>
        <p:txBody>
          <a:bodyPr/>
          <a:lstStyle/>
          <a:p>
            <a:pPr>
              <a:defRPr/>
            </a:pPr>
            <a:fld id="{AC3F0BDA-B09F-4EFC-935F-CC176AF0D58F}" type="slidenum">
              <a:rPr lang="ru-RU" smtClean="0"/>
              <a:pPr>
                <a:defRPr/>
              </a:pPr>
              <a:t>94</a:t>
            </a:fld>
            <a:endParaRPr lang="ru-RU"/>
          </a:p>
        </p:txBody>
      </p:sp>
      <p:graphicFrame>
        <p:nvGraphicFramePr>
          <p:cNvPr id="43010" name="Object 2"/>
          <p:cNvGraphicFramePr>
            <a:graphicFrameLocks noChangeAspect="1"/>
          </p:cNvGraphicFramePr>
          <p:nvPr/>
        </p:nvGraphicFramePr>
        <p:xfrm>
          <a:off x="352425" y="1571625"/>
          <a:ext cx="8462963" cy="4465638"/>
        </p:xfrm>
        <a:graphic>
          <a:graphicData uri="http://schemas.openxmlformats.org/presentationml/2006/ole">
            <mc:AlternateContent xmlns:mc="http://schemas.openxmlformats.org/markup-compatibility/2006">
              <mc:Choice xmlns:v="urn:schemas-microsoft-com:vml" Requires="v">
                <p:oleObj name="Документ" r:id="rId2" imgW="5549210" imgH="2933745" progId="Word.Document.12">
                  <p:embed/>
                </p:oleObj>
              </mc:Choice>
              <mc:Fallback>
                <p:oleObj name="Документ" r:id="rId2" imgW="5549210" imgH="293374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571625"/>
                        <a:ext cx="8462963" cy="446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defRPr/>
            </a:pPr>
            <a:r>
              <a:rPr lang="ru-RU" b="0" dirty="0"/>
              <a:t>Нечеткие выводы</a:t>
            </a:r>
          </a:p>
        </p:txBody>
      </p:sp>
      <p:sp>
        <p:nvSpPr>
          <p:cNvPr id="2" name="Подзаголовок 1">
            <a:extLst>
              <a:ext uri="{FF2B5EF4-FFF2-40B4-BE49-F238E27FC236}">
                <a16:creationId xmlns:a16="http://schemas.microsoft.com/office/drawing/2014/main" id="{ADAA4278-850F-DA07-1F4A-75BA924B1F15}"/>
              </a:ext>
            </a:extLst>
          </p:cNvPr>
          <p:cNvSpPr>
            <a:spLocks noGrp="1"/>
          </p:cNvSpPr>
          <p:nvPr>
            <p:ph type="subTitle" idx="1"/>
          </p:nvPr>
        </p:nvSpPr>
        <p:spPr/>
        <p:txBody>
          <a:bodyPr/>
          <a:lstStyle/>
          <a:p>
            <a:endParaRPr lang="ru-RU"/>
          </a:p>
        </p:txBody>
      </p:sp>
      <p:sp>
        <p:nvSpPr>
          <p:cNvPr id="3" name="Номер слайда 2"/>
          <p:cNvSpPr>
            <a:spLocks noGrp="1"/>
          </p:cNvSpPr>
          <p:nvPr>
            <p:ph type="sldNum" sz="quarter" idx="12"/>
          </p:nvPr>
        </p:nvSpPr>
        <p:spPr/>
        <p:txBody>
          <a:bodyPr/>
          <a:lstStyle/>
          <a:p>
            <a:pPr>
              <a:defRPr/>
            </a:pPr>
            <a:fld id="{F1324699-F800-4EC6-BAB3-17C81BD99BFC}" type="slidenum">
              <a:rPr lang="ru-RU" smtClean="0"/>
              <a:pPr>
                <a:defRPr/>
              </a:pPr>
              <a:t>95</a:t>
            </a:fld>
            <a:endParaRPr lang="ru-RU"/>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Заголовок 1"/>
          <p:cNvSpPr>
            <a:spLocks noGrp="1"/>
          </p:cNvSpPr>
          <p:nvPr>
            <p:ph type="title"/>
          </p:nvPr>
        </p:nvSpPr>
        <p:spPr/>
        <p:txBody>
          <a:bodyPr/>
          <a:lstStyle/>
          <a:p>
            <a:pPr eaLnBrk="1" hangingPunct="1"/>
            <a:r>
              <a:rPr lang="ru-RU"/>
              <a:t>Нечеткие выводы</a:t>
            </a:r>
          </a:p>
        </p:txBody>
      </p:sp>
      <p:sp>
        <p:nvSpPr>
          <p:cNvPr id="4" name="Номер слайда 3"/>
          <p:cNvSpPr>
            <a:spLocks noGrp="1"/>
          </p:cNvSpPr>
          <p:nvPr>
            <p:ph type="sldNum" sz="quarter" idx="12"/>
          </p:nvPr>
        </p:nvSpPr>
        <p:spPr/>
        <p:txBody>
          <a:bodyPr/>
          <a:lstStyle/>
          <a:p>
            <a:pPr>
              <a:defRPr/>
            </a:pPr>
            <a:fld id="{51D6A87A-D044-4314-84CE-120E74D1DC5D}" type="slidenum">
              <a:rPr lang="ru-RU"/>
              <a:pPr>
                <a:defRPr/>
              </a:pPr>
              <a:t>96</a:t>
            </a:fld>
            <a:endParaRPr lang="ru-RU"/>
          </a:p>
        </p:txBody>
      </p:sp>
      <p:graphicFrame>
        <p:nvGraphicFramePr>
          <p:cNvPr id="44034" name="Object 6"/>
          <p:cNvGraphicFramePr>
            <a:graphicFrameLocks noChangeAspect="1"/>
          </p:cNvGraphicFramePr>
          <p:nvPr>
            <p:extLst>
              <p:ext uri="{D42A27DB-BD31-4B8C-83A1-F6EECF244321}">
                <p14:modId xmlns:p14="http://schemas.microsoft.com/office/powerpoint/2010/main" val="3408670839"/>
              </p:ext>
            </p:extLst>
          </p:nvPr>
        </p:nvGraphicFramePr>
        <p:xfrm>
          <a:off x="280989" y="1124745"/>
          <a:ext cx="8229600" cy="5596730"/>
        </p:xfrm>
        <a:graphic>
          <a:graphicData uri="http://schemas.openxmlformats.org/presentationml/2006/ole">
            <mc:AlternateContent xmlns:mc="http://schemas.openxmlformats.org/markup-compatibility/2006">
              <mc:Choice xmlns:v="urn:schemas-microsoft-com:vml" Requires="v">
                <p:oleObj name="Документ" r:id="rId2" imgW="5164992" imgH="3660611" progId="Word.Document.12">
                  <p:embed/>
                </p:oleObj>
              </mc:Choice>
              <mc:Fallback>
                <p:oleObj name="Документ" r:id="rId2" imgW="5164992" imgH="3660611" progId="Word.Document.12">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9" y="1124745"/>
                        <a:ext cx="8229600" cy="5596730"/>
                      </a:xfrm>
                      <a:prstGeom prst="rect">
                        <a:avLst/>
                      </a:prstGeom>
                      <a:noFill/>
                      <a:ln>
                        <a:noFill/>
                      </a:ln>
                      <a:effectLst/>
                    </p:spPr>
                  </p:pic>
                </p:oleObj>
              </mc:Fallback>
            </mc:AlternateContent>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Заголовок 1"/>
          <p:cNvSpPr>
            <a:spLocks noGrp="1"/>
          </p:cNvSpPr>
          <p:nvPr>
            <p:ph type="title"/>
          </p:nvPr>
        </p:nvSpPr>
        <p:spPr/>
        <p:txBody>
          <a:bodyPr/>
          <a:lstStyle/>
          <a:p>
            <a:r>
              <a:rPr lang="ru-RU"/>
              <a:t>Нечеткие выводы</a:t>
            </a:r>
          </a:p>
        </p:txBody>
      </p:sp>
      <p:sp>
        <p:nvSpPr>
          <p:cNvPr id="3" name="Номер слайда 2"/>
          <p:cNvSpPr>
            <a:spLocks noGrp="1"/>
          </p:cNvSpPr>
          <p:nvPr>
            <p:ph type="sldNum" sz="quarter" idx="12"/>
          </p:nvPr>
        </p:nvSpPr>
        <p:spPr/>
        <p:txBody>
          <a:bodyPr/>
          <a:lstStyle/>
          <a:p>
            <a:pPr>
              <a:defRPr/>
            </a:pPr>
            <a:fld id="{391D648C-4DAA-4E34-BAA7-E0EE1B03E5AE}" type="slidenum">
              <a:rPr lang="ru-RU" smtClean="0"/>
              <a:pPr>
                <a:defRPr/>
              </a:pPr>
              <a:t>97</a:t>
            </a:fld>
            <a:endParaRPr lang="ru-RU"/>
          </a:p>
        </p:txBody>
      </p:sp>
      <p:graphicFrame>
        <p:nvGraphicFramePr>
          <p:cNvPr id="45058" name="Object 2"/>
          <p:cNvGraphicFramePr>
            <a:graphicFrameLocks noChangeAspect="1"/>
          </p:cNvGraphicFramePr>
          <p:nvPr/>
        </p:nvGraphicFramePr>
        <p:xfrm>
          <a:off x="352425" y="1289050"/>
          <a:ext cx="8345488" cy="4854575"/>
        </p:xfrm>
        <a:graphic>
          <a:graphicData uri="http://schemas.openxmlformats.org/presentationml/2006/ole">
            <mc:AlternateContent xmlns:mc="http://schemas.openxmlformats.org/markup-compatibility/2006">
              <mc:Choice xmlns:v="urn:schemas-microsoft-com:vml" Requires="v">
                <p:oleObj name="Документ" r:id="rId2" imgW="5219099" imgH="3034189" progId="Word.Document.12">
                  <p:embed/>
                </p:oleObj>
              </mc:Choice>
              <mc:Fallback>
                <p:oleObj name="Документ" r:id="rId2" imgW="5219099" imgH="3034189"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289050"/>
                        <a:ext cx="8345488" cy="485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Заголовок 1"/>
          <p:cNvSpPr>
            <a:spLocks noGrp="1"/>
          </p:cNvSpPr>
          <p:nvPr>
            <p:ph type="title"/>
          </p:nvPr>
        </p:nvSpPr>
        <p:spPr/>
        <p:txBody>
          <a:bodyPr/>
          <a:lstStyle/>
          <a:p>
            <a:r>
              <a:rPr lang="ru-RU"/>
              <a:t>Нечеткие выводы</a:t>
            </a:r>
          </a:p>
        </p:txBody>
      </p:sp>
      <p:sp>
        <p:nvSpPr>
          <p:cNvPr id="121859" name="Содержимое 4"/>
          <p:cNvSpPr>
            <a:spLocks noGrp="1"/>
          </p:cNvSpPr>
          <p:nvPr>
            <p:ph idx="1"/>
          </p:nvPr>
        </p:nvSpPr>
        <p:spPr/>
        <p:txBody>
          <a:bodyPr/>
          <a:lstStyle/>
          <a:p>
            <a:r>
              <a:rPr lang="ru-RU" sz="2400"/>
              <a:t>Человек, проектирующий данную систему, создает из правил в словесном представлении типа (1) конкретные функции принадлежности типа (2), (3). </a:t>
            </a:r>
          </a:p>
          <a:p>
            <a:r>
              <a:rPr lang="ru-RU" sz="2400"/>
              <a:t>Обычно он следует следующему методу:</a:t>
            </a:r>
          </a:p>
          <a:p>
            <a:pPr marL="857250" lvl="1" indent="-457200">
              <a:buFont typeface="Calibri" pitchFamily="34" charset="0"/>
              <a:buAutoNum type="arabicPeriod"/>
            </a:pPr>
            <a:r>
              <a:rPr lang="ru-RU" sz="2000"/>
              <a:t>определяет значения методом вопросов и ответов или становится учеником эксперта;</a:t>
            </a:r>
          </a:p>
          <a:p>
            <a:pPr marL="857250" lvl="1" indent="-457200">
              <a:buFont typeface="Calibri" pitchFamily="34" charset="0"/>
              <a:buAutoNum type="arabicPeriod"/>
            </a:pPr>
            <a:r>
              <a:rPr lang="ru-RU" sz="2000"/>
              <a:t>поручает эксперту выполнение операции и воссоздает ситуацию из хронометрированных данных;</a:t>
            </a:r>
          </a:p>
          <a:p>
            <a:pPr marL="857250" lvl="1" indent="-457200">
              <a:buFont typeface="Calibri" pitchFamily="34" charset="0"/>
              <a:buAutoNum type="arabicPeriod"/>
            </a:pPr>
            <a:r>
              <a:rPr lang="ru-RU" sz="2000"/>
              <a:t>корректирует значения функции, получая наилучшие результаты из экспериментов, имитирующих данную ситуацию.</a:t>
            </a:r>
          </a:p>
          <a:p>
            <a:endParaRPr lang="ru-RU" sz="2400"/>
          </a:p>
        </p:txBody>
      </p:sp>
      <p:sp>
        <p:nvSpPr>
          <p:cNvPr id="3" name="Номер слайда 2"/>
          <p:cNvSpPr>
            <a:spLocks noGrp="1"/>
          </p:cNvSpPr>
          <p:nvPr>
            <p:ph type="sldNum" sz="quarter" idx="12"/>
          </p:nvPr>
        </p:nvSpPr>
        <p:spPr/>
        <p:txBody>
          <a:bodyPr/>
          <a:lstStyle/>
          <a:p>
            <a:pPr>
              <a:defRPr/>
            </a:pPr>
            <a:fld id="{BC372AF6-D7EE-46CA-9B7F-73A4761F1593}" type="slidenum">
              <a:rPr lang="ru-RU" smtClean="0"/>
              <a:pPr>
                <a:defRPr/>
              </a:pPr>
              <a:t>98</a:t>
            </a:fld>
            <a:endParaRPr lang="ru-RU"/>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Заголовок 1"/>
          <p:cNvSpPr>
            <a:spLocks noGrp="1"/>
          </p:cNvSpPr>
          <p:nvPr>
            <p:ph type="title"/>
          </p:nvPr>
        </p:nvSpPr>
        <p:spPr/>
        <p:txBody>
          <a:bodyPr/>
          <a:lstStyle/>
          <a:p>
            <a:r>
              <a:rPr lang="ru-RU"/>
              <a:t>Нечеткие выводы</a:t>
            </a:r>
          </a:p>
        </p:txBody>
      </p:sp>
      <p:sp>
        <p:nvSpPr>
          <p:cNvPr id="122883" name="Содержимое 4"/>
          <p:cNvSpPr>
            <a:spLocks noGrp="1"/>
          </p:cNvSpPr>
          <p:nvPr>
            <p:ph idx="1"/>
          </p:nvPr>
        </p:nvSpPr>
        <p:spPr/>
        <p:txBody>
          <a:bodyPr/>
          <a:lstStyle/>
          <a:p>
            <a:r>
              <a:rPr lang="ru-RU" sz="2400"/>
              <a:t>Если получить функции принадлежности, следуя указанному выше методу, то можно запомнить их в ЭВМ как базу знаний (например, формулы (2) и (3) можно запомнить как информацию в одномерном массиве, индексы в котором соответствуют элементам полного пространства). </a:t>
            </a:r>
          </a:p>
          <a:p>
            <a:r>
              <a:rPr lang="ru-RU" sz="2400"/>
              <a:t>Без ограничения общности будем считать, что нечеткие продукционные правила типа (1) накапливаются в базе знаний. </a:t>
            </a:r>
          </a:p>
          <a:p>
            <a:r>
              <a:rPr lang="ru-RU" sz="2400"/>
              <a:t>Пусть также при наблюдении текущего уровня воды обнаружено, что</a:t>
            </a:r>
          </a:p>
          <a:p>
            <a:pPr algn="r">
              <a:buFont typeface="Arial" charset="0"/>
              <a:buNone/>
            </a:pPr>
            <a:r>
              <a:rPr lang="ru-RU" sz="2400"/>
              <a:t>Уровень воды довольно высокий. 		(4)</a:t>
            </a:r>
          </a:p>
          <a:p>
            <a:endParaRPr lang="ru-RU" sz="2400"/>
          </a:p>
        </p:txBody>
      </p:sp>
      <p:sp>
        <p:nvSpPr>
          <p:cNvPr id="3" name="Номер слайда 2"/>
          <p:cNvSpPr>
            <a:spLocks noGrp="1"/>
          </p:cNvSpPr>
          <p:nvPr>
            <p:ph type="sldNum" sz="quarter" idx="12"/>
          </p:nvPr>
        </p:nvSpPr>
        <p:spPr/>
        <p:txBody>
          <a:bodyPr/>
          <a:lstStyle/>
          <a:p>
            <a:pPr>
              <a:defRPr/>
            </a:pPr>
            <a:fld id="{AFD6A95F-45A5-4738-BC14-A30F81435DB9}" type="slidenum">
              <a:rPr lang="ru-RU" smtClean="0"/>
              <a:pPr>
                <a:defRPr/>
              </a:pPr>
              <a:t>99</a:t>
            </a:fld>
            <a:endParaRPr lang="ru-RU"/>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Заголовок 1"/>
          <p:cNvSpPr>
            <a:spLocks noGrp="1"/>
          </p:cNvSpPr>
          <p:nvPr>
            <p:ph type="title"/>
          </p:nvPr>
        </p:nvSpPr>
        <p:spPr/>
        <p:txBody>
          <a:bodyPr/>
          <a:lstStyle/>
          <a:p>
            <a:r>
              <a:rPr lang="ru-RU"/>
              <a:t>Нечеткие выводы</a:t>
            </a:r>
          </a:p>
        </p:txBody>
      </p:sp>
      <p:sp>
        <p:nvSpPr>
          <p:cNvPr id="123907" name="Содержимое 4"/>
          <p:cNvSpPr>
            <a:spLocks noGrp="1"/>
          </p:cNvSpPr>
          <p:nvPr>
            <p:ph idx="1"/>
          </p:nvPr>
        </p:nvSpPr>
        <p:spPr/>
        <p:txBody>
          <a:bodyPr/>
          <a:lstStyle/>
          <a:p>
            <a:r>
              <a:rPr lang="ru-RU" sz="2000"/>
              <a:t>Если наблюдения уровня воды возможны с большей точностью, то можно получить точную информацию, например: «уровень воды 1,7 м». </a:t>
            </a:r>
          </a:p>
          <a:p>
            <a:r>
              <a:rPr lang="ru-RU" sz="2000"/>
              <a:t>Однако на практике нередки случаи, когда из-за особенностей промышленной системы информацию с достаточно хорошей точностью получить не удается (при этом учитывается погрешность измерения, которая меняет в ту или иную сторону значение 1,7 м), либо нет возможности установить устройство измерения уровня воды и, например, этот уровень вынуждены оценивать, постукивая по емкости и реагируя на звук. </a:t>
            </a:r>
          </a:p>
          <a:p>
            <a:r>
              <a:rPr lang="ru-RU" sz="2000"/>
              <a:t>В подобных случаях удобно принимать за информацию наблюдение (4), представленное с помощью нечеткого множества следующим образом:</a:t>
            </a:r>
          </a:p>
          <a:p>
            <a:pPr algn="r">
              <a:buFont typeface="Arial" charset="0"/>
              <a:buNone/>
            </a:pPr>
            <a:r>
              <a:rPr lang="ru-RU" sz="2000"/>
              <a:t>Довольно ВЫСОКИЙ - 0,5/1,6 м + 1,0/1,7 м + 0,8/1,8 м + 0,2/1,9 м.	(5)</a:t>
            </a:r>
          </a:p>
          <a:p>
            <a:endParaRPr lang="ru-RU" sz="2000"/>
          </a:p>
        </p:txBody>
      </p:sp>
      <p:sp>
        <p:nvSpPr>
          <p:cNvPr id="3" name="Номер слайда 2"/>
          <p:cNvSpPr>
            <a:spLocks noGrp="1"/>
          </p:cNvSpPr>
          <p:nvPr>
            <p:ph type="sldNum" sz="quarter" idx="12"/>
          </p:nvPr>
        </p:nvSpPr>
        <p:spPr/>
        <p:txBody>
          <a:bodyPr/>
          <a:lstStyle/>
          <a:p>
            <a:pPr>
              <a:defRPr/>
            </a:pPr>
            <a:fld id="{6E64F5E8-EE09-40EC-88AE-66BEEBA5516C}" type="slidenum">
              <a:rPr lang="ru-RU" smtClean="0"/>
              <a:pPr>
                <a:defRPr/>
              </a:pPr>
              <a:t>100</a:t>
            </a:fld>
            <a:endParaRPr lang="ru-RU"/>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Заголовок 1"/>
          <p:cNvSpPr>
            <a:spLocks noGrp="1"/>
          </p:cNvSpPr>
          <p:nvPr>
            <p:ph type="title"/>
          </p:nvPr>
        </p:nvSpPr>
        <p:spPr/>
        <p:txBody>
          <a:bodyPr/>
          <a:lstStyle/>
          <a:p>
            <a:r>
              <a:rPr lang="ru-RU"/>
              <a:t>Нечеткие выводы</a:t>
            </a:r>
          </a:p>
        </p:txBody>
      </p:sp>
      <p:sp>
        <p:nvSpPr>
          <p:cNvPr id="124931" name="Содержимое 2"/>
          <p:cNvSpPr>
            <a:spLocks noGrp="1"/>
          </p:cNvSpPr>
          <p:nvPr>
            <p:ph idx="1"/>
          </p:nvPr>
        </p:nvSpPr>
        <p:spPr/>
        <p:txBody>
          <a:bodyPr/>
          <a:lstStyle/>
          <a:p>
            <a:r>
              <a:rPr lang="ru-RU" sz="1600"/>
              <a:t>Какую же операцию нужно проделать в такой ситуации? Другими словами, поставим задачу: определить нечто, отмеченное знаком «?» в формуле (6):</a:t>
            </a:r>
          </a:p>
          <a:p>
            <a:pPr lvl="3">
              <a:buFont typeface="Arial" charset="0"/>
              <a:buNone/>
            </a:pPr>
            <a:r>
              <a:rPr lang="ru-RU" sz="1600"/>
              <a:t>Если ВЫСОКИЙ, то ОТКРЫТЬ </a:t>
            </a:r>
          </a:p>
          <a:p>
            <a:pPr lvl="3">
              <a:buFont typeface="Arial" charset="0"/>
              <a:buNone/>
            </a:pPr>
            <a:r>
              <a:rPr lang="ru-RU" sz="1600"/>
              <a:t>Довольно ВЫСОКИЙ</a:t>
            </a:r>
          </a:p>
          <a:p>
            <a:pPr lvl="3">
              <a:buFont typeface="Arial" charset="0"/>
              <a:buNone/>
            </a:pPr>
            <a:r>
              <a:rPr lang="ru-RU" sz="1600"/>
              <a:t>-----------------------------------------</a:t>
            </a:r>
          </a:p>
          <a:p>
            <a:pPr lvl="3">
              <a:buFont typeface="Arial" charset="0"/>
              <a:buNone/>
            </a:pPr>
            <a:r>
              <a:rPr lang="ru-RU" sz="1600"/>
              <a:t>?</a:t>
            </a:r>
          </a:p>
          <a:p>
            <a:r>
              <a:rPr lang="ru-RU" sz="1600"/>
              <a:t>Разумеется, предпосылка ВЫСОКИЙ и наблюдение «довольно ВЫСОКИЙ» образуются путем сопоставления. В четкой логике сопоставление не имеет смысла, поэтому никакого логического вывода сделать нельзя. Однако мы говорим о человеке, а он, получив путем приближенного сопоставления вывод (7): </a:t>
            </a:r>
          </a:p>
          <a:p>
            <a:pPr lvl="3">
              <a:buFont typeface="Arial" charset="0"/>
              <a:buNone/>
            </a:pPr>
            <a:r>
              <a:rPr lang="ru-RU" sz="1600"/>
              <a:t>если ВЫСОКИЙ, то ОТКРЫТЬ</a:t>
            </a:r>
          </a:p>
          <a:p>
            <a:pPr lvl="3">
              <a:buFont typeface="Arial" charset="0"/>
              <a:buNone/>
            </a:pPr>
            <a:r>
              <a:rPr lang="ru-RU" sz="1600"/>
              <a:t>довольно ВЫСОКИЙ</a:t>
            </a:r>
          </a:p>
          <a:p>
            <a:pPr lvl="3">
              <a:buFont typeface="Arial" charset="0"/>
              <a:buNone/>
            </a:pPr>
            <a:r>
              <a:rPr lang="ru-RU" sz="1600"/>
              <a:t>-----------------------------------------</a:t>
            </a:r>
          </a:p>
          <a:p>
            <a:pPr lvl="3">
              <a:buFont typeface="Arial" charset="0"/>
              <a:buNone/>
            </a:pPr>
            <a:r>
              <a:rPr lang="ru-RU" sz="1600"/>
              <a:t>Слегка ОТКРЫТЬ                                                                                                             </a:t>
            </a:r>
          </a:p>
          <a:p>
            <a:r>
              <a:rPr lang="ru-RU" sz="1600"/>
              <a:t> должен слегка приоткрыть клапан. По сути он выполнил нечеткий вывод (точнее, провел приближенные рассуждения). </a:t>
            </a:r>
          </a:p>
          <a:p>
            <a:endParaRPr lang="ru-RU" sz="1600"/>
          </a:p>
        </p:txBody>
      </p:sp>
      <p:sp>
        <p:nvSpPr>
          <p:cNvPr id="4" name="Номер слайда 3"/>
          <p:cNvSpPr>
            <a:spLocks noGrp="1"/>
          </p:cNvSpPr>
          <p:nvPr>
            <p:ph type="sldNum" sz="quarter" idx="12"/>
          </p:nvPr>
        </p:nvSpPr>
        <p:spPr/>
        <p:txBody>
          <a:bodyPr/>
          <a:lstStyle/>
          <a:p>
            <a:pPr>
              <a:defRPr/>
            </a:pPr>
            <a:fld id="{140AB0AA-5B30-4D11-A766-14DD2CA781F5}" type="slidenum">
              <a:rPr lang="ru-RU" smtClean="0"/>
              <a:pPr>
                <a:defRPr/>
              </a:pPr>
              <a:t>101</a:t>
            </a:fld>
            <a:endParaRPr lang="ru-RU"/>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Заголовок 1"/>
          <p:cNvSpPr>
            <a:spLocks noGrp="1"/>
          </p:cNvSpPr>
          <p:nvPr>
            <p:ph type="title"/>
          </p:nvPr>
        </p:nvSpPr>
        <p:spPr/>
        <p:txBody>
          <a:bodyPr/>
          <a:lstStyle/>
          <a:p>
            <a:r>
              <a:rPr lang="ru-RU"/>
              <a:t>Нечеткие выводы</a:t>
            </a:r>
          </a:p>
        </p:txBody>
      </p:sp>
      <p:sp>
        <p:nvSpPr>
          <p:cNvPr id="125955" name="Содержимое 2"/>
          <p:cNvSpPr>
            <a:spLocks noGrp="1"/>
          </p:cNvSpPr>
          <p:nvPr>
            <p:ph idx="1"/>
          </p:nvPr>
        </p:nvSpPr>
        <p:spPr/>
        <p:txBody>
          <a:bodyPr/>
          <a:lstStyle/>
          <a:p>
            <a:r>
              <a:rPr lang="ru-RU" sz="2400"/>
              <a:t>Если говорить о мышлении человека на лингвистическом уровне, то формула (7) представляет классический пример нечеткого вывода, но какие же вычисления нужно проделать в программе или внутри специальной микросхемы нечеткого вывода, где встроены функции принадлежности? </a:t>
            </a:r>
          </a:p>
          <a:p>
            <a:r>
              <a:rPr lang="ru-RU" sz="2400"/>
              <a:t>Существует более ста методов преобразования нечетких выводов на лингвистическом уровне в вычислениях, но если ограничиться только методом, наиболее часто используемым на практике, то все объяснения можно привести с помощью рис.</a:t>
            </a:r>
          </a:p>
        </p:txBody>
      </p:sp>
      <p:sp>
        <p:nvSpPr>
          <p:cNvPr id="4" name="Номер слайда 3"/>
          <p:cNvSpPr>
            <a:spLocks noGrp="1"/>
          </p:cNvSpPr>
          <p:nvPr>
            <p:ph type="sldNum" sz="quarter" idx="12"/>
          </p:nvPr>
        </p:nvSpPr>
        <p:spPr/>
        <p:txBody>
          <a:bodyPr/>
          <a:lstStyle/>
          <a:p>
            <a:pPr>
              <a:defRPr/>
            </a:pPr>
            <a:fld id="{34369D25-E29D-4819-8169-90A205BF1453}" type="slidenum">
              <a:rPr lang="ru-RU" smtClean="0"/>
              <a:pPr>
                <a:defRPr/>
              </a:pPr>
              <a:t>102</a:t>
            </a:fld>
            <a:endParaRPr lang="ru-RU"/>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Заголовок 1"/>
          <p:cNvSpPr>
            <a:spLocks noGrp="1"/>
          </p:cNvSpPr>
          <p:nvPr>
            <p:ph type="title"/>
          </p:nvPr>
        </p:nvSpPr>
        <p:spPr/>
        <p:txBody>
          <a:bodyPr/>
          <a:lstStyle/>
          <a:p>
            <a:r>
              <a:rPr lang="ru-RU"/>
              <a:t>Нечеткие выводы</a:t>
            </a:r>
          </a:p>
        </p:txBody>
      </p:sp>
      <p:sp>
        <p:nvSpPr>
          <p:cNvPr id="4" name="Номер слайда 3"/>
          <p:cNvSpPr>
            <a:spLocks noGrp="1"/>
          </p:cNvSpPr>
          <p:nvPr>
            <p:ph type="sldNum" sz="quarter" idx="12"/>
          </p:nvPr>
        </p:nvSpPr>
        <p:spPr/>
        <p:txBody>
          <a:bodyPr/>
          <a:lstStyle/>
          <a:p>
            <a:pPr>
              <a:defRPr/>
            </a:pPr>
            <a:fld id="{4E8222A4-F87E-4BE0-8332-F5AA37586A4E}" type="slidenum">
              <a:rPr lang="ru-RU" smtClean="0"/>
              <a:pPr>
                <a:defRPr/>
              </a:pPr>
              <a:t>103</a:t>
            </a:fld>
            <a:endParaRPr lang="ru-RU"/>
          </a:p>
        </p:txBody>
      </p:sp>
      <p:pic>
        <p:nvPicPr>
          <p:cNvPr id="12698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48544"/>
          <a:stretch>
            <a:fillRect/>
          </a:stretch>
        </p:blipFill>
        <p:spPr>
          <a:xfrm>
            <a:off x="641350" y="1143000"/>
            <a:ext cx="7859713" cy="5286375"/>
          </a:xfr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Заголовок 1"/>
          <p:cNvSpPr>
            <a:spLocks noGrp="1"/>
          </p:cNvSpPr>
          <p:nvPr>
            <p:ph type="title"/>
          </p:nvPr>
        </p:nvSpPr>
        <p:spPr/>
        <p:txBody>
          <a:bodyPr/>
          <a:lstStyle/>
          <a:p>
            <a:r>
              <a:rPr lang="ru-RU"/>
              <a:t>Нечеткие выводы</a:t>
            </a:r>
          </a:p>
        </p:txBody>
      </p:sp>
      <p:sp>
        <p:nvSpPr>
          <p:cNvPr id="4" name="Номер слайда 3"/>
          <p:cNvSpPr>
            <a:spLocks noGrp="1"/>
          </p:cNvSpPr>
          <p:nvPr>
            <p:ph type="sldNum" sz="quarter" idx="12"/>
          </p:nvPr>
        </p:nvSpPr>
        <p:spPr/>
        <p:txBody>
          <a:bodyPr/>
          <a:lstStyle/>
          <a:p>
            <a:pPr>
              <a:defRPr/>
            </a:pPr>
            <a:fld id="{3F258A62-3D63-4ADA-B54B-90ACD5F1DF7A}" type="slidenum">
              <a:rPr lang="ru-RU" smtClean="0"/>
              <a:pPr>
                <a:defRPr/>
              </a:pPr>
              <a:t>104</a:t>
            </a:fld>
            <a:endParaRPr lang="ru-RU"/>
          </a:p>
        </p:txBody>
      </p:sp>
      <p:pic>
        <p:nvPicPr>
          <p:cNvPr id="12800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51456"/>
          <a:stretch>
            <a:fillRect/>
          </a:stretch>
        </p:blipFill>
        <p:spPr>
          <a:xfrm>
            <a:off x="500063" y="1214438"/>
            <a:ext cx="8107362" cy="5143500"/>
          </a:xfr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Заголовок 1"/>
          <p:cNvSpPr>
            <a:spLocks noGrp="1"/>
          </p:cNvSpPr>
          <p:nvPr>
            <p:ph type="title"/>
          </p:nvPr>
        </p:nvSpPr>
        <p:spPr>
          <a:xfrm>
            <a:off x="457200" y="274638"/>
            <a:ext cx="8229600" cy="796925"/>
          </a:xfrm>
        </p:spPr>
        <p:txBody>
          <a:bodyPr/>
          <a:lstStyle/>
          <a:p>
            <a:r>
              <a:rPr lang="ru-RU"/>
              <a:t>Нечеткие выводы</a:t>
            </a:r>
          </a:p>
        </p:txBody>
      </p:sp>
      <p:sp>
        <p:nvSpPr>
          <p:cNvPr id="4" name="Номер слайда 3"/>
          <p:cNvSpPr>
            <a:spLocks noGrp="1"/>
          </p:cNvSpPr>
          <p:nvPr>
            <p:ph type="sldNum" sz="quarter" idx="12"/>
          </p:nvPr>
        </p:nvSpPr>
        <p:spPr/>
        <p:txBody>
          <a:bodyPr/>
          <a:lstStyle/>
          <a:p>
            <a:pPr>
              <a:defRPr/>
            </a:pPr>
            <a:fld id="{5C403412-D556-4429-9BEA-80C164C25883}" type="slidenum">
              <a:rPr lang="ru-RU" smtClean="0"/>
              <a:pPr>
                <a:defRPr/>
              </a:pPr>
              <a:t>105</a:t>
            </a:fld>
            <a:endParaRPr lang="ru-RU"/>
          </a:p>
        </p:txBody>
      </p:sp>
      <p:graphicFrame>
        <p:nvGraphicFramePr>
          <p:cNvPr id="46082" name="Object 2"/>
          <p:cNvGraphicFramePr>
            <a:graphicFrameLocks noChangeAspect="1"/>
          </p:cNvGraphicFramePr>
          <p:nvPr/>
        </p:nvGraphicFramePr>
        <p:xfrm>
          <a:off x="504825" y="1000125"/>
          <a:ext cx="8053388" cy="5686425"/>
        </p:xfrm>
        <a:graphic>
          <a:graphicData uri="http://schemas.openxmlformats.org/presentationml/2006/ole">
            <mc:AlternateContent xmlns:mc="http://schemas.openxmlformats.org/markup-compatibility/2006">
              <mc:Choice xmlns:v="urn:schemas-microsoft-com:vml" Requires="v">
                <p:oleObj name="Документ" r:id="rId2" imgW="6478817" imgH="4580084" progId="Word.Document.12">
                  <p:embed/>
                </p:oleObj>
              </mc:Choice>
              <mc:Fallback>
                <p:oleObj name="Документ" r:id="rId2" imgW="6478817" imgH="4580084"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1000125"/>
                        <a:ext cx="8053388" cy="568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Заголовок 1"/>
          <p:cNvSpPr>
            <a:spLocks noGrp="1"/>
          </p:cNvSpPr>
          <p:nvPr>
            <p:ph type="title"/>
          </p:nvPr>
        </p:nvSpPr>
        <p:spPr>
          <a:xfrm>
            <a:off x="457200" y="274638"/>
            <a:ext cx="8229600" cy="725487"/>
          </a:xfrm>
        </p:spPr>
        <p:txBody>
          <a:bodyPr/>
          <a:lstStyle/>
          <a:p>
            <a:r>
              <a:rPr lang="ru-RU"/>
              <a:t>Нечеткие выводы</a:t>
            </a:r>
          </a:p>
        </p:txBody>
      </p:sp>
      <p:sp>
        <p:nvSpPr>
          <p:cNvPr id="3" name="Номер слайда 2"/>
          <p:cNvSpPr>
            <a:spLocks noGrp="1"/>
          </p:cNvSpPr>
          <p:nvPr>
            <p:ph type="sldNum" sz="quarter" idx="12"/>
          </p:nvPr>
        </p:nvSpPr>
        <p:spPr/>
        <p:txBody>
          <a:bodyPr/>
          <a:lstStyle/>
          <a:p>
            <a:pPr>
              <a:defRPr/>
            </a:pPr>
            <a:fld id="{C0E85A5A-1872-45F3-AE39-22AC2A516CD5}" type="slidenum">
              <a:rPr lang="ru-RU" smtClean="0"/>
              <a:pPr>
                <a:defRPr/>
              </a:pPr>
              <a:t>106</a:t>
            </a:fld>
            <a:endParaRPr lang="ru-RU"/>
          </a:p>
        </p:txBody>
      </p:sp>
      <p:graphicFrame>
        <p:nvGraphicFramePr>
          <p:cNvPr id="47106" name="Object 2"/>
          <p:cNvGraphicFramePr>
            <a:graphicFrameLocks noChangeAspect="1"/>
          </p:cNvGraphicFramePr>
          <p:nvPr/>
        </p:nvGraphicFramePr>
        <p:xfrm>
          <a:off x="561975" y="996950"/>
          <a:ext cx="8124825" cy="5697538"/>
        </p:xfrm>
        <a:graphic>
          <a:graphicData uri="http://schemas.openxmlformats.org/presentationml/2006/ole">
            <mc:AlternateContent xmlns:mc="http://schemas.openxmlformats.org/markup-compatibility/2006">
              <mc:Choice xmlns:v="urn:schemas-microsoft-com:vml" Requires="v">
                <p:oleObj name="Документ" r:id="rId2" imgW="6478817" imgH="4545883" progId="Word.Document.12">
                  <p:embed/>
                </p:oleObj>
              </mc:Choice>
              <mc:Fallback>
                <p:oleObj name="Документ" r:id="rId2" imgW="6478817" imgH="454588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996950"/>
                        <a:ext cx="8124825" cy="569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Заголовок 1"/>
          <p:cNvSpPr>
            <a:spLocks noGrp="1"/>
          </p:cNvSpPr>
          <p:nvPr>
            <p:ph type="title"/>
          </p:nvPr>
        </p:nvSpPr>
        <p:spPr/>
        <p:txBody>
          <a:bodyPr/>
          <a:lstStyle/>
          <a:p>
            <a:r>
              <a:rPr lang="ru-RU"/>
              <a:t>Нечеткие выводы</a:t>
            </a:r>
          </a:p>
        </p:txBody>
      </p:sp>
      <p:sp>
        <p:nvSpPr>
          <p:cNvPr id="3" name="Номер слайда 2"/>
          <p:cNvSpPr>
            <a:spLocks noGrp="1"/>
          </p:cNvSpPr>
          <p:nvPr>
            <p:ph type="sldNum" sz="quarter" idx="12"/>
          </p:nvPr>
        </p:nvSpPr>
        <p:spPr/>
        <p:txBody>
          <a:bodyPr/>
          <a:lstStyle/>
          <a:p>
            <a:pPr>
              <a:defRPr/>
            </a:pPr>
            <a:fld id="{CA78A91B-BF6C-4835-A6FD-CBF54A1A8B03}" type="slidenum">
              <a:rPr lang="ru-RU" smtClean="0"/>
              <a:pPr>
                <a:defRPr/>
              </a:pPr>
              <a:t>107</a:t>
            </a:fld>
            <a:endParaRPr lang="ru-RU"/>
          </a:p>
        </p:txBody>
      </p:sp>
      <p:graphicFrame>
        <p:nvGraphicFramePr>
          <p:cNvPr id="48130" name="Object 2"/>
          <p:cNvGraphicFramePr>
            <a:graphicFrameLocks noChangeAspect="1"/>
          </p:cNvGraphicFramePr>
          <p:nvPr/>
        </p:nvGraphicFramePr>
        <p:xfrm>
          <a:off x="352425" y="1500188"/>
          <a:ext cx="8393113" cy="5076825"/>
        </p:xfrm>
        <a:graphic>
          <a:graphicData uri="http://schemas.openxmlformats.org/presentationml/2006/ole">
            <mc:AlternateContent xmlns:mc="http://schemas.openxmlformats.org/markup-compatibility/2006">
              <mc:Choice xmlns:v="urn:schemas-microsoft-com:vml" Requires="v">
                <p:oleObj name="Документ" r:id="rId2" imgW="4796447" imgH="2908904" progId="Word.Document.12">
                  <p:embed/>
                </p:oleObj>
              </mc:Choice>
              <mc:Fallback>
                <p:oleObj name="Документ" r:id="rId2" imgW="4796447" imgH="2908904"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500188"/>
                        <a:ext cx="8393113"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Заголовок 3"/>
          <p:cNvSpPr>
            <a:spLocks noGrp="1"/>
          </p:cNvSpPr>
          <p:nvPr>
            <p:ph type="title"/>
          </p:nvPr>
        </p:nvSpPr>
        <p:spPr/>
        <p:txBody>
          <a:bodyPr/>
          <a:lstStyle/>
          <a:p>
            <a:r>
              <a:rPr lang="ru-RU"/>
              <a:t>Нечеткие выводы</a:t>
            </a:r>
          </a:p>
        </p:txBody>
      </p:sp>
      <p:sp>
        <p:nvSpPr>
          <p:cNvPr id="129027" name="Содержимое 4"/>
          <p:cNvSpPr>
            <a:spLocks noGrp="1"/>
          </p:cNvSpPr>
          <p:nvPr>
            <p:ph idx="1"/>
          </p:nvPr>
        </p:nvSpPr>
        <p:spPr/>
        <p:txBody>
          <a:bodyPr/>
          <a:lstStyle/>
          <a:p>
            <a:r>
              <a:rPr lang="ru-RU" sz="2400" dirty="0"/>
              <a:t>Как операцию композиции, так и операцию импликации в алгебре нечетких множеств можно реализовывать по-разному (при этом, естественно, будет разниться и итоговый получаемый результат), но в любом случае общий логический вывод осуществляется за следующие четыре этапа:</a:t>
            </a:r>
          </a:p>
          <a:p>
            <a:pPr marL="914400" lvl="1" indent="-457200">
              <a:buFont typeface="Calibri" pitchFamily="34" charset="0"/>
              <a:buAutoNum type="arabicPeriod"/>
            </a:pPr>
            <a:r>
              <a:rPr lang="ru-RU" sz="2000" i="1" dirty="0"/>
              <a:t>Нечеткость</a:t>
            </a:r>
            <a:r>
              <a:rPr lang="ru-RU" sz="2000" dirty="0"/>
              <a:t> (введение нечеткости, </a:t>
            </a:r>
            <a:r>
              <a:rPr lang="ru-RU" sz="2000" dirty="0" err="1"/>
              <a:t>фаззификация</a:t>
            </a:r>
            <a:r>
              <a:rPr lang="ru-RU" sz="2000" dirty="0"/>
              <a:t>, </a:t>
            </a:r>
            <a:r>
              <a:rPr lang="en-US" sz="2000" dirty="0"/>
              <a:t>fuzzification</a:t>
            </a:r>
            <a:r>
              <a:rPr lang="ru-RU" sz="2000" dirty="0"/>
              <a:t>). </a:t>
            </a:r>
          </a:p>
          <a:p>
            <a:pPr marL="914400" lvl="1" indent="-457200">
              <a:buFont typeface="Calibri" pitchFamily="34" charset="0"/>
              <a:buAutoNum type="arabicPeriod"/>
            </a:pPr>
            <a:r>
              <a:rPr lang="ru-RU" sz="2000" i="1" dirty="0"/>
              <a:t>Логический вывод</a:t>
            </a:r>
            <a:r>
              <a:rPr lang="ru-RU" sz="2000" dirty="0"/>
              <a:t>. </a:t>
            </a:r>
            <a:endParaRPr lang="en-US" sz="2000" dirty="0"/>
          </a:p>
          <a:p>
            <a:pPr lvl="2">
              <a:buFont typeface="Calibri" pitchFamily="34" charset="0"/>
              <a:buAutoNum type="arabicPeriod"/>
            </a:pPr>
            <a:r>
              <a:rPr lang="ru-RU" sz="1800" dirty="0"/>
              <a:t>Агрегация</a:t>
            </a:r>
          </a:p>
          <a:p>
            <a:pPr lvl="2">
              <a:buFont typeface="Calibri" pitchFamily="34" charset="0"/>
              <a:buAutoNum type="arabicPeriod"/>
            </a:pPr>
            <a:r>
              <a:rPr lang="ru-RU" sz="1800" dirty="0"/>
              <a:t>Активация</a:t>
            </a:r>
          </a:p>
          <a:p>
            <a:pPr marL="914400" lvl="1" indent="-457200">
              <a:buFont typeface="Calibri" pitchFamily="34" charset="0"/>
              <a:buAutoNum type="arabicPeriod"/>
            </a:pPr>
            <a:r>
              <a:rPr lang="ru-RU" sz="2000" i="1" dirty="0"/>
              <a:t>Композиция. </a:t>
            </a:r>
            <a:endParaRPr lang="ru-RU" sz="2000" dirty="0"/>
          </a:p>
          <a:p>
            <a:pPr marL="914400" lvl="1" indent="-457200">
              <a:buFont typeface="Calibri" pitchFamily="34" charset="0"/>
              <a:buAutoNum type="arabicPeriod"/>
            </a:pPr>
            <a:r>
              <a:rPr lang="ru-RU" sz="2000" dirty="0"/>
              <a:t>В заключение – </a:t>
            </a:r>
            <a:r>
              <a:rPr lang="ru-RU" sz="2000" i="1" dirty="0"/>
              <a:t>приведение к четкости</a:t>
            </a:r>
            <a:r>
              <a:rPr lang="ru-RU" sz="2000" dirty="0"/>
              <a:t> (</a:t>
            </a:r>
            <a:r>
              <a:rPr lang="ru-RU" sz="2000" dirty="0" err="1"/>
              <a:t>дефаззификация</a:t>
            </a:r>
            <a:r>
              <a:rPr lang="ru-RU" sz="2000" dirty="0"/>
              <a:t>, </a:t>
            </a:r>
            <a:r>
              <a:rPr lang="en-US" sz="2000" dirty="0"/>
              <a:t>defuzzification</a:t>
            </a:r>
            <a:r>
              <a:rPr lang="ru-RU" sz="2000" dirty="0"/>
              <a:t>). </a:t>
            </a:r>
          </a:p>
          <a:p>
            <a:endParaRPr lang="ru-RU" sz="2400" dirty="0"/>
          </a:p>
        </p:txBody>
      </p:sp>
      <p:sp>
        <p:nvSpPr>
          <p:cNvPr id="3" name="Номер слайда 2"/>
          <p:cNvSpPr>
            <a:spLocks noGrp="1"/>
          </p:cNvSpPr>
          <p:nvPr>
            <p:ph type="sldNum" sz="quarter" idx="12"/>
          </p:nvPr>
        </p:nvSpPr>
        <p:spPr/>
        <p:txBody>
          <a:bodyPr/>
          <a:lstStyle/>
          <a:p>
            <a:pPr>
              <a:defRPr/>
            </a:pPr>
            <a:fld id="{B1970B98-7D40-4F8F-A14F-B55DE4B9AEB9}" type="slidenum">
              <a:rPr lang="ru-RU" smtClean="0"/>
              <a:pPr>
                <a:defRPr/>
              </a:pPr>
              <a:t>108</a:t>
            </a:fld>
            <a:endParaRPr lang="ru-RU"/>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Заголовок 1"/>
          <p:cNvSpPr>
            <a:spLocks noGrp="1"/>
          </p:cNvSpPr>
          <p:nvPr>
            <p:ph type="title"/>
          </p:nvPr>
        </p:nvSpPr>
        <p:spPr/>
        <p:txBody>
          <a:bodyPr/>
          <a:lstStyle/>
          <a:p>
            <a:r>
              <a:rPr lang="ru-RU"/>
              <a:t>Нечеткие выводы</a:t>
            </a:r>
          </a:p>
        </p:txBody>
      </p:sp>
      <p:sp>
        <p:nvSpPr>
          <p:cNvPr id="3" name="Содержимое 2"/>
          <p:cNvSpPr>
            <a:spLocks noGrp="1"/>
          </p:cNvSpPr>
          <p:nvPr>
            <p:ph idx="1"/>
          </p:nvPr>
        </p:nvSpPr>
        <p:spPr/>
        <p:txBody>
          <a:bodyPr/>
          <a:lstStyle/>
          <a:p>
            <a:pPr marL="514350" indent="-514350">
              <a:buFont typeface="+mj-lt"/>
              <a:buAutoNum type="arabicPeriod"/>
              <a:defRPr/>
            </a:pPr>
            <a:r>
              <a:rPr lang="ru-RU" i="1" dirty="0"/>
              <a:t>Нечеткость</a:t>
            </a:r>
            <a:r>
              <a:rPr lang="ru-RU" dirty="0"/>
              <a:t> (введение нечеткости, </a:t>
            </a:r>
            <a:r>
              <a:rPr lang="ru-RU" dirty="0" err="1"/>
              <a:t>фаззификация</a:t>
            </a:r>
            <a:r>
              <a:rPr lang="ru-RU" dirty="0"/>
              <a:t>, </a:t>
            </a:r>
            <a:r>
              <a:rPr lang="en-US" dirty="0" err="1"/>
              <a:t>fuzzification</a:t>
            </a:r>
            <a:r>
              <a:rPr lang="ru-RU" dirty="0"/>
              <a:t>). Функции принадлежности, определенные на входных переменных применяются к фактическим значениям для определения степени истинности каждой предпосылки каждого правила.</a:t>
            </a:r>
          </a:p>
          <a:p>
            <a:pPr>
              <a:defRPr/>
            </a:pPr>
            <a:endParaRPr lang="ru-RU" dirty="0"/>
          </a:p>
        </p:txBody>
      </p:sp>
      <p:sp>
        <p:nvSpPr>
          <p:cNvPr id="4" name="Номер слайда 3"/>
          <p:cNvSpPr>
            <a:spLocks noGrp="1"/>
          </p:cNvSpPr>
          <p:nvPr>
            <p:ph type="sldNum" sz="quarter" idx="12"/>
          </p:nvPr>
        </p:nvSpPr>
        <p:spPr/>
        <p:txBody>
          <a:bodyPr/>
          <a:lstStyle/>
          <a:p>
            <a:pPr>
              <a:defRPr/>
            </a:pPr>
            <a:fld id="{73FCF6AD-BCDB-4C30-BCE1-008EEAB8825D}" type="slidenum">
              <a:rPr lang="ru-RU" smtClean="0"/>
              <a:pPr>
                <a:defRPr/>
              </a:pPr>
              <a:t>109</a:t>
            </a:fld>
            <a:endParaRPr lang="ru-RU"/>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Заголовок 1"/>
          <p:cNvSpPr>
            <a:spLocks noGrp="1"/>
          </p:cNvSpPr>
          <p:nvPr>
            <p:ph type="title"/>
          </p:nvPr>
        </p:nvSpPr>
        <p:spPr/>
        <p:txBody>
          <a:bodyPr/>
          <a:lstStyle/>
          <a:p>
            <a:r>
              <a:rPr lang="ru-RU"/>
              <a:t>Нечеткие выводы</a:t>
            </a:r>
          </a:p>
        </p:txBody>
      </p:sp>
      <p:sp>
        <p:nvSpPr>
          <p:cNvPr id="131075" name="Содержимое 2"/>
          <p:cNvSpPr>
            <a:spLocks noGrp="1"/>
          </p:cNvSpPr>
          <p:nvPr>
            <p:ph idx="1"/>
          </p:nvPr>
        </p:nvSpPr>
        <p:spPr/>
        <p:txBody>
          <a:bodyPr/>
          <a:lstStyle/>
          <a:p>
            <a:pPr marL="457200" indent="-457200">
              <a:buFont typeface="Calibri" pitchFamily="34" charset="0"/>
              <a:buAutoNum type="arabicPeriod" startAt="2"/>
            </a:pPr>
            <a:r>
              <a:rPr lang="ru-RU" sz="2200" i="1"/>
              <a:t>Логический вывод</a:t>
            </a:r>
            <a:r>
              <a:rPr lang="ru-RU" sz="2200"/>
              <a:t>. Вычисленное значение истинности для предпосылок каждого правила применяется к заключениям каждого правила. Это приводит к одному нечеткому подмножеству, которое будет назначено каждой переменной вывода для каждого правила. В качестве правил логического вывода обычно используются только операции </a:t>
            </a:r>
            <a:r>
              <a:rPr lang="en-US" sz="2200"/>
              <a:t>min</a:t>
            </a:r>
            <a:r>
              <a:rPr lang="ru-RU" sz="2200"/>
              <a:t> (МИНИМУМ) или </a:t>
            </a:r>
            <a:r>
              <a:rPr lang="en-US" sz="2200"/>
              <a:t>prod</a:t>
            </a:r>
            <a:r>
              <a:rPr lang="ru-RU" sz="2200"/>
              <a:t> (УМНОЖЕНИЕ). В логическом выводе МИНИМУМА функция принадлежности вывода «отсекается» по высоте соответствующей вычисленной степени истинности предпосылки правила (нечеткая логика «И»). В логическом выводе УМНОЖЕНИЯ функция принадлежности вывода масштабируется при помощи вычисленной степени истинности предпосылки правила.</a:t>
            </a:r>
          </a:p>
          <a:p>
            <a:pPr marL="457200" indent="-457200">
              <a:buFont typeface="Calibri" pitchFamily="34" charset="0"/>
              <a:buAutoNum type="arabicPeriod" startAt="2"/>
            </a:pPr>
            <a:endParaRPr lang="ru-RU" sz="2200"/>
          </a:p>
        </p:txBody>
      </p:sp>
      <p:sp>
        <p:nvSpPr>
          <p:cNvPr id="4" name="Номер слайда 3"/>
          <p:cNvSpPr>
            <a:spLocks noGrp="1"/>
          </p:cNvSpPr>
          <p:nvPr>
            <p:ph type="sldNum" sz="quarter" idx="12"/>
          </p:nvPr>
        </p:nvSpPr>
        <p:spPr/>
        <p:txBody>
          <a:bodyPr/>
          <a:lstStyle/>
          <a:p>
            <a:pPr>
              <a:defRPr/>
            </a:pPr>
            <a:fld id="{49CC4863-F8FE-4EAA-87E6-5520A8C569D1}" type="slidenum">
              <a:rPr lang="ru-RU" smtClean="0"/>
              <a:pPr>
                <a:defRPr/>
              </a:pPr>
              <a:t>110</a:t>
            </a:fld>
            <a:endParaRPr lang="ru-RU"/>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Заголовок 1"/>
          <p:cNvSpPr>
            <a:spLocks noGrp="1"/>
          </p:cNvSpPr>
          <p:nvPr>
            <p:ph type="title"/>
          </p:nvPr>
        </p:nvSpPr>
        <p:spPr/>
        <p:txBody>
          <a:bodyPr/>
          <a:lstStyle/>
          <a:p>
            <a:r>
              <a:rPr lang="ru-RU"/>
              <a:t>Нечеткие выводы</a:t>
            </a:r>
          </a:p>
        </p:txBody>
      </p:sp>
      <p:sp>
        <p:nvSpPr>
          <p:cNvPr id="3" name="Содержимое 2"/>
          <p:cNvSpPr>
            <a:spLocks noGrp="1"/>
          </p:cNvSpPr>
          <p:nvPr>
            <p:ph idx="1"/>
          </p:nvPr>
        </p:nvSpPr>
        <p:spPr/>
        <p:txBody>
          <a:bodyPr/>
          <a:lstStyle/>
          <a:p>
            <a:pPr marL="457200" indent="-457200">
              <a:buFont typeface="+mj-lt"/>
              <a:buAutoNum type="arabicPeriod" startAt="3"/>
              <a:defRPr/>
            </a:pPr>
            <a:r>
              <a:rPr lang="ru-RU" sz="2300" i="1" dirty="0"/>
              <a:t>Композиция. </a:t>
            </a:r>
            <a:r>
              <a:rPr lang="ru-RU" sz="2300" dirty="0"/>
              <a:t>Все нечеткие подмножества, назначенные к каждой переменной вывода (во всех правилах), объединяются вместе, чтобы формировать одно нечеткое подмножество для каждой переменной вывода. При подобном объединении обычно используются операции </a:t>
            </a:r>
            <a:r>
              <a:rPr lang="en-US" sz="2300" dirty="0"/>
              <a:t>max</a:t>
            </a:r>
            <a:r>
              <a:rPr lang="ru-RU" sz="2300" dirty="0"/>
              <a:t> (МАКСИМУМ) или </a:t>
            </a:r>
            <a:r>
              <a:rPr lang="en-US" sz="2300" dirty="0"/>
              <a:t>sum</a:t>
            </a:r>
            <a:r>
              <a:rPr lang="ru-RU" sz="2300" dirty="0"/>
              <a:t> (СУММА). При композиции МАКСИМУМА комбинированный вывод нечеткого подмножества конструируется как поточечный максимум по всем нечетким подмножествам (нечеткая логика «ИЛИ»). При композиции СУММЫ комбинированный вывод нечеткого подмножества конструируется как поточечная сумма по всем нечетким подмножествам, назначенным переменной вывода правилами логического вывода.</a:t>
            </a:r>
          </a:p>
          <a:p>
            <a:pPr>
              <a:defRPr/>
            </a:pPr>
            <a:endParaRPr lang="ru-RU" sz="2300" dirty="0"/>
          </a:p>
        </p:txBody>
      </p:sp>
      <p:sp>
        <p:nvSpPr>
          <p:cNvPr id="4" name="Номер слайда 3"/>
          <p:cNvSpPr>
            <a:spLocks noGrp="1"/>
          </p:cNvSpPr>
          <p:nvPr>
            <p:ph type="sldNum" sz="quarter" idx="12"/>
          </p:nvPr>
        </p:nvSpPr>
        <p:spPr/>
        <p:txBody>
          <a:bodyPr/>
          <a:lstStyle/>
          <a:p>
            <a:pPr>
              <a:defRPr/>
            </a:pPr>
            <a:fld id="{29433823-3E9E-40AC-BCE5-41B9A484FB52}" type="slidenum">
              <a:rPr lang="ru-RU" smtClean="0"/>
              <a:pPr>
                <a:defRPr/>
              </a:pPr>
              <a:t>111</a:t>
            </a:fld>
            <a:endParaRPr lang="ru-RU"/>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Заголовок 1"/>
          <p:cNvSpPr>
            <a:spLocks noGrp="1"/>
          </p:cNvSpPr>
          <p:nvPr>
            <p:ph type="title"/>
          </p:nvPr>
        </p:nvSpPr>
        <p:spPr/>
        <p:txBody>
          <a:bodyPr/>
          <a:lstStyle/>
          <a:p>
            <a:r>
              <a:rPr lang="ru-RU"/>
              <a:t>Нечеткие выводы</a:t>
            </a:r>
          </a:p>
        </p:txBody>
      </p:sp>
      <p:sp>
        <p:nvSpPr>
          <p:cNvPr id="3" name="Содержимое 2"/>
          <p:cNvSpPr>
            <a:spLocks noGrp="1"/>
          </p:cNvSpPr>
          <p:nvPr>
            <p:ph idx="1"/>
          </p:nvPr>
        </p:nvSpPr>
        <p:spPr/>
        <p:txBody>
          <a:bodyPr/>
          <a:lstStyle/>
          <a:p>
            <a:pPr marL="514350" indent="-514350">
              <a:buFont typeface="+mj-lt"/>
              <a:buAutoNum type="arabicPeriod" startAt="4"/>
              <a:defRPr/>
            </a:pPr>
            <a:r>
              <a:rPr lang="ru-RU" dirty="0"/>
              <a:t>В заключение – </a:t>
            </a:r>
            <a:r>
              <a:rPr lang="ru-RU" i="1" dirty="0"/>
              <a:t>приведение к четкости</a:t>
            </a:r>
            <a:r>
              <a:rPr lang="ru-RU" dirty="0"/>
              <a:t> (</a:t>
            </a:r>
            <a:r>
              <a:rPr lang="ru-RU" dirty="0" err="1"/>
              <a:t>дефаззификация</a:t>
            </a:r>
            <a:r>
              <a:rPr lang="ru-RU" dirty="0"/>
              <a:t>, </a:t>
            </a:r>
            <a:r>
              <a:rPr lang="en-US" dirty="0" err="1"/>
              <a:t>defuzzification</a:t>
            </a:r>
            <a:r>
              <a:rPr lang="ru-RU" dirty="0"/>
              <a:t>), которое используется, когда полезно преобразовать нечеткий набор выводов в четкое число. </a:t>
            </a:r>
          </a:p>
          <a:p>
            <a:pPr>
              <a:defRPr/>
            </a:pPr>
            <a:endParaRPr lang="ru-RU" dirty="0"/>
          </a:p>
        </p:txBody>
      </p:sp>
      <p:sp>
        <p:nvSpPr>
          <p:cNvPr id="4" name="Номер слайда 3"/>
          <p:cNvSpPr>
            <a:spLocks noGrp="1"/>
          </p:cNvSpPr>
          <p:nvPr>
            <p:ph type="sldNum" sz="quarter" idx="12"/>
          </p:nvPr>
        </p:nvSpPr>
        <p:spPr/>
        <p:txBody>
          <a:bodyPr/>
          <a:lstStyle/>
          <a:p>
            <a:pPr>
              <a:defRPr/>
            </a:pPr>
            <a:fld id="{EAAC29F0-0418-433B-A180-7A354F82B7B9}" type="slidenum">
              <a:rPr lang="ru-RU" smtClean="0"/>
              <a:pPr>
                <a:defRPr/>
              </a:pPr>
              <a:t>112</a:t>
            </a:fld>
            <a:endParaRPr lang="ru-RU"/>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Заголовок 1"/>
          <p:cNvSpPr>
            <a:spLocks noGrp="1"/>
          </p:cNvSpPr>
          <p:nvPr>
            <p:ph type="title"/>
          </p:nvPr>
        </p:nvSpPr>
        <p:spPr/>
        <p:txBody>
          <a:bodyPr/>
          <a:lstStyle/>
          <a:p>
            <a:r>
              <a:rPr lang="ru-RU"/>
              <a:t>Общая схема НЛВ</a:t>
            </a:r>
          </a:p>
        </p:txBody>
      </p:sp>
      <p:graphicFrame>
        <p:nvGraphicFramePr>
          <p:cNvPr id="5" name="Содержимое 4"/>
          <p:cNvGraphicFramePr>
            <a:graphicFrameLocks noGrp="1"/>
          </p:cNvGraphicFramePr>
          <p:nvPr>
            <p:ph idx="1"/>
            <p:extLst>
              <p:ext uri="{D42A27DB-BD31-4B8C-83A1-F6EECF244321}">
                <p14:modId xmlns:p14="http://schemas.microsoft.com/office/powerpoint/2010/main" val="1982793165"/>
              </p:ext>
            </p:extLst>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Номер слайда 3"/>
          <p:cNvSpPr>
            <a:spLocks noGrp="1"/>
          </p:cNvSpPr>
          <p:nvPr>
            <p:ph type="sldNum" sz="quarter" idx="12"/>
          </p:nvPr>
        </p:nvSpPr>
        <p:spPr/>
        <p:txBody>
          <a:bodyPr/>
          <a:lstStyle/>
          <a:p>
            <a:pPr>
              <a:defRPr/>
            </a:pPr>
            <a:fld id="{C871A3F3-6889-41A8-87C2-9997D8F31654}" type="slidenum">
              <a:rPr lang="ru-RU" smtClean="0"/>
              <a:pPr>
                <a:defRPr/>
              </a:pPr>
              <a:t>113</a:t>
            </a:fld>
            <a:endParaRPr lang="ru-RU"/>
          </a:p>
        </p:txBody>
      </p:sp>
      <p:sp>
        <p:nvSpPr>
          <p:cNvPr id="14" name="Стрелка вправо 13"/>
          <p:cNvSpPr>
            <a:spLocks noChangeArrowheads="1"/>
          </p:cNvSpPr>
          <p:nvPr/>
        </p:nvSpPr>
        <p:spPr bwMode="auto">
          <a:xfrm>
            <a:off x="2143125" y="1714500"/>
            <a:ext cx="642938" cy="500063"/>
          </a:xfrm>
          <a:prstGeom prst="rightArrow">
            <a:avLst>
              <a:gd name="adj1" fmla="val 50000"/>
              <a:gd name="adj2" fmla="val 50000"/>
            </a:avLst>
          </a:prstGeom>
          <a:solidFill>
            <a:srgbClr val="EE1EF3"/>
          </a:solidFill>
          <a:ln w="25400" algn="ctr">
            <a:solidFill>
              <a:srgbClr val="385D8A"/>
            </a:solidFill>
            <a:miter lim="800000"/>
            <a:headEnd/>
            <a:tailEnd/>
          </a:ln>
        </p:spPr>
        <p:txBody>
          <a:bodyPr anchor="ctr"/>
          <a:lstStyle/>
          <a:p>
            <a:pPr algn="ctr">
              <a:defRPr/>
            </a:pPr>
            <a:endParaRPr lang="ru-RU">
              <a:solidFill>
                <a:schemeClr val="lt1"/>
              </a:solidFill>
              <a:latin typeface="+mn-lt"/>
              <a:cs typeface="+mn-cs"/>
            </a:endParaRPr>
          </a:p>
        </p:txBody>
      </p:sp>
      <p:sp>
        <p:nvSpPr>
          <p:cNvPr id="15" name="Стрелка вправо 14"/>
          <p:cNvSpPr>
            <a:spLocks noChangeArrowheads="1"/>
          </p:cNvSpPr>
          <p:nvPr/>
        </p:nvSpPr>
        <p:spPr bwMode="auto">
          <a:xfrm>
            <a:off x="4286250" y="1785938"/>
            <a:ext cx="642938" cy="500062"/>
          </a:xfrm>
          <a:prstGeom prst="rightArrow">
            <a:avLst>
              <a:gd name="adj1" fmla="val 50000"/>
              <a:gd name="adj2" fmla="val 50000"/>
            </a:avLst>
          </a:prstGeom>
          <a:solidFill>
            <a:srgbClr val="EE1EF3"/>
          </a:solidFill>
          <a:ln w="25400" algn="ctr">
            <a:solidFill>
              <a:srgbClr val="385D8A"/>
            </a:solidFill>
            <a:miter lim="800000"/>
            <a:headEnd/>
            <a:tailEnd/>
          </a:ln>
        </p:spPr>
        <p:txBody>
          <a:bodyPr anchor="ctr"/>
          <a:lstStyle/>
          <a:p>
            <a:pPr algn="ctr">
              <a:defRPr/>
            </a:pPr>
            <a:endParaRPr lang="ru-RU">
              <a:solidFill>
                <a:schemeClr val="lt1"/>
              </a:solidFill>
              <a:latin typeface="+mn-lt"/>
              <a:cs typeface="+mn-cs"/>
            </a:endParaRPr>
          </a:p>
        </p:txBody>
      </p:sp>
      <p:sp>
        <p:nvSpPr>
          <p:cNvPr id="16" name="Стрелка вправо 15"/>
          <p:cNvSpPr>
            <a:spLocks noChangeArrowheads="1"/>
          </p:cNvSpPr>
          <p:nvPr/>
        </p:nvSpPr>
        <p:spPr bwMode="auto">
          <a:xfrm>
            <a:off x="6429375" y="1714500"/>
            <a:ext cx="642938" cy="500063"/>
          </a:xfrm>
          <a:prstGeom prst="rightArrow">
            <a:avLst>
              <a:gd name="adj1" fmla="val 50000"/>
              <a:gd name="adj2" fmla="val 50000"/>
            </a:avLst>
          </a:prstGeom>
          <a:solidFill>
            <a:srgbClr val="EE1EF3"/>
          </a:solidFill>
          <a:ln w="25400" algn="ctr">
            <a:solidFill>
              <a:srgbClr val="385D8A"/>
            </a:solidFill>
            <a:miter lim="800000"/>
            <a:headEnd/>
            <a:tailEnd/>
          </a:ln>
        </p:spPr>
        <p:txBody>
          <a:bodyPr anchor="ctr"/>
          <a:lstStyle/>
          <a:p>
            <a:pPr algn="ctr">
              <a:defRPr/>
            </a:pPr>
            <a:endParaRPr lang="ru-RU">
              <a:solidFill>
                <a:schemeClr val="lt1"/>
              </a:solidFill>
              <a:latin typeface="+mn-lt"/>
              <a:cs typeface="+mn-cs"/>
            </a:endParaRPr>
          </a:p>
        </p:txBody>
      </p:sp>
      <p:sp>
        <p:nvSpPr>
          <p:cNvPr id="17" name="Стрелка вправо 16"/>
          <p:cNvSpPr>
            <a:spLocks noChangeArrowheads="1"/>
          </p:cNvSpPr>
          <p:nvPr/>
        </p:nvSpPr>
        <p:spPr bwMode="auto">
          <a:xfrm rot="-5400000">
            <a:off x="857250" y="3571876"/>
            <a:ext cx="642937" cy="500062"/>
          </a:xfrm>
          <a:prstGeom prst="rightArrow">
            <a:avLst>
              <a:gd name="adj1" fmla="val 50000"/>
              <a:gd name="adj2" fmla="val 50000"/>
            </a:avLst>
          </a:prstGeom>
          <a:solidFill>
            <a:srgbClr val="EE1EF3"/>
          </a:solidFill>
          <a:ln w="25400" algn="ctr">
            <a:solidFill>
              <a:srgbClr val="385D8A"/>
            </a:solidFill>
            <a:miter lim="800000"/>
            <a:headEnd/>
            <a:tailEnd/>
          </a:ln>
        </p:spPr>
        <p:txBody>
          <a:bodyPr vert="eaVert" anchor="ctr"/>
          <a:lstStyle/>
          <a:p>
            <a:pPr algn="ctr">
              <a:defRPr/>
            </a:pPr>
            <a:endParaRPr lang="ru-RU">
              <a:solidFill>
                <a:schemeClr val="lt1"/>
              </a:solidFill>
              <a:latin typeface="+mn-lt"/>
              <a:cs typeface="+mn-cs"/>
            </a:endParaRPr>
          </a:p>
        </p:txBody>
      </p:sp>
      <p:sp>
        <p:nvSpPr>
          <p:cNvPr id="18" name="Стрелка вправо 17"/>
          <p:cNvSpPr>
            <a:spLocks noChangeArrowheads="1"/>
          </p:cNvSpPr>
          <p:nvPr/>
        </p:nvSpPr>
        <p:spPr bwMode="auto">
          <a:xfrm rot="5400000">
            <a:off x="7429500" y="3571876"/>
            <a:ext cx="642937" cy="500062"/>
          </a:xfrm>
          <a:prstGeom prst="rightArrow">
            <a:avLst>
              <a:gd name="adj1" fmla="val 50000"/>
              <a:gd name="adj2" fmla="val 50000"/>
            </a:avLst>
          </a:prstGeom>
          <a:solidFill>
            <a:srgbClr val="EE1EF3"/>
          </a:solidFill>
          <a:ln w="25400" algn="ctr">
            <a:solidFill>
              <a:srgbClr val="385D8A"/>
            </a:solidFill>
            <a:miter lim="800000"/>
            <a:headEnd/>
            <a:tailEnd/>
          </a:ln>
        </p:spPr>
        <p:txBody>
          <a:bodyPr rot="10800000" vert="eaVert" anchor="ctr"/>
          <a:lstStyle/>
          <a:p>
            <a:pPr algn="ctr">
              <a:defRPr/>
            </a:pPr>
            <a:endParaRPr lang="ru-RU">
              <a:solidFill>
                <a:schemeClr val="lt1"/>
              </a:solidFill>
              <a:latin typeface="+mn-lt"/>
              <a:cs typeface="+mn-cs"/>
            </a:endParaRPr>
          </a:p>
        </p:txBody>
      </p:sp>
      <p:sp>
        <p:nvSpPr>
          <p:cNvPr id="19" name="Двойная стрелка вверх/вниз 18"/>
          <p:cNvSpPr>
            <a:spLocks noChangeArrowheads="1"/>
          </p:cNvSpPr>
          <p:nvPr/>
        </p:nvSpPr>
        <p:spPr bwMode="auto">
          <a:xfrm>
            <a:off x="3143250" y="3357563"/>
            <a:ext cx="571500" cy="1000125"/>
          </a:xfrm>
          <a:prstGeom prst="upDownArrow">
            <a:avLst>
              <a:gd name="adj1" fmla="val 50000"/>
              <a:gd name="adj2" fmla="val 49997"/>
            </a:avLst>
          </a:prstGeom>
          <a:solidFill>
            <a:srgbClr val="EE1EF3"/>
          </a:solidFill>
          <a:ln w="25400" algn="ctr">
            <a:solidFill>
              <a:srgbClr val="385D8A"/>
            </a:solidFill>
            <a:miter lim="800000"/>
            <a:headEnd/>
            <a:tailEnd/>
          </a:ln>
        </p:spPr>
        <p:txBody>
          <a:bodyPr anchor="ctr"/>
          <a:lstStyle/>
          <a:p>
            <a:pPr algn="ctr">
              <a:defRPr/>
            </a:pPr>
            <a:endParaRPr lang="ru-RU">
              <a:solidFill>
                <a:schemeClr val="lt1"/>
              </a:solidFill>
              <a:latin typeface="+mn-lt"/>
              <a:cs typeface="+mn-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Заголовок 1"/>
          <p:cNvSpPr>
            <a:spLocks noGrp="1"/>
          </p:cNvSpPr>
          <p:nvPr>
            <p:ph type="title"/>
          </p:nvPr>
        </p:nvSpPr>
        <p:spPr/>
        <p:txBody>
          <a:bodyPr/>
          <a:lstStyle/>
          <a:p>
            <a:r>
              <a:rPr lang="ru-RU"/>
              <a:t>Пример</a:t>
            </a:r>
          </a:p>
        </p:txBody>
      </p:sp>
      <p:sp>
        <p:nvSpPr>
          <p:cNvPr id="135171" name="Содержимое 2"/>
          <p:cNvSpPr>
            <a:spLocks noGrp="1"/>
          </p:cNvSpPr>
          <p:nvPr>
            <p:ph idx="1"/>
          </p:nvPr>
        </p:nvSpPr>
        <p:spPr/>
        <p:txBody>
          <a:bodyPr/>
          <a:lstStyle/>
          <a:p>
            <a:r>
              <a:rPr lang="ru-RU" sz="2400"/>
              <a:t>Пусть некоторая система описывается следующими нечеткими правилами:</a:t>
            </a:r>
          </a:p>
          <a:p>
            <a:pPr lvl="1"/>
            <a:r>
              <a:rPr lang="ru-RU" sz="2000"/>
              <a:t>П</a:t>
            </a:r>
            <a:r>
              <a:rPr lang="ru-RU" sz="2000" baseline="-25000"/>
              <a:t>1</a:t>
            </a:r>
            <a:r>
              <a:rPr lang="ru-RU" sz="2000"/>
              <a:t>: если </a:t>
            </a:r>
            <a:r>
              <a:rPr lang="ru-RU" sz="2000" i="1"/>
              <a:t>х</a:t>
            </a:r>
            <a:r>
              <a:rPr lang="ru-RU" sz="2000"/>
              <a:t> есть А, тогда </a:t>
            </a:r>
            <a:r>
              <a:rPr lang="ru-RU" sz="2000" i="1"/>
              <a:t>w</a:t>
            </a:r>
            <a:r>
              <a:rPr lang="ru-RU" sz="2000"/>
              <a:t> есть </a:t>
            </a:r>
            <a:r>
              <a:rPr lang="ru-RU" sz="2000" i="1"/>
              <a:t>D</a:t>
            </a:r>
            <a:r>
              <a:rPr lang="ru-RU" sz="2000"/>
              <a:t>, </a:t>
            </a:r>
          </a:p>
          <a:p>
            <a:pPr lvl="1"/>
            <a:r>
              <a:rPr lang="ru-RU" sz="2000"/>
              <a:t>П</a:t>
            </a:r>
            <a:r>
              <a:rPr lang="ru-RU" sz="2000" baseline="-25000"/>
              <a:t>2</a:t>
            </a:r>
            <a:r>
              <a:rPr lang="ru-RU" sz="2000"/>
              <a:t>: если </a:t>
            </a:r>
            <a:r>
              <a:rPr lang="ru-RU" sz="2000" i="1"/>
              <a:t>у</a:t>
            </a:r>
            <a:r>
              <a:rPr lang="ru-RU" sz="2000"/>
              <a:t> есть </a:t>
            </a:r>
            <a:r>
              <a:rPr lang="ru-RU" sz="2000" i="1"/>
              <a:t>В</a:t>
            </a:r>
            <a:r>
              <a:rPr lang="ru-RU" sz="2000"/>
              <a:t>, тогда </a:t>
            </a:r>
            <a:r>
              <a:rPr lang="ru-RU" sz="2000" i="1"/>
              <a:t>w</a:t>
            </a:r>
            <a:r>
              <a:rPr lang="ru-RU" sz="2000"/>
              <a:t> есть </a:t>
            </a:r>
            <a:r>
              <a:rPr lang="ru-RU" sz="2000" i="1"/>
              <a:t>Е</a:t>
            </a:r>
            <a:r>
              <a:rPr lang="ru-RU" sz="2000"/>
              <a:t>, </a:t>
            </a:r>
          </a:p>
          <a:p>
            <a:pPr lvl="1"/>
            <a:r>
              <a:rPr lang="ru-RU" sz="2000"/>
              <a:t>П</a:t>
            </a:r>
            <a:r>
              <a:rPr lang="ru-RU" sz="2000" baseline="-25000"/>
              <a:t>3</a:t>
            </a:r>
            <a:r>
              <a:rPr lang="ru-RU" sz="2000"/>
              <a:t>: если </a:t>
            </a:r>
            <a:r>
              <a:rPr lang="ru-RU" sz="2000" i="1"/>
              <a:t>z</a:t>
            </a:r>
            <a:r>
              <a:rPr lang="ru-RU" sz="2000"/>
              <a:t> есть </a:t>
            </a:r>
            <a:r>
              <a:rPr lang="ru-RU" sz="2000" i="1"/>
              <a:t>С</a:t>
            </a:r>
            <a:r>
              <a:rPr lang="ru-RU" sz="2000"/>
              <a:t>, тогда </a:t>
            </a:r>
            <a:r>
              <a:rPr lang="ru-RU" sz="2000" i="1"/>
              <a:t>w</a:t>
            </a:r>
            <a:r>
              <a:rPr lang="ru-RU" sz="2000"/>
              <a:t> есть </a:t>
            </a:r>
            <a:r>
              <a:rPr lang="ru-RU" sz="2000" i="1"/>
              <a:t>F</a:t>
            </a:r>
            <a:r>
              <a:rPr lang="ru-RU" sz="2000"/>
              <a:t>,</a:t>
            </a:r>
          </a:p>
          <a:p>
            <a:pPr>
              <a:buFont typeface="Arial" charset="0"/>
              <a:buNone/>
            </a:pPr>
            <a:r>
              <a:rPr lang="ru-RU" sz="2400"/>
              <a:t>	где </a:t>
            </a:r>
            <a:r>
              <a:rPr lang="ru-RU" sz="2400" i="1"/>
              <a:t>х, у</a:t>
            </a:r>
            <a:r>
              <a:rPr lang="ru-RU" sz="2400"/>
              <a:t> и </a:t>
            </a:r>
            <a:r>
              <a:rPr lang="ru-RU" sz="2400" i="1"/>
              <a:t>z</a:t>
            </a:r>
            <a:r>
              <a:rPr lang="ru-RU" sz="2400"/>
              <a:t> – имена входных переменных, </a:t>
            </a:r>
            <a:r>
              <a:rPr lang="ru-RU" sz="2400" i="1"/>
              <a:t>w</a:t>
            </a:r>
            <a:r>
              <a:rPr lang="ru-RU" sz="2400"/>
              <a:t> – имя переменной вывода, а </a:t>
            </a:r>
            <a:r>
              <a:rPr lang="ru-RU" sz="2400" i="1"/>
              <a:t>А, В, С, D, E, F</a:t>
            </a:r>
            <a:r>
              <a:rPr lang="ru-RU" sz="2400"/>
              <a:t> – заданные функции принадлежности (треугольной формы).</a:t>
            </a:r>
          </a:p>
          <a:p>
            <a:r>
              <a:rPr lang="ru-RU" sz="2400"/>
              <a:t>Процедура получения логического вывода иллюстрируется рис. </a:t>
            </a:r>
          </a:p>
          <a:p>
            <a:r>
              <a:rPr lang="ru-RU" sz="2400"/>
              <a:t>Предполагается, что исходные переменные приняли некоторые конкретные (четкие) значения – </a:t>
            </a:r>
            <a:r>
              <a:rPr lang="en-US" sz="2400" i="1"/>
              <a:t>x</a:t>
            </a:r>
            <a:r>
              <a:rPr lang="ru-RU" sz="2400" i="1" baseline="-25000"/>
              <a:t>0</a:t>
            </a:r>
            <a:r>
              <a:rPr lang="ru-RU" sz="2400"/>
              <a:t> , </a:t>
            </a:r>
            <a:r>
              <a:rPr lang="en-US" sz="2400" i="1"/>
              <a:t>y</a:t>
            </a:r>
            <a:r>
              <a:rPr lang="ru-RU" sz="2400" i="1" baseline="-25000"/>
              <a:t>0</a:t>
            </a:r>
            <a:r>
              <a:rPr lang="ru-RU" sz="2400"/>
              <a:t> и </a:t>
            </a:r>
            <a:r>
              <a:rPr lang="en-US" sz="2400" i="1"/>
              <a:t>z</a:t>
            </a:r>
            <a:r>
              <a:rPr lang="ru-RU" sz="2400" i="1" baseline="-25000"/>
              <a:t>0</a:t>
            </a:r>
            <a:r>
              <a:rPr lang="ru-RU" sz="2400"/>
              <a:t>.</a:t>
            </a:r>
          </a:p>
          <a:p>
            <a:endParaRPr lang="ru-RU" sz="2400"/>
          </a:p>
        </p:txBody>
      </p:sp>
      <p:sp>
        <p:nvSpPr>
          <p:cNvPr id="4" name="Номер слайда 3"/>
          <p:cNvSpPr>
            <a:spLocks noGrp="1"/>
          </p:cNvSpPr>
          <p:nvPr>
            <p:ph type="sldNum" sz="quarter" idx="12"/>
          </p:nvPr>
        </p:nvSpPr>
        <p:spPr/>
        <p:txBody>
          <a:bodyPr/>
          <a:lstStyle/>
          <a:p>
            <a:pPr>
              <a:defRPr/>
            </a:pPr>
            <a:fld id="{0A48AC6A-FA15-4ECA-9D5E-9DB2E86F4745}" type="slidenum">
              <a:rPr lang="ru-RU" smtClean="0"/>
              <a:pPr>
                <a:defRPr/>
              </a:pPr>
              <a:t>114</a:t>
            </a:fld>
            <a:endParaRPr lang="ru-RU"/>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pPr>
              <a:defRPr/>
            </a:pPr>
            <a:fld id="{A7E0EAFD-051C-4DD0-8F1A-79831E4D84E3}" type="slidenum">
              <a:rPr lang="ru-RU" smtClean="0"/>
              <a:pPr>
                <a:defRPr/>
              </a:pPr>
              <a:t>115</a:t>
            </a:fld>
            <a:endParaRPr lang="ru-RU"/>
          </a:p>
        </p:txBody>
      </p:sp>
      <p:pic>
        <p:nvPicPr>
          <p:cNvPr id="136195"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357313" y="71438"/>
            <a:ext cx="6000750" cy="6605587"/>
          </a:xfrm>
          <a:noFill/>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Заголовок 1"/>
          <p:cNvSpPr>
            <a:spLocks noGrp="1"/>
          </p:cNvSpPr>
          <p:nvPr>
            <p:ph type="title"/>
          </p:nvPr>
        </p:nvSpPr>
        <p:spPr>
          <a:xfrm>
            <a:off x="457200" y="274638"/>
            <a:ext cx="8229600" cy="796925"/>
          </a:xfrm>
        </p:spPr>
        <p:txBody>
          <a:bodyPr/>
          <a:lstStyle/>
          <a:p>
            <a:r>
              <a:rPr lang="ru-RU"/>
              <a:t>Пример</a:t>
            </a:r>
          </a:p>
        </p:txBody>
      </p:sp>
      <p:sp>
        <p:nvSpPr>
          <p:cNvPr id="4" name="Номер слайда 3"/>
          <p:cNvSpPr>
            <a:spLocks noGrp="1"/>
          </p:cNvSpPr>
          <p:nvPr>
            <p:ph type="sldNum" sz="quarter" idx="12"/>
          </p:nvPr>
        </p:nvSpPr>
        <p:spPr/>
        <p:txBody>
          <a:bodyPr/>
          <a:lstStyle/>
          <a:p>
            <a:pPr>
              <a:defRPr/>
            </a:pPr>
            <a:fld id="{06CB6E9D-600A-4314-AE91-6D6D6ABD42B6}" type="slidenum">
              <a:rPr lang="ru-RU" smtClean="0"/>
              <a:pPr>
                <a:defRPr/>
              </a:pPr>
              <a:t>116</a:t>
            </a:fld>
            <a:endParaRPr lang="ru-RU"/>
          </a:p>
        </p:txBody>
      </p:sp>
      <p:graphicFrame>
        <p:nvGraphicFramePr>
          <p:cNvPr id="49154" name="Object 2"/>
          <p:cNvGraphicFramePr>
            <a:graphicFrameLocks noChangeAspect="1"/>
          </p:cNvGraphicFramePr>
          <p:nvPr/>
        </p:nvGraphicFramePr>
        <p:xfrm>
          <a:off x="352425" y="1006475"/>
          <a:ext cx="8510588" cy="5708650"/>
        </p:xfrm>
        <a:graphic>
          <a:graphicData uri="http://schemas.openxmlformats.org/presentationml/2006/ole">
            <mc:AlternateContent xmlns:mc="http://schemas.openxmlformats.org/markup-compatibility/2006">
              <mc:Choice xmlns:v="urn:schemas-microsoft-com:vml" Requires="v">
                <p:oleObj name="Документ" r:id="rId2" imgW="5412327" imgH="3625330" progId="Word.Document.12">
                  <p:embed/>
                </p:oleObj>
              </mc:Choice>
              <mc:Fallback>
                <p:oleObj name="Документ" r:id="rId2" imgW="5412327" imgH="3625330"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 y="1006475"/>
                        <a:ext cx="8510588" cy="570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p:txBody>
          <a:bodyPr/>
          <a:lstStyle/>
          <a:p>
            <a:pPr>
              <a:defRPr/>
            </a:pPr>
            <a:r>
              <a:rPr lang="ru-RU" b="0" dirty="0"/>
              <a:t>Алгоритмы нечеткого вывода</a:t>
            </a:r>
          </a:p>
        </p:txBody>
      </p:sp>
      <p:sp>
        <p:nvSpPr>
          <p:cNvPr id="5" name="Текст 4"/>
          <p:cNvSpPr>
            <a:spLocks noGrp="1"/>
          </p:cNvSpPr>
          <p:nvPr>
            <p:ph type="body" idx="1"/>
          </p:nvPr>
        </p:nvSpPr>
        <p:spPr/>
        <p:txBody>
          <a:bodyPr/>
          <a:lstStyle/>
          <a:p>
            <a:pPr>
              <a:defRPr/>
            </a:pPr>
            <a:endParaRPr lang="ru-RU"/>
          </a:p>
        </p:txBody>
      </p:sp>
      <p:sp>
        <p:nvSpPr>
          <p:cNvPr id="3" name="Номер слайда 2"/>
          <p:cNvSpPr>
            <a:spLocks noGrp="1"/>
          </p:cNvSpPr>
          <p:nvPr>
            <p:ph type="sldNum" sz="quarter" idx="12"/>
          </p:nvPr>
        </p:nvSpPr>
        <p:spPr/>
        <p:txBody>
          <a:bodyPr/>
          <a:lstStyle/>
          <a:p>
            <a:pPr>
              <a:defRPr/>
            </a:pPr>
            <a:fld id="{830E006E-61AD-4E8A-A144-ED0E982C1191}" type="slidenum">
              <a:rPr lang="ru-RU" smtClean="0"/>
              <a:pPr>
                <a:defRPr/>
              </a:pPr>
              <a:t>117</a:t>
            </a:fld>
            <a:endParaRPr lang="ru-RU"/>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Заголовок 4"/>
          <p:cNvSpPr>
            <a:spLocks noGrp="1"/>
          </p:cNvSpPr>
          <p:nvPr>
            <p:ph type="title"/>
          </p:nvPr>
        </p:nvSpPr>
        <p:spPr/>
        <p:txBody>
          <a:bodyPr/>
          <a:lstStyle/>
          <a:p>
            <a:r>
              <a:rPr lang="ru-RU"/>
              <a:t>Алгоритмы НЛВ</a:t>
            </a:r>
          </a:p>
        </p:txBody>
      </p:sp>
      <p:sp>
        <p:nvSpPr>
          <p:cNvPr id="4" name="Номер слайда 3"/>
          <p:cNvSpPr>
            <a:spLocks noGrp="1"/>
          </p:cNvSpPr>
          <p:nvPr>
            <p:ph type="sldNum" sz="quarter" idx="12"/>
          </p:nvPr>
        </p:nvSpPr>
        <p:spPr/>
        <p:txBody>
          <a:bodyPr/>
          <a:lstStyle/>
          <a:p>
            <a:pPr>
              <a:defRPr/>
            </a:pPr>
            <a:fld id="{473B8C87-5F77-489D-B4F6-DE16C4607715}" type="slidenum">
              <a:rPr lang="ru-RU" smtClean="0"/>
              <a:pPr>
                <a:defRPr/>
              </a:pPr>
              <a:t>118</a:t>
            </a:fld>
            <a:endParaRPr lang="ru-RU"/>
          </a:p>
        </p:txBody>
      </p:sp>
      <p:graphicFrame>
        <p:nvGraphicFramePr>
          <p:cNvPr id="50178" name="Object 2"/>
          <p:cNvGraphicFramePr>
            <a:graphicFrameLocks noChangeAspect="1"/>
          </p:cNvGraphicFramePr>
          <p:nvPr/>
        </p:nvGraphicFramePr>
        <p:xfrm>
          <a:off x="455613" y="1500188"/>
          <a:ext cx="8188325" cy="4572000"/>
        </p:xfrm>
        <a:graphic>
          <a:graphicData uri="http://schemas.openxmlformats.org/presentationml/2006/ole">
            <mc:AlternateContent xmlns:mc="http://schemas.openxmlformats.org/markup-compatibility/2006">
              <mc:Choice xmlns:v="urn:schemas-microsoft-com:vml" Requires="v">
                <p:oleObj name="Документ" r:id="rId2" imgW="4615420" imgH="2586039" progId="Word.Document.12">
                  <p:embed/>
                </p:oleObj>
              </mc:Choice>
              <mc:Fallback>
                <p:oleObj name="Документ" r:id="rId2" imgW="4615420" imgH="2586039"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613" y="1500188"/>
                        <a:ext cx="81883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Заголовок 1"/>
          <p:cNvSpPr>
            <a:spLocks noGrp="1"/>
          </p:cNvSpPr>
          <p:nvPr>
            <p:ph type="title"/>
          </p:nvPr>
        </p:nvSpPr>
        <p:spPr/>
        <p:txBody>
          <a:bodyPr/>
          <a:lstStyle/>
          <a:p>
            <a:r>
              <a:rPr lang="ru-RU"/>
              <a:t>1. Алгоритм Mamdani</a:t>
            </a:r>
          </a:p>
        </p:txBody>
      </p:sp>
      <p:sp>
        <p:nvSpPr>
          <p:cNvPr id="3" name="Номер слайда 2"/>
          <p:cNvSpPr>
            <a:spLocks noGrp="1"/>
          </p:cNvSpPr>
          <p:nvPr>
            <p:ph type="sldNum" sz="quarter" idx="12"/>
          </p:nvPr>
        </p:nvSpPr>
        <p:spPr/>
        <p:txBody>
          <a:bodyPr/>
          <a:lstStyle/>
          <a:p>
            <a:pPr>
              <a:defRPr/>
            </a:pPr>
            <a:fld id="{957733F8-477A-43F8-814E-A866526C913B}" type="slidenum">
              <a:rPr lang="ru-RU" smtClean="0"/>
              <a:pPr>
                <a:defRPr/>
              </a:pPr>
              <a:t>119</a:t>
            </a:fld>
            <a:endParaRPr lang="ru-RU"/>
          </a:p>
        </p:txBody>
      </p:sp>
      <p:graphicFrame>
        <p:nvGraphicFramePr>
          <p:cNvPr id="51202" name="Object 2"/>
          <p:cNvGraphicFramePr>
            <a:graphicFrameLocks noChangeAspect="1"/>
          </p:cNvGraphicFramePr>
          <p:nvPr/>
        </p:nvGraphicFramePr>
        <p:xfrm>
          <a:off x="500063" y="1250950"/>
          <a:ext cx="8096250" cy="5178425"/>
        </p:xfrm>
        <a:graphic>
          <a:graphicData uri="http://schemas.openxmlformats.org/presentationml/2006/ole">
            <mc:AlternateContent xmlns:mc="http://schemas.openxmlformats.org/markup-compatibility/2006">
              <mc:Choice xmlns:v="urn:schemas-microsoft-com:vml" Requires="v">
                <p:oleObj name="Документ" r:id="rId2" imgW="6093921" imgH="3908216" progId="Word.Document.12">
                  <p:embed/>
                </p:oleObj>
              </mc:Choice>
              <mc:Fallback>
                <p:oleObj name="Документ" r:id="rId2" imgW="6093921" imgH="390821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50950"/>
                        <a:ext cx="8096250" cy="517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Заголовок 1"/>
          <p:cNvSpPr>
            <a:spLocks noGrp="1"/>
          </p:cNvSpPr>
          <p:nvPr>
            <p:ph type="title"/>
          </p:nvPr>
        </p:nvSpPr>
        <p:spPr/>
        <p:txBody>
          <a:bodyPr/>
          <a:lstStyle/>
          <a:p>
            <a:r>
              <a:rPr lang="ru-RU"/>
              <a:t>2. Алгоритм Larsen</a:t>
            </a:r>
          </a:p>
        </p:txBody>
      </p:sp>
      <p:sp>
        <p:nvSpPr>
          <p:cNvPr id="3" name="Номер слайда 2"/>
          <p:cNvSpPr>
            <a:spLocks noGrp="1"/>
          </p:cNvSpPr>
          <p:nvPr>
            <p:ph type="sldNum" sz="quarter" idx="12"/>
          </p:nvPr>
        </p:nvSpPr>
        <p:spPr/>
        <p:txBody>
          <a:bodyPr/>
          <a:lstStyle/>
          <a:p>
            <a:pPr>
              <a:defRPr/>
            </a:pPr>
            <a:fld id="{8246510F-06D1-4A3D-A620-738E0390F1DB}" type="slidenum">
              <a:rPr lang="ru-RU" smtClean="0"/>
              <a:pPr>
                <a:defRPr/>
              </a:pPr>
              <a:t>120</a:t>
            </a:fld>
            <a:endParaRPr lang="ru-RU"/>
          </a:p>
        </p:txBody>
      </p:sp>
      <p:graphicFrame>
        <p:nvGraphicFramePr>
          <p:cNvPr id="52226" name="Object 2"/>
          <p:cNvGraphicFramePr>
            <a:graphicFrameLocks noChangeAspect="1"/>
          </p:cNvGraphicFramePr>
          <p:nvPr/>
        </p:nvGraphicFramePr>
        <p:xfrm>
          <a:off x="287338" y="1212850"/>
          <a:ext cx="8434387" cy="5002213"/>
        </p:xfrm>
        <a:graphic>
          <a:graphicData uri="http://schemas.openxmlformats.org/presentationml/2006/ole">
            <mc:AlternateContent xmlns:mc="http://schemas.openxmlformats.org/markup-compatibility/2006">
              <mc:Choice xmlns:v="urn:schemas-microsoft-com:vml" Requires="v">
                <p:oleObj name="Документ" r:id="rId2" imgW="4812937" imgH="2857458" progId="Word.Document.12">
                  <p:embed/>
                </p:oleObj>
              </mc:Choice>
              <mc:Fallback>
                <p:oleObj name="Документ" r:id="rId2" imgW="4812937" imgH="285745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212850"/>
                        <a:ext cx="8434387" cy="500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Заголовок 1"/>
          <p:cNvSpPr>
            <a:spLocks noGrp="1"/>
          </p:cNvSpPr>
          <p:nvPr>
            <p:ph type="title"/>
          </p:nvPr>
        </p:nvSpPr>
        <p:spPr/>
        <p:txBody>
          <a:bodyPr/>
          <a:lstStyle/>
          <a:p>
            <a:r>
              <a:rPr lang="ru-RU"/>
              <a:t>3. Алгоритм Tsukamoto</a:t>
            </a:r>
          </a:p>
        </p:txBody>
      </p:sp>
      <p:sp>
        <p:nvSpPr>
          <p:cNvPr id="3" name="Номер слайда 2"/>
          <p:cNvSpPr>
            <a:spLocks noGrp="1"/>
          </p:cNvSpPr>
          <p:nvPr>
            <p:ph type="sldNum" sz="quarter" idx="12"/>
          </p:nvPr>
        </p:nvSpPr>
        <p:spPr/>
        <p:txBody>
          <a:bodyPr/>
          <a:lstStyle/>
          <a:p>
            <a:pPr>
              <a:defRPr/>
            </a:pPr>
            <a:fld id="{B01BB01D-01AB-46B4-BC2A-6DCB778E3CDB}" type="slidenum">
              <a:rPr lang="ru-RU" smtClean="0"/>
              <a:pPr>
                <a:defRPr/>
              </a:pPr>
              <a:t>121</a:t>
            </a:fld>
            <a:endParaRPr lang="ru-RU"/>
          </a:p>
        </p:txBody>
      </p:sp>
      <p:graphicFrame>
        <p:nvGraphicFramePr>
          <p:cNvPr id="53250" name="Object 2"/>
          <p:cNvGraphicFramePr>
            <a:graphicFrameLocks noChangeAspect="1"/>
          </p:cNvGraphicFramePr>
          <p:nvPr/>
        </p:nvGraphicFramePr>
        <p:xfrm>
          <a:off x="500063" y="1285875"/>
          <a:ext cx="8213725" cy="5205413"/>
        </p:xfrm>
        <a:graphic>
          <a:graphicData uri="http://schemas.openxmlformats.org/presentationml/2006/ole">
            <mc:AlternateContent xmlns:mc="http://schemas.openxmlformats.org/markup-compatibility/2006">
              <mc:Choice xmlns:v="urn:schemas-microsoft-com:vml" Requires="v">
                <p:oleObj name="Документ" r:id="rId2" imgW="5168826" imgH="3286904" progId="Word.Document.12">
                  <p:embed/>
                </p:oleObj>
              </mc:Choice>
              <mc:Fallback>
                <p:oleObj name="Документ" r:id="rId2" imgW="5168826" imgH="3286904"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3" y="1285875"/>
                        <a:ext cx="8213725" cy="520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Заголовок 1"/>
          <p:cNvSpPr>
            <a:spLocks noGrp="1"/>
          </p:cNvSpPr>
          <p:nvPr>
            <p:ph type="title"/>
          </p:nvPr>
        </p:nvSpPr>
        <p:spPr/>
        <p:txBody>
          <a:bodyPr/>
          <a:lstStyle/>
          <a:p>
            <a:r>
              <a:rPr lang="ru-RU"/>
              <a:t>4. Алгоритм Sugeno</a:t>
            </a:r>
          </a:p>
        </p:txBody>
      </p:sp>
      <p:sp>
        <p:nvSpPr>
          <p:cNvPr id="3" name="Номер слайда 2"/>
          <p:cNvSpPr>
            <a:spLocks noGrp="1"/>
          </p:cNvSpPr>
          <p:nvPr>
            <p:ph type="sldNum" sz="quarter" idx="12"/>
          </p:nvPr>
        </p:nvSpPr>
        <p:spPr/>
        <p:txBody>
          <a:bodyPr/>
          <a:lstStyle/>
          <a:p>
            <a:pPr>
              <a:defRPr/>
            </a:pPr>
            <a:fld id="{7B9FEBF7-66B3-4DB5-9F50-31A1FE2EF6E1}" type="slidenum">
              <a:rPr lang="ru-RU" smtClean="0"/>
              <a:pPr>
                <a:defRPr/>
              </a:pPr>
              <a:t>122</a:t>
            </a:fld>
            <a:endParaRPr lang="ru-RU"/>
          </a:p>
        </p:txBody>
      </p:sp>
      <p:graphicFrame>
        <p:nvGraphicFramePr>
          <p:cNvPr id="54274" name="Object 2"/>
          <p:cNvGraphicFramePr>
            <a:graphicFrameLocks noChangeAspect="1"/>
          </p:cNvGraphicFramePr>
          <p:nvPr>
            <p:extLst>
              <p:ext uri="{D42A27DB-BD31-4B8C-83A1-F6EECF244321}">
                <p14:modId xmlns:p14="http://schemas.microsoft.com/office/powerpoint/2010/main" val="3926508608"/>
              </p:ext>
            </p:extLst>
          </p:nvPr>
        </p:nvGraphicFramePr>
        <p:xfrm>
          <a:off x="358775" y="1214438"/>
          <a:ext cx="8428038" cy="5434012"/>
        </p:xfrm>
        <a:graphic>
          <a:graphicData uri="http://schemas.openxmlformats.org/presentationml/2006/ole">
            <mc:AlternateContent xmlns:mc="http://schemas.openxmlformats.org/markup-compatibility/2006">
              <mc:Choice xmlns:v="urn:schemas-microsoft-com:vml" Requires="v">
                <p:oleObj name="Document" r:id="rId2" imgW="5208149" imgH="3362521" progId="Word.Document.12">
                  <p:embed/>
                </p:oleObj>
              </mc:Choice>
              <mc:Fallback>
                <p:oleObj name="Document" r:id="rId2" imgW="5208149" imgH="3362521" progId="Word.Document.12">
                  <p:embed/>
                  <p:pic>
                    <p:nvPicPr>
                      <p:cNvPr id="0" name="Object 2"/>
                      <p:cNvPicPr>
                        <a:picLocks noChangeAspect="1" noChangeArrowheads="1"/>
                      </p:cNvPicPr>
                      <p:nvPr/>
                    </p:nvPicPr>
                    <p:blipFill>
                      <a:blip r:embed="rId3"/>
                      <a:srcRect/>
                      <a:stretch>
                        <a:fillRect/>
                      </a:stretch>
                    </p:blipFill>
                    <p:spPr bwMode="auto">
                      <a:xfrm>
                        <a:off x="358775" y="1214438"/>
                        <a:ext cx="8428038" cy="543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Заголовок 1"/>
          <p:cNvSpPr>
            <a:spLocks noGrp="1"/>
          </p:cNvSpPr>
          <p:nvPr>
            <p:ph type="title"/>
          </p:nvPr>
        </p:nvSpPr>
        <p:spPr/>
        <p:txBody>
          <a:bodyPr/>
          <a:lstStyle/>
          <a:p>
            <a:r>
              <a:rPr lang="ru-RU"/>
              <a:t>5. Упрощенный алгоритм нечеткого вывода</a:t>
            </a:r>
          </a:p>
        </p:txBody>
      </p:sp>
      <p:sp>
        <p:nvSpPr>
          <p:cNvPr id="3" name="Номер слайда 2"/>
          <p:cNvSpPr>
            <a:spLocks noGrp="1"/>
          </p:cNvSpPr>
          <p:nvPr>
            <p:ph type="sldNum" sz="quarter" idx="12"/>
          </p:nvPr>
        </p:nvSpPr>
        <p:spPr/>
        <p:txBody>
          <a:bodyPr/>
          <a:lstStyle/>
          <a:p>
            <a:pPr>
              <a:defRPr/>
            </a:pPr>
            <a:fld id="{79592BD2-428B-439C-A4B3-F78EFE2E8AB2}" type="slidenum">
              <a:rPr lang="ru-RU" smtClean="0"/>
              <a:pPr>
                <a:defRPr/>
              </a:pPr>
              <a:t>123</a:t>
            </a:fld>
            <a:endParaRPr lang="ru-RU"/>
          </a:p>
        </p:txBody>
      </p:sp>
      <p:graphicFrame>
        <p:nvGraphicFramePr>
          <p:cNvPr id="55298" name="Object 2"/>
          <p:cNvGraphicFramePr>
            <a:graphicFrameLocks noChangeAspect="1"/>
          </p:cNvGraphicFramePr>
          <p:nvPr/>
        </p:nvGraphicFramePr>
        <p:xfrm>
          <a:off x="503238" y="1500188"/>
          <a:ext cx="8355012" cy="5221287"/>
        </p:xfrm>
        <a:graphic>
          <a:graphicData uri="http://schemas.openxmlformats.org/presentationml/2006/ole">
            <mc:AlternateContent xmlns:mc="http://schemas.openxmlformats.org/markup-compatibility/2006">
              <mc:Choice xmlns:v="urn:schemas-microsoft-com:vml" Requires="v">
                <p:oleObj name="Документ" r:id="rId2" imgW="5808779" imgH="3638237" progId="Word.Document.12">
                  <p:embed/>
                </p:oleObj>
              </mc:Choice>
              <mc:Fallback>
                <p:oleObj name="Документ" r:id="rId2" imgW="5808779" imgH="3638237"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1500188"/>
                        <a:ext cx="8355012" cy="522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Заголовок 1"/>
          <p:cNvSpPr>
            <a:spLocks noGrp="1"/>
          </p:cNvSpPr>
          <p:nvPr>
            <p:ph type="title"/>
          </p:nvPr>
        </p:nvSpPr>
        <p:spPr/>
        <p:txBody>
          <a:bodyPr/>
          <a:lstStyle/>
          <a:p>
            <a:r>
              <a:rPr lang="ru-RU"/>
              <a:t>6. Нисходящие нечеткие выводы</a:t>
            </a:r>
          </a:p>
        </p:txBody>
      </p:sp>
      <p:sp>
        <p:nvSpPr>
          <p:cNvPr id="138243" name="Содержимое 7"/>
          <p:cNvSpPr>
            <a:spLocks noGrp="1"/>
          </p:cNvSpPr>
          <p:nvPr>
            <p:ph idx="1"/>
          </p:nvPr>
        </p:nvSpPr>
        <p:spPr/>
        <p:txBody>
          <a:bodyPr/>
          <a:lstStyle/>
          <a:p>
            <a:r>
              <a:rPr lang="ru-RU" sz="2000" dirty="0"/>
              <a:t>Рассмотренные до сих пор нечеткие выводы представляют собой восходящие выводы от предпосылок к заключению. В последние годы в диагностических нечетких системах начинают применяться нисходящие выводы. Рассмотрим механизм подобного вывода на примере.</a:t>
            </a:r>
          </a:p>
          <a:p>
            <a:r>
              <a:rPr lang="ru-RU" sz="2000" dirty="0"/>
              <a:t>Возьмем упрощенную модель диагностики неисправности автомобиля с именами переменных:</a:t>
            </a:r>
          </a:p>
          <a:p>
            <a:pPr lvl="1"/>
            <a:r>
              <a:rPr lang="en-US" sz="2000" i="1" dirty="0"/>
              <a:t>x</a:t>
            </a:r>
            <a:r>
              <a:rPr lang="ru-RU" sz="2000" i="1" baseline="-25000" dirty="0"/>
              <a:t>1</a:t>
            </a:r>
            <a:r>
              <a:rPr lang="ru-RU" sz="2000" dirty="0"/>
              <a:t> – неисправность аккумулятора;</a:t>
            </a:r>
          </a:p>
          <a:p>
            <a:pPr lvl="1"/>
            <a:r>
              <a:rPr lang="en-US" sz="2000" i="1" dirty="0"/>
              <a:t>x</a:t>
            </a:r>
            <a:r>
              <a:rPr lang="ru-RU" sz="2000" i="1" baseline="-25000" dirty="0"/>
              <a:t>2</a:t>
            </a:r>
            <a:r>
              <a:rPr lang="ru-RU" sz="2000" dirty="0"/>
              <a:t> – отработка машинного масла;</a:t>
            </a:r>
          </a:p>
          <a:p>
            <a:pPr lvl="1"/>
            <a:r>
              <a:rPr lang="en-US" sz="2000" i="1" dirty="0"/>
              <a:t>y</a:t>
            </a:r>
            <a:r>
              <a:rPr lang="ru-RU" sz="2000" i="1" baseline="-25000" dirty="0"/>
              <a:t>1</a:t>
            </a:r>
            <a:r>
              <a:rPr lang="ru-RU" sz="2000" dirty="0"/>
              <a:t> – затруднения при запуске;</a:t>
            </a:r>
          </a:p>
          <a:p>
            <a:pPr lvl="1"/>
            <a:r>
              <a:rPr lang="en-US" sz="2000" i="1" dirty="0"/>
              <a:t>y</a:t>
            </a:r>
            <a:r>
              <a:rPr lang="ru-RU" sz="2000" i="1" baseline="-25000" dirty="0"/>
              <a:t>2</a:t>
            </a:r>
            <a:r>
              <a:rPr lang="ru-RU" sz="2000" dirty="0"/>
              <a:t> – ухудшение цвета выхлопных газов;</a:t>
            </a:r>
          </a:p>
          <a:p>
            <a:pPr lvl="1"/>
            <a:r>
              <a:rPr lang="en-US" sz="2000" i="1" dirty="0"/>
              <a:t>y</a:t>
            </a:r>
            <a:r>
              <a:rPr lang="ru-RU" sz="2000" i="1" baseline="-25000" dirty="0"/>
              <a:t>3</a:t>
            </a:r>
            <a:r>
              <a:rPr lang="ru-RU" sz="2000" dirty="0"/>
              <a:t> – недостаток мощности.</a:t>
            </a:r>
          </a:p>
          <a:p>
            <a:endParaRPr lang="ru-RU" sz="2000" dirty="0"/>
          </a:p>
        </p:txBody>
      </p:sp>
      <p:sp>
        <p:nvSpPr>
          <p:cNvPr id="3" name="Номер слайда 2"/>
          <p:cNvSpPr>
            <a:spLocks noGrp="1"/>
          </p:cNvSpPr>
          <p:nvPr>
            <p:ph type="sldNum" sz="quarter" idx="12"/>
          </p:nvPr>
        </p:nvSpPr>
        <p:spPr/>
        <p:txBody>
          <a:bodyPr/>
          <a:lstStyle/>
          <a:p>
            <a:pPr>
              <a:defRPr/>
            </a:pPr>
            <a:fld id="{D6C03893-F95E-492C-9012-078C6F8271FA}" type="slidenum">
              <a:rPr lang="ru-RU" smtClean="0"/>
              <a:pPr>
                <a:defRPr/>
              </a:pPr>
              <a:t>124</a:t>
            </a:fld>
            <a:endParaRPr lang="ru-RU"/>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Заголовок 1"/>
          <p:cNvSpPr>
            <a:spLocks noGrp="1"/>
          </p:cNvSpPr>
          <p:nvPr>
            <p:ph type="title"/>
          </p:nvPr>
        </p:nvSpPr>
        <p:spPr/>
        <p:txBody>
          <a:bodyPr/>
          <a:lstStyle/>
          <a:p>
            <a:r>
              <a:rPr lang="ru-RU"/>
              <a:t>Обратные выводы</a:t>
            </a:r>
          </a:p>
        </p:txBody>
      </p:sp>
      <p:sp>
        <p:nvSpPr>
          <p:cNvPr id="139267" name="Содержимое 2"/>
          <p:cNvSpPr>
            <a:spLocks noGrp="1"/>
          </p:cNvSpPr>
          <p:nvPr>
            <p:ph idx="1"/>
          </p:nvPr>
        </p:nvSpPr>
        <p:spPr>
          <a:xfrm>
            <a:off x="457200" y="1357313"/>
            <a:ext cx="8229600" cy="4768850"/>
          </a:xfrm>
        </p:spPr>
        <p:txBody>
          <a:bodyPr/>
          <a:lstStyle/>
          <a:p>
            <a:r>
              <a:rPr lang="ru-RU" sz="2400"/>
              <a:t>Между </a:t>
            </a:r>
            <a:r>
              <a:rPr lang="ru-RU" sz="2400" i="1"/>
              <a:t>х</a:t>
            </a:r>
            <a:r>
              <a:rPr lang="en-US" sz="2400" i="1" baseline="-25000"/>
              <a:t>i</a:t>
            </a:r>
            <a:r>
              <a:rPr lang="ru-RU" sz="2400"/>
              <a:t> и </a:t>
            </a:r>
            <a:r>
              <a:rPr lang="ru-RU" sz="2400" i="1"/>
              <a:t>y</a:t>
            </a:r>
            <a:r>
              <a:rPr lang="ru-RU" sz="2400" i="1" baseline="-25000"/>
              <a:t>j</a:t>
            </a:r>
            <a:r>
              <a:rPr lang="ru-RU" sz="2400"/>
              <a:t> существуют нечеткие причинные отношения </a:t>
            </a:r>
            <a:r>
              <a:rPr lang="en-US" sz="2400" i="1"/>
              <a:t>r</a:t>
            </a:r>
            <a:r>
              <a:rPr lang="en-US" sz="2400" i="1" baseline="-25000"/>
              <a:t>i</a:t>
            </a:r>
            <a:r>
              <a:rPr lang="ru-RU" sz="2400" i="1" baseline="-25000"/>
              <a:t>,</a:t>
            </a:r>
            <a:r>
              <a:rPr lang="en-US" sz="2400" i="1" baseline="-25000"/>
              <a:t>j </a:t>
            </a:r>
            <a:r>
              <a:rPr lang="ru-RU" sz="2400" i="1"/>
              <a:t>= </a:t>
            </a:r>
            <a:r>
              <a:rPr lang="en-US" sz="2400" i="1"/>
              <a:t>x</a:t>
            </a:r>
            <a:r>
              <a:rPr lang="en-US" sz="2400" i="1" baseline="-25000"/>
              <a:t>i</a:t>
            </a:r>
            <a:r>
              <a:rPr lang="en-US" sz="2400" i="1">
                <a:sym typeface="Symbol" pitchFamily="18" charset="2"/>
              </a:rPr>
              <a:t></a:t>
            </a:r>
            <a:r>
              <a:rPr lang="en-US" sz="2400" i="1"/>
              <a:t>y</a:t>
            </a:r>
            <a:r>
              <a:rPr lang="en-US" sz="2400" i="1" baseline="-25000"/>
              <a:t>j</a:t>
            </a:r>
            <a:r>
              <a:rPr lang="ru-RU" sz="2400"/>
              <a:t>, которые можно представить в виде некоторой матрицы </a:t>
            </a:r>
            <a:r>
              <a:rPr lang="ru-RU" sz="2400" i="1"/>
              <a:t>R</a:t>
            </a:r>
            <a:r>
              <a:rPr lang="ru-RU" sz="2400"/>
              <a:t> с элементами </a:t>
            </a:r>
            <a:r>
              <a:rPr lang="en-US" sz="2400" i="1"/>
              <a:t>r</a:t>
            </a:r>
            <a:r>
              <a:rPr lang="en-US" sz="2400" i="1" baseline="-25000"/>
              <a:t>i</a:t>
            </a:r>
            <a:r>
              <a:rPr lang="ru-RU" sz="2400" i="1" baseline="-25000"/>
              <a:t>,</a:t>
            </a:r>
            <a:r>
              <a:rPr lang="en-US" sz="2400" i="1" baseline="-25000"/>
              <a:t>j</a:t>
            </a:r>
            <a:r>
              <a:rPr lang="ru-RU" sz="2400"/>
              <a:t> из отрехка </a:t>
            </a:r>
            <a:r>
              <a:rPr lang="en-US" sz="2400" i="1"/>
              <a:t>[0, 1]</a:t>
            </a:r>
            <a:r>
              <a:rPr lang="ru-RU" sz="2400" i="1"/>
              <a:t>.</a:t>
            </a:r>
            <a:r>
              <a:rPr lang="ru-RU" sz="2400"/>
              <a:t> </a:t>
            </a:r>
          </a:p>
          <a:p>
            <a:r>
              <a:rPr lang="ru-RU" sz="2400"/>
              <a:t>Конкретные входы (предпосылки) и выходы (заключения) можно рассматривать как нечеткие множества </a:t>
            </a:r>
            <a:r>
              <a:rPr lang="ru-RU" sz="2400" i="1"/>
              <a:t>А</a:t>
            </a:r>
            <a:r>
              <a:rPr lang="ru-RU" sz="2400"/>
              <a:t> и </a:t>
            </a:r>
            <a:r>
              <a:rPr lang="ru-RU" sz="2400" i="1"/>
              <a:t>В</a:t>
            </a:r>
            <a:r>
              <a:rPr lang="ru-RU" sz="2400"/>
              <a:t> на пространствах </a:t>
            </a:r>
            <a:r>
              <a:rPr lang="en-US" sz="2400" i="1"/>
              <a:t>X</a:t>
            </a:r>
            <a:r>
              <a:rPr lang="ru-RU" sz="2400"/>
              <a:t> и </a:t>
            </a:r>
            <a:r>
              <a:rPr lang="en-US" sz="2400" i="1"/>
              <a:t>Y</a:t>
            </a:r>
            <a:r>
              <a:rPr lang="ru-RU" sz="2400"/>
              <a:t>. Отношения этих множеств можно обозначить как </a:t>
            </a:r>
            <a:r>
              <a:rPr lang="ru-RU" sz="2400" i="1"/>
              <a:t>В = А</a:t>
            </a:r>
            <a:r>
              <a:rPr lang="ru-RU" sz="2400" i="1">
                <a:sym typeface="Symbol" pitchFamily="18" charset="2"/>
              </a:rPr>
              <a:t></a:t>
            </a:r>
            <a:r>
              <a:rPr lang="ru-RU" sz="2400" i="1"/>
              <a:t> R</a:t>
            </a:r>
            <a:r>
              <a:rPr lang="ru-RU" sz="2400"/>
              <a:t>, где, как и раньше, знак «</a:t>
            </a:r>
            <a:r>
              <a:rPr lang="ru-RU" sz="2400">
                <a:sym typeface="Symbol" pitchFamily="18" charset="2"/>
              </a:rPr>
              <a:t></a:t>
            </a:r>
            <a:r>
              <a:rPr lang="ru-RU" sz="2400"/>
              <a:t>» обозначает правило композиции нечетких выводов.</a:t>
            </a:r>
          </a:p>
          <a:p>
            <a:r>
              <a:rPr lang="ru-RU" sz="2400"/>
              <a:t>В данном случае направление выводов является обратным к направлению выводов для правил, т.е. в случае диагностики имеется (задана) матрица </a:t>
            </a:r>
            <a:r>
              <a:rPr lang="ru-RU" sz="2400" i="1"/>
              <a:t>R</a:t>
            </a:r>
            <a:r>
              <a:rPr lang="ru-RU" sz="2400"/>
              <a:t> (знания эксперта), наблюдаются выходы </a:t>
            </a:r>
            <a:r>
              <a:rPr lang="ru-RU" sz="2400" i="1"/>
              <a:t>В</a:t>
            </a:r>
            <a:r>
              <a:rPr lang="ru-RU" sz="2400"/>
              <a:t> (или симптомы) и определяются входы </a:t>
            </a:r>
            <a:r>
              <a:rPr lang="ru-RU" sz="2400" i="1"/>
              <a:t>А</a:t>
            </a:r>
            <a:r>
              <a:rPr lang="ru-RU" sz="2400"/>
              <a:t> (или факторы).</a:t>
            </a:r>
          </a:p>
          <a:p>
            <a:endParaRPr lang="ru-RU" sz="2400"/>
          </a:p>
        </p:txBody>
      </p:sp>
      <p:sp>
        <p:nvSpPr>
          <p:cNvPr id="4" name="Номер слайда 3"/>
          <p:cNvSpPr>
            <a:spLocks noGrp="1"/>
          </p:cNvSpPr>
          <p:nvPr>
            <p:ph type="sldNum" sz="quarter" idx="12"/>
          </p:nvPr>
        </p:nvSpPr>
        <p:spPr/>
        <p:txBody>
          <a:bodyPr/>
          <a:lstStyle/>
          <a:p>
            <a:pPr>
              <a:defRPr/>
            </a:pPr>
            <a:fld id="{97E1DA19-624C-4068-951B-CFF700A684BD}" type="slidenum">
              <a:rPr lang="ru-RU" smtClean="0"/>
              <a:pPr>
                <a:defRPr/>
              </a:pPr>
              <a:t>125</a:t>
            </a:fld>
            <a:endParaRPr lang="ru-RU"/>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Заголовок 1"/>
          <p:cNvSpPr>
            <a:spLocks noGrp="1"/>
          </p:cNvSpPr>
          <p:nvPr>
            <p:ph type="title"/>
          </p:nvPr>
        </p:nvSpPr>
        <p:spPr/>
        <p:txBody>
          <a:bodyPr/>
          <a:lstStyle/>
          <a:p>
            <a:r>
              <a:rPr lang="ru-RU" sz="4000"/>
              <a:t>Обратные выводы, поиск решения</a:t>
            </a:r>
          </a:p>
        </p:txBody>
      </p:sp>
      <p:sp>
        <p:nvSpPr>
          <p:cNvPr id="4" name="Номер слайда 3"/>
          <p:cNvSpPr>
            <a:spLocks noGrp="1"/>
          </p:cNvSpPr>
          <p:nvPr>
            <p:ph type="sldNum" sz="quarter" idx="12"/>
          </p:nvPr>
        </p:nvSpPr>
        <p:spPr/>
        <p:txBody>
          <a:bodyPr/>
          <a:lstStyle/>
          <a:p>
            <a:pPr>
              <a:defRPr/>
            </a:pPr>
            <a:fld id="{1F47EE10-5A79-4F83-9308-89BD35E37BBC}" type="slidenum">
              <a:rPr lang="ru-RU" smtClean="0"/>
              <a:pPr>
                <a:defRPr/>
              </a:pPr>
              <a:t>126</a:t>
            </a:fld>
            <a:endParaRPr lang="ru-RU"/>
          </a:p>
        </p:txBody>
      </p:sp>
      <p:graphicFrame>
        <p:nvGraphicFramePr>
          <p:cNvPr id="56322" name="Object 2"/>
          <p:cNvGraphicFramePr>
            <a:graphicFrameLocks noChangeAspect="1"/>
          </p:cNvGraphicFramePr>
          <p:nvPr/>
        </p:nvGraphicFramePr>
        <p:xfrm>
          <a:off x="714375" y="1484313"/>
          <a:ext cx="7643813" cy="5087937"/>
        </p:xfrm>
        <a:graphic>
          <a:graphicData uri="http://schemas.openxmlformats.org/presentationml/2006/ole">
            <mc:AlternateContent xmlns:mc="http://schemas.openxmlformats.org/markup-compatibility/2006">
              <mc:Choice xmlns:v="urn:schemas-microsoft-com:vml" Requires="v">
                <p:oleObj name="Документ" r:id="rId2" imgW="5269148" imgH="3504886" progId="Word.Document.12">
                  <p:embed/>
                </p:oleObj>
              </mc:Choice>
              <mc:Fallback>
                <p:oleObj name="Документ" r:id="rId2" imgW="5269148" imgH="350488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1484313"/>
                        <a:ext cx="7643813" cy="5087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Заголовок 1"/>
          <p:cNvSpPr>
            <a:spLocks noGrp="1"/>
          </p:cNvSpPr>
          <p:nvPr>
            <p:ph type="title"/>
          </p:nvPr>
        </p:nvSpPr>
        <p:spPr/>
        <p:txBody>
          <a:bodyPr/>
          <a:lstStyle/>
          <a:p>
            <a:r>
              <a:rPr lang="ru-RU" sz="4000"/>
              <a:t>Обратные выводы, поиск решения</a:t>
            </a:r>
          </a:p>
        </p:txBody>
      </p:sp>
      <p:sp>
        <p:nvSpPr>
          <p:cNvPr id="4" name="Номер слайда 3"/>
          <p:cNvSpPr>
            <a:spLocks noGrp="1"/>
          </p:cNvSpPr>
          <p:nvPr>
            <p:ph type="sldNum" sz="quarter" idx="12"/>
          </p:nvPr>
        </p:nvSpPr>
        <p:spPr/>
        <p:txBody>
          <a:bodyPr/>
          <a:lstStyle/>
          <a:p>
            <a:pPr>
              <a:defRPr/>
            </a:pPr>
            <a:fld id="{3C74CC4B-5C5D-48B8-9902-56674A5EDB60}" type="slidenum">
              <a:rPr lang="ru-RU" smtClean="0"/>
              <a:pPr>
                <a:defRPr/>
              </a:pPr>
              <a:t>127</a:t>
            </a:fld>
            <a:endParaRPr lang="ru-RU"/>
          </a:p>
        </p:txBody>
      </p:sp>
      <p:graphicFrame>
        <p:nvGraphicFramePr>
          <p:cNvPr id="57346" name="Object 2"/>
          <p:cNvGraphicFramePr>
            <a:graphicFrameLocks noChangeAspect="1"/>
          </p:cNvGraphicFramePr>
          <p:nvPr/>
        </p:nvGraphicFramePr>
        <p:xfrm>
          <a:off x="357188" y="1214438"/>
          <a:ext cx="8358187" cy="5448300"/>
        </p:xfrm>
        <a:graphic>
          <a:graphicData uri="http://schemas.openxmlformats.org/presentationml/2006/ole">
            <mc:AlternateContent xmlns:mc="http://schemas.openxmlformats.org/markup-compatibility/2006">
              <mc:Choice xmlns:v="urn:schemas-microsoft-com:vml" Requires="v">
                <p:oleObj name="Документ" r:id="rId2" imgW="4910347" imgH="3202181" progId="Word.Document.12">
                  <p:embed/>
                </p:oleObj>
              </mc:Choice>
              <mc:Fallback>
                <p:oleObj name="Документ" r:id="rId2" imgW="4910347" imgH="3202181"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214438"/>
                        <a:ext cx="8358187" cy="544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Заголовок 1"/>
          <p:cNvSpPr>
            <a:spLocks noGrp="1"/>
          </p:cNvSpPr>
          <p:nvPr>
            <p:ph type="title"/>
          </p:nvPr>
        </p:nvSpPr>
        <p:spPr/>
        <p:txBody>
          <a:bodyPr/>
          <a:lstStyle/>
          <a:p>
            <a:r>
              <a:rPr lang="ru-RU"/>
              <a:t>Практическое применение</a:t>
            </a:r>
          </a:p>
        </p:txBody>
      </p:sp>
      <p:sp>
        <p:nvSpPr>
          <p:cNvPr id="140291" name="Содержимое 2"/>
          <p:cNvSpPr>
            <a:spLocks noGrp="1"/>
          </p:cNvSpPr>
          <p:nvPr>
            <p:ph idx="1"/>
          </p:nvPr>
        </p:nvSpPr>
        <p:spPr/>
        <p:txBody>
          <a:bodyPr/>
          <a:lstStyle/>
          <a:p>
            <a:r>
              <a:rPr lang="ru-RU"/>
              <a:t>На практике в задачах, подобных рассмотренной, количество переменных может быть существенным, могут одновременно использоваться различные композиции нечетких выводов, сама схема выводов может быть многокаскадной. </a:t>
            </a:r>
          </a:p>
          <a:p>
            <a:r>
              <a:rPr lang="ru-RU"/>
              <a:t>Общих методов решения подобных задач в настоящее время, по-видимому, не существует.</a:t>
            </a:r>
          </a:p>
          <a:p>
            <a:endParaRPr lang="ru-RU"/>
          </a:p>
        </p:txBody>
      </p:sp>
      <p:sp>
        <p:nvSpPr>
          <p:cNvPr id="4" name="Номер слайда 3"/>
          <p:cNvSpPr>
            <a:spLocks noGrp="1"/>
          </p:cNvSpPr>
          <p:nvPr>
            <p:ph type="sldNum" sz="quarter" idx="12"/>
          </p:nvPr>
        </p:nvSpPr>
        <p:spPr/>
        <p:txBody>
          <a:bodyPr/>
          <a:lstStyle/>
          <a:p>
            <a:pPr>
              <a:defRPr/>
            </a:pPr>
            <a:fld id="{86621109-69FC-42B9-B7D8-78DA70BB36D8}" type="slidenum">
              <a:rPr lang="ru-RU" smtClean="0"/>
              <a:pPr>
                <a:defRPr/>
              </a:pPr>
              <a:t>128</a:t>
            </a:fld>
            <a:endParaRPr lang="ru-RU"/>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ctrTitle"/>
          </p:nvPr>
        </p:nvSpPr>
        <p:spPr/>
        <p:txBody>
          <a:bodyPr/>
          <a:lstStyle/>
          <a:p>
            <a:pPr>
              <a:defRPr/>
            </a:pPr>
            <a:r>
              <a:rPr lang="ru-RU" dirty="0"/>
              <a:t>Эффективность систем принятия решений, использующих методы нечеткой логики</a:t>
            </a:r>
          </a:p>
        </p:txBody>
      </p:sp>
      <p:sp>
        <p:nvSpPr>
          <p:cNvPr id="2" name="Подзаголовок 1">
            <a:extLst>
              <a:ext uri="{FF2B5EF4-FFF2-40B4-BE49-F238E27FC236}">
                <a16:creationId xmlns:a16="http://schemas.microsoft.com/office/drawing/2014/main" id="{95599E92-42F1-DBA4-86B3-5BA7AFD89738}"/>
              </a:ext>
            </a:extLst>
          </p:cNvPr>
          <p:cNvSpPr>
            <a:spLocks noGrp="1"/>
          </p:cNvSpPr>
          <p:nvPr>
            <p:ph type="subTitle" idx="1"/>
          </p:nvPr>
        </p:nvSpPr>
        <p:spPr/>
        <p:txBody>
          <a:bodyPr/>
          <a:lstStyle/>
          <a:p>
            <a:endParaRPr lang="ru-RU"/>
          </a:p>
        </p:txBody>
      </p:sp>
      <p:sp>
        <p:nvSpPr>
          <p:cNvPr id="3" name="Номер слайда 2"/>
          <p:cNvSpPr>
            <a:spLocks noGrp="1"/>
          </p:cNvSpPr>
          <p:nvPr>
            <p:ph type="sldNum" sz="quarter" idx="12"/>
          </p:nvPr>
        </p:nvSpPr>
        <p:spPr/>
        <p:txBody>
          <a:bodyPr/>
          <a:lstStyle/>
          <a:p>
            <a:pPr>
              <a:defRPr/>
            </a:pPr>
            <a:fld id="{6F53C87F-FD3F-4774-BEA2-B2EA8819D496}" type="slidenum">
              <a:rPr lang="ru-RU" smtClean="0"/>
              <a:pPr>
                <a:defRPr/>
              </a:pPr>
              <a:t>129</a:t>
            </a:fld>
            <a:endParaRPr lang="ru-RU"/>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Заголовок 4"/>
          <p:cNvSpPr>
            <a:spLocks noGrp="1"/>
          </p:cNvSpPr>
          <p:nvPr>
            <p:ph type="title"/>
          </p:nvPr>
        </p:nvSpPr>
        <p:spPr/>
        <p:txBody>
          <a:bodyPr/>
          <a:lstStyle/>
          <a:p>
            <a:r>
              <a:rPr lang="ru-RU"/>
              <a:t>Использование аппарата НЛ</a:t>
            </a:r>
          </a:p>
        </p:txBody>
      </p:sp>
      <p:sp>
        <p:nvSpPr>
          <p:cNvPr id="4" name="Номер слайда 3"/>
          <p:cNvSpPr>
            <a:spLocks noGrp="1"/>
          </p:cNvSpPr>
          <p:nvPr>
            <p:ph type="sldNum" sz="quarter" idx="12"/>
          </p:nvPr>
        </p:nvSpPr>
        <p:spPr/>
        <p:txBody>
          <a:bodyPr/>
          <a:lstStyle/>
          <a:p>
            <a:pPr>
              <a:defRPr/>
            </a:pPr>
            <a:fld id="{00C9EC0A-0D17-40EC-9818-4137257CCFF6}" type="slidenum">
              <a:rPr lang="ru-RU" smtClean="0"/>
              <a:pPr>
                <a:defRPr/>
              </a:pPr>
              <a:t>130</a:t>
            </a:fld>
            <a:endParaRPr lang="ru-RU"/>
          </a:p>
        </p:txBody>
      </p:sp>
      <p:graphicFrame>
        <p:nvGraphicFramePr>
          <p:cNvPr id="58370" name="Object 2"/>
          <p:cNvGraphicFramePr>
            <a:graphicFrameLocks noChangeAspect="1"/>
          </p:cNvGraphicFramePr>
          <p:nvPr/>
        </p:nvGraphicFramePr>
        <p:xfrm>
          <a:off x="360363" y="1428750"/>
          <a:ext cx="8383587" cy="4930775"/>
        </p:xfrm>
        <a:graphic>
          <a:graphicData uri="http://schemas.openxmlformats.org/presentationml/2006/ole">
            <mc:AlternateContent xmlns:mc="http://schemas.openxmlformats.org/markup-compatibility/2006">
              <mc:Choice xmlns:v="urn:schemas-microsoft-com:vml" Requires="v">
                <p:oleObj name="Документ" r:id="rId2" imgW="6463815" imgH="3813543" progId="Word.Document.12">
                  <p:embed/>
                </p:oleObj>
              </mc:Choice>
              <mc:Fallback>
                <p:oleObj name="Документ" r:id="rId2" imgW="6463815" imgH="3813543"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363" y="1428750"/>
                        <a:ext cx="8383587" cy="493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Заголовок 1"/>
          <p:cNvSpPr>
            <a:spLocks noGrp="1"/>
          </p:cNvSpPr>
          <p:nvPr>
            <p:ph type="title"/>
          </p:nvPr>
        </p:nvSpPr>
        <p:spPr/>
        <p:txBody>
          <a:bodyPr/>
          <a:lstStyle/>
          <a:p>
            <a:r>
              <a:rPr lang="ru-RU"/>
              <a:t>Использование аппарата НЛ</a:t>
            </a:r>
          </a:p>
        </p:txBody>
      </p:sp>
      <p:sp>
        <p:nvSpPr>
          <p:cNvPr id="3" name="Номер слайда 2"/>
          <p:cNvSpPr>
            <a:spLocks noGrp="1"/>
          </p:cNvSpPr>
          <p:nvPr>
            <p:ph type="sldNum" sz="quarter" idx="12"/>
          </p:nvPr>
        </p:nvSpPr>
        <p:spPr/>
        <p:txBody>
          <a:bodyPr/>
          <a:lstStyle/>
          <a:p>
            <a:pPr>
              <a:defRPr/>
            </a:pPr>
            <a:fld id="{C4766A64-728E-46E6-B880-E12B0CE72E6A}" type="slidenum">
              <a:rPr lang="ru-RU" smtClean="0"/>
              <a:pPr>
                <a:defRPr/>
              </a:pPr>
              <a:t>131</a:t>
            </a:fld>
            <a:endParaRPr lang="ru-RU"/>
          </a:p>
        </p:txBody>
      </p:sp>
      <p:graphicFrame>
        <p:nvGraphicFramePr>
          <p:cNvPr id="59394" name="Object 2"/>
          <p:cNvGraphicFramePr>
            <a:graphicFrameLocks noChangeAspect="1"/>
          </p:cNvGraphicFramePr>
          <p:nvPr/>
        </p:nvGraphicFramePr>
        <p:xfrm>
          <a:off x="330200" y="1674813"/>
          <a:ext cx="8456613" cy="4254500"/>
        </p:xfrm>
        <a:graphic>
          <a:graphicData uri="http://schemas.openxmlformats.org/presentationml/2006/ole">
            <mc:AlternateContent xmlns:mc="http://schemas.openxmlformats.org/markup-compatibility/2006">
              <mc:Choice xmlns:v="urn:schemas-microsoft-com:vml" Requires="v">
                <p:oleObj name="Документ" r:id="rId2" imgW="6463815" imgH="3262426" progId="Word.Document.12">
                  <p:embed/>
                </p:oleObj>
              </mc:Choice>
              <mc:Fallback>
                <p:oleObj name="Документ" r:id="rId2" imgW="6463815" imgH="3262426"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00" y="1674813"/>
                        <a:ext cx="8456613"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Заголовок 1"/>
          <p:cNvSpPr>
            <a:spLocks noGrp="1"/>
          </p:cNvSpPr>
          <p:nvPr>
            <p:ph type="title"/>
          </p:nvPr>
        </p:nvSpPr>
        <p:spPr/>
        <p:txBody>
          <a:bodyPr/>
          <a:lstStyle/>
          <a:p>
            <a:r>
              <a:rPr lang="ru-RU"/>
              <a:t>Использование аппарата НЛ</a:t>
            </a:r>
          </a:p>
        </p:txBody>
      </p:sp>
      <p:sp>
        <p:nvSpPr>
          <p:cNvPr id="3" name="Номер слайда 2"/>
          <p:cNvSpPr>
            <a:spLocks noGrp="1"/>
          </p:cNvSpPr>
          <p:nvPr>
            <p:ph type="sldNum" sz="quarter" idx="12"/>
          </p:nvPr>
        </p:nvSpPr>
        <p:spPr/>
        <p:txBody>
          <a:bodyPr/>
          <a:lstStyle/>
          <a:p>
            <a:pPr>
              <a:defRPr/>
            </a:pPr>
            <a:fld id="{F2DBD896-CC93-456D-A24D-8DC62D9AF23B}" type="slidenum">
              <a:rPr lang="ru-RU" smtClean="0"/>
              <a:pPr>
                <a:defRPr/>
              </a:pPr>
              <a:t>132</a:t>
            </a:fld>
            <a:endParaRPr lang="ru-RU"/>
          </a:p>
        </p:txBody>
      </p:sp>
      <p:graphicFrame>
        <p:nvGraphicFramePr>
          <p:cNvPr id="60418" name="Object 2"/>
          <p:cNvGraphicFramePr>
            <a:graphicFrameLocks noChangeAspect="1"/>
          </p:cNvGraphicFramePr>
          <p:nvPr/>
        </p:nvGraphicFramePr>
        <p:xfrm>
          <a:off x="215900" y="1571625"/>
          <a:ext cx="8489950" cy="4000500"/>
        </p:xfrm>
        <a:graphic>
          <a:graphicData uri="http://schemas.openxmlformats.org/presentationml/2006/ole">
            <mc:AlternateContent xmlns:mc="http://schemas.openxmlformats.org/markup-compatibility/2006">
              <mc:Choice xmlns:v="urn:schemas-microsoft-com:vml" Requires="v">
                <p:oleObj name="Документ" r:id="rId2" imgW="3777951" imgH="1733265" progId="Word.Document.12">
                  <p:embed/>
                </p:oleObj>
              </mc:Choice>
              <mc:Fallback>
                <p:oleObj name="Документ" r:id="rId2" imgW="3777951" imgH="173326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 y="1571625"/>
                        <a:ext cx="848995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Заголовок 3"/>
          <p:cNvSpPr>
            <a:spLocks noGrp="1"/>
          </p:cNvSpPr>
          <p:nvPr>
            <p:ph type="title"/>
          </p:nvPr>
        </p:nvSpPr>
        <p:spPr/>
        <p:txBody>
          <a:bodyPr/>
          <a:lstStyle/>
          <a:p>
            <a:r>
              <a:rPr lang="ru-RU"/>
              <a:t>Условия применения</a:t>
            </a:r>
          </a:p>
        </p:txBody>
      </p:sp>
      <p:sp>
        <p:nvSpPr>
          <p:cNvPr id="142339" name="Содержимое 4"/>
          <p:cNvSpPr>
            <a:spLocks noGrp="1"/>
          </p:cNvSpPr>
          <p:nvPr>
            <p:ph idx="1"/>
          </p:nvPr>
        </p:nvSpPr>
        <p:spPr/>
        <p:txBody>
          <a:bodyPr/>
          <a:lstStyle/>
          <a:p>
            <a:r>
              <a:rPr lang="ru-RU" sz="2000"/>
              <a:t>Вообще говоря, системы с нечеткой логикой целесообразно применить для сложных процессов, когда нет простой математической модели; если экспертные знания об объекте или о процессе можно сформулировать только в лингвистической форме.</a:t>
            </a:r>
          </a:p>
          <a:p>
            <a:r>
              <a:rPr lang="ru-RU" sz="2000"/>
              <a:t>Данные системы применять нецелесообразно, когда требуемый результат может быть получен каким-либо другим (стандартным) путем, или когда для объекта или процесса уже найдена адекватная и легко исследуемая математическая модель.</a:t>
            </a:r>
          </a:p>
          <a:p>
            <a:r>
              <a:rPr lang="ru-RU" sz="2000"/>
              <a:t>Отметим, что основные недостатки систем с нечеткой логикой связаны с тем, что:</a:t>
            </a:r>
          </a:p>
          <a:p>
            <a:pPr lvl="1"/>
            <a:r>
              <a:rPr lang="ru-RU" sz="1600"/>
              <a:t>исходный набор постулируемых нечетких правил формулируется экспертом-человеком и может оказаться неполным или противоречивым;</a:t>
            </a:r>
          </a:p>
          <a:p>
            <a:pPr lvl="1"/>
            <a:r>
              <a:rPr lang="ru-RU" sz="1600"/>
              <a:t>вид и параметры функций принадлежности, описывают их входные и выходные переменные системы, выбираются субъективно и могут оказаться не вполне отражающими реальную действительность.</a:t>
            </a:r>
          </a:p>
          <a:p>
            <a:endParaRPr lang="ru-RU" sz="2000"/>
          </a:p>
        </p:txBody>
      </p:sp>
      <p:sp>
        <p:nvSpPr>
          <p:cNvPr id="3" name="Номер слайда 2"/>
          <p:cNvSpPr>
            <a:spLocks noGrp="1"/>
          </p:cNvSpPr>
          <p:nvPr>
            <p:ph type="sldNum" sz="quarter" idx="12"/>
          </p:nvPr>
        </p:nvSpPr>
        <p:spPr/>
        <p:txBody>
          <a:bodyPr/>
          <a:lstStyle/>
          <a:p>
            <a:pPr>
              <a:defRPr/>
            </a:pPr>
            <a:fld id="{6ECDF209-B297-4D01-9F63-1B2606899D08}" type="slidenum">
              <a:rPr lang="ru-RU" smtClean="0"/>
              <a:pPr>
                <a:defRPr/>
              </a:pPr>
              <a:t>133</a:t>
            </a:fld>
            <a:endParaRPr lang="ru-RU"/>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Заголовок 1"/>
          <p:cNvSpPr>
            <a:spLocks noGrp="1"/>
          </p:cNvSpPr>
          <p:nvPr>
            <p:ph type="title"/>
          </p:nvPr>
        </p:nvSpPr>
        <p:spPr/>
        <p:txBody>
          <a:bodyPr/>
          <a:lstStyle/>
          <a:p>
            <a:r>
              <a:rPr lang="ru-RU"/>
              <a:t>Приближенные рассуждения в прикладных задачах</a:t>
            </a:r>
          </a:p>
        </p:txBody>
      </p:sp>
      <p:sp>
        <p:nvSpPr>
          <p:cNvPr id="143363" name="Содержимое 2"/>
          <p:cNvSpPr>
            <a:spLocks noGrp="1"/>
          </p:cNvSpPr>
          <p:nvPr>
            <p:ph idx="1"/>
          </p:nvPr>
        </p:nvSpPr>
        <p:spPr/>
        <p:txBody>
          <a:bodyPr/>
          <a:lstStyle/>
          <a:p>
            <a:r>
              <a:rPr lang="ru-RU" sz="2400"/>
              <a:t>Проиллюстрируем применение аппарата приближенных рассуждений на примере нечетких контроллеров. Под нечеткими контроллерами понимается программно-аппаратные системы, управляющие некоторыми процессами (от английского слова control - управление). Такого рода системы имеют огромное число приложений - от бытовой техники до управления сложными технологическими процессами. Рынок нечетких контроллеров оценивается в миллиарды долларов.</a:t>
            </a:r>
          </a:p>
          <a:p>
            <a:r>
              <a:rPr lang="ru-RU" sz="2400"/>
              <a:t>Для описания нечетких управляющих систем сформулируем основные понятия теории управляющих систем в классическом понимании.</a:t>
            </a:r>
          </a:p>
          <a:p>
            <a:endParaRPr lang="ru-RU" sz="2400"/>
          </a:p>
        </p:txBody>
      </p:sp>
      <p:sp>
        <p:nvSpPr>
          <p:cNvPr id="4" name="Номер слайда 3"/>
          <p:cNvSpPr>
            <a:spLocks noGrp="1"/>
          </p:cNvSpPr>
          <p:nvPr>
            <p:ph type="sldNum" sz="quarter" idx="12"/>
          </p:nvPr>
        </p:nvSpPr>
        <p:spPr/>
        <p:txBody>
          <a:bodyPr/>
          <a:lstStyle/>
          <a:p>
            <a:pPr>
              <a:defRPr/>
            </a:pPr>
            <a:fld id="{7EDC3EB0-F3A8-4F11-A891-713F1F67EE42}" type="slidenum">
              <a:rPr lang="ru-RU" smtClean="0"/>
              <a:pPr>
                <a:defRPr/>
              </a:pPr>
              <a:t>134</a:t>
            </a:fld>
            <a:endParaRPr lang="ru-RU"/>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Заголовок 1"/>
          <p:cNvSpPr>
            <a:spLocks noGrp="1"/>
          </p:cNvSpPr>
          <p:nvPr>
            <p:ph type="title"/>
          </p:nvPr>
        </p:nvSpPr>
        <p:spPr/>
        <p:txBody>
          <a:bodyPr/>
          <a:lstStyle/>
          <a:p>
            <a:r>
              <a:rPr lang="ru-RU" sz="3600"/>
              <a:t>Основные понятия теории управления</a:t>
            </a:r>
          </a:p>
        </p:txBody>
      </p:sp>
      <p:pic>
        <p:nvPicPr>
          <p:cNvPr id="144387"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48188" y="1428750"/>
            <a:ext cx="4357687" cy="2786063"/>
          </a:xfrm>
          <a:noFill/>
        </p:spPr>
      </p:pic>
      <p:sp>
        <p:nvSpPr>
          <p:cNvPr id="144388" name="Содержимое 5"/>
          <p:cNvSpPr>
            <a:spLocks noGrp="1"/>
          </p:cNvSpPr>
          <p:nvPr>
            <p:ph sz="half" idx="2"/>
          </p:nvPr>
        </p:nvSpPr>
        <p:spPr>
          <a:xfrm>
            <a:off x="214313" y="1600200"/>
            <a:ext cx="4214812" cy="4525963"/>
          </a:xfrm>
        </p:spPr>
        <p:txBody>
          <a:bodyPr/>
          <a:lstStyle/>
          <a:p>
            <a:r>
              <a:rPr lang="ru-RU" sz="1600"/>
              <a:t>Система управления на основе наблюдений среды и объекта управления и соответствия этих наблюдений цели формирует решение по выбору управляющего воздействия на объект (в частном случае это может быть "пустое" решение). </a:t>
            </a:r>
          </a:p>
          <a:p>
            <a:r>
              <a:rPr lang="ru-RU" sz="1600"/>
              <a:t>Если при сложившейся ситуации в среде и на объекте управления цель достигнута - продолжается наблюдение за средой и объектом. </a:t>
            </a:r>
          </a:p>
          <a:p>
            <a:r>
              <a:rPr lang="ru-RU" sz="1600"/>
              <a:t>Если цель не достигается - необходимо некоторое воздействие на объект. Это воздействие выбирается блоком принятия решений на основе модели среды и модели объекта управления и выполняется блоком реализации решений. </a:t>
            </a:r>
          </a:p>
          <a:p>
            <a:endParaRPr lang="ru-RU" sz="1600"/>
          </a:p>
        </p:txBody>
      </p:sp>
      <p:sp>
        <p:nvSpPr>
          <p:cNvPr id="4" name="Номер слайда 3"/>
          <p:cNvSpPr>
            <a:spLocks noGrp="1"/>
          </p:cNvSpPr>
          <p:nvPr>
            <p:ph type="sldNum" sz="quarter" idx="12"/>
          </p:nvPr>
        </p:nvSpPr>
        <p:spPr/>
        <p:txBody>
          <a:bodyPr/>
          <a:lstStyle/>
          <a:p>
            <a:pPr>
              <a:defRPr/>
            </a:pPr>
            <a:fld id="{42B47246-D225-4332-B39A-5B0E0113688C}" type="slidenum">
              <a:rPr lang="ru-RU" smtClean="0"/>
              <a:pPr>
                <a:defRPr/>
              </a:pPr>
              <a:t>135</a:t>
            </a:fld>
            <a:endParaRPr lang="ru-RU"/>
          </a:p>
        </p:txBody>
      </p:sp>
      <p:sp>
        <p:nvSpPr>
          <p:cNvPr id="144390" name="TextBox 6"/>
          <p:cNvSpPr txBox="1">
            <a:spLocks noChangeArrowheads="1"/>
          </p:cNvSpPr>
          <p:nvPr/>
        </p:nvSpPr>
        <p:spPr bwMode="auto">
          <a:xfrm>
            <a:off x="4572000" y="4286250"/>
            <a:ext cx="42862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9388"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buFont typeface="Arial" charset="0"/>
              <a:buChar char="•"/>
            </a:pPr>
            <a:r>
              <a:rPr lang="en-US" sz="1200" dirty="0">
                <a:latin typeface="Times New Roman" panose="02020603050405020304" pitchFamily="18" charset="0"/>
                <a:cs typeface="Times New Roman" panose="02020603050405020304" pitchFamily="18" charset="0"/>
              </a:rPr>
              <a:t> </a:t>
            </a:r>
            <a:r>
              <a:rPr lang="ru-RU" sz="1200" dirty="0">
                <a:latin typeface="Times New Roman" panose="02020603050405020304" pitchFamily="18" charset="0"/>
                <a:cs typeface="Times New Roman" panose="02020603050405020304" pitchFamily="18" charset="0"/>
              </a:rPr>
              <a:t>Воздействие вызывает переход объекта в новое состояние и, как следствие, некоторые возмущения в среде. Новое состояние пары "объект управления - среда" может быть ближе к цели или, наоборот, удалять нас от нее. </a:t>
            </a:r>
          </a:p>
          <a:p>
            <a:pPr eaLnBrk="1" hangingPunct="1">
              <a:buFont typeface="Arial" charset="0"/>
              <a:buChar char="•"/>
            </a:pPr>
            <a:r>
              <a:rPr lang="en-US" sz="1200" dirty="0">
                <a:latin typeface="Times New Roman" panose="02020603050405020304" pitchFamily="18" charset="0"/>
                <a:cs typeface="Times New Roman" panose="02020603050405020304" pitchFamily="18" charset="0"/>
              </a:rPr>
              <a:t> </a:t>
            </a:r>
            <a:r>
              <a:rPr lang="ru-RU" sz="1200" dirty="0">
                <a:latin typeface="Times New Roman" panose="02020603050405020304" pitchFamily="18" charset="0"/>
                <a:cs typeface="Times New Roman" panose="02020603050405020304" pitchFamily="18" charset="0"/>
              </a:rPr>
              <a:t>Мы можем оценить это, наблюдая объект и среду и сравнивая сложившуюся реальную ситуацию с целью. </a:t>
            </a:r>
          </a:p>
          <a:p>
            <a:pPr eaLnBrk="1" hangingPunct="1">
              <a:buFont typeface="Arial" charset="0"/>
              <a:buChar char="•"/>
            </a:pPr>
            <a:r>
              <a:rPr lang="en-US" sz="1200" dirty="0">
                <a:latin typeface="Times New Roman" panose="02020603050405020304" pitchFamily="18" charset="0"/>
                <a:cs typeface="Times New Roman" panose="02020603050405020304" pitchFamily="18" charset="0"/>
              </a:rPr>
              <a:t> </a:t>
            </a:r>
            <a:r>
              <a:rPr lang="ru-RU" sz="1200" dirty="0">
                <a:latin typeface="Times New Roman" panose="02020603050405020304" pitchFamily="18" charset="0"/>
                <a:cs typeface="Times New Roman" panose="02020603050405020304" pitchFamily="18" charset="0"/>
              </a:rPr>
              <a:t>Результат такого наблюдения и сравнения инициирует либо новые решения в случае, когда цель не достигается, либо пассивное наблюдение в случае, когда цель достигнута.</a:t>
            </a:r>
          </a:p>
          <a:p>
            <a:pPr eaLnBrk="1" hangingPunct="1">
              <a:buFont typeface="Arial" charset="0"/>
              <a:buChar char="•"/>
            </a:pPr>
            <a:endParaRPr lang="ru-RU"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Заголовок 1"/>
          <p:cNvSpPr>
            <a:spLocks noGrp="1"/>
          </p:cNvSpPr>
          <p:nvPr>
            <p:ph type="title"/>
          </p:nvPr>
        </p:nvSpPr>
        <p:spPr/>
        <p:txBody>
          <a:bodyPr/>
          <a:lstStyle/>
          <a:p>
            <a:r>
              <a:rPr lang="ru-RU" sz="3600"/>
              <a:t>Основные идеи нечеткого управления</a:t>
            </a:r>
          </a:p>
        </p:txBody>
      </p:sp>
      <p:sp>
        <p:nvSpPr>
          <p:cNvPr id="145411" name="Содержимое 5"/>
          <p:cNvSpPr>
            <a:spLocks noGrp="1"/>
          </p:cNvSpPr>
          <p:nvPr>
            <p:ph idx="1"/>
          </p:nvPr>
        </p:nvSpPr>
        <p:spPr/>
        <p:txBody>
          <a:bodyPr/>
          <a:lstStyle/>
          <a:p>
            <a:r>
              <a:rPr lang="ru-RU" sz="2000"/>
              <a:t>Как видно из приведенного краткого обзора основных понятий теории управления, применение классических методов возможно при наличии модели среды и модели объекта управления. </a:t>
            </a:r>
          </a:p>
          <a:p>
            <a:r>
              <a:rPr lang="ru-RU" sz="2000"/>
              <a:t>Что делать, если таких моделей нет? Или модели есть, но для их "обсчета" требуются значительные ресурсы? </a:t>
            </a:r>
          </a:p>
          <a:p>
            <a:r>
              <a:rPr lang="ru-RU" sz="2000"/>
              <a:t>Для "модельных" задач последнее может быть не существенным, однако для практических задач большие ресурсы могут быть критичными (например, для систем управления в реальном времени управляющее воздействие должно вырабатываться не более, чем за некоторое время </a:t>
            </a:r>
            <a:r>
              <a:rPr lang="ru-RU" sz="2000" i="1"/>
              <a:t>Δt</a:t>
            </a:r>
            <a:r>
              <a:rPr lang="ru-RU" sz="2000"/>
              <a:t>, иначе решение, пусть самое лучшее, уже никому не нужно; для бортовых систем управления критичным могут быть габариты и вес компьютера: если для работы с моделью требуется супер-ЭВМ, то ее не возьмешь в самолет или автомобиль).</a:t>
            </a:r>
          </a:p>
          <a:p>
            <a:endParaRPr lang="ru-RU" sz="2000"/>
          </a:p>
        </p:txBody>
      </p:sp>
      <p:sp>
        <p:nvSpPr>
          <p:cNvPr id="5" name="Номер слайда 4"/>
          <p:cNvSpPr>
            <a:spLocks noGrp="1"/>
          </p:cNvSpPr>
          <p:nvPr>
            <p:ph type="sldNum" sz="quarter" idx="12"/>
          </p:nvPr>
        </p:nvSpPr>
        <p:spPr/>
        <p:txBody>
          <a:bodyPr/>
          <a:lstStyle/>
          <a:p>
            <a:pPr>
              <a:defRPr/>
            </a:pPr>
            <a:fld id="{9DA052ED-1B58-4F5D-BF9B-E7654E855140}" type="slidenum">
              <a:rPr lang="ru-RU" smtClean="0"/>
              <a:pPr>
                <a:defRPr/>
              </a:pPr>
              <a:t>136</a:t>
            </a:fld>
            <a:endParaRPr lang="ru-RU"/>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Заголовок 1"/>
          <p:cNvSpPr>
            <a:spLocks noGrp="1"/>
          </p:cNvSpPr>
          <p:nvPr>
            <p:ph type="title"/>
          </p:nvPr>
        </p:nvSpPr>
        <p:spPr/>
        <p:txBody>
          <a:bodyPr/>
          <a:lstStyle/>
          <a:p>
            <a:r>
              <a:rPr lang="ru-RU" sz="3600"/>
              <a:t>Основные идеи нечеткого управления</a:t>
            </a:r>
          </a:p>
        </p:txBody>
      </p:sp>
      <p:sp>
        <p:nvSpPr>
          <p:cNvPr id="4" name="Номер слайда 3"/>
          <p:cNvSpPr>
            <a:spLocks noGrp="1"/>
          </p:cNvSpPr>
          <p:nvPr>
            <p:ph type="sldNum" sz="quarter" idx="12"/>
          </p:nvPr>
        </p:nvSpPr>
        <p:spPr/>
        <p:txBody>
          <a:bodyPr/>
          <a:lstStyle/>
          <a:p>
            <a:pPr>
              <a:defRPr/>
            </a:pPr>
            <a:fld id="{1381F53A-F273-42AD-A88D-83D73B14A6E5}" type="slidenum">
              <a:rPr lang="ru-RU" smtClean="0"/>
              <a:pPr>
                <a:defRPr/>
              </a:pPr>
              <a:t>137</a:t>
            </a:fld>
            <a:endParaRPr lang="ru-RU"/>
          </a:p>
        </p:txBody>
      </p:sp>
      <p:graphicFrame>
        <p:nvGraphicFramePr>
          <p:cNvPr id="61442" name="Object 2"/>
          <p:cNvGraphicFramePr>
            <a:graphicFrameLocks noChangeAspect="1"/>
          </p:cNvGraphicFramePr>
          <p:nvPr/>
        </p:nvGraphicFramePr>
        <p:xfrm>
          <a:off x="357188" y="1357313"/>
          <a:ext cx="8324850" cy="4857750"/>
        </p:xfrm>
        <a:graphic>
          <a:graphicData uri="http://schemas.openxmlformats.org/presentationml/2006/ole">
            <mc:AlternateContent xmlns:mc="http://schemas.openxmlformats.org/markup-compatibility/2006">
              <mc:Choice xmlns:v="urn:schemas-microsoft-com:vml" Requires="v">
                <p:oleObj name="Документ" r:id="rId2" imgW="4864291" imgH="3052922" progId="Word.Document.12">
                  <p:embed/>
                </p:oleObj>
              </mc:Choice>
              <mc:Fallback>
                <p:oleObj name="Документ" r:id="rId2" imgW="4864291" imgH="3052922"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357313"/>
                        <a:ext cx="832485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Заголовок 1"/>
          <p:cNvSpPr>
            <a:spLocks noGrp="1"/>
          </p:cNvSpPr>
          <p:nvPr>
            <p:ph type="title"/>
          </p:nvPr>
        </p:nvSpPr>
        <p:spPr/>
        <p:txBody>
          <a:bodyPr/>
          <a:lstStyle/>
          <a:p>
            <a:r>
              <a:rPr lang="ru-RU" sz="3600"/>
              <a:t>Основные идеи нечеткого управления.</a:t>
            </a:r>
            <a:br>
              <a:rPr lang="ru-RU" sz="3600"/>
            </a:br>
            <a:r>
              <a:rPr lang="ru-RU" sz="3600"/>
              <a:t>Пример реализации.</a:t>
            </a:r>
          </a:p>
        </p:txBody>
      </p:sp>
      <p:sp>
        <p:nvSpPr>
          <p:cNvPr id="4" name="Номер слайда 3"/>
          <p:cNvSpPr>
            <a:spLocks noGrp="1"/>
          </p:cNvSpPr>
          <p:nvPr>
            <p:ph type="sldNum" sz="quarter" idx="12"/>
          </p:nvPr>
        </p:nvSpPr>
        <p:spPr/>
        <p:txBody>
          <a:bodyPr/>
          <a:lstStyle/>
          <a:p>
            <a:pPr>
              <a:defRPr/>
            </a:pPr>
            <a:fld id="{7D1C1FD3-10ED-4582-A2B7-D010331D05BB}" type="slidenum">
              <a:rPr lang="ru-RU" smtClean="0"/>
              <a:pPr>
                <a:defRPr/>
              </a:pPr>
              <a:t>138</a:t>
            </a:fld>
            <a:endParaRPr lang="ru-RU"/>
          </a:p>
        </p:txBody>
      </p:sp>
      <p:graphicFrame>
        <p:nvGraphicFramePr>
          <p:cNvPr id="62466" name="Object 2"/>
          <p:cNvGraphicFramePr>
            <a:graphicFrameLocks noChangeAspect="1"/>
          </p:cNvGraphicFramePr>
          <p:nvPr/>
        </p:nvGraphicFramePr>
        <p:xfrm>
          <a:off x="287338" y="1644650"/>
          <a:ext cx="8428037" cy="4913313"/>
        </p:xfrm>
        <a:graphic>
          <a:graphicData uri="http://schemas.openxmlformats.org/presentationml/2006/ole">
            <mc:AlternateContent xmlns:mc="http://schemas.openxmlformats.org/markup-compatibility/2006">
              <mc:Choice xmlns:v="urn:schemas-microsoft-com:vml" Requires="v">
                <p:oleObj name="Документ" r:id="rId2" imgW="5020150" imgH="2892375" progId="Word.Document.12">
                  <p:embed/>
                </p:oleObj>
              </mc:Choice>
              <mc:Fallback>
                <p:oleObj name="Документ" r:id="rId2" imgW="5020150" imgH="2892375"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1644650"/>
                        <a:ext cx="8428037" cy="4913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Заголовок 1"/>
          <p:cNvSpPr>
            <a:spLocks noGrp="1"/>
          </p:cNvSpPr>
          <p:nvPr>
            <p:ph type="title"/>
          </p:nvPr>
        </p:nvSpPr>
        <p:spPr/>
        <p:txBody>
          <a:bodyPr/>
          <a:lstStyle/>
          <a:p>
            <a:r>
              <a:rPr lang="ru-RU"/>
              <a:t>Принцип действия регулятора</a:t>
            </a:r>
          </a:p>
        </p:txBody>
      </p:sp>
      <p:sp>
        <p:nvSpPr>
          <p:cNvPr id="146435" name="Содержимое 2"/>
          <p:cNvSpPr>
            <a:spLocks noGrp="1"/>
          </p:cNvSpPr>
          <p:nvPr>
            <p:ph idx="1"/>
          </p:nvPr>
        </p:nvSpPr>
        <p:spPr/>
        <p:txBody>
          <a:bodyPr/>
          <a:lstStyle/>
          <a:p>
            <a:r>
              <a:rPr lang="ru-RU" sz="2000"/>
              <a:t>Таким образом, моделью объекта управления и среды является их лингвистическое описание; блок принятия решений работает как последовательность "Если ..., то ..." правил. </a:t>
            </a:r>
          </a:p>
          <a:p>
            <a:r>
              <a:rPr lang="ru-RU" sz="2000"/>
              <a:t>Возникает ситуация, когда элементы одной схемы описываются на разных "языках": в среде значения признаков – некоторые числа, отражающие значения физических измеряемых величин, а в модели управления значения признаков - качественные понятия. Система управления должна взять с объекта управления некоторые числа и выдать на объект опять же некоторые конкретные числа.</a:t>
            </a:r>
          </a:p>
          <a:p>
            <a:r>
              <a:rPr lang="ru-RU" sz="2000"/>
              <a:t>Для этого система управления имеет два интерфейса: представления физического значения признака в лингвистическом виде ("фазификатор") и представления получившегося в результате нечетких рассуждений лингвистического значения управляемого параметра в количественном виде ("дефазификатор"). </a:t>
            </a:r>
          </a:p>
        </p:txBody>
      </p:sp>
      <p:sp>
        <p:nvSpPr>
          <p:cNvPr id="4" name="Номер слайда 3"/>
          <p:cNvSpPr>
            <a:spLocks noGrp="1"/>
          </p:cNvSpPr>
          <p:nvPr>
            <p:ph type="sldNum" sz="quarter" idx="12"/>
          </p:nvPr>
        </p:nvSpPr>
        <p:spPr/>
        <p:txBody>
          <a:bodyPr/>
          <a:lstStyle/>
          <a:p>
            <a:pPr>
              <a:defRPr/>
            </a:pPr>
            <a:fld id="{09B689E6-7E72-4575-B976-EBDF7D4D6FE5}" type="slidenum">
              <a:rPr lang="ru-RU" smtClean="0"/>
              <a:pPr>
                <a:defRPr/>
              </a:pPr>
              <a:t>139</a:t>
            </a:fld>
            <a:endParaRPr lang="ru-RU"/>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Заголовок 1"/>
          <p:cNvSpPr>
            <a:spLocks noGrp="1"/>
          </p:cNvSpPr>
          <p:nvPr>
            <p:ph type="title"/>
          </p:nvPr>
        </p:nvSpPr>
        <p:spPr/>
        <p:txBody>
          <a:bodyPr/>
          <a:lstStyle/>
          <a:p>
            <a:r>
              <a:rPr lang="ru-RU"/>
              <a:t>Структурная схема нечеткого лингвистического регулятора</a:t>
            </a:r>
          </a:p>
        </p:txBody>
      </p:sp>
      <p:sp>
        <p:nvSpPr>
          <p:cNvPr id="4" name="Номер слайда 3"/>
          <p:cNvSpPr>
            <a:spLocks noGrp="1"/>
          </p:cNvSpPr>
          <p:nvPr>
            <p:ph type="sldNum" sz="quarter" idx="12"/>
          </p:nvPr>
        </p:nvSpPr>
        <p:spPr/>
        <p:txBody>
          <a:bodyPr/>
          <a:lstStyle/>
          <a:p>
            <a:pPr>
              <a:defRPr/>
            </a:pPr>
            <a:fld id="{3FD7CCE2-DFF5-4FB3-ABE6-1D5DE31BBF63}" type="slidenum">
              <a:rPr lang="ru-RU" smtClean="0"/>
              <a:pPr>
                <a:defRPr/>
              </a:pPr>
              <a:t>140</a:t>
            </a:fld>
            <a:endParaRPr lang="ru-RU"/>
          </a:p>
        </p:txBody>
      </p:sp>
      <p:pic>
        <p:nvPicPr>
          <p:cNvPr id="14746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65263" y="1600200"/>
            <a:ext cx="6213475" cy="4525963"/>
          </a:xfrm>
          <a:noFill/>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Заголовок 1"/>
          <p:cNvSpPr>
            <a:spLocks noGrp="1"/>
          </p:cNvSpPr>
          <p:nvPr>
            <p:ph type="title"/>
          </p:nvPr>
        </p:nvSpPr>
        <p:spPr/>
        <p:txBody>
          <a:bodyPr/>
          <a:lstStyle/>
          <a:p>
            <a:r>
              <a:rPr lang="ru-RU"/>
              <a:t>Пример: нечеткий регулятор</a:t>
            </a:r>
          </a:p>
        </p:txBody>
      </p:sp>
      <p:sp>
        <p:nvSpPr>
          <p:cNvPr id="148483" name="Содержимое 2"/>
          <p:cNvSpPr>
            <a:spLocks noGrp="1"/>
          </p:cNvSpPr>
          <p:nvPr>
            <p:ph idx="1"/>
          </p:nvPr>
        </p:nvSpPr>
        <p:spPr/>
        <p:txBody>
          <a:bodyPr/>
          <a:lstStyle/>
          <a:p>
            <a:r>
              <a:rPr lang="ru-RU" sz="2000"/>
              <a:t>Приведем еще один пример использования аппарата нечеткой логики, на этот раз – в задаче управления.</a:t>
            </a:r>
          </a:p>
          <a:p>
            <a:r>
              <a:rPr lang="ru-RU" sz="2000"/>
              <a:t>Рассмотрим замкнутую систему регулирования, представленную на рис. где через О обозначен объект управления, через </a:t>
            </a:r>
            <a:r>
              <a:rPr lang="en-US" sz="2000"/>
              <a:t>P</a:t>
            </a:r>
            <a:r>
              <a:rPr lang="ru-RU" sz="2000"/>
              <a:t> – регулятор, а через </a:t>
            </a:r>
            <a:r>
              <a:rPr lang="en-US" sz="2000" i="1"/>
              <a:t>u</a:t>
            </a:r>
            <a:r>
              <a:rPr lang="ru-RU" sz="2000" i="1"/>
              <a:t>, </a:t>
            </a:r>
            <a:r>
              <a:rPr lang="en-US" sz="2000" i="1"/>
              <a:t>y</a:t>
            </a:r>
            <a:r>
              <a:rPr lang="ru-RU" sz="2000" i="1"/>
              <a:t>, </a:t>
            </a:r>
            <a:r>
              <a:rPr lang="en-US" sz="2000" i="1"/>
              <a:t>e</a:t>
            </a:r>
            <a:r>
              <a:rPr lang="ru-RU" sz="2000" i="1"/>
              <a:t>, </a:t>
            </a:r>
            <a:r>
              <a:rPr lang="en-US" sz="2000" i="1"/>
              <a:t>x</a:t>
            </a:r>
            <a:r>
              <a:rPr lang="ru-RU" sz="2000"/>
              <a:t> – соответственно входной сигнал системы, ее выходной сигнал, сигнал ошибки (рассогласования), поступающий на вход регулятора, и выходной сигнал регулятора.</a:t>
            </a:r>
          </a:p>
          <a:p>
            <a:endParaRPr lang="ru-RU" sz="2000"/>
          </a:p>
        </p:txBody>
      </p:sp>
      <p:sp>
        <p:nvSpPr>
          <p:cNvPr id="4" name="Номер слайда 3"/>
          <p:cNvSpPr>
            <a:spLocks noGrp="1"/>
          </p:cNvSpPr>
          <p:nvPr>
            <p:ph type="sldNum" sz="quarter" idx="12"/>
          </p:nvPr>
        </p:nvSpPr>
        <p:spPr/>
        <p:txBody>
          <a:bodyPr/>
          <a:lstStyle/>
          <a:p>
            <a:pPr>
              <a:defRPr/>
            </a:pPr>
            <a:fld id="{1D897893-250F-4483-B483-4F909F8A118D}" type="slidenum">
              <a:rPr lang="ru-RU" smtClean="0"/>
              <a:pPr>
                <a:defRPr/>
              </a:pPr>
              <a:t>141</a:t>
            </a:fld>
            <a:endParaRPr lang="ru-RU"/>
          </a:p>
        </p:txBody>
      </p:sp>
      <p:pic>
        <p:nvPicPr>
          <p:cNvPr id="14848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5" y="4000500"/>
            <a:ext cx="783272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Заголовок 1"/>
          <p:cNvSpPr>
            <a:spLocks noGrp="1"/>
          </p:cNvSpPr>
          <p:nvPr>
            <p:ph type="title"/>
          </p:nvPr>
        </p:nvSpPr>
        <p:spPr/>
        <p:txBody>
          <a:bodyPr/>
          <a:lstStyle/>
          <a:p>
            <a:r>
              <a:rPr lang="ru-RU"/>
              <a:t>Описание системы</a:t>
            </a:r>
          </a:p>
        </p:txBody>
      </p:sp>
      <p:sp>
        <p:nvSpPr>
          <p:cNvPr id="149507" name="Содержимое 2"/>
          <p:cNvSpPr>
            <a:spLocks noGrp="1"/>
          </p:cNvSpPr>
          <p:nvPr>
            <p:ph idx="1"/>
          </p:nvPr>
        </p:nvSpPr>
        <p:spPr/>
        <p:txBody>
          <a:bodyPr/>
          <a:lstStyle/>
          <a:p>
            <a:r>
              <a:rPr lang="ru-RU" sz="2400"/>
              <a:t>В рассматриваемой системе регулятор вырабатывает управляющий сигнал </a:t>
            </a:r>
            <a:r>
              <a:rPr lang="en-US" sz="2400" i="1"/>
              <a:t>x</a:t>
            </a:r>
            <a:r>
              <a:rPr lang="ru-RU" sz="2400"/>
              <a:t> в соответствии с выбранным алгоритмом регулирования. Покажем, что в данном случае для выработки такого сигнала применимы рассмотренные выше методы аппарата нечеткой логики.</a:t>
            </a:r>
          </a:p>
          <a:p>
            <a:r>
              <a:rPr lang="ru-RU" sz="2400"/>
              <a:t>Предположим, что функции регулятора выполняет микроконтроллер, при этом аналоговый сигнал </a:t>
            </a:r>
            <a:r>
              <a:rPr lang="ru-RU" sz="2400" i="1"/>
              <a:t>е</a:t>
            </a:r>
            <a:r>
              <a:rPr lang="ru-RU" sz="2400"/>
              <a:t> ограничен диапазоном </a:t>
            </a:r>
            <a:r>
              <a:rPr lang="ru-RU" sz="2400" i="1"/>
              <a:t>[-1, 1]</a:t>
            </a:r>
            <a:r>
              <a:rPr lang="ru-RU" sz="2400"/>
              <a:t> и преобразуется в цифровую форму аналого-цифровым преобразователем (АЦП) с дискретностью 0,25, а выходной сигнал регулятора </a:t>
            </a:r>
            <a:r>
              <a:rPr lang="ru-RU" sz="2400" i="1"/>
              <a:t>х</a:t>
            </a:r>
            <a:r>
              <a:rPr lang="ru-RU" sz="2400"/>
              <a:t> формируется с помощью цифроаналогового преобразователя (ЦАП) и имеет всего 5 уровней: </a:t>
            </a:r>
          </a:p>
          <a:p>
            <a:pPr lvl="1">
              <a:buFont typeface="Arial" charset="0"/>
              <a:buNone/>
            </a:pPr>
            <a:r>
              <a:rPr lang="ru-RU" sz="2000" i="1"/>
              <a:t>-1, -0,5, 0, 0,5, 1</a:t>
            </a:r>
            <a:r>
              <a:rPr lang="ru-RU" sz="2000"/>
              <a:t>.</a:t>
            </a:r>
          </a:p>
        </p:txBody>
      </p:sp>
      <p:sp>
        <p:nvSpPr>
          <p:cNvPr id="4" name="Номер слайда 3"/>
          <p:cNvSpPr>
            <a:spLocks noGrp="1"/>
          </p:cNvSpPr>
          <p:nvPr>
            <p:ph type="sldNum" sz="quarter" idx="12"/>
          </p:nvPr>
        </p:nvSpPr>
        <p:spPr/>
        <p:txBody>
          <a:bodyPr/>
          <a:lstStyle/>
          <a:p>
            <a:pPr>
              <a:defRPr/>
            </a:pPr>
            <a:fld id="{A58A3D9C-F930-44C3-AFEA-CAC0DE1C6A80}" type="slidenum">
              <a:rPr lang="ru-RU" smtClean="0"/>
              <a:pPr>
                <a:defRPr/>
              </a:pPr>
              <a:t>142</a:t>
            </a:fld>
            <a:endParaRPr lang="ru-RU"/>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Заголовок 1"/>
          <p:cNvSpPr>
            <a:spLocks noGrp="1"/>
          </p:cNvSpPr>
          <p:nvPr>
            <p:ph type="title"/>
          </p:nvPr>
        </p:nvSpPr>
        <p:spPr/>
        <p:txBody>
          <a:bodyPr/>
          <a:lstStyle/>
          <a:p>
            <a:r>
              <a:rPr lang="ru-RU"/>
              <a:t>Лингвистическое описание</a:t>
            </a:r>
          </a:p>
        </p:txBody>
      </p:sp>
      <p:sp>
        <p:nvSpPr>
          <p:cNvPr id="4" name="Номер слайда 3"/>
          <p:cNvSpPr>
            <a:spLocks noGrp="1"/>
          </p:cNvSpPr>
          <p:nvPr>
            <p:ph type="sldNum" sz="quarter" idx="12"/>
          </p:nvPr>
        </p:nvSpPr>
        <p:spPr/>
        <p:txBody>
          <a:bodyPr/>
          <a:lstStyle/>
          <a:p>
            <a:pPr>
              <a:defRPr/>
            </a:pPr>
            <a:fld id="{F7705388-2EE9-4AF2-8834-B800D5F59F52}" type="slidenum">
              <a:rPr lang="ru-RU" smtClean="0"/>
              <a:pPr>
                <a:defRPr/>
              </a:pPr>
              <a:t>143</a:t>
            </a:fld>
            <a:endParaRPr lang="ru-RU"/>
          </a:p>
        </p:txBody>
      </p:sp>
      <p:graphicFrame>
        <p:nvGraphicFramePr>
          <p:cNvPr id="63490" name="Object 2"/>
          <p:cNvGraphicFramePr>
            <a:graphicFrameLocks noChangeAspect="1"/>
          </p:cNvGraphicFramePr>
          <p:nvPr/>
        </p:nvGraphicFramePr>
        <p:xfrm>
          <a:off x="357188" y="1571625"/>
          <a:ext cx="8501062" cy="4870450"/>
        </p:xfrm>
        <a:graphic>
          <a:graphicData uri="http://schemas.openxmlformats.org/presentationml/2006/ole">
            <mc:AlternateContent xmlns:mc="http://schemas.openxmlformats.org/markup-compatibility/2006">
              <mc:Choice xmlns:v="urn:schemas-microsoft-com:vml" Requires="v">
                <p:oleObj name="Документ" r:id="rId2" imgW="5685960" imgH="3353499" progId="Word.Document.12">
                  <p:embed/>
                </p:oleObj>
              </mc:Choice>
              <mc:Fallback>
                <p:oleObj name="Документ" r:id="rId2" imgW="5685960" imgH="3353499"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188" y="1571625"/>
                        <a:ext cx="8501062"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Заголовок 4"/>
          <p:cNvSpPr>
            <a:spLocks noGrp="1"/>
          </p:cNvSpPr>
          <p:nvPr>
            <p:ph type="title"/>
          </p:nvPr>
        </p:nvSpPr>
        <p:spPr/>
        <p:txBody>
          <a:bodyPr/>
          <a:lstStyle/>
          <a:p>
            <a:r>
              <a:rPr lang="ru-RU" dirty="0"/>
              <a:t>База знаний</a:t>
            </a:r>
          </a:p>
        </p:txBody>
      </p:sp>
      <p:sp>
        <p:nvSpPr>
          <p:cNvPr id="4" name="Номер слайда 3"/>
          <p:cNvSpPr>
            <a:spLocks noGrp="1"/>
          </p:cNvSpPr>
          <p:nvPr>
            <p:ph type="sldNum" sz="quarter" idx="12"/>
          </p:nvPr>
        </p:nvSpPr>
        <p:spPr/>
        <p:txBody>
          <a:bodyPr/>
          <a:lstStyle/>
          <a:p>
            <a:pPr>
              <a:defRPr/>
            </a:pPr>
            <a:fld id="{1AAC5F1D-6C9F-4208-B49B-A997F770C0E4}" type="slidenum">
              <a:rPr lang="ru-RU" smtClean="0"/>
              <a:pPr>
                <a:defRPr/>
              </a:pPr>
              <a:t>144</a:t>
            </a:fld>
            <a:endParaRPr lang="ru-RU"/>
          </a:p>
        </p:txBody>
      </p:sp>
      <p:graphicFrame>
        <p:nvGraphicFramePr>
          <p:cNvPr id="64514" name="Object 2"/>
          <p:cNvGraphicFramePr>
            <a:graphicFrameLocks noChangeAspect="1"/>
          </p:cNvGraphicFramePr>
          <p:nvPr>
            <p:extLst>
              <p:ext uri="{D42A27DB-BD31-4B8C-83A1-F6EECF244321}">
                <p14:modId xmlns:p14="http://schemas.microsoft.com/office/powerpoint/2010/main" val="1059187962"/>
              </p:ext>
            </p:extLst>
          </p:nvPr>
        </p:nvGraphicFramePr>
        <p:xfrm>
          <a:off x="692150" y="1417639"/>
          <a:ext cx="7880350" cy="5251722"/>
        </p:xfrm>
        <a:graphic>
          <a:graphicData uri="http://schemas.openxmlformats.org/presentationml/2006/ole">
            <mc:AlternateContent xmlns:mc="http://schemas.openxmlformats.org/markup-compatibility/2006">
              <mc:Choice xmlns:v="urn:schemas-microsoft-com:vml" Requires="v">
                <p:oleObj name="Документ" r:id="rId2" imgW="4822274" imgH="3240108" progId="Word.Document.12">
                  <p:embed/>
                </p:oleObj>
              </mc:Choice>
              <mc:Fallback>
                <p:oleObj name="Документ" r:id="rId2" imgW="4822274" imgH="3240108"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150" y="1417639"/>
                        <a:ext cx="7880350" cy="5251722"/>
                      </a:xfrm>
                      <a:prstGeom prst="rect">
                        <a:avLst/>
                      </a:prstGeom>
                      <a:noFill/>
                      <a:ln>
                        <a:noFill/>
                      </a:ln>
                      <a:effectLst/>
                    </p:spPr>
                  </p:pic>
                </p:oleObj>
              </mc:Fallback>
            </mc:AlternateContent>
          </a:graphicData>
        </a:graphic>
      </p:graphicFrame>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Заголовок 1"/>
          <p:cNvSpPr>
            <a:spLocks noGrp="1"/>
          </p:cNvSpPr>
          <p:nvPr>
            <p:ph type="title"/>
          </p:nvPr>
        </p:nvSpPr>
        <p:spPr/>
        <p:txBody>
          <a:bodyPr/>
          <a:lstStyle/>
          <a:p>
            <a:r>
              <a:rPr lang="ru-RU"/>
              <a:t>Логический вывод</a:t>
            </a:r>
          </a:p>
        </p:txBody>
      </p:sp>
      <p:sp>
        <p:nvSpPr>
          <p:cNvPr id="3" name="Номер слайда 2"/>
          <p:cNvSpPr>
            <a:spLocks noGrp="1"/>
          </p:cNvSpPr>
          <p:nvPr>
            <p:ph type="sldNum" sz="quarter" idx="12"/>
          </p:nvPr>
        </p:nvSpPr>
        <p:spPr/>
        <p:txBody>
          <a:bodyPr/>
          <a:lstStyle/>
          <a:p>
            <a:pPr>
              <a:defRPr/>
            </a:pPr>
            <a:fld id="{0197C30F-B0C1-4FF0-9504-13D2BCE8AA40}" type="slidenum">
              <a:rPr lang="ru-RU" smtClean="0"/>
              <a:pPr>
                <a:defRPr/>
              </a:pPr>
              <a:t>145</a:t>
            </a:fld>
            <a:endParaRPr lang="ru-RU"/>
          </a:p>
        </p:txBody>
      </p:sp>
      <p:graphicFrame>
        <p:nvGraphicFramePr>
          <p:cNvPr id="65538" name="Object 2"/>
          <p:cNvGraphicFramePr>
            <a:graphicFrameLocks noChangeAspect="1"/>
          </p:cNvGraphicFramePr>
          <p:nvPr>
            <p:extLst>
              <p:ext uri="{D42A27DB-BD31-4B8C-83A1-F6EECF244321}">
                <p14:modId xmlns:p14="http://schemas.microsoft.com/office/powerpoint/2010/main" val="3333196581"/>
              </p:ext>
            </p:extLst>
          </p:nvPr>
        </p:nvGraphicFramePr>
        <p:xfrm>
          <a:off x="431800" y="1428750"/>
          <a:ext cx="8239125" cy="5024586"/>
        </p:xfrm>
        <a:graphic>
          <a:graphicData uri="http://schemas.openxmlformats.org/presentationml/2006/ole">
            <mc:AlternateContent xmlns:mc="http://schemas.openxmlformats.org/markup-compatibility/2006">
              <mc:Choice xmlns:v="urn:schemas-microsoft-com:vml" Requires="v">
                <p:oleObj name="Документ" r:id="rId2" imgW="5963919" imgH="3419734" progId="Word.Document.12">
                  <p:embed/>
                </p:oleObj>
              </mc:Choice>
              <mc:Fallback>
                <p:oleObj name="Документ" r:id="rId2" imgW="5963919" imgH="3419734"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1428750"/>
                        <a:ext cx="8239125" cy="5024586"/>
                      </a:xfrm>
                      <a:prstGeom prst="rect">
                        <a:avLst/>
                      </a:prstGeom>
                      <a:noFill/>
                      <a:ln>
                        <a:noFill/>
                      </a:ln>
                      <a:effectLst/>
                    </p:spPr>
                  </p:pic>
                </p:oleObj>
              </mc:Fallback>
            </mc:AlternateContent>
          </a:graphicData>
        </a:graphic>
      </p:graphicFrame>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Заголовок 1"/>
          <p:cNvSpPr>
            <a:spLocks noGrp="1"/>
          </p:cNvSpPr>
          <p:nvPr>
            <p:ph type="title"/>
          </p:nvPr>
        </p:nvSpPr>
        <p:spPr/>
        <p:txBody>
          <a:bodyPr/>
          <a:lstStyle/>
          <a:p>
            <a:r>
              <a:rPr lang="ru-RU" sz="3200"/>
              <a:t>Ограничения на применение нечеткой логики</a:t>
            </a:r>
          </a:p>
        </p:txBody>
      </p:sp>
      <p:sp>
        <p:nvSpPr>
          <p:cNvPr id="150531" name="Содержимое 2"/>
          <p:cNvSpPr>
            <a:spLocks noGrp="1"/>
          </p:cNvSpPr>
          <p:nvPr>
            <p:ph idx="1"/>
          </p:nvPr>
        </p:nvSpPr>
        <p:spPr/>
        <p:txBody>
          <a:bodyPr/>
          <a:lstStyle/>
          <a:p>
            <a:r>
              <a:rPr lang="ru-RU" sz="2400"/>
              <a:t>Применение традиционной нечеткой логики в современных системах крайне ограниченно следующими факторами: </a:t>
            </a:r>
          </a:p>
          <a:p>
            <a:pPr lvl="1"/>
            <a:r>
              <a:rPr lang="ru-RU" sz="2000" i="1"/>
              <a:t>как правило, сложная система управления имеет большее количество входов, чем самое заурядное нечеткое приложение; </a:t>
            </a:r>
            <a:endParaRPr lang="ru-RU" sz="2000"/>
          </a:p>
          <a:p>
            <a:pPr lvl="1"/>
            <a:r>
              <a:rPr lang="ru-RU" sz="2000" i="1"/>
              <a:t>добавление входных переменных увеличивает сложность вычислений экспоненциально; </a:t>
            </a:r>
            <a:endParaRPr lang="ru-RU" sz="2000"/>
          </a:p>
          <a:p>
            <a:pPr lvl="1"/>
            <a:r>
              <a:rPr lang="ru-RU" sz="2000" i="1"/>
              <a:t>как следствие предыдущего пункта, увеличивается база правил, что приводит к трудному ее восприятию; </a:t>
            </a:r>
            <a:endParaRPr lang="ru-RU" sz="2000"/>
          </a:p>
          <a:p>
            <a:pPr lvl="1"/>
            <a:r>
              <a:rPr lang="ru-RU" sz="2000" i="1"/>
              <a:t>операции в реальном масштабе требуют специального «железа». </a:t>
            </a:r>
            <a:endParaRPr lang="ru-RU" sz="2000"/>
          </a:p>
          <a:p>
            <a:endParaRPr lang="ru-RU" sz="2400"/>
          </a:p>
        </p:txBody>
      </p:sp>
      <p:sp>
        <p:nvSpPr>
          <p:cNvPr id="4" name="Номер слайда 3"/>
          <p:cNvSpPr>
            <a:spLocks noGrp="1"/>
          </p:cNvSpPr>
          <p:nvPr>
            <p:ph type="sldNum" sz="quarter" idx="12"/>
          </p:nvPr>
        </p:nvSpPr>
        <p:spPr/>
        <p:txBody>
          <a:bodyPr/>
          <a:lstStyle/>
          <a:p>
            <a:pPr>
              <a:defRPr/>
            </a:pPr>
            <a:fld id="{0F2D41F8-7707-440D-90B5-CDABB0A41E8F}" type="slidenum">
              <a:rPr lang="ru-RU" smtClean="0"/>
              <a:pPr>
                <a:defRPr/>
              </a:pPr>
              <a:t>146</a:t>
            </a:fld>
            <a:endParaRPr lang="ru-RU"/>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958</TotalTime>
  <Words>4139</Words>
  <Application>Microsoft Office PowerPoint</Application>
  <PresentationFormat>Экран (4:3)</PresentationFormat>
  <Paragraphs>462</Paragraphs>
  <Slides>146</Slides>
  <Notes>1</Notes>
  <HiddenSlides>0</HiddenSlides>
  <MMClips>0</MMClips>
  <ScaleCrop>false</ScaleCrop>
  <HeadingPairs>
    <vt:vector size="8" baseType="variant">
      <vt:variant>
        <vt:lpstr>Использованные шрифты</vt:lpstr>
      </vt:variant>
      <vt:variant>
        <vt:i4>5</vt:i4>
      </vt:variant>
      <vt:variant>
        <vt:lpstr>Тема</vt:lpstr>
      </vt:variant>
      <vt:variant>
        <vt:i4>1</vt:i4>
      </vt:variant>
      <vt:variant>
        <vt:lpstr>Внедренные серверы OLE</vt:lpstr>
      </vt:variant>
      <vt:variant>
        <vt:i4>2</vt:i4>
      </vt:variant>
      <vt:variant>
        <vt:lpstr>Заголовки слайдов</vt:lpstr>
      </vt:variant>
      <vt:variant>
        <vt:i4>146</vt:i4>
      </vt:variant>
    </vt:vector>
  </HeadingPairs>
  <TitlesOfParts>
    <vt:vector size="154" baseType="lpstr">
      <vt:lpstr>Arial</vt:lpstr>
      <vt:lpstr>Calibri</vt:lpstr>
      <vt:lpstr>Symbol</vt:lpstr>
      <vt:lpstr>Times New Roman</vt:lpstr>
      <vt:lpstr>Wingdings</vt:lpstr>
      <vt:lpstr>Тема Office</vt:lpstr>
      <vt:lpstr>Документ</vt:lpstr>
      <vt:lpstr>Document</vt:lpstr>
      <vt:lpstr>Основы нечеткой логики</vt:lpstr>
      <vt:lpstr>Понятие принадлежности</vt:lpstr>
      <vt:lpstr>Пример</vt:lpstr>
      <vt:lpstr>Понятие нечеткого подмножества</vt:lpstr>
      <vt:lpstr>Определение нечеткого множества</vt:lpstr>
      <vt:lpstr>Определение нечеткого множества</vt:lpstr>
      <vt:lpstr>Определение нечеткого числа</vt:lpstr>
      <vt:lpstr>Определения</vt:lpstr>
      <vt:lpstr>Определения, пример</vt:lpstr>
      <vt:lpstr>Пример</vt:lpstr>
      <vt:lpstr>Презентация PowerPoint</vt:lpstr>
      <vt:lpstr>Операции над нечеткими множествами</vt:lpstr>
      <vt:lpstr>Операции над нечеткими множествами</vt:lpstr>
      <vt:lpstr>Операции над нечеткими множествами</vt:lpstr>
      <vt:lpstr>Операции над нечеткими множествами</vt:lpstr>
      <vt:lpstr>Определение</vt:lpstr>
      <vt:lpstr>Свойства операций над нечеткими множествами</vt:lpstr>
      <vt:lpstr>Операции с нечеткими числами</vt:lpstr>
      <vt:lpstr>Метод центра тяжести</vt:lpstr>
      <vt:lpstr>Метод медиан</vt:lpstr>
      <vt:lpstr>Метод центра максимумов</vt:lpstr>
      <vt:lpstr>Методы наибольшего и наименьшего максимума</vt:lpstr>
      <vt:lpstr>Подмножества α - уровня. Декомпозиция нечет­ких множеств.</vt:lpstr>
      <vt:lpstr>Декомпозиция нечеткого множества</vt:lpstr>
      <vt:lpstr>Синтез нечеткого подмножества</vt:lpstr>
      <vt:lpstr>Лингвистическая переменная</vt:lpstr>
      <vt:lpstr>Понятие лингвистической переменной</vt:lpstr>
      <vt:lpstr>Понятие лингвистической переменной</vt:lpstr>
      <vt:lpstr>Понятие лингвистической переменной</vt:lpstr>
      <vt:lpstr>Определение ЛП</vt:lpstr>
      <vt:lpstr>Понятие терма</vt:lpstr>
      <vt:lpstr>Пример</vt:lpstr>
      <vt:lpstr>Пример</vt:lpstr>
      <vt:lpstr>Пример</vt:lpstr>
      <vt:lpstr>Определение</vt:lpstr>
      <vt:lpstr>Пример</vt:lpstr>
      <vt:lpstr>Методы построения функций принадлежности</vt:lpstr>
      <vt:lpstr>Требования к функциям принадлежности</vt:lpstr>
      <vt:lpstr>Методы построения ФП</vt:lpstr>
      <vt:lpstr>Прямые методы для одного эксперта</vt:lpstr>
      <vt:lpstr>Прямые методы для одного эксперта</vt:lpstr>
      <vt:lpstr>Пример</vt:lpstr>
      <vt:lpstr>Примеры различных способов построения функций принадлежности</vt:lpstr>
      <vt:lpstr>Примеры различных способов построения функций принадлежности</vt:lpstr>
      <vt:lpstr>Примеры различных способов построения функций принадлежности</vt:lpstr>
      <vt:lpstr>Примеры различных способов построения функций принадлежности</vt:lpstr>
      <vt:lpstr>Понятие нечетких отношений</vt:lpstr>
      <vt:lpstr>Понятие нечетких отношений</vt:lpstr>
      <vt:lpstr>Определение</vt:lpstr>
      <vt:lpstr>Способы задания НО</vt:lpstr>
      <vt:lpstr>Способы задания НО</vt:lpstr>
      <vt:lpstr>Определения</vt:lpstr>
      <vt:lpstr>Пример</vt:lpstr>
      <vt:lpstr>Операции над нечеткими отношениями</vt:lpstr>
      <vt:lpstr>Операции над нечеткими отношениями</vt:lpstr>
      <vt:lpstr>Операции над нечеткими отношениями</vt:lpstr>
      <vt:lpstr>Композиция нечетких отношений</vt:lpstr>
      <vt:lpstr>Вычисление композиций НО</vt:lpstr>
      <vt:lpstr>Пример</vt:lpstr>
      <vt:lpstr>Свойства (max-min) - композиции</vt:lpstr>
      <vt:lpstr>Свойства нечетких отношений</vt:lpstr>
      <vt:lpstr>Транзитивное замыкание НО</vt:lpstr>
      <vt:lpstr>Классификация НО</vt:lpstr>
      <vt:lpstr>Приложения теории нечетких отношений к анализу систем</vt:lpstr>
      <vt:lpstr>Элементы теории приближенных рассуждений</vt:lpstr>
      <vt:lpstr>Приближенные рассуждения</vt:lpstr>
      <vt:lpstr>Четкие рассуждения</vt:lpstr>
      <vt:lpstr>Обобщение нечетких рассуждений</vt:lpstr>
      <vt:lpstr>Композиционное правило вывода</vt:lpstr>
      <vt:lpstr>Композиционное правило вывода</vt:lpstr>
      <vt:lpstr>Композиционное правило вывода</vt:lpstr>
      <vt:lpstr>Композиционное правило вывода</vt:lpstr>
      <vt:lpstr>Пример</vt:lpstr>
      <vt:lpstr>Композиционное правило вывода. Определение.</vt:lpstr>
      <vt:lpstr>Пример</vt:lpstr>
      <vt:lpstr>Основная идея метода</vt:lpstr>
      <vt:lpstr>Приближенные рассуждения на основе modus ponens</vt:lpstr>
      <vt:lpstr>Обобщение материальной импликации</vt:lpstr>
      <vt:lpstr>Определение</vt:lpstr>
      <vt:lpstr>Определение</vt:lpstr>
      <vt:lpstr>Применение правила</vt:lpstr>
      <vt:lpstr>Формализация нечеткой импликации</vt:lpstr>
      <vt:lpstr>Приближенные рассуждения на основе modus tollens</vt:lpstr>
      <vt:lpstr>Обобщение правила</vt:lpstr>
      <vt:lpstr>Применение правила</vt:lpstr>
      <vt:lpstr>Формализация логических связок (Нечеткая логика)</vt:lpstr>
      <vt:lpstr>Расширение логических операций </vt:lpstr>
      <vt:lpstr>Треугольные нормы</vt:lpstr>
      <vt:lpstr>Треугольные нормы</vt:lpstr>
      <vt:lpstr>Треугольные нормы</vt:lpstr>
      <vt:lpstr>Треугольные нормы</vt:lpstr>
      <vt:lpstr>Отрицание</vt:lpstr>
      <vt:lpstr>Логико-лингвистическое описание систем, нечеткие модели</vt:lpstr>
      <vt:lpstr>Логико-лингвистическое описание систем, нечеткие модели</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Нечеткие выводы</vt:lpstr>
      <vt:lpstr>Общая схема НЛВ</vt:lpstr>
      <vt:lpstr>Пример</vt:lpstr>
      <vt:lpstr>Презентация PowerPoint</vt:lpstr>
      <vt:lpstr>Пример</vt:lpstr>
      <vt:lpstr>Алгоритмы нечеткого вывода</vt:lpstr>
      <vt:lpstr>Алгоритмы НЛВ</vt:lpstr>
      <vt:lpstr>1. Алгоритм Mamdani</vt:lpstr>
      <vt:lpstr>2. Алгоритм Larsen</vt:lpstr>
      <vt:lpstr>3. Алгоритм Tsukamoto</vt:lpstr>
      <vt:lpstr>4. Алгоритм Sugeno</vt:lpstr>
      <vt:lpstr>5. Упрощенный алгоритм нечеткого вывода</vt:lpstr>
      <vt:lpstr>6. Нисходящие нечеткие выводы</vt:lpstr>
      <vt:lpstr>Обратные выводы</vt:lpstr>
      <vt:lpstr>Обратные выводы, поиск решения</vt:lpstr>
      <vt:lpstr>Обратные выводы, поиск решения</vt:lpstr>
      <vt:lpstr>Практическое применение</vt:lpstr>
      <vt:lpstr>Эффективность систем принятия решений, использующих методы нечеткой логики</vt:lpstr>
      <vt:lpstr>Использование аппарата НЛ</vt:lpstr>
      <vt:lpstr>Использование аппарата НЛ</vt:lpstr>
      <vt:lpstr>Использование аппарата НЛ</vt:lpstr>
      <vt:lpstr>Условия применения</vt:lpstr>
      <vt:lpstr>Приближенные рассуждения в прикладных задачах</vt:lpstr>
      <vt:lpstr>Основные понятия теории управления</vt:lpstr>
      <vt:lpstr>Основные идеи нечеткого управления</vt:lpstr>
      <vt:lpstr>Основные идеи нечеткого управления</vt:lpstr>
      <vt:lpstr>Основные идеи нечеткого управления. Пример реализации.</vt:lpstr>
      <vt:lpstr>Принцип действия регулятора</vt:lpstr>
      <vt:lpstr>Структурная схема нечеткого лингвистического регулятора</vt:lpstr>
      <vt:lpstr>Пример: нечеткий регулятор</vt:lpstr>
      <vt:lpstr>Описание системы</vt:lpstr>
      <vt:lpstr>Лингвистическое описание</vt:lpstr>
      <vt:lpstr>База знаний</vt:lpstr>
      <vt:lpstr>Логический вывод</vt:lpstr>
      <vt:lpstr>Ограничения на применение нечеткой логики</vt:lpstr>
    </vt:vector>
  </TitlesOfParts>
  <Company>ВлГУ ФПМФ</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Абрахин Сергей</dc:creator>
  <cp:lastModifiedBy>a165</cp:lastModifiedBy>
  <cp:revision>92</cp:revision>
  <dcterms:created xsi:type="dcterms:W3CDTF">2010-02-24T12:06:09Z</dcterms:created>
  <dcterms:modified xsi:type="dcterms:W3CDTF">2026-02-13T20:46:09Z</dcterms:modified>
</cp:coreProperties>
</file>