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94" r:id="rId4"/>
    <p:sldId id="329" r:id="rId5"/>
    <p:sldId id="331" r:id="rId6"/>
    <p:sldId id="337" r:id="rId7"/>
    <p:sldId id="338" r:id="rId8"/>
    <p:sldId id="339" r:id="rId9"/>
    <p:sldId id="340" r:id="rId10"/>
    <p:sldId id="295" r:id="rId11"/>
    <p:sldId id="296" r:id="rId12"/>
    <p:sldId id="302" r:id="rId13"/>
    <p:sldId id="332" r:id="rId14"/>
    <p:sldId id="333" r:id="rId15"/>
    <p:sldId id="335" r:id="rId16"/>
    <p:sldId id="334" r:id="rId17"/>
    <p:sldId id="29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3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B250F-1964-4DB2-BD96-2AC66D007BC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13F75-EDBC-4FCE-9009-6B7D9EC7B3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6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6D506-724A-4309-8A46-438E7765512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023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BD17F-B6F7-D2D0-3630-012BD3FEF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8DA831-5D8D-D37F-C5AD-F9F1A98ED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320724-1352-C3A9-F2AA-0F161DCC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3C6C-8274-42EB-993C-7D98904670B9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937268-0EAB-1169-A8B2-06180A88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B2750-F058-A380-3743-696059B9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51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CEE73-FF5F-D062-8CC5-8CDD5A4F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92C3B-FF04-3CDD-F8D3-D96870E61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D8B3E-0C15-3BBB-10E9-73474C9B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16C9-9602-48A0-BFB8-00C314550BD9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90C292-299E-289C-C4C5-DF4A73B1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CA3FBA-4315-3B13-6AD9-EF20822B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87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8B0F8-9531-246A-350F-18F57DB9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4ED5CA-A6A8-F8A8-EAF2-C5D7EDAE2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A1835A-4701-4541-B51C-AB65AF88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85F9-8A3E-4741-BBFA-103D48A65FF1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8A0C0A-E49C-3701-3F1D-A16AE4FE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F2EFE-1316-9937-893C-AEF3ACE9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94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3FD90-3A06-6EDD-09AA-67A7D6A56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63343F-1856-3FC0-2FE5-224687A8A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2304A2-A8AB-49EA-813E-B899E3E38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8E7F94-673A-5908-F2A7-B5A0A4C0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09C1-29D6-429C-BEC9-83BF9FCA3972}" type="datetime1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9D10C7-CCB7-074E-BBF1-62FDCE58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DC28F4-3DD1-0930-418F-9261A917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6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7DCA2-93E3-4A8F-E375-B2635130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50B223-5A46-1B7F-2518-B1695E29B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6FDC1E-0D03-43F8-3BE8-791DAEFCE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B752D2D-049E-6875-C4A0-78DF105A0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F88B04-52FC-A4C7-222E-5E445B22F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B40C4A-AD29-81C2-4B4C-A34A3EEA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DA15-A90F-4868-9875-DAA6AB137E27}" type="datetime1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8F5526-7555-0A36-D599-DB2C9397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DECF9A-0E2A-8864-A192-91025021B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63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5DB98-A5B5-3438-3616-DF66F3DA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70717A-616B-3B17-373F-3F866473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74F5-D083-496F-A5EA-004642CD21FF}" type="datetime1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9C2CB1-2633-0F01-61F4-D821EB2EB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34473C-F1C2-7452-CA68-4B736EC2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37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B7CACC-DF26-B62A-AD80-9CF8CDD9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1F42B-B978-4D06-95E1-05CE49139CE7}" type="datetime1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C42A-449A-823F-419D-3907F1F0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1BA030-F1E0-FE9F-D717-74821A54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96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A86C9-5C65-B65D-425F-DE3113E1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084B0-1F47-AAE3-0198-4E63A45CC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160BF8-1A7A-B36F-50A5-3998B09E9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8F8D2F-7724-1061-E98D-9E231407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00A0-FBDE-4DF4-B1FD-351D57832B56}" type="datetime1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2CD5AB-4E05-098A-0C4E-32CF1BDDF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355C40-5D02-2C51-A75F-95A78409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19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956929-FD75-C0AE-7C5C-C6456727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5B8921-5168-4761-240F-1F2D4296D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AE9BF-D85D-484B-3084-2BB43B9DF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30992-2BD0-C25C-D77B-DDDD95DF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98FDE-CDEF-4C81-829E-FCD0B326DAD5}" type="datetime1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71DED5-75B2-472E-7970-EEBC35C4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CE7235-A1FA-507C-BDA3-FF60840C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2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22671-5997-B3F0-1CF5-FE693B6F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C58ABE-0AA1-5035-CC95-C31EA7DEC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6E4E59-08D4-3F97-A481-26A03B87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5C21B-C98B-43BB-8DDF-D658175391FD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612C97-AD20-9B74-1D9E-20E6D0AF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DBA50A-CF5D-F52F-ADFD-E27A8EC0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72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28371-BBF1-C052-5C83-60B90C189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90CBDC-54AC-0F04-BFCF-D191D5AE2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78DCFD-149E-564A-688C-62291B73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2B75-3A73-4F4E-9A8D-5ACB123B4297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5F0560-6883-F96E-16B1-C6C143DD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259203-947D-2A0B-2F17-691028A5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25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3F10A-1CBC-F46A-8ACA-52DEEE23C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2AAE10-3298-EBED-1AAB-4FC595678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2D3DF7-F658-A4E6-AC36-CFE634372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0BB9C-42A8-4C19-B879-A51F4061A3B7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D00B84-0413-2BF8-AAE6-2D3092BE5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D3A335-BD73-C78E-0328-9E641CD68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36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q-1gLJxrBc" TargetMode="External"/><Relationship Id="rId2" Type="http://schemas.openxmlformats.org/officeDocument/2006/relationships/hyperlink" Target="https://deepschool-pro.notion.site/Fine-tuning-LLM-2a3df7d0d14a4493af9cf2163ef1b74b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6p_98Cs4cpY" TargetMode="External"/><Relationship Id="rId4" Type="http://schemas.openxmlformats.org/officeDocument/2006/relationships/hyperlink" Target="https://www.anyscale.com/blog/a-comprehensive-guide-for-building-rag-based-llm-applications-part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AE178-3CA4-4E38-452D-6CA5374C33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RAG, Fine-Tuning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01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Assistant LLM 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69D79D-FF55-4657-7E95-AA4FA7567B1F}"/>
              </a:ext>
            </a:extLst>
          </p:cNvPr>
          <p:cNvSpPr txBox="1"/>
          <p:nvPr/>
        </p:nvSpPr>
        <p:spPr>
          <a:xfrm>
            <a:off x="838200" y="1690688"/>
            <a:ext cx="113084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LLM (</a:t>
            </a:r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Instruction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LLM)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LLM, обученная на инструкциях, на основе которых она дает ответы на любые вопросы. Таких моделей довольно много — можно подобрать себе наиболее подходящую (открытую или коммерческую), например,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Mixtral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GPT4.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E13ECAD-E174-2505-4E1A-9EB85A5C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3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Адаптация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LLM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под свои нужды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F448A-33B1-46EE-4090-6E8101EE5C2B}"/>
              </a:ext>
            </a:extLst>
          </p:cNvPr>
          <p:cNvSpPr txBox="1"/>
          <p:nvPr/>
        </p:nvSpPr>
        <p:spPr>
          <a:xfrm>
            <a:off x="838200" y="1690688"/>
            <a:ext cx="113084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Fine-tuning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E26DA59-6873-2CF7-30D1-B06146D3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731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2E8A9-A78C-991B-2441-23EC4A5A5BB6}"/>
              </a:ext>
            </a:extLst>
          </p:cNvPr>
          <p:cNvSpPr txBox="1"/>
          <p:nvPr/>
        </p:nvSpPr>
        <p:spPr>
          <a:xfrm>
            <a:off x="838200" y="1690688"/>
            <a:ext cx="113084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Prompting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набор техник и приемов для подачи специальных инструкций в LLM так, чтобы она отвечала определенным образом. Например, инструкция для обращения модели к клиенту по имени и отчеству или всех ее ответов с конкретной начальной фразой. От качества обучения модели и степени понимания инструкции зависит соответствие ответов заданному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промпту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B5B5CD4-A57F-4D45-B995-36111D656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56" y="4197816"/>
            <a:ext cx="5306444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D7E0F0-D43A-0ADF-4787-0D8272B7C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315" y="4018657"/>
            <a:ext cx="5414712" cy="229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3EF3B0-503A-EDFB-8327-E9314753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497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F4FF9-81FE-1672-F954-1F9359D1E28B}"/>
              </a:ext>
            </a:extLst>
          </p:cNvPr>
          <p:cNvSpPr txBox="1"/>
          <p:nvPr/>
        </p:nvSpPr>
        <p:spPr>
          <a:xfrm>
            <a:off x="838200" y="1690688"/>
            <a:ext cx="113084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RAG (</a:t>
            </a:r>
            <a:r>
              <a:rPr 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Retrieval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Augmented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Generation)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— набор техник для подачи в модель дополнительных знаний, в основном через поиск релевантных текстов и их добавление 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промпт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Например, модель, обученная на данных до 2023 года, не знает о фичах айфона 2025 года. Но если мы подадим ей на вход текст с описанием нового флагмана Apple — она применит знания оттуда и не выдумает своей ответ (не будет галлюцинировать). От качества обучающего корпуса модели зависит степень ее обращения к поданному тексту.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165CB6-DEBB-94DC-2AA0-92238F020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392" y="3735127"/>
            <a:ext cx="7146967" cy="2864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0FC7AA-C589-57B8-27B4-3B65BCD1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44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B6A8868-C38C-43CC-9458-B97DBC46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Схема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image2">
            <a:extLst>
              <a:ext uri="{FF2B5EF4-FFF2-40B4-BE49-F238E27FC236}">
                <a16:creationId xmlns:a16="http://schemas.microsoft.com/office/drawing/2014/main" id="{622697B8-7C71-E762-773F-DD71874E8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1" y="1690688"/>
            <a:ext cx="6743700" cy="451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ACFCC7F-56B0-AF1B-FE87-11163F10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949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B6A8868-C38C-43CC-9458-B97DBC46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50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Создание векторной БД (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Vector DB creation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367C82-6DC0-2B70-2A8A-9D0F4A39C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6799"/>
            <a:ext cx="12192000" cy="1264401"/>
          </a:xfrm>
          <a:prstGeom prst="rect">
            <a:avLst/>
          </a:prstGeom>
        </p:spPr>
      </p:pic>
      <p:pic>
        <p:nvPicPr>
          <p:cNvPr id="4098" name="Picture 2" descr="image2">
            <a:extLst>
              <a:ext uri="{FF2B5EF4-FFF2-40B4-BE49-F238E27FC236}">
                <a16:creationId xmlns:a16="http://schemas.microsoft.com/office/drawing/2014/main" id="{AB9DA4E3-9F33-DE2B-0F78-270F5AD46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068" y="4425469"/>
            <a:ext cx="5740400" cy="148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FD25922-F019-BDCA-98A2-9AF9AEE2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495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B6A8868-C38C-43CC-9458-B97DBC46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Запрос в векторную БД (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Query Retrieval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076" name="Picture 4" descr="image14">
            <a:extLst>
              <a:ext uri="{FF2B5EF4-FFF2-40B4-BE49-F238E27FC236}">
                <a16:creationId xmlns:a16="http://schemas.microsoft.com/office/drawing/2014/main" id="{E9AAFA9F-4466-40BF-A05C-DFE80F322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76513"/>
            <a:ext cx="1219200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294C022-A29F-9A81-80FD-06EC3EAB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985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B6A8868-C38C-43CC-9458-B97DBC46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Генерация ответа (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Response Generation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5122" name="Picture 2" descr="image16">
            <a:extLst>
              <a:ext uri="{FF2B5EF4-FFF2-40B4-BE49-F238E27FC236}">
                <a16:creationId xmlns:a16="http://schemas.microsoft.com/office/drawing/2014/main" id="{6A3202E6-5EFE-9FCD-5382-BC317BE48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1466850"/>
            <a:ext cx="5000625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D24802C-61E7-700B-B479-3E7D4A12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159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7814CEE-2700-EB3E-5178-CF4C6A1C9E36}"/>
              </a:ext>
            </a:extLst>
          </p:cNvPr>
          <p:cNvSpPr txBox="1"/>
          <p:nvPr/>
        </p:nvSpPr>
        <p:spPr>
          <a:xfrm>
            <a:off x="838200" y="1690688"/>
            <a:ext cx="113084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Fine-</a:t>
            </a:r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tuning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дообучение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готовой LLM на целевых данных для наиболее эффективной работы над конкретной задачей. Это первый шаг при превращении LLM в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LLM.</a:t>
            </a:r>
          </a:p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fine-tuning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(SFT)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дообучение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LLM на корпусе высококачественных инструкций и ответов.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5D476B1-8707-6B55-CC24-004A426F9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Fine-tuning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5067F6A-58C5-F75A-2FE9-B5FE360F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42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B6A8868-C38C-43CC-9458-B97DBC46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Fine-tuning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5E885-FA09-6863-FE95-0162FC8DAAA4}"/>
              </a:ext>
            </a:extLst>
          </p:cNvPr>
          <p:cNvSpPr txBox="1"/>
          <p:nvPr/>
        </p:nvSpPr>
        <p:spPr>
          <a:xfrm>
            <a:off x="838200" y="1690688"/>
            <a:ext cx="113084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Full f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ine-tuning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Parameter Efficient fine-tuning (PEFT)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86BDFE1-DEFF-19D4-CE1C-BCFD636D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298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Parameter Efficient fine-tuning (PEFT)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6E639-BC57-20FE-2725-773EF2BCC646}"/>
              </a:ext>
            </a:extLst>
          </p:cNvPr>
          <p:cNvSpPr txBox="1"/>
          <p:nvPr/>
        </p:nvSpPr>
        <p:spPr>
          <a:xfrm>
            <a:off x="838200" y="1690688"/>
            <a:ext cx="113084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D7EEB4-1336-67D4-E28A-16224183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696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59164163-A53B-5B6F-24A7-49CE6E9B3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158" y="1709593"/>
            <a:ext cx="3796242" cy="366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CBE4A9-5FF6-2D0E-0185-5ECA6C22606D}"/>
                  </a:ext>
                </a:extLst>
              </p:cNvPr>
              <p:cNvSpPr txBox="1"/>
              <p:nvPr/>
            </p:nvSpPr>
            <p:spPr>
              <a:xfrm>
                <a:off x="6398255" y="2237336"/>
                <a:ext cx="8365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𝑊𝑥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CBE4A9-5FF6-2D0E-0185-5ECA6C226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255" y="2237336"/>
                <a:ext cx="836511" cy="276999"/>
              </a:xfrm>
              <a:prstGeom prst="rect">
                <a:avLst/>
              </a:prstGeom>
              <a:blipFill>
                <a:blip r:embed="rId3"/>
                <a:stretch>
                  <a:fillRect l="-6569" r="-5109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A0630E-BEE0-4829-23A0-B7F844356723}"/>
                  </a:ext>
                </a:extLst>
              </p:cNvPr>
              <p:cNvSpPr txBox="1"/>
              <p:nvPr/>
            </p:nvSpPr>
            <p:spPr>
              <a:xfrm>
                <a:off x="6398255" y="3829858"/>
                <a:ext cx="15408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𝐵𝐴𝑥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A0630E-BEE0-4829-23A0-B7F844356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255" y="3829858"/>
                <a:ext cx="1540806" cy="276999"/>
              </a:xfrm>
              <a:prstGeom prst="rect">
                <a:avLst/>
              </a:prstGeom>
              <a:blipFill>
                <a:blip r:embed="rId4"/>
                <a:stretch>
                  <a:fillRect l="-3571" r="-3175" b="-6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9EEA081-171A-2C11-7591-9A2F7D8CCB13}"/>
              </a:ext>
            </a:extLst>
          </p:cNvPr>
          <p:cNvSpPr txBox="1"/>
          <p:nvPr/>
        </p:nvSpPr>
        <p:spPr>
          <a:xfrm>
            <a:off x="5960533" y="1770845"/>
            <a:ext cx="2548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Линейный слой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DE673-4356-4C22-9FB0-1E20A29EBEE0}"/>
              </a:ext>
            </a:extLst>
          </p:cNvPr>
          <p:cNvSpPr txBox="1"/>
          <p:nvPr/>
        </p:nvSpPr>
        <p:spPr>
          <a:xfrm>
            <a:off x="5960533" y="3105834"/>
            <a:ext cx="4292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Линейный слой после добавления обучаемых матриц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29578-CCC4-46D1-32DD-B8F2636E4DB1}"/>
              </a:ext>
            </a:extLst>
          </p:cNvPr>
          <p:cNvSpPr txBox="1"/>
          <p:nvPr/>
        </p:nvSpPr>
        <p:spPr>
          <a:xfrm>
            <a:off x="5960533" y="450070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 этом матрица W имеет размерность [d, d], а матрицы A и B — размерности [d, r] и [r, d] соответственно, где r &lt;&lt; 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(обычные значения d — это 8, 16, 32).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Таким образом, мы обучаем только 2 * r * d параметров вместо d * d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EA0EF1-0656-D002-9413-ACC8191D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149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00006B52-047C-5BAA-1C5E-66EA31C69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171303"/>
            <a:ext cx="6096000" cy="251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03F50BC-4D41-213B-7680-DD01FDF4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185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Библиотеки, модели, </a:t>
            </a:r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датасеты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A90E8B-22AC-3FFD-8708-505A9D070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873" y="1498545"/>
            <a:ext cx="7956255" cy="21150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067F10-3323-6AA6-30B3-5395AF26DD4D}"/>
              </a:ext>
            </a:extLst>
          </p:cNvPr>
          <p:cNvSpPr txBox="1"/>
          <p:nvPr/>
        </p:nvSpPr>
        <p:spPr>
          <a:xfrm>
            <a:off x="3048000" y="403913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i="0" dirty="0">
                <a:effectLst/>
                <a:latin typeface="Source Sans Pro" panose="020B0503030403020204" pitchFamily="34" charset="0"/>
              </a:rPr>
              <a:t>🤗 </a:t>
            </a:r>
            <a:r>
              <a:rPr lang="en-US" sz="4000" b="1" i="0" dirty="0">
                <a:effectLst/>
                <a:latin typeface="Source Sans Pro" panose="020B0503030403020204" pitchFamily="34" charset="0"/>
              </a:rPr>
              <a:t>Transformers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1A01F2B-D2C1-9783-AB09-23A095B4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696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Фреймворки для </a:t>
            </a:r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дообучения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</a:p>
        </p:txBody>
      </p:sp>
      <p:pic>
        <p:nvPicPr>
          <p:cNvPr id="40962" name="Picture 2" descr="GitHub - unslothai/unsloth: Finetune Llama 3.2, Mistral, Phi, Qwen 2.5 &amp;  Gemma LLMs 2-5x faster with 80% less memory">
            <a:extLst>
              <a:ext uri="{FF2B5EF4-FFF2-40B4-BE49-F238E27FC236}">
                <a16:creationId xmlns:a16="http://schemas.microsoft.com/office/drawing/2014/main" id="{2DAEBBD6-7412-8928-529B-25131AB06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08" y="2820901"/>
            <a:ext cx="2922805" cy="102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 descr="LLaMA Factory">
            <a:extLst>
              <a:ext uri="{FF2B5EF4-FFF2-40B4-BE49-F238E27FC236}">
                <a16:creationId xmlns:a16="http://schemas.microsoft.com/office/drawing/2014/main" id="{D82418A4-5BA8-296C-7CF4-DB7820B25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106" y="2543221"/>
            <a:ext cx="5532894" cy="158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87C9F5-B98B-B22E-1BF9-7C893E61D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681" y="2938244"/>
            <a:ext cx="3019425" cy="7905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7163CEE-B5BE-808D-EF8A-3FCB321BE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428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ECCE1FE-A4A1-92F8-8E8C-1637BFAA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Использованные материалы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18ED8384-5379-6D99-B399-029D94FFA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>
                <a:hlinkClick r:id="rId2"/>
              </a:rPr>
              <a:t>Русскоязычный пост о </a:t>
            </a:r>
            <a:r>
              <a:rPr lang="en-US" dirty="0">
                <a:hlinkClick r:id="rId2"/>
              </a:rPr>
              <a:t>fine-tuning</a:t>
            </a:r>
            <a:r>
              <a:rPr lang="ru-RU" dirty="0">
                <a:hlinkClick r:id="rId2"/>
              </a:rPr>
              <a:t> </a:t>
            </a:r>
            <a:r>
              <a:rPr lang="en-US" dirty="0">
                <a:hlinkClick r:id="rId2"/>
              </a:rPr>
              <a:t>LLM</a:t>
            </a:r>
            <a:endParaRPr lang="ru-RU" dirty="0"/>
          </a:p>
          <a:p>
            <a:r>
              <a:rPr lang="ru-RU" dirty="0">
                <a:hlinkClick r:id="rId3"/>
              </a:rPr>
              <a:t>Видео о дообучении </a:t>
            </a:r>
            <a:r>
              <a:rPr lang="en-US" dirty="0">
                <a:hlinkClick r:id="rId3"/>
              </a:rPr>
              <a:t>LLM </a:t>
            </a:r>
            <a:r>
              <a:rPr lang="ru-RU" dirty="0">
                <a:hlinkClick r:id="rId3"/>
              </a:rPr>
              <a:t>с помощью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Unsloth</a:t>
            </a:r>
            <a:endParaRPr lang="en-US" dirty="0"/>
          </a:p>
          <a:p>
            <a:r>
              <a:rPr lang="ru-RU" dirty="0">
                <a:hlinkClick r:id="rId4"/>
              </a:rPr>
              <a:t>Статья по построению </a:t>
            </a:r>
            <a:r>
              <a:rPr lang="en-US" dirty="0">
                <a:hlinkClick r:id="rId4"/>
              </a:rPr>
              <a:t>RAG</a:t>
            </a:r>
            <a:endParaRPr lang="en-US" dirty="0">
              <a:hlinkClick r:id="rId5"/>
            </a:endParaRPr>
          </a:p>
          <a:p>
            <a:endParaRPr lang="en-US" dirty="0"/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2BDF0CC-E436-1A32-EA7F-BF1475AA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6509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5455</TotalTime>
  <Words>421</Words>
  <Application>Microsoft Office PowerPoint</Application>
  <PresentationFormat>Широкоэкранный</PresentationFormat>
  <Paragraphs>61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Cambria Math</vt:lpstr>
      <vt:lpstr>Source Sans Pro</vt:lpstr>
      <vt:lpstr>Тема Office</vt:lpstr>
      <vt:lpstr>RAG, Fine-Tuning</vt:lpstr>
      <vt:lpstr>Assistant LLM </vt:lpstr>
      <vt:lpstr>Адаптация LLM под свои нужды</vt:lpstr>
      <vt:lpstr>Prompt Engineering</vt:lpstr>
      <vt:lpstr>RAG</vt:lpstr>
      <vt:lpstr>Схема RAG</vt:lpstr>
      <vt:lpstr>Создание векторной БД (Vector DB creation)</vt:lpstr>
      <vt:lpstr>Запрос в векторную БД (Query Retrieval) </vt:lpstr>
      <vt:lpstr>Генерация ответа (Response Generation)</vt:lpstr>
      <vt:lpstr>Fine-tuning</vt:lpstr>
      <vt:lpstr>Fine-tuning</vt:lpstr>
      <vt:lpstr>Parameter Efficient fine-tuning (PEFT)</vt:lpstr>
      <vt:lpstr>LoRA</vt:lpstr>
      <vt:lpstr>QLoRA</vt:lpstr>
      <vt:lpstr>Библиотеки, модели, датасеты</vt:lpstr>
      <vt:lpstr>Фреймворки для дообучения LLM</vt:lpstr>
      <vt:lpstr>Использованные материалы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Кумов Вячеслав Сергеевич</dc:creator>
  <cp:lastModifiedBy>a165</cp:lastModifiedBy>
  <cp:revision>69</cp:revision>
  <dcterms:created xsi:type="dcterms:W3CDTF">2024-11-06T14:38:58Z</dcterms:created>
  <dcterms:modified xsi:type="dcterms:W3CDTF">2026-04-24T06:40:50Z</dcterms:modified>
</cp:coreProperties>
</file>